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BeforeYouSign is positioned as more than a contract chatbot. It is an end-to-end legal intelligence platform combining deterministic semantic benchmarking with generative reasoning, then turning the result into actions such as redlining, compliance, reminders and signing.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terms of information asymmetry rather than simply “legal documents are complicated.” BeforeYouSign is designed to surface risk, translate clauses into plain language, and maintain visibility after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objective is broader than risk scoring. The complete product loop is understand, quantify, act, govern and verify — all in one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technical differentiator. The edge pipeline handles the benchmarkable part with a repeatable mathematical signal. The generative pipeline handles contextual interpretation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sequence. Parsing and benchmark retrieval can happen alongside LLM reasoning. Their outputs are merged so the user gets both a measurable baseline and a contextual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product walkthrough anchor. Explain the information hierarchy: a headline risk score, breakdown by severity, a concrete red flag, and immediate next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explanation: the local engine uses all-MiniLM-L6-v2 through Transformers.js / ONNX. It creates 384-dimensional embeddings, compares them with precedents, classifies categories via k-NN, and computes ERR by comparing the current risk score with a safer retrieved precedent.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negotiation experience uses visual diffing. The presentation should emphasize that the product proposes balanced legal language, not merely a warning. Three negotiation postures allow the user to adapt to bargaining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scope is intentionally broad. For a university presentation, do not try to demo every screen. Group features into three families: intelligence, lifecycle and enablement.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layers from top to bottom. The client layer focuses on user interaction and privacy-sensitive local operations. The application layer coordinates requests. The intelligence tier is split between edge ML and cloud reasoning. Persistence stores only the records the application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documentation describes transient processing, server-side secret isolation, client-side PDF operations and SHA-256 integrity checks. Present these as architectural safeguards rather than blanket claims of “perfect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stack as a list. Explain why each tier exists: modern web rendering, generative reasoning, local semantic retrieval, document manipulation, relational persistence and supporting UI/tooling.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implementation highlights stated in the project documentation. Present “sub-150ms,” “32 endpoints,” etc. as documented engineering targets/claims, not as independently audited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demo sequence: start with a risky sample contract, show the score, open the clause benchmark, then the redline, then end with signature and lifecycle controls. This produces a clear narrative from problem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roadmap to show that the architecture can evolve without changing the product’s core philosophy: benchmark what can be measured, reason where context is required, and keep the action layer close to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project thesis: BeforeYouSign is a decision layer for contracts. It combines explainability, empirical benchmarking, negotiation support and lifecycle control in one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for academic review, viva questions and source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502920" y="6510528"/>
            <a:ext cx="11173968" cy="0"/>
          </a:xfrm>
          <a:prstGeom prst="line">
            <a:avLst/>
          </a:prstGeom>
          <a:noFill/>
          <a:ln w="10160">
            <a:solidFill>
              <a:srgbClr val="D6D0C5"/>
            </a:solidFill>
            <a:prstDash val="solid"/>
          </a:ln>
        </p:spPr>
      </p:sp>
      <p:sp>
        <p:nvSpPr>
          <p:cNvPr id="3" name="Text 1"/>
          <p:cNvSpPr/>
          <p:nvPr/>
        </p:nvSpPr>
        <p:spPr>
          <a:xfrm>
            <a:off x="502920" y="6565392"/>
            <a:ext cx="2011680" cy="164592"/>
          </a:xfrm>
          <a:prstGeom prst="rect">
            <a:avLst/>
          </a:prstGeom>
          <a:noFill/>
          <a:ln/>
        </p:spPr>
        <p:txBody>
          <a:bodyPr wrap="square" lIns="0" tIns="0" rIns="0" bIns="0" rtlCol="0" anchor="ctr"/>
          <a:lstStyle/>
          <a:p>
            <a:pPr indent="0" marL="0">
              <a:buNone/>
            </a:pPr>
            <a:r>
              <a:rPr lang="en-US" sz="700" b="1" spc="180" kern="0" dirty="0">
                <a:solidFill>
                  <a:srgbClr val="6D695F"/>
                </a:solidFill>
                <a:latin typeface="Aptos" pitchFamily="34" charset="0"/>
                <a:ea typeface="Aptos" pitchFamily="34" charset="-122"/>
                <a:cs typeface="Aptos" pitchFamily="34" charset="-120"/>
              </a:rPr>
              <a:t>BEFOREYOUSIGN</a:t>
            </a:r>
            <a:endParaRPr lang="en-US" sz="700" dirty="0"/>
          </a:p>
        </p:txBody>
      </p:sp>
      <p:sp>
        <p:nvSpPr>
          <p:cNvPr id="4" name="Text 2"/>
          <p:cNvSpPr/>
          <p:nvPr/>
        </p:nvSpPr>
        <p:spPr>
          <a:xfrm>
            <a:off x="8732520" y="6565392"/>
            <a:ext cx="2697480" cy="164592"/>
          </a:xfrm>
          <a:prstGeom prst="rect">
            <a:avLst/>
          </a:prstGeom>
          <a:noFill/>
          <a:ln/>
        </p:spPr>
        <p:txBody>
          <a:bodyPr wrap="square" lIns="0" tIns="0" rIns="0" bIns="0" rtlCol="0" anchor="ctr"/>
          <a:lstStyle/>
          <a:p>
            <a:pPr algn="r" indent="0" marL="0">
              <a:buNone/>
            </a:pPr>
            <a:r>
              <a:rPr lang="en-US" sz="700" dirty="0">
                <a:solidFill>
                  <a:srgbClr val="6D695F"/>
                </a:solidFill>
                <a:latin typeface="Aptos" pitchFamily="34" charset="0"/>
                <a:ea typeface="Aptos" pitchFamily="34" charset="-122"/>
                <a:cs typeface="Aptos" pitchFamily="34" charset="-120"/>
              </a:rPr>
              <a:t>Academic Project Presentation</a:t>
            </a:r>
            <a:endParaRPr lang="en-US" sz="70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STER_DARK">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502920" y="6510528"/>
            <a:ext cx="11173968" cy="0"/>
          </a:xfrm>
          <a:prstGeom prst="line">
            <a:avLst/>
          </a:prstGeom>
          <a:noFill/>
          <a:ln w="10160">
            <a:solidFill>
              <a:srgbClr val="3A3936"/>
            </a:solidFill>
            <a:prstDash val="solid"/>
          </a:ln>
        </p:spPr>
      </p:sp>
      <p:sp>
        <p:nvSpPr>
          <p:cNvPr id="3" name="Text 1"/>
          <p:cNvSpPr/>
          <p:nvPr/>
        </p:nvSpPr>
        <p:spPr>
          <a:xfrm>
            <a:off x="502920" y="6565392"/>
            <a:ext cx="2011680" cy="164592"/>
          </a:xfrm>
          <a:prstGeom prst="rect">
            <a:avLst/>
          </a:prstGeom>
          <a:noFill/>
          <a:ln/>
        </p:spPr>
        <p:txBody>
          <a:bodyPr wrap="square" lIns="0" tIns="0" rIns="0" bIns="0" rtlCol="0" anchor="ctr"/>
          <a:lstStyle/>
          <a:p>
            <a:pPr indent="0" marL="0">
              <a:buNone/>
            </a:pPr>
            <a:r>
              <a:rPr lang="en-US" sz="700" b="1" spc="180" kern="0" dirty="0">
                <a:solidFill>
                  <a:srgbClr val="9A968C"/>
                </a:solidFill>
                <a:latin typeface="Aptos" pitchFamily="34" charset="0"/>
                <a:ea typeface="Aptos" pitchFamily="34" charset="-122"/>
                <a:cs typeface="Aptos" pitchFamily="34" charset="-120"/>
              </a:rPr>
              <a:t>BEFOREYOUSIGN</a:t>
            </a:r>
            <a:endParaRPr lang="en-US" sz="700" dirty="0"/>
          </a:p>
        </p:txBody>
      </p:sp>
      <p:sp>
        <p:nvSpPr>
          <p:cNvPr id="4" name="Text 2"/>
          <p:cNvSpPr/>
          <p:nvPr/>
        </p:nvSpPr>
        <p:spPr>
          <a:xfrm>
            <a:off x="8366760" y="6565392"/>
            <a:ext cx="3063240" cy="164592"/>
          </a:xfrm>
          <a:prstGeom prst="rect">
            <a:avLst/>
          </a:prstGeom>
          <a:noFill/>
          <a:ln/>
        </p:spPr>
        <p:txBody>
          <a:bodyPr wrap="square" lIns="0" tIns="0" rIns="0" bIns="0" rtlCol="0" anchor="ctr"/>
          <a:lstStyle/>
          <a:p>
            <a:pPr algn="r" indent="0" marL="0">
              <a:buNone/>
            </a:pPr>
            <a:r>
              <a:rPr lang="en-US" sz="700" dirty="0">
                <a:solidFill>
                  <a:srgbClr val="9A968C"/>
                </a:solidFill>
                <a:latin typeface="Aptos" pitchFamily="34" charset="0"/>
                <a:ea typeface="Aptos" pitchFamily="34" charset="-122"/>
                <a:cs typeface="Aptos" pitchFamily="34" charset="-120"/>
              </a:rPr>
              <a:t>AI CONTRACT INTELLIGENCE</a:t>
            </a:r>
            <a:endParaRPr lang="en-US" sz="70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A968C"/>
                </a:solidFill>
                <a:latin typeface="Aptos"/>
                <a:ea typeface="Aptos"/>
                <a:cs typeface="Aptos"/>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7635240" cy="6858000"/>
          </a:xfrm>
          <a:prstGeom prst="rect">
            <a:avLst/>
          </a:prstGeom>
          <a:solidFill>
            <a:srgbClr val="F7F4EE"/>
          </a:solidFill>
          <a:ln w="12700">
            <a:solidFill>
              <a:srgbClr val="F7F4EE"/>
            </a:solidFill>
            <a:prstDash val="solid"/>
          </a:ln>
        </p:spPr>
      </p:sp>
      <p:sp>
        <p:nvSpPr>
          <p:cNvPr id="3" name="Text 1"/>
          <p:cNvSpPr/>
          <p:nvPr/>
        </p:nvSpPr>
        <p:spPr>
          <a:xfrm>
            <a:off x="585216" y="438912"/>
            <a:ext cx="4023360" cy="256032"/>
          </a:xfrm>
          <a:prstGeom prst="rect">
            <a:avLst/>
          </a:prstGeom>
          <a:noFill/>
          <a:ln/>
        </p:spPr>
        <p:txBody>
          <a:bodyPr wrap="square" lIns="0" tIns="0" rIns="0" bIns="0" rtlCol="0" anchor="ctr">
            <a:normAutofit/>
          </a:bodyPr>
          <a:lstStyle/>
          <a:p>
            <a:pPr algn="l" indent="0" marL="0">
              <a:buNone/>
            </a:pPr>
            <a:r>
              <a:rPr lang="en-US" sz="850" b="1" spc="160" kern="0" dirty="0">
                <a:solidFill>
                  <a:srgbClr val="6D695F"/>
                </a:solidFill>
                <a:latin typeface="Aptos" pitchFamily="34" charset="0"/>
                <a:ea typeface="Aptos" pitchFamily="34" charset="-122"/>
                <a:cs typeface="Aptos" pitchFamily="34" charset="-120"/>
              </a:rPr>
              <a:t>AI CONTRACT INTELLIGENCE / 2026</a:t>
            </a:r>
            <a:endParaRPr lang="en-US" sz="850" dirty="0"/>
          </a:p>
        </p:txBody>
      </p:sp>
      <p:sp>
        <p:nvSpPr>
          <p:cNvPr id="4" name="Text 2"/>
          <p:cNvSpPr/>
          <p:nvPr/>
        </p:nvSpPr>
        <p:spPr>
          <a:xfrm>
            <a:off x="585216" y="960120"/>
            <a:ext cx="5394960" cy="1115568"/>
          </a:xfrm>
          <a:prstGeom prst="rect">
            <a:avLst/>
          </a:prstGeom>
          <a:noFill/>
          <a:ln/>
        </p:spPr>
        <p:txBody>
          <a:bodyPr wrap="square" lIns="0" tIns="0" rIns="0" bIns="0" rtlCol="0" anchor="ctr">
            <a:normAutofit/>
          </a:bodyPr>
          <a:lstStyle/>
          <a:p>
            <a:pPr algn="l" indent="0" marL="0">
              <a:buNone/>
            </a:pPr>
            <a:r>
              <a:rPr lang="en-US" sz="3500" b="1" dirty="0">
                <a:solidFill>
                  <a:srgbClr val="111111"/>
                </a:solidFill>
                <a:latin typeface="Aptos" pitchFamily="34" charset="0"/>
                <a:ea typeface="Aptos" pitchFamily="34" charset="-122"/>
                <a:cs typeface="Aptos" pitchFamily="34" charset="-120"/>
              </a:rPr>
              <a:t>BEFORE</a:t>
            </a:r>
            <a:endParaRPr lang="en-US" sz="3500" dirty="0"/>
          </a:p>
          <a:p>
            <a:pPr algn="l" indent="0" marL="0">
              <a:buNone/>
            </a:pPr>
            <a:r>
              <a:rPr lang="en-US" sz="3500" b="1" dirty="0">
                <a:solidFill>
                  <a:srgbClr val="111111"/>
                </a:solidFill>
                <a:latin typeface="Aptos" pitchFamily="34" charset="0"/>
                <a:ea typeface="Aptos" pitchFamily="34" charset="-122"/>
                <a:cs typeface="Aptos" pitchFamily="34" charset="-120"/>
              </a:rPr>
              <a:t>YOUSIGN</a:t>
            </a:r>
            <a:endParaRPr lang="en-US" sz="3500" dirty="0"/>
          </a:p>
        </p:txBody>
      </p:sp>
      <p:sp>
        <p:nvSpPr>
          <p:cNvPr id="5" name="Text 3"/>
          <p:cNvSpPr/>
          <p:nvPr/>
        </p:nvSpPr>
        <p:spPr>
          <a:xfrm>
            <a:off x="621792" y="2359152"/>
            <a:ext cx="5029200" cy="960120"/>
          </a:xfrm>
          <a:prstGeom prst="rect">
            <a:avLst/>
          </a:prstGeom>
          <a:noFill/>
          <a:ln/>
        </p:spPr>
        <p:txBody>
          <a:bodyPr wrap="square" lIns="0" tIns="0" rIns="0" bIns="0" rtlCol="0" anchor="t">
            <a:normAutofit/>
          </a:bodyPr>
          <a:lstStyle/>
          <a:p>
            <a:pPr algn="l" indent="0" marL="0">
              <a:buNone/>
            </a:pPr>
            <a:r>
              <a:rPr lang="en-US" sz="2100" i="1" dirty="0">
                <a:solidFill>
                  <a:srgbClr val="111111"/>
                </a:solidFill>
                <a:latin typeface="Georgia" pitchFamily="34" charset="0"/>
                <a:ea typeface="Georgia" pitchFamily="34" charset="-122"/>
                <a:cs typeface="Georgia" pitchFamily="34" charset="-120"/>
              </a:rPr>
              <a:t>From issues to answers,</a:t>
            </a:r>
            <a:endParaRPr lang="en-US" sz="2100" dirty="0"/>
          </a:p>
          <a:p>
            <a:pPr algn="l" indent="0" marL="0">
              <a:buNone/>
            </a:pPr>
            <a:r>
              <a:rPr lang="en-US" sz="2100" i="1" dirty="0">
                <a:solidFill>
                  <a:srgbClr val="111111"/>
                </a:solidFill>
                <a:latin typeface="Georgia" pitchFamily="34" charset="0"/>
                <a:ea typeface="Georgia" pitchFamily="34" charset="-122"/>
                <a:cs typeface="Georgia" pitchFamily="34" charset="-120"/>
              </a:rPr>
              <a:t>your legal world made simple.</a:t>
            </a:r>
            <a:endParaRPr lang="en-US" sz="2100" dirty="0"/>
          </a:p>
        </p:txBody>
      </p:sp>
      <p:sp>
        <p:nvSpPr>
          <p:cNvPr id="6" name="Shape 4"/>
          <p:cNvSpPr/>
          <p:nvPr/>
        </p:nvSpPr>
        <p:spPr>
          <a:xfrm>
            <a:off x="621792" y="3511296"/>
            <a:ext cx="4846320" cy="0"/>
          </a:xfrm>
          <a:prstGeom prst="line">
            <a:avLst/>
          </a:prstGeom>
          <a:noFill/>
          <a:ln w="15240">
            <a:solidFill>
              <a:srgbClr val="3A3936"/>
            </a:solidFill>
            <a:prstDash val="solid"/>
          </a:ln>
        </p:spPr>
      </p:sp>
      <p:sp>
        <p:nvSpPr>
          <p:cNvPr id="7" name="Text 5"/>
          <p:cNvSpPr/>
          <p:nvPr/>
        </p:nvSpPr>
        <p:spPr>
          <a:xfrm>
            <a:off x="621792" y="3749040"/>
            <a:ext cx="4892040" cy="713232"/>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An intelligent operating layer for contract analysis,</a:t>
            </a:r>
            <a:endParaRPr lang="en-US" sz="1150" dirty="0"/>
          </a:p>
          <a:p>
            <a:pPr algn="l" indent="0" marL="0">
              <a:buNone/>
            </a:pPr>
            <a:r>
              <a:rPr lang="en-US" sz="1150" dirty="0">
                <a:solidFill>
                  <a:srgbClr val="6D695F"/>
                </a:solidFill>
                <a:latin typeface="Aptos" pitchFamily="34" charset="0"/>
                <a:ea typeface="Aptos" pitchFamily="34" charset="-122"/>
                <a:cs typeface="Aptos" pitchFamily="34" charset="-120"/>
              </a:rPr>
              <a:t>semantic risk benchmarking, negotiation and lifecycle control.</a:t>
            </a:r>
            <a:endParaRPr lang="en-US" sz="1150" dirty="0"/>
          </a:p>
        </p:txBody>
      </p:sp>
      <p:sp>
        <p:nvSpPr>
          <p:cNvPr id="8" name="Shape 6"/>
          <p:cNvSpPr/>
          <p:nvPr/>
        </p:nvSpPr>
        <p:spPr>
          <a:xfrm>
            <a:off x="621792" y="4754880"/>
            <a:ext cx="585216" cy="274320"/>
          </a:xfrm>
          <a:prstGeom prst="roundRect">
            <a:avLst>
              <a:gd name="adj" fmla="val 20000"/>
            </a:avLst>
          </a:prstGeom>
          <a:solidFill>
            <a:srgbClr val="C58A2B"/>
          </a:solidFill>
          <a:ln w="10160">
            <a:solidFill>
              <a:srgbClr val="C58A2B"/>
            </a:solidFill>
            <a:prstDash val="solid"/>
          </a:ln>
        </p:spPr>
      </p:sp>
      <p:sp>
        <p:nvSpPr>
          <p:cNvPr id="9" name="Text 7"/>
          <p:cNvSpPr/>
          <p:nvPr/>
        </p:nvSpPr>
        <p:spPr>
          <a:xfrm>
            <a:off x="621792" y="4764024"/>
            <a:ext cx="585216"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NLP</a:t>
            </a:r>
            <a:endParaRPr lang="en-US" sz="850" dirty="0"/>
          </a:p>
        </p:txBody>
      </p:sp>
      <p:sp>
        <p:nvSpPr>
          <p:cNvPr id="10" name="Shape 8"/>
          <p:cNvSpPr/>
          <p:nvPr/>
        </p:nvSpPr>
        <p:spPr>
          <a:xfrm>
            <a:off x="1280160" y="4754880"/>
            <a:ext cx="786384" cy="274320"/>
          </a:xfrm>
          <a:prstGeom prst="roundRect">
            <a:avLst>
              <a:gd name="adj" fmla="val 20000"/>
            </a:avLst>
          </a:prstGeom>
          <a:solidFill>
            <a:srgbClr val="5E6E86"/>
          </a:solidFill>
          <a:ln w="10160">
            <a:solidFill>
              <a:srgbClr val="5E6E86"/>
            </a:solidFill>
            <a:prstDash val="solid"/>
          </a:ln>
        </p:spPr>
      </p:sp>
      <p:sp>
        <p:nvSpPr>
          <p:cNvPr id="11" name="Text 9"/>
          <p:cNvSpPr/>
          <p:nvPr/>
        </p:nvSpPr>
        <p:spPr>
          <a:xfrm>
            <a:off x="1280160" y="4764024"/>
            <a:ext cx="786384"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EDGE ML</a:t>
            </a:r>
            <a:endParaRPr lang="en-US" sz="850" dirty="0"/>
          </a:p>
        </p:txBody>
      </p:sp>
      <p:sp>
        <p:nvSpPr>
          <p:cNvPr id="12" name="Shape 10"/>
          <p:cNvSpPr/>
          <p:nvPr/>
        </p:nvSpPr>
        <p:spPr>
          <a:xfrm>
            <a:off x="2139696" y="4754880"/>
            <a:ext cx="1115568" cy="274320"/>
          </a:xfrm>
          <a:prstGeom prst="roundRect">
            <a:avLst>
              <a:gd name="adj" fmla="val 20000"/>
            </a:avLst>
          </a:prstGeom>
          <a:solidFill>
            <a:srgbClr val="111111"/>
          </a:solidFill>
          <a:ln w="10160">
            <a:solidFill>
              <a:srgbClr val="111111"/>
            </a:solidFill>
            <a:prstDash val="solid"/>
          </a:ln>
        </p:spPr>
      </p:sp>
      <p:sp>
        <p:nvSpPr>
          <p:cNvPr id="13" name="Text 11"/>
          <p:cNvSpPr/>
          <p:nvPr/>
        </p:nvSpPr>
        <p:spPr>
          <a:xfrm>
            <a:off x="2139696" y="4764024"/>
            <a:ext cx="1115568"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GENERATIVE AI</a:t>
            </a:r>
            <a:endParaRPr lang="en-US" sz="850" dirty="0"/>
          </a:p>
        </p:txBody>
      </p:sp>
      <p:sp>
        <p:nvSpPr>
          <p:cNvPr id="14" name="Shape 12"/>
          <p:cNvSpPr/>
          <p:nvPr/>
        </p:nvSpPr>
        <p:spPr>
          <a:xfrm>
            <a:off x="3337560" y="4754880"/>
            <a:ext cx="1124712" cy="274320"/>
          </a:xfrm>
          <a:prstGeom prst="roundRect">
            <a:avLst>
              <a:gd name="adj" fmla="val 20000"/>
            </a:avLst>
          </a:prstGeom>
          <a:solidFill>
            <a:srgbClr val="4E7C52"/>
          </a:solidFill>
          <a:ln w="10160">
            <a:solidFill>
              <a:srgbClr val="4E7C52"/>
            </a:solidFill>
            <a:prstDash val="solid"/>
          </a:ln>
        </p:spPr>
      </p:sp>
      <p:sp>
        <p:nvSpPr>
          <p:cNvPr id="15" name="Text 13"/>
          <p:cNvSpPr/>
          <p:nvPr/>
        </p:nvSpPr>
        <p:spPr>
          <a:xfrm>
            <a:off x="3337560" y="4764024"/>
            <a:ext cx="11247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WEB PLATFORM</a:t>
            </a:r>
            <a:endParaRPr lang="en-US" sz="850" dirty="0"/>
          </a:p>
        </p:txBody>
      </p:sp>
      <p:sp>
        <p:nvSpPr>
          <p:cNvPr id="16" name="Text 14"/>
          <p:cNvSpPr/>
          <p:nvPr/>
        </p:nvSpPr>
        <p:spPr>
          <a:xfrm>
            <a:off x="621792" y="5641848"/>
            <a:ext cx="1051560" cy="182880"/>
          </a:xfrm>
          <a:prstGeom prst="rect">
            <a:avLst/>
          </a:prstGeom>
          <a:noFill/>
          <a:ln/>
        </p:spPr>
        <p:txBody>
          <a:bodyPr wrap="square" lIns="0" tIns="0" rIns="0" bIns="0" rtlCol="0" anchor="ctr">
            <a:normAutofit/>
          </a:bodyPr>
          <a:lstStyle/>
          <a:p>
            <a:pPr algn="l" indent="0" marL="0">
              <a:buNone/>
            </a:pPr>
            <a:r>
              <a:rPr lang="en-US" sz="850" b="1" dirty="0">
                <a:solidFill>
                  <a:srgbClr val="6D695F"/>
                </a:solidFill>
                <a:latin typeface="Aptos" pitchFamily="34" charset="0"/>
                <a:ea typeface="Aptos" pitchFamily="34" charset="-122"/>
                <a:cs typeface="Aptos" pitchFamily="34" charset="-120"/>
              </a:rPr>
              <a:t>Presented by</a:t>
            </a:r>
            <a:endParaRPr lang="en-US" sz="850" dirty="0"/>
          </a:p>
        </p:txBody>
      </p:sp>
      <p:sp>
        <p:nvSpPr>
          <p:cNvPr id="17" name="Text 15"/>
          <p:cNvSpPr/>
          <p:nvPr/>
        </p:nvSpPr>
        <p:spPr>
          <a:xfrm>
            <a:off x="621792" y="5870448"/>
            <a:ext cx="2468880" cy="320040"/>
          </a:xfrm>
          <a:prstGeom prst="rect">
            <a:avLst/>
          </a:prstGeom>
          <a:noFill/>
          <a:ln/>
        </p:spPr>
        <p:txBody>
          <a:bodyPr wrap="square" lIns="0" tIns="0" rIns="0" bIns="0" rtlCol="0" anchor="ctr">
            <a:normAutofit/>
          </a:bodyPr>
          <a:lstStyle/>
          <a:p>
            <a:pPr algn="l" indent="0" marL="0">
              <a:buNone/>
            </a:pPr>
            <a:r>
              <a:rPr lang="en-US" sz="1400" b="1" dirty="0">
                <a:solidFill>
                  <a:srgbClr val="111111"/>
                </a:solidFill>
                <a:latin typeface="Aptos" pitchFamily="34" charset="0"/>
                <a:ea typeface="Aptos" pitchFamily="34" charset="-122"/>
                <a:cs typeface="Aptos" pitchFamily="34" charset="-120"/>
              </a:rPr>
              <a:t>Srinivas Jangiti</a:t>
            </a:r>
            <a:endParaRPr lang="en-US" sz="1400" dirty="0"/>
          </a:p>
        </p:txBody>
      </p:sp>
      <p:sp>
        <p:nvSpPr>
          <p:cNvPr id="18" name="Text 16"/>
          <p:cNvSpPr/>
          <p:nvPr/>
        </p:nvSpPr>
        <p:spPr>
          <a:xfrm>
            <a:off x="621792" y="6199632"/>
            <a:ext cx="4389120" cy="228600"/>
          </a:xfrm>
          <a:prstGeom prst="rect">
            <a:avLst/>
          </a:prstGeom>
          <a:noFill/>
          <a:ln/>
        </p:spPr>
        <p:txBody>
          <a:bodyPr wrap="square" lIns="0" tIns="0" rIns="0" bIns="0" rtlCol="0" anchor="ctr">
            <a:normAutofit/>
          </a:bodyPr>
          <a:lstStyle/>
          <a:p>
            <a:pPr algn="l" indent="0" marL="0">
              <a:buNone/>
            </a:pPr>
            <a:r>
              <a:rPr lang="en-US" sz="870" dirty="0">
                <a:solidFill>
                  <a:srgbClr val="6D695F"/>
                </a:solidFill>
                <a:latin typeface="Aptos" pitchFamily="34" charset="0"/>
                <a:ea typeface="Aptos" pitchFamily="34" charset="-122"/>
                <a:cs typeface="Aptos" pitchFamily="34" charset="-120"/>
              </a:rPr>
              <a:t>B.Tech — Computer Science &amp; Engineering (AI)</a:t>
            </a:r>
            <a:endParaRPr lang="en-US" sz="870" dirty="0"/>
          </a:p>
        </p:txBody>
      </p:sp>
      <p:sp>
        <p:nvSpPr>
          <p:cNvPr id="19" name="Text 17"/>
          <p:cNvSpPr/>
          <p:nvPr/>
        </p:nvSpPr>
        <p:spPr>
          <a:xfrm>
            <a:off x="8092440" y="530352"/>
            <a:ext cx="2880360" cy="749808"/>
          </a:xfrm>
          <a:prstGeom prst="rect">
            <a:avLst/>
          </a:prstGeom>
          <a:noFill/>
          <a:ln/>
        </p:spPr>
        <p:txBody>
          <a:bodyPr wrap="square" lIns="0" tIns="0" rIns="0" bIns="0" rtlCol="0" anchor="t">
            <a:normAutofit/>
          </a:bodyPr>
          <a:lstStyle/>
          <a:p>
            <a:pPr algn="l" indent="0" marL="0">
              <a:buNone/>
            </a:pPr>
            <a:r>
              <a:rPr lang="en-US" sz="850" b="1" spc="200" kern="0" dirty="0">
                <a:solidFill>
                  <a:srgbClr val="A9A59A"/>
                </a:solidFill>
                <a:latin typeface="Aptos" pitchFamily="34" charset="0"/>
                <a:ea typeface="Aptos" pitchFamily="34" charset="-122"/>
                <a:cs typeface="Aptos" pitchFamily="34" charset="-120"/>
              </a:rPr>
              <a:t>LEGAL</a:t>
            </a:r>
            <a:endParaRPr lang="en-US" sz="850" dirty="0"/>
          </a:p>
          <a:p>
            <a:pPr algn="l" indent="0" marL="0">
              <a:buNone/>
            </a:pPr>
            <a:r>
              <a:rPr lang="en-US" sz="850" b="1" spc="200" kern="0" dirty="0">
                <a:solidFill>
                  <a:srgbClr val="A9A59A"/>
                </a:solidFill>
                <a:latin typeface="Aptos" pitchFamily="34" charset="0"/>
                <a:ea typeface="Aptos" pitchFamily="34" charset="-122"/>
                <a:cs typeface="Aptos" pitchFamily="34" charset="-120"/>
              </a:rPr>
              <a:t>INTELLIGENCE</a:t>
            </a:r>
            <a:endParaRPr lang="en-US" sz="850" dirty="0"/>
          </a:p>
        </p:txBody>
      </p:sp>
      <p:sp>
        <p:nvSpPr>
          <p:cNvPr id="20" name="Shape 18"/>
          <p:cNvSpPr/>
          <p:nvPr/>
        </p:nvSpPr>
        <p:spPr>
          <a:xfrm>
            <a:off x="8101584" y="1417320"/>
            <a:ext cx="3337560" cy="0"/>
          </a:xfrm>
          <a:prstGeom prst="line">
            <a:avLst/>
          </a:prstGeom>
          <a:noFill/>
          <a:ln w="13970">
            <a:solidFill>
              <a:srgbClr val="3A3936"/>
            </a:solidFill>
            <a:prstDash val="solid"/>
          </a:ln>
        </p:spPr>
      </p:sp>
      <p:pic>
        <p:nvPicPr>
          <p:cNvPr id="21" name="Image 0" descr="/mnt/data/srinivas_circle.png">    </p:cNvPr>
          <p:cNvPicPr>
            <a:picLocks noChangeAspect="1"/>
          </p:cNvPicPr>
          <p:nvPr/>
        </p:nvPicPr>
        <p:blipFill>
          <a:blip r:embed="rId1"/>
          <a:stretch>
            <a:fillRect/>
          </a:stretch>
        </p:blipFill>
        <p:spPr>
          <a:xfrm>
            <a:off x="8229600" y="1828800"/>
            <a:ext cx="1965960" cy="1965960"/>
          </a:xfrm>
          <a:prstGeom prst="rect">
            <a:avLst/>
          </a:prstGeom>
        </p:spPr>
      </p:pic>
      <p:sp>
        <p:nvSpPr>
          <p:cNvPr id="22" name="Text 19"/>
          <p:cNvSpPr/>
          <p:nvPr/>
        </p:nvSpPr>
        <p:spPr>
          <a:xfrm>
            <a:off x="8101584" y="4206240"/>
            <a:ext cx="1097280" cy="219456"/>
          </a:xfrm>
          <a:prstGeom prst="rect">
            <a:avLst/>
          </a:prstGeom>
          <a:noFill/>
          <a:ln/>
        </p:spPr>
        <p:txBody>
          <a:bodyPr wrap="square" lIns="0" tIns="0" rIns="0" bIns="0" rtlCol="0" anchor="ctr">
            <a:normAutofit/>
          </a:bodyPr>
          <a:lstStyle/>
          <a:p>
            <a:pPr algn="l" indent="0" marL="0">
              <a:buNone/>
            </a:pPr>
            <a:r>
              <a:rPr lang="en-US" sz="800" b="1" spc="150" kern="0" dirty="0">
                <a:solidFill>
                  <a:srgbClr val="A9A59A"/>
                </a:solidFill>
                <a:latin typeface="Aptos" pitchFamily="34" charset="0"/>
                <a:ea typeface="Aptos" pitchFamily="34" charset="-122"/>
                <a:cs typeface="Aptos" pitchFamily="34" charset="-120"/>
              </a:rPr>
              <a:t>PROJECT / 01</a:t>
            </a:r>
            <a:endParaRPr lang="en-US" sz="800" dirty="0"/>
          </a:p>
        </p:txBody>
      </p:sp>
      <p:sp>
        <p:nvSpPr>
          <p:cNvPr id="23" name="Text 20"/>
          <p:cNvSpPr/>
          <p:nvPr/>
        </p:nvSpPr>
        <p:spPr>
          <a:xfrm>
            <a:off x="8101584" y="4535424"/>
            <a:ext cx="2788920" cy="786384"/>
          </a:xfrm>
          <a:prstGeom prst="rect">
            <a:avLst/>
          </a:prstGeom>
          <a:noFill/>
          <a:ln/>
        </p:spPr>
        <p:txBody>
          <a:bodyPr wrap="square" lIns="0" tIns="0" rIns="0" bIns="0" rtlCol="0" anchor="t">
            <a:normAutofit/>
          </a:bodyPr>
          <a:lstStyle/>
          <a:p>
            <a:pPr algn="l" indent="0" marL="0">
              <a:buNone/>
            </a:pPr>
            <a:r>
              <a:rPr lang="en-US" sz="1800" i="1" dirty="0">
                <a:solidFill>
                  <a:srgbClr val="FFFFFF"/>
                </a:solidFill>
                <a:latin typeface="Georgia" pitchFamily="34" charset="0"/>
                <a:ea typeface="Georgia" pitchFamily="34" charset="-122"/>
                <a:cs typeface="Georgia" pitchFamily="34" charset="-120"/>
              </a:rPr>
              <a:t>Contract review</a:t>
            </a:r>
            <a:endParaRPr lang="en-US" sz="1800" dirty="0"/>
          </a:p>
          <a:p>
            <a:pPr algn="l" indent="0" marL="0">
              <a:buNone/>
            </a:pPr>
            <a:r>
              <a:rPr lang="en-US" sz="1800" i="1" dirty="0">
                <a:solidFill>
                  <a:srgbClr val="FFFFFF"/>
                </a:solidFill>
                <a:latin typeface="Georgia" pitchFamily="34" charset="0"/>
                <a:ea typeface="Georgia" pitchFamily="34" charset="-122"/>
                <a:cs typeface="Georgia" pitchFamily="34" charset="-120"/>
              </a:rPr>
              <a:t>without the black box.</a:t>
            </a:r>
            <a:endParaRPr lang="en-US" sz="1800" dirty="0"/>
          </a:p>
        </p:txBody>
      </p:sp>
      <p:sp>
        <p:nvSpPr>
          <p:cNvPr id="24" name="Shape 21"/>
          <p:cNvSpPr/>
          <p:nvPr/>
        </p:nvSpPr>
        <p:spPr>
          <a:xfrm>
            <a:off x="8101584" y="5632704"/>
            <a:ext cx="2606040" cy="310896"/>
          </a:xfrm>
          <a:prstGeom prst="roundRect">
            <a:avLst>
              <a:gd name="adj" fmla="val 23529"/>
            </a:avLst>
          </a:prstGeom>
          <a:solidFill>
            <a:srgbClr val="242321"/>
          </a:solidFill>
          <a:ln w="10160">
            <a:solidFill>
              <a:srgbClr val="45423E"/>
            </a:solidFill>
            <a:prstDash val="solid"/>
          </a:ln>
        </p:spPr>
      </p:sp>
      <p:sp>
        <p:nvSpPr>
          <p:cNvPr id="25" name="Text 22"/>
          <p:cNvSpPr/>
          <p:nvPr/>
        </p:nvSpPr>
        <p:spPr>
          <a:xfrm>
            <a:off x="8101584" y="5641848"/>
            <a:ext cx="2606040" cy="274320"/>
          </a:xfrm>
          <a:prstGeom prst="rect">
            <a:avLst/>
          </a:prstGeom>
          <a:noFill/>
          <a:ln/>
        </p:spPr>
        <p:txBody>
          <a:bodyPr wrap="square" lIns="0" tIns="0" rIns="0" bIns="0" rtlCol="0" anchor="ctr">
            <a:normAutofit/>
          </a:bodyPr>
          <a:lstStyle/>
          <a:p>
            <a:pPr algn="ctr" indent="0" marL="0">
              <a:buNone/>
            </a:pPr>
            <a:r>
              <a:rPr lang="en-US" sz="850" b="1" dirty="0">
                <a:solidFill>
                  <a:srgbClr val="E8E3D9"/>
                </a:solidFill>
                <a:latin typeface="Aptos" pitchFamily="34" charset="0"/>
                <a:ea typeface="Aptos" pitchFamily="34" charset="-122"/>
                <a:cs typeface="Aptos" pitchFamily="34" charset="-120"/>
              </a:rPr>
              <a:t>beforeyousign.vercel.app</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01  /  THE PROBLEM</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Contracts are readable. The risk is not.</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The core problem is legal asymmetry: the drafter typically has the information, expertise and negotiation leverage.</a:t>
            </a:r>
            <a:endParaRPr lang="en-US" sz="1150" dirty="0"/>
          </a:p>
        </p:txBody>
      </p:sp>
      <p:sp>
        <p:nvSpPr>
          <p:cNvPr id="5" name="Shape 3"/>
          <p:cNvSpPr/>
          <p:nvPr/>
        </p:nvSpPr>
        <p:spPr>
          <a:xfrm>
            <a:off x="548640" y="1874520"/>
            <a:ext cx="3703320" cy="4142232"/>
          </a:xfrm>
          <a:prstGeom prst="rect">
            <a:avLst/>
          </a:prstGeom>
          <a:solidFill>
            <a:srgbClr val="111111"/>
          </a:solidFill>
          <a:ln w="12700">
            <a:solidFill>
              <a:srgbClr val="111111"/>
            </a:solidFill>
            <a:prstDash val="solid"/>
          </a:ln>
        </p:spPr>
      </p:sp>
      <p:sp>
        <p:nvSpPr>
          <p:cNvPr id="6" name="Text 4"/>
          <p:cNvSpPr/>
          <p:nvPr/>
        </p:nvSpPr>
        <p:spPr>
          <a:xfrm>
            <a:off x="822960" y="2221992"/>
            <a:ext cx="3108960" cy="1417320"/>
          </a:xfrm>
          <a:prstGeom prst="rect">
            <a:avLst/>
          </a:prstGeom>
          <a:noFill/>
          <a:ln/>
        </p:spPr>
        <p:txBody>
          <a:bodyPr wrap="square" lIns="0" tIns="0" rIns="0" bIns="0" rtlCol="0" anchor="t">
            <a:normAutofit/>
          </a:bodyPr>
          <a:lstStyle/>
          <a:p>
            <a:pPr algn="l" indent="0" marL="0">
              <a:buNone/>
            </a:pPr>
            <a:r>
              <a:rPr lang="en-US" sz="2100" b="1" dirty="0">
                <a:solidFill>
                  <a:srgbClr val="FFFFFF"/>
                </a:solidFill>
                <a:latin typeface="Aptos" pitchFamily="34" charset="0"/>
                <a:ea typeface="Aptos" pitchFamily="34" charset="-122"/>
                <a:cs typeface="Aptos" pitchFamily="34" charset="-120"/>
              </a:rPr>
              <a:t>THE SIGNER</a:t>
            </a:r>
            <a:endParaRPr lang="en-US" sz="2100" dirty="0"/>
          </a:p>
          <a:p>
            <a:pPr algn="l" indent="0" marL="0">
              <a:buNone/>
            </a:pPr>
            <a:r>
              <a:rPr lang="en-US" sz="2100" b="1" dirty="0">
                <a:solidFill>
                  <a:srgbClr val="FFFFFF"/>
                </a:solidFill>
                <a:latin typeface="Aptos" pitchFamily="34" charset="0"/>
                <a:ea typeface="Aptos" pitchFamily="34" charset="-122"/>
                <a:cs typeface="Aptos" pitchFamily="34" charset="-120"/>
              </a:rPr>
              <a:t>SEES THE DOCUMENT.</a:t>
            </a:r>
            <a:endParaRPr lang="en-US" sz="2100" dirty="0"/>
          </a:p>
          <a:p>
            <a:pPr algn="l" indent="0" marL="0">
              <a:buNone/>
            </a:pPr>
            <a:r>
              <a:rPr lang="en-US" sz="2100" b="1" dirty="0">
                <a:solidFill>
                  <a:srgbClr val="FFFFFF"/>
                </a:solidFill>
                <a:latin typeface="Aptos" pitchFamily="34" charset="0"/>
                <a:ea typeface="Aptos" pitchFamily="34" charset="-122"/>
                <a:cs typeface="Aptos" pitchFamily="34" charset="-120"/>
              </a:rPr>
              <a:t>THE DRAFTER SEES</a:t>
            </a:r>
            <a:endParaRPr lang="en-US" sz="2100" dirty="0"/>
          </a:p>
          <a:p>
            <a:pPr algn="l" indent="0" marL="0">
              <a:buNone/>
            </a:pPr>
            <a:r>
              <a:rPr lang="en-US" sz="2100" b="1" dirty="0">
                <a:solidFill>
                  <a:srgbClr val="FFFFFF"/>
                </a:solidFill>
                <a:latin typeface="Aptos" pitchFamily="34" charset="0"/>
                <a:ea typeface="Aptos" pitchFamily="34" charset="-122"/>
                <a:cs typeface="Aptos" pitchFamily="34" charset="-120"/>
              </a:rPr>
              <a:t>THE SYSTEM.</a:t>
            </a:r>
            <a:endParaRPr lang="en-US" sz="2100" dirty="0"/>
          </a:p>
        </p:txBody>
      </p:sp>
      <p:sp>
        <p:nvSpPr>
          <p:cNvPr id="7" name="Text 5"/>
          <p:cNvSpPr/>
          <p:nvPr/>
        </p:nvSpPr>
        <p:spPr>
          <a:xfrm>
            <a:off x="822960" y="3959352"/>
            <a:ext cx="3035808" cy="1051560"/>
          </a:xfrm>
          <a:prstGeom prst="rect">
            <a:avLst/>
          </a:prstGeom>
          <a:noFill/>
          <a:ln/>
        </p:spPr>
        <p:txBody>
          <a:bodyPr wrap="square" lIns="0" tIns="0" rIns="0" bIns="0" rtlCol="0" anchor="t">
            <a:normAutofit/>
          </a:bodyPr>
          <a:lstStyle/>
          <a:p>
            <a:pPr algn="l" indent="0" marL="0">
              <a:buNone/>
            </a:pPr>
            <a:r>
              <a:rPr lang="en-US" sz="1080" dirty="0">
                <a:solidFill>
                  <a:srgbClr val="C9C5BC"/>
                </a:solidFill>
                <a:latin typeface="Aptos" pitchFamily="34" charset="0"/>
                <a:ea typeface="Aptos" pitchFamily="34" charset="-122"/>
                <a:cs typeface="Aptos" pitchFamily="34" charset="-120"/>
              </a:rPr>
              <a:t>Fine print turns otherwise routine agreements into asymmetric exposure: renewal traps, broad indemnity, vague obligations and one-sided remedies.</a:t>
            </a:r>
            <a:endParaRPr lang="en-US" sz="1080" dirty="0"/>
          </a:p>
        </p:txBody>
      </p:sp>
      <p:sp>
        <p:nvSpPr>
          <p:cNvPr id="8" name="Shape 6"/>
          <p:cNvSpPr/>
          <p:nvPr/>
        </p:nvSpPr>
        <p:spPr>
          <a:xfrm>
            <a:off x="822960" y="5376672"/>
            <a:ext cx="1572768" cy="310896"/>
          </a:xfrm>
          <a:prstGeom prst="roundRect">
            <a:avLst>
              <a:gd name="adj" fmla="val 23529"/>
            </a:avLst>
          </a:prstGeom>
          <a:solidFill>
            <a:srgbClr val="F1E4CB"/>
          </a:solidFill>
          <a:ln w="10160">
            <a:solidFill>
              <a:srgbClr val="F1E4CB"/>
            </a:solidFill>
            <a:prstDash val="solid"/>
          </a:ln>
        </p:spPr>
      </p:sp>
      <p:sp>
        <p:nvSpPr>
          <p:cNvPr id="9" name="Text 7"/>
          <p:cNvSpPr/>
          <p:nvPr/>
        </p:nvSpPr>
        <p:spPr>
          <a:xfrm>
            <a:off x="822960" y="5385816"/>
            <a:ext cx="1572768" cy="274320"/>
          </a:xfrm>
          <a:prstGeom prst="rect">
            <a:avLst/>
          </a:prstGeom>
          <a:noFill/>
          <a:ln/>
        </p:spPr>
        <p:txBody>
          <a:bodyPr wrap="square" lIns="0" tIns="0" rIns="0" bIns="0" rtlCol="0" anchor="ctr">
            <a:normAutofit/>
          </a:bodyPr>
          <a:lstStyle/>
          <a:p>
            <a:pPr algn="ctr" indent="0" marL="0">
              <a:buNone/>
            </a:pPr>
            <a:r>
              <a:rPr lang="en-US" sz="850" b="1" dirty="0">
                <a:solidFill>
                  <a:srgbClr val="111111"/>
                </a:solidFill>
                <a:latin typeface="Aptos" pitchFamily="34" charset="0"/>
                <a:ea typeface="Aptos" pitchFamily="34" charset="-122"/>
                <a:cs typeface="Aptos" pitchFamily="34" charset="-120"/>
              </a:rPr>
              <a:t>LEGAL ASYMMETRY</a:t>
            </a:r>
            <a:endParaRPr lang="en-US" sz="850" dirty="0"/>
          </a:p>
        </p:txBody>
      </p:sp>
      <p:sp>
        <p:nvSpPr>
          <p:cNvPr id="10" name="Shape 8"/>
          <p:cNvSpPr/>
          <p:nvPr/>
        </p:nvSpPr>
        <p:spPr>
          <a:xfrm>
            <a:off x="4526280" y="1874520"/>
            <a:ext cx="3136392" cy="1353312"/>
          </a:xfrm>
          <a:prstGeom prst="rect">
            <a:avLst/>
          </a:prstGeom>
          <a:solidFill>
            <a:srgbClr val="FFFFFF"/>
          </a:solidFill>
          <a:ln w="12700">
            <a:solidFill>
              <a:srgbClr val="D6D0C5"/>
            </a:solidFill>
            <a:prstDash val="solid"/>
          </a:ln>
        </p:spPr>
      </p:sp>
      <p:sp>
        <p:nvSpPr>
          <p:cNvPr id="11" name="Shape 9"/>
          <p:cNvSpPr/>
          <p:nvPr/>
        </p:nvSpPr>
        <p:spPr>
          <a:xfrm>
            <a:off x="4672584" y="2020824"/>
            <a:ext cx="438912" cy="274320"/>
          </a:xfrm>
          <a:prstGeom prst="roundRect">
            <a:avLst>
              <a:gd name="adj" fmla="val 20000"/>
            </a:avLst>
          </a:prstGeom>
          <a:solidFill>
            <a:srgbClr val="111111"/>
          </a:solidFill>
          <a:ln w="10160">
            <a:solidFill>
              <a:srgbClr val="111111"/>
            </a:solidFill>
            <a:prstDash val="solid"/>
          </a:ln>
        </p:spPr>
      </p:sp>
      <p:sp>
        <p:nvSpPr>
          <p:cNvPr id="12" name="Text 10"/>
          <p:cNvSpPr/>
          <p:nvPr/>
        </p:nvSpPr>
        <p:spPr>
          <a:xfrm>
            <a:off x="4672584" y="2029968"/>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01</a:t>
            </a:r>
            <a:endParaRPr lang="en-US" sz="850" dirty="0"/>
          </a:p>
        </p:txBody>
      </p:sp>
      <p:sp>
        <p:nvSpPr>
          <p:cNvPr id="13" name="Text 11"/>
          <p:cNvSpPr/>
          <p:nvPr/>
        </p:nvSpPr>
        <p:spPr>
          <a:xfrm>
            <a:off x="5239512" y="2020824"/>
            <a:ext cx="2276856" cy="256032"/>
          </a:xfrm>
          <a:prstGeom prst="rect">
            <a:avLst/>
          </a:prstGeom>
          <a:noFill/>
          <a:ln/>
        </p:spPr>
        <p:txBody>
          <a:bodyPr wrap="square" lIns="0" tIns="0" rIns="0" bIns="0" rtlCol="0" anchor="ctr">
            <a:normAutofit/>
          </a:bodyPr>
          <a:lstStyle/>
          <a:p>
            <a:pPr algn="l" indent="0" marL="0">
              <a:buNone/>
            </a:pPr>
            <a:r>
              <a:rPr lang="en-US" sz="1100" b="1" dirty="0">
                <a:solidFill>
                  <a:srgbClr val="111111"/>
                </a:solidFill>
                <a:latin typeface="Aptos" pitchFamily="34" charset="0"/>
                <a:ea typeface="Aptos" pitchFamily="34" charset="-122"/>
                <a:cs typeface="Aptos" pitchFamily="34" charset="-120"/>
              </a:rPr>
              <a:t>Opaque legalese</a:t>
            </a:r>
            <a:endParaRPr lang="en-US" sz="1100" dirty="0"/>
          </a:p>
        </p:txBody>
      </p:sp>
      <p:sp>
        <p:nvSpPr>
          <p:cNvPr id="14" name="Text 12"/>
          <p:cNvSpPr/>
          <p:nvPr/>
        </p:nvSpPr>
        <p:spPr>
          <a:xfrm>
            <a:off x="4672584" y="2404872"/>
            <a:ext cx="2843784" cy="713232"/>
          </a:xfrm>
          <a:prstGeom prst="rect">
            <a:avLst/>
          </a:prstGeom>
          <a:noFill/>
          <a:ln/>
        </p:spPr>
        <p:txBody>
          <a:bodyPr wrap="square" lIns="0" tIns="0" rIns="0" bIns="0" rtlCol="0" anchor="t">
            <a:normAutofit/>
          </a:bodyPr>
          <a:lstStyle/>
          <a:p>
            <a:pPr algn="l" indent="0" marL="0">
              <a:lnSpc>
                <a:spcPct val="108000"/>
              </a:lnSpc>
              <a:buNone/>
            </a:pPr>
            <a:r>
              <a:rPr lang="en-US" sz="930" dirty="0">
                <a:solidFill>
                  <a:srgbClr val="6D695F"/>
                </a:solidFill>
                <a:latin typeface="Aptos" pitchFamily="34" charset="0"/>
                <a:ea typeface="Aptos" pitchFamily="34" charset="-122"/>
                <a:cs typeface="Aptos" pitchFamily="34" charset="-120"/>
              </a:rPr>
              <a:t>Important obligations are often embedded in long, technical clauses that are difficult to compare or interpret quickly.</a:t>
            </a:r>
            <a:endParaRPr lang="en-US" sz="930" dirty="0"/>
          </a:p>
        </p:txBody>
      </p:sp>
      <p:sp>
        <p:nvSpPr>
          <p:cNvPr id="15" name="Shape 13"/>
          <p:cNvSpPr/>
          <p:nvPr/>
        </p:nvSpPr>
        <p:spPr>
          <a:xfrm>
            <a:off x="7818120" y="1874520"/>
            <a:ext cx="3246120" cy="1353312"/>
          </a:xfrm>
          <a:prstGeom prst="rect">
            <a:avLst/>
          </a:prstGeom>
          <a:solidFill>
            <a:srgbClr val="FFFFFF"/>
          </a:solidFill>
          <a:ln w="12700">
            <a:solidFill>
              <a:srgbClr val="D6D0C5"/>
            </a:solidFill>
            <a:prstDash val="solid"/>
          </a:ln>
        </p:spPr>
      </p:sp>
      <p:sp>
        <p:nvSpPr>
          <p:cNvPr id="16" name="Shape 14"/>
          <p:cNvSpPr/>
          <p:nvPr/>
        </p:nvSpPr>
        <p:spPr>
          <a:xfrm>
            <a:off x="7964424" y="2020824"/>
            <a:ext cx="438912" cy="274320"/>
          </a:xfrm>
          <a:prstGeom prst="roundRect">
            <a:avLst>
              <a:gd name="adj" fmla="val 20000"/>
            </a:avLst>
          </a:prstGeom>
          <a:solidFill>
            <a:srgbClr val="111111"/>
          </a:solidFill>
          <a:ln w="10160">
            <a:solidFill>
              <a:srgbClr val="111111"/>
            </a:solidFill>
            <a:prstDash val="solid"/>
          </a:ln>
        </p:spPr>
      </p:sp>
      <p:sp>
        <p:nvSpPr>
          <p:cNvPr id="17" name="Text 15"/>
          <p:cNvSpPr/>
          <p:nvPr/>
        </p:nvSpPr>
        <p:spPr>
          <a:xfrm>
            <a:off x="7964424" y="2029968"/>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02</a:t>
            </a:r>
            <a:endParaRPr lang="en-US" sz="850" dirty="0"/>
          </a:p>
        </p:txBody>
      </p:sp>
      <p:sp>
        <p:nvSpPr>
          <p:cNvPr id="18" name="Text 16"/>
          <p:cNvSpPr/>
          <p:nvPr/>
        </p:nvSpPr>
        <p:spPr>
          <a:xfrm>
            <a:off x="8531352" y="2020824"/>
            <a:ext cx="2386584" cy="256032"/>
          </a:xfrm>
          <a:prstGeom prst="rect">
            <a:avLst/>
          </a:prstGeom>
          <a:noFill/>
          <a:ln/>
        </p:spPr>
        <p:txBody>
          <a:bodyPr wrap="square" lIns="0" tIns="0" rIns="0" bIns="0" rtlCol="0" anchor="ctr">
            <a:normAutofit/>
          </a:bodyPr>
          <a:lstStyle/>
          <a:p>
            <a:pPr algn="l" indent="0" marL="0">
              <a:buNone/>
            </a:pPr>
            <a:r>
              <a:rPr lang="en-US" sz="1100" b="1" dirty="0">
                <a:solidFill>
                  <a:srgbClr val="111111"/>
                </a:solidFill>
                <a:latin typeface="Aptos" pitchFamily="34" charset="0"/>
                <a:ea typeface="Aptos" pitchFamily="34" charset="-122"/>
                <a:cs typeface="Aptos" pitchFamily="34" charset="-120"/>
              </a:rPr>
              <a:t>Cost of review</a:t>
            </a:r>
            <a:endParaRPr lang="en-US" sz="1100" dirty="0"/>
          </a:p>
        </p:txBody>
      </p:sp>
      <p:sp>
        <p:nvSpPr>
          <p:cNvPr id="19" name="Text 17"/>
          <p:cNvSpPr/>
          <p:nvPr/>
        </p:nvSpPr>
        <p:spPr>
          <a:xfrm>
            <a:off x="7964424" y="2404872"/>
            <a:ext cx="2953512" cy="713232"/>
          </a:xfrm>
          <a:prstGeom prst="rect">
            <a:avLst/>
          </a:prstGeom>
          <a:noFill/>
          <a:ln/>
        </p:spPr>
        <p:txBody>
          <a:bodyPr wrap="square" lIns="0" tIns="0" rIns="0" bIns="0" rtlCol="0" anchor="t">
            <a:normAutofit/>
          </a:bodyPr>
          <a:lstStyle/>
          <a:p>
            <a:pPr algn="l" indent="0" marL="0">
              <a:lnSpc>
                <a:spcPct val="108000"/>
              </a:lnSpc>
              <a:buNone/>
            </a:pPr>
            <a:r>
              <a:rPr lang="en-US" sz="930" dirty="0">
                <a:solidFill>
                  <a:srgbClr val="6D695F"/>
                </a:solidFill>
                <a:latin typeface="Aptos" pitchFamily="34" charset="0"/>
                <a:ea typeface="Aptos" pitchFamily="34" charset="-122"/>
                <a:cs typeface="Aptos" pitchFamily="34" charset="-120"/>
              </a:rPr>
              <a:t>Professional legal review is valuable, but it is not always accessible for routine contracts, freelancers and early-stage teams.</a:t>
            </a:r>
            <a:endParaRPr lang="en-US" sz="930" dirty="0"/>
          </a:p>
        </p:txBody>
      </p:sp>
      <p:sp>
        <p:nvSpPr>
          <p:cNvPr id="20" name="Shape 18"/>
          <p:cNvSpPr/>
          <p:nvPr/>
        </p:nvSpPr>
        <p:spPr>
          <a:xfrm>
            <a:off x="4526280" y="3401568"/>
            <a:ext cx="3136392" cy="1353312"/>
          </a:xfrm>
          <a:prstGeom prst="rect">
            <a:avLst/>
          </a:prstGeom>
          <a:solidFill>
            <a:srgbClr val="FFFFFF"/>
          </a:solidFill>
          <a:ln w="12700">
            <a:solidFill>
              <a:srgbClr val="D6D0C5"/>
            </a:solidFill>
            <a:prstDash val="solid"/>
          </a:ln>
        </p:spPr>
      </p:sp>
      <p:sp>
        <p:nvSpPr>
          <p:cNvPr id="21" name="Shape 19"/>
          <p:cNvSpPr/>
          <p:nvPr/>
        </p:nvSpPr>
        <p:spPr>
          <a:xfrm>
            <a:off x="4672584" y="3547872"/>
            <a:ext cx="438912" cy="274320"/>
          </a:xfrm>
          <a:prstGeom prst="roundRect">
            <a:avLst>
              <a:gd name="adj" fmla="val 20000"/>
            </a:avLst>
          </a:prstGeom>
          <a:solidFill>
            <a:srgbClr val="C84A45"/>
          </a:solidFill>
          <a:ln w="10160">
            <a:solidFill>
              <a:srgbClr val="C84A45"/>
            </a:solidFill>
            <a:prstDash val="solid"/>
          </a:ln>
        </p:spPr>
      </p:sp>
      <p:sp>
        <p:nvSpPr>
          <p:cNvPr id="22" name="Text 20"/>
          <p:cNvSpPr/>
          <p:nvPr/>
        </p:nvSpPr>
        <p:spPr>
          <a:xfrm>
            <a:off x="4672584" y="3557016"/>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03</a:t>
            </a:r>
            <a:endParaRPr lang="en-US" sz="850" dirty="0"/>
          </a:p>
        </p:txBody>
      </p:sp>
      <p:sp>
        <p:nvSpPr>
          <p:cNvPr id="23" name="Text 21"/>
          <p:cNvSpPr/>
          <p:nvPr/>
        </p:nvSpPr>
        <p:spPr>
          <a:xfrm>
            <a:off x="5239512" y="3547872"/>
            <a:ext cx="2276856" cy="256032"/>
          </a:xfrm>
          <a:prstGeom prst="rect">
            <a:avLst/>
          </a:prstGeom>
          <a:noFill/>
          <a:ln/>
        </p:spPr>
        <p:txBody>
          <a:bodyPr wrap="square" lIns="0" tIns="0" rIns="0" bIns="0" rtlCol="0" anchor="ctr">
            <a:normAutofit/>
          </a:bodyPr>
          <a:lstStyle/>
          <a:p>
            <a:pPr algn="l" indent="0" marL="0">
              <a:buNone/>
            </a:pPr>
            <a:r>
              <a:rPr lang="en-US" sz="1100" b="1" dirty="0">
                <a:solidFill>
                  <a:srgbClr val="111111"/>
                </a:solidFill>
                <a:latin typeface="Aptos" pitchFamily="34" charset="0"/>
                <a:ea typeface="Aptos" pitchFamily="34" charset="-122"/>
                <a:cs typeface="Aptos" pitchFamily="34" charset="-120"/>
              </a:rPr>
              <a:t>Hidden exposure</a:t>
            </a:r>
            <a:endParaRPr lang="en-US" sz="1100" dirty="0"/>
          </a:p>
        </p:txBody>
      </p:sp>
      <p:sp>
        <p:nvSpPr>
          <p:cNvPr id="24" name="Text 22"/>
          <p:cNvSpPr/>
          <p:nvPr/>
        </p:nvSpPr>
        <p:spPr>
          <a:xfrm>
            <a:off x="4672584" y="3931920"/>
            <a:ext cx="2843784" cy="713232"/>
          </a:xfrm>
          <a:prstGeom prst="rect">
            <a:avLst/>
          </a:prstGeom>
          <a:noFill/>
          <a:ln/>
        </p:spPr>
        <p:txBody>
          <a:bodyPr wrap="square" lIns="0" tIns="0" rIns="0" bIns="0" rtlCol="0" anchor="t">
            <a:normAutofit/>
          </a:bodyPr>
          <a:lstStyle/>
          <a:p>
            <a:pPr algn="l" indent="0" marL="0">
              <a:lnSpc>
                <a:spcPct val="108000"/>
              </a:lnSpc>
              <a:buNone/>
            </a:pPr>
            <a:r>
              <a:rPr lang="en-US" sz="930" dirty="0">
                <a:solidFill>
                  <a:srgbClr val="6D695F"/>
                </a:solidFill>
                <a:latin typeface="Aptos" pitchFamily="34" charset="0"/>
                <a:ea typeface="Aptos" pitchFamily="34" charset="-122"/>
                <a:cs typeface="Aptos" pitchFamily="34" charset="-120"/>
              </a:rPr>
              <a:t>A small wording change can shift liability, renewal windows, IP rights or dispute outcomes in a meaningful way.</a:t>
            </a:r>
            <a:endParaRPr lang="en-US" sz="930" dirty="0"/>
          </a:p>
        </p:txBody>
      </p:sp>
      <p:sp>
        <p:nvSpPr>
          <p:cNvPr id="25" name="Shape 23"/>
          <p:cNvSpPr/>
          <p:nvPr/>
        </p:nvSpPr>
        <p:spPr>
          <a:xfrm>
            <a:off x="7818120" y="3401568"/>
            <a:ext cx="3246120" cy="1353312"/>
          </a:xfrm>
          <a:prstGeom prst="rect">
            <a:avLst/>
          </a:prstGeom>
          <a:solidFill>
            <a:srgbClr val="FFFFFF"/>
          </a:solidFill>
          <a:ln w="12700">
            <a:solidFill>
              <a:srgbClr val="D6D0C5"/>
            </a:solidFill>
            <a:prstDash val="solid"/>
          </a:ln>
        </p:spPr>
      </p:sp>
      <p:sp>
        <p:nvSpPr>
          <p:cNvPr id="26" name="Shape 24"/>
          <p:cNvSpPr/>
          <p:nvPr/>
        </p:nvSpPr>
        <p:spPr>
          <a:xfrm>
            <a:off x="7964424" y="3547872"/>
            <a:ext cx="438912" cy="274320"/>
          </a:xfrm>
          <a:prstGeom prst="roundRect">
            <a:avLst>
              <a:gd name="adj" fmla="val 20000"/>
            </a:avLst>
          </a:prstGeom>
          <a:solidFill>
            <a:srgbClr val="C84A45"/>
          </a:solidFill>
          <a:ln w="10160">
            <a:solidFill>
              <a:srgbClr val="C84A45"/>
            </a:solidFill>
            <a:prstDash val="solid"/>
          </a:ln>
        </p:spPr>
      </p:sp>
      <p:sp>
        <p:nvSpPr>
          <p:cNvPr id="27" name="Text 25"/>
          <p:cNvSpPr/>
          <p:nvPr/>
        </p:nvSpPr>
        <p:spPr>
          <a:xfrm>
            <a:off x="7964424" y="3557016"/>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04</a:t>
            </a:r>
            <a:endParaRPr lang="en-US" sz="850" dirty="0"/>
          </a:p>
        </p:txBody>
      </p:sp>
      <p:sp>
        <p:nvSpPr>
          <p:cNvPr id="28" name="Text 26"/>
          <p:cNvSpPr/>
          <p:nvPr/>
        </p:nvSpPr>
        <p:spPr>
          <a:xfrm>
            <a:off x="8531352" y="3547872"/>
            <a:ext cx="2386584" cy="256032"/>
          </a:xfrm>
          <a:prstGeom prst="rect">
            <a:avLst/>
          </a:prstGeom>
          <a:noFill/>
          <a:ln/>
        </p:spPr>
        <p:txBody>
          <a:bodyPr wrap="square" lIns="0" tIns="0" rIns="0" bIns="0" rtlCol="0" anchor="ctr">
            <a:normAutofit/>
          </a:bodyPr>
          <a:lstStyle/>
          <a:p>
            <a:pPr algn="l" indent="0" marL="0">
              <a:buNone/>
            </a:pPr>
            <a:r>
              <a:rPr lang="en-US" sz="1100" b="1" dirty="0">
                <a:solidFill>
                  <a:srgbClr val="111111"/>
                </a:solidFill>
                <a:latin typeface="Aptos" pitchFamily="34" charset="0"/>
                <a:ea typeface="Aptos" pitchFamily="34" charset="-122"/>
                <a:cs typeface="Aptos" pitchFamily="34" charset="-120"/>
              </a:rPr>
              <a:t>Post-signing friction</a:t>
            </a:r>
            <a:endParaRPr lang="en-US" sz="1100" dirty="0"/>
          </a:p>
        </p:txBody>
      </p:sp>
      <p:sp>
        <p:nvSpPr>
          <p:cNvPr id="29" name="Text 27"/>
          <p:cNvSpPr/>
          <p:nvPr/>
        </p:nvSpPr>
        <p:spPr>
          <a:xfrm>
            <a:off x="7964424" y="3931920"/>
            <a:ext cx="2953512" cy="713232"/>
          </a:xfrm>
          <a:prstGeom prst="rect">
            <a:avLst/>
          </a:prstGeom>
          <a:noFill/>
          <a:ln/>
        </p:spPr>
        <p:txBody>
          <a:bodyPr wrap="square" lIns="0" tIns="0" rIns="0" bIns="0" rtlCol="0" anchor="t">
            <a:normAutofit/>
          </a:bodyPr>
          <a:lstStyle/>
          <a:p>
            <a:pPr algn="l" indent="0" marL="0">
              <a:lnSpc>
                <a:spcPct val="108000"/>
              </a:lnSpc>
              <a:buNone/>
            </a:pPr>
            <a:r>
              <a:rPr lang="en-US" sz="930" dirty="0">
                <a:solidFill>
                  <a:srgbClr val="6D695F"/>
                </a:solidFill>
                <a:latin typeface="Aptos" pitchFamily="34" charset="0"/>
                <a:ea typeface="Aptos" pitchFamily="34" charset="-122"/>
                <a:cs typeface="Aptos" pitchFamily="34" charset="-120"/>
              </a:rPr>
              <a:t>Teams often lose visibility after signature: who owes what, when notice is due, and what changed between versions.</a:t>
            </a:r>
            <a:endParaRPr lang="en-US" sz="930" dirty="0"/>
          </a:p>
        </p:txBody>
      </p:sp>
      <p:sp>
        <p:nvSpPr>
          <p:cNvPr id="30" name="Text 28"/>
          <p:cNvSpPr/>
          <p:nvPr/>
        </p:nvSpPr>
        <p:spPr>
          <a:xfrm>
            <a:off x="4526280" y="5047488"/>
            <a:ext cx="1508760" cy="182880"/>
          </a:xfrm>
          <a:prstGeom prst="rect">
            <a:avLst/>
          </a:prstGeom>
          <a:noFill/>
          <a:ln/>
        </p:spPr>
        <p:txBody>
          <a:bodyPr wrap="square" lIns="0" tIns="0" rIns="0" bIns="0" rtlCol="0" anchor="ctr">
            <a:normAutofit/>
          </a:bodyPr>
          <a:lstStyle/>
          <a:p>
            <a:pPr algn="l" indent="0" marL="0">
              <a:buNone/>
            </a:pPr>
            <a:r>
              <a:rPr lang="en-US" sz="800" b="1" spc="140" kern="0" dirty="0">
                <a:solidFill>
                  <a:srgbClr val="6D695F"/>
                </a:solidFill>
                <a:latin typeface="Aptos" pitchFamily="34" charset="0"/>
                <a:ea typeface="Aptos" pitchFamily="34" charset="-122"/>
                <a:cs typeface="Aptos" pitchFamily="34" charset="-120"/>
              </a:rPr>
              <a:t>DESIGN PRINCIPLE</a:t>
            </a:r>
            <a:endParaRPr lang="en-US" sz="800" dirty="0"/>
          </a:p>
        </p:txBody>
      </p:sp>
      <p:sp>
        <p:nvSpPr>
          <p:cNvPr id="31" name="Text 29"/>
          <p:cNvSpPr/>
          <p:nvPr/>
        </p:nvSpPr>
        <p:spPr>
          <a:xfrm>
            <a:off x="4526280" y="5358384"/>
            <a:ext cx="6446520" cy="530352"/>
          </a:xfrm>
          <a:prstGeom prst="rect">
            <a:avLst/>
          </a:prstGeom>
          <a:noFill/>
          <a:ln/>
        </p:spPr>
        <p:txBody>
          <a:bodyPr wrap="square" lIns="0" tIns="0" rIns="0" bIns="0" rtlCol="0" anchor="t">
            <a:normAutofit/>
          </a:bodyPr>
          <a:lstStyle/>
          <a:p>
            <a:pPr algn="l" indent="0" marL="0">
              <a:buNone/>
            </a:pPr>
            <a:r>
              <a:rPr lang="en-US" sz="1700" i="1" dirty="0">
                <a:solidFill>
                  <a:srgbClr val="111111"/>
                </a:solidFill>
                <a:latin typeface="Georgia" pitchFamily="34" charset="0"/>
                <a:ea typeface="Georgia" pitchFamily="34" charset="-122"/>
                <a:cs typeface="Georgia" pitchFamily="34" charset="-120"/>
              </a:rPr>
              <a:t>Make the invisible obligations visible — before they become expensive.</a:t>
            </a:r>
            <a:endParaRPr lang="en-US" sz="170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02  /  PROJECT OBJECTIVE</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One platform. Five concrete objectives.</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The product turns contract intelligence into an operational workflow rather than a one-off analysis screen.</a:t>
            </a:r>
            <a:endParaRPr lang="en-US" sz="1150" dirty="0"/>
          </a:p>
        </p:txBody>
      </p:sp>
      <p:sp>
        <p:nvSpPr>
          <p:cNvPr id="5" name="Shape 3"/>
          <p:cNvSpPr/>
          <p:nvPr/>
        </p:nvSpPr>
        <p:spPr>
          <a:xfrm>
            <a:off x="548640" y="1947672"/>
            <a:ext cx="1993392" cy="3310128"/>
          </a:xfrm>
          <a:prstGeom prst="rect">
            <a:avLst/>
          </a:prstGeom>
          <a:solidFill>
            <a:srgbClr val="111111"/>
          </a:solidFill>
          <a:ln w="12700">
            <a:solidFill>
              <a:srgbClr val="111111"/>
            </a:solidFill>
            <a:prstDash val="solid"/>
          </a:ln>
        </p:spPr>
      </p:sp>
      <p:sp>
        <p:nvSpPr>
          <p:cNvPr id="6" name="Text 4"/>
          <p:cNvSpPr/>
          <p:nvPr/>
        </p:nvSpPr>
        <p:spPr>
          <a:xfrm>
            <a:off x="694944" y="2139696"/>
            <a:ext cx="475488" cy="228600"/>
          </a:xfrm>
          <a:prstGeom prst="rect">
            <a:avLst/>
          </a:prstGeom>
          <a:noFill/>
          <a:ln/>
        </p:spPr>
        <p:txBody>
          <a:bodyPr wrap="square" lIns="0" tIns="0" rIns="0" bIns="0" rtlCol="0" anchor="ctr">
            <a:normAutofit/>
          </a:bodyPr>
          <a:lstStyle/>
          <a:p>
            <a:pPr algn="l" indent="0" marL="0">
              <a:buNone/>
            </a:pPr>
            <a:r>
              <a:rPr lang="en-US" sz="900" b="1" spc="140" kern="0" dirty="0">
                <a:solidFill>
                  <a:srgbClr val="BFB9AC"/>
                </a:solidFill>
                <a:latin typeface="Aptos" pitchFamily="34" charset="0"/>
                <a:ea typeface="Aptos" pitchFamily="34" charset="-122"/>
                <a:cs typeface="Aptos" pitchFamily="34" charset="-120"/>
              </a:rPr>
              <a:t>01</a:t>
            </a:r>
            <a:endParaRPr lang="en-US" sz="900" dirty="0"/>
          </a:p>
        </p:txBody>
      </p:sp>
      <p:sp>
        <p:nvSpPr>
          <p:cNvPr id="7" name="Shape 5"/>
          <p:cNvSpPr/>
          <p:nvPr/>
        </p:nvSpPr>
        <p:spPr>
          <a:xfrm>
            <a:off x="694944" y="2505456"/>
            <a:ext cx="1673352" cy="0"/>
          </a:xfrm>
          <a:prstGeom prst="line">
            <a:avLst/>
          </a:prstGeom>
          <a:noFill/>
          <a:ln w="12700">
            <a:solidFill>
              <a:srgbClr val="4B4944"/>
            </a:solidFill>
            <a:prstDash val="solid"/>
          </a:ln>
        </p:spPr>
      </p:sp>
      <p:sp>
        <p:nvSpPr>
          <p:cNvPr id="8" name="Text 6"/>
          <p:cNvSpPr/>
          <p:nvPr/>
        </p:nvSpPr>
        <p:spPr>
          <a:xfrm>
            <a:off x="694944" y="2816352"/>
            <a:ext cx="1645920" cy="27432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UNDERSTAND</a:t>
            </a:r>
            <a:endParaRPr lang="en-US" sz="1300" dirty="0"/>
          </a:p>
        </p:txBody>
      </p:sp>
      <p:sp>
        <p:nvSpPr>
          <p:cNvPr id="9" name="Text 7"/>
          <p:cNvSpPr/>
          <p:nvPr/>
        </p:nvSpPr>
        <p:spPr>
          <a:xfrm>
            <a:off x="694944" y="3273552"/>
            <a:ext cx="1664208" cy="1444752"/>
          </a:xfrm>
          <a:prstGeom prst="rect">
            <a:avLst/>
          </a:prstGeom>
          <a:noFill/>
          <a:ln/>
        </p:spPr>
        <p:txBody>
          <a:bodyPr wrap="square" lIns="0" tIns="0" rIns="0" bIns="0" rtlCol="0" anchor="t">
            <a:normAutofit/>
          </a:bodyPr>
          <a:lstStyle/>
          <a:p>
            <a:pPr algn="l" indent="0" marL="0">
              <a:lnSpc>
                <a:spcPct val="105000"/>
              </a:lnSpc>
              <a:buNone/>
            </a:pPr>
            <a:r>
              <a:rPr lang="en-US" sz="920" dirty="0">
                <a:solidFill>
                  <a:srgbClr val="CFCAC0"/>
                </a:solidFill>
                <a:latin typeface="Aptos" pitchFamily="34" charset="0"/>
                <a:ea typeface="Aptos" pitchFamily="34" charset="-122"/>
                <a:cs typeface="Aptos" pitchFamily="34" charset="-120"/>
              </a:rPr>
              <a:t>Translate difficult clauses into plain language with context and consequences.</a:t>
            </a:r>
            <a:endParaRPr lang="en-US" sz="920" dirty="0"/>
          </a:p>
        </p:txBody>
      </p:sp>
      <p:sp>
        <p:nvSpPr>
          <p:cNvPr id="10" name="Shape 8"/>
          <p:cNvSpPr/>
          <p:nvPr/>
        </p:nvSpPr>
        <p:spPr>
          <a:xfrm>
            <a:off x="2761488" y="1947672"/>
            <a:ext cx="1993392" cy="3310128"/>
          </a:xfrm>
          <a:prstGeom prst="rect">
            <a:avLst/>
          </a:prstGeom>
          <a:solidFill>
            <a:srgbClr val="FFFFFF"/>
          </a:solidFill>
          <a:ln w="12700">
            <a:solidFill>
              <a:srgbClr val="D6D0C5"/>
            </a:solidFill>
            <a:prstDash val="solid"/>
          </a:ln>
        </p:spPr>
      </p:sp>
      <p:sp>
        <p:nvSpPr>
          <p:cNvPr id="11" name="Text 9"/>
          <p:cNvSpPr/>
          <p:nvPr/>
        </p:nvSpPr>
        <p:spPr>
          <a:xfrm>
            <a:off x="2907792" y="2139696"/>
            <a:ext cx="475488" cy="228600"/>
          </a:xfrm>
          <a:prstGeom prst="rect">
            <a:avLst/>
          </a:prstGeom>
          <a:noFill/>
          <a:ln/>
        </p:spPr>
        <p:txBody>
          <a:bodyPr wrap="square" lIns="0" tIns="0" rIns="0" bIns="0" rtlCol="0" anchor="ctr">
            <a:normAutofit/>
          </a:bodyPr>
          <a:lstStyle/>
          <a:p>
            <a:pPr algn="l" indent="0" marL="0">
              <a:buNone/>
            </a:pPr>
            <a:r>
              <a:rPr lang="en-US" sz="900" b="1" spc="140" kern="0" dirty="0">
                <a:solidFill>
                  <a:srgbClr val="6D695F"/>
                </a:solidFill>
                <a:latin typeface="Aptos" pitchFamily="34" charset="0"/>
                <a:ea typeface="Aptos" pitchFamily="34" charset="-122"/>
                <a:cs typeface="Aptos" pitchFamily="34" charset="-120"/>
              </a:rPr>
              <a:t>02</a:t>
            </a:r>
            <a:endParaRPr lang="en-US" sz="900" dirty="0"/>
          </a:p>
        </p:txBody>
      </p:sp>
      <p:sp>
        <p:nvSpPr>
          <p:cNvPr id="12" name="Shape 10"/>
          <p:cNvSpPr/>
          <p:nvPr/>
        </p:nvSpPr>
        <p:spPr>
          <a:xfrm>
            <a:off x="2907792" y="2505456"/>
            <a:ext cx="1673352" cy="0"/>
          </a:xfrm>
          <a:prstGeom prst="line">
            <a:avLst/>
          </a:prstGeom>
          <a:noFill/>
          <a:ln w="12700">
            <a:solidFill>
              <a:srgbClr val="D6D0C5"/>
            </a:solidFill>
            <a:prstDash val="solid"/>
          </a:ln>
        </p:spPr>
      </p:sp>
      <p:sp>
        <p:nvSpPr>
          <p:cNvPr id="13" name="Text 11"/>
          <p:cNvSpPr/>
          <p:nvPr/>
        </p:nvSpPr>
        <p:spPr>
          <a:xfrm>
            <a:off x="2907792" y="2816352"/>
            <a:ext cx="1645920" cy="274320"/>
          </a:xfrm>
          <a:prstGeom prst="rect">
            <a:avLst/>
          </a:prstGeom>
          <a:noFill/>
          <a:ln/>
        </p:spPr>
        <p:txBody>
          <a:bodyPr wrap="square" lIns="0" tIns="0" rIns="0" bIns="0" rtlCol="0" anchor="ctr">
            <a:normAutofit/>
          </a:bodyPr>
          <a:lstStyle/>
          <a:p>
            <a:pPr algn="l" indent="0" marL="0">
              <a:buNone/>
            </a:pPr>
            <a:r>
              <a:rPr lang="en-US" sz="1300" b="1" dirty="0">
                <a:solidFill>
                  <a:srgbClr val="111111"/>
                </a:solidFill>
                <a:latin typeface="Aptos" pitchFamily="34" charset="0"/>
                <a:ea typeface="Aptos" pitchFamily="34" charset="-122"/>
                <a:cs typeface="Aptos" pitchFamily="34" charset="-120"/>
              </a:rPr>
              <a:t>QUANTIFY</a:t>
            </a:r>
            <a:endParaRPr lang="en-US" sz="1300" dirty="0"/>
          </a:p>
        </p:txBody>
      </p:sp>
      <p:sp>
        <p:nvSpPr>
          <p:cNvPr id="14" name="Text 12"/>
          <p:cNvSpPr/>
          <p:nvPr/>
        </p:nvSpPr>
        <p:spPr>
          <a:xfrm>
            <a:off x="2907792" y="3273552"/>
            <a:ext cx="1664208" cy="1444752"/>
          </a:xfrm>
          <a:prstGeom prst="rect">
            <a:avLst/>
          </a:prstGeom>
          <a:noFill/>
          <a:ln/>
        </p:spPr>
        <p:txBody>
          <a:bodyPr wrap="square" lIns="0" tIns="0" rIns="0" bIns="0" rtlCol="0" anchor="t">
            <a:normAutofit/>
          </a:bodyPr>
          <a:lstStyle/>
          <a:p>
            <a:pPr algn="l" indent="0" marL="0">
              <a:lnSpc>
                <a:spcPct val="105000"/>
              </a:lnSpc>
              <a:buNone/>
            </a:pPr>
            <a:r>
              <a:rPr lang="en-US" sz="920" dirty="0">
                <a:solidFill>
                  <a:srgbClr val="6D695F"/>
                </a:solidFill>
                <a:latin typeface="Aptos" pitchFamily="34" charset="0"/>
                <a:ea typeface="Aptos" pitchFamily="34" charset="-122"/>
                <a:cs typeface="Aptos" pitchFamily="34" charset="-120"/>
              </a:rPr>
              <a:t>Score clause risk and benchmark it against similar market precedents.</a:t>
            </a:r>
            <a:endParaRPr lang="en-US" sz="920" dirty="0"/>
          </a:p>
        </p:txBody>
      </p:sp>
      <p:sp>
        <p:nvSpPr>
          <p:cNvPr id="15" name="Shape 13"/>
          <p:cNvSpPr/>
          <p:nvPr/>
        </p:nvSpPr>
        <p:spPr>
          <a:xfrm>
            <a:off x="4974336" y="1947672"/>
            <a:ext cx="1993392" cy="3310128"/>
          </a:xfrm>
          <a:prstGeom prst="rect">
            <a:avLst/>
          </a:prstGeom>
          <a:solidFill>
            <a:srgbClr val="FFFFFF"/>
          </a:solidFill>
          <a:ln w="12700">
            <a:solidFill>
              <a:srgbClr val="D6D0C5"/>
            </a:solidFill>
            <a:prstDash val="solid"/>
          </a:ln>
        </p:spPr>
      </p:sp>
      <p:sp>
        <p:nvSpPr>
          <p:cNvPr id="16" name="Text 14"/>
          <p:cNvSpPr/>
          <p:nvPr/>
        </p:nvSpPr>
        <p:spPr>
          <a:xfrm>
            <a:off x="5120640" y="2139696"/>
            <a:ext cx="475488" cy="228600"/>
          </a:xfrm>
          <a:prstGeom prst="rect">
            <a:avLst/>
          </a:prstGeom>
          <a:noFill/>
          <a:ln/>
        </p:spPr>
        <p:txBody>
          <a:bodyPr wrap="square" lIns="0" tIns="0" rIns="0" bIns="0" rtlCol="0" anchor="ctr">
            <a:normAutofit/>
          </a:bodyPr>
          <a:lstStyle/>
          <a:p>
            <a:pPr algn="l" indent="0" marL="0">
              <a:buNone/>
            </a:pPr>
            <a:r>
              <a:rPr lang="en-US" sz="900" b="1" spc="140" kern="0" dirty="0">
                <a:solidFill>
                  <a:srgbClr val="6D695F"/>
                </a:solidFill>
                <a:latin typeface="Aptos" pitchFamily="34" charset="0"/>
                <a:ea typeface="Aptos" pitchFamily="34" charset="-122"/>
                <a:cs typeface="Aptos" pitchFamily="34" charset="-120"/>
              </a:rPr>
              <a:t>03</a:t>
            </a:r>
            <a:endParaRPr lang="en-US" sz="900" dirty="0"/>
          </a:p>
        </p:txBody>
      </p:sp>
      <p:sp>
        <p:nvSpPr>
          <p:cNvPr id="17" name="Shape 15"/>
          <p:cNvSpPr/>
          <p:nvPr/>
        </p:nvSpPr>
        <p:spPr>
          <a:xfrm>
            <a:off x="5120640" y="2505456"/>
            <a:ext cx="1673352" cy="0"/>
          </a:xfrm>
          <a:prstGeom prst="line">
            <a:avLst/>
          </a:prstGeom>
          <a:noFill/>
          <a:ln w="12700">
            <a:solidFill>
              <a:srgbClr val="D6D0C5"/>
            </a:solidFill>
            <a:prstDash val="solid"/>
          </a:ln>
        </p:spPr>
      </p:sp>
      <p:sp>
        <p:nvSpPr>
          <p:cNvPr id="18" name="Text 16"/>
          <p:cNvSpPr/>
          <p:nvPr/>
        </p:nvSpPr>
        <p:spPr>
          <a:xfrm>
            <a:off x="5120640" y="2816352"/>
            <a:ext cx="1645920" cy="274320"/>
          </a:xfrm>
          <a:prstGeom prst="rect">
            <a:avLst/>
          </a:prstGeom>
          <a:noFill/>
          <a:ln/>
        </p:spPr>
        <p:txBody>
          <a:bodyPr wrap="square" lIns="0" tIns="0" rIns="0" bIns="0" rtlCol="0" anchor="ctr">
            <a:normAutofit/>
          </a:bodyPr>
          <a:lstStyle/>
          <a:p>
            <a:pPr algn="l" indent="0" marL="0">
              <a:buNone/>
            </a:pPr>
            <a:r>
              <a:rPr lang="en-US" sz="1300" b="1" dirty="0">
                <a:solidFill>
                  <a:srgbClr val="111111"/>
                </a:solidFill>
                <a:latin typeface="Aptos" pitchFamily="34" charset="0"/>
                <a:ea typeface="Aptos" pitchFamily="34" charset="-122"/>
                <a:cs typeface="Aptos" pitchFamily="34" charset="-120"/>
              </a:rPr>
              <a:t>ACT</a:t>
            </a:r>
            <a:endParaRPr lang="en-US" sz="1300" dirty="0"/>
          </a:p>
        </p:txBody>
      </p:sp>
      <p:sp>
        <p:nvSpPr>
          <p:cNvPr id="19" name="Text 17"/>
          <p:cNvSpPr/>
          <p:nvPr/>
        </p:nvSpPr>
        <p:spPr>
          <a:xfrm>
            <a:off x="5120640" y="3273552"/>
            <a:ext cx="1664208" cy="1444752"/>
          </a:xfrm>
          <a:prstGeom prst="rect">
            <a:avLst/>
          </a:prstGeom>
          <a:noFill/>
          <a:ln/>
        </p:spPr>
        <p:txBody>
          <a:bodyPr wrap="square" lIns="0" tIns="0" rIns="0" bIns="0" rtlCol="0" anchor="t">
            <a:normAutofit/>
          </a:bodyPr>
          <a:lstStyle/>
          <a:p>
            <a:pPr algn="l" indent="0" marL="0">
              <a:lnSpc>
                <a:spcPct val="105000"/>
              </a:lnSpc>
              <a:buNone/>
            </a:pPr>
            <a:r>
              <a:rPr lang="en-US" sz="920" dirty="0">
                <a:solidFill>
                  <a:srgbClr val="6D695F"/>
                </a:solidFill>
                <a:latin typeface="Aptos" pitchFamily="34" charset="0"/>
                <a:ea typeface="Aptos" pitchFamily="34" charset="-122"/>
                <a:cs typeface="Aptos" pitchFamily="34" charset="-120"/>
              </a:rPr>
              <a:t>Generate negotiation positions, alternative language and visual redlines.</a:t>
            </a:r>
            <a:endParaRPr lang="en-US" sz="920" dirty="0"/>
          </a:p>
        </p:txBody>
      </p:sp>
      <p:sp>
        <p:nvSpPr>
          <p:cNvPr id="20" name="Shape 18"/>
          <p:cNvSpPr/>
          <p:nvPr/>
        </p:nvSpPr>
        <p:spPr>
          <a:xfrm>
            <a:off x="7187184" y="1947672"/>
            <a:ext cx="1993392" cy="3310128"/>
          </a:xfrm>
          <a:prstGeom prst="rect">
            <a:avLst/>
          </a:prstGeom>
          <a:solidFill>
            <a:srgbClr val="FFFFFF"/>
          </a:solidFill>
          <a:ln w="12700">
            <a:solidFill>
              <a:srgbClr val="D6D0C5"/>
            </a:solidFill>
            <a:prstDash val="solid"/>
          </a:ln>
        </p:spPr>
      </p:sp>
      <p:sp>
        <p:nvSpPr>
          <p:cNvPr id="21" name="Text 19"/>
          <p:cNvSpPr/>
          <p:nvPr/>
        </p:nvSpPr>
        <p:spPr>
          <a:xfrm>
            <a:off x="7333488" y="2139696"/>
            <a:ext cx="475488" cy="228600"/>
          </a:xfrm>
          <a:prstGeom prst="rect">
            <a:avLst/>
          </a:prstGeom>
          <a:noFill/>
          <a:ln/>
        </p:spPr>
        <p:txBody>
          <a:bodyPr wrap="square" lIns="0" tIns="0" rIns="0" bIns="0" rtlCol="0" anchor="ctr">
            <a:normAutofit/>
          </a:bodyPr>
          <a:lstStyle/>
          <a:p>
            <a:pPr algn="l" indent="0" marL="0">
              <a:buNone/>
            </a:pPr>
            <a:r>
              <a:rPr lang="en-US" sz="900" b="1" spc="140" kern="0" dirty="0">
                <a:solidFill>
                  <a:srgbClr val="6D695F"/>
                </a:solidFill>
                <a:latin typeface="Aptos" pitchFamily="34" charset="0"/>
                <a:ea typeface="Aptos" pitchFamily="34" charset="-122"/>
                <a:cs typeface="Aptos" pitchFamily="34" charset="-120"/>
              </a:rPr>
              <a:t>04</a:t>
            </a:r>
            <a:endParaRPr lang="en-US" sz="900" dirty="0"/>
          </a:p>
        </p:txBody>
      </p:sp>
      <p:sp>
        <p:nvSpPr>
          <p:cNvPr id="22" name="Shape 20"/>
          <p:cNvSpPr/>
          <p:nvPr/>
        </p:nvSpPr>
        <p:spPr>
          <a:xfrm>
            <a:off x="7333488" y="2505456"/>
            <a:ext cx="1673352" cy="0"/>
          </a:xfrm>
          <a:prstGeom prst="line">
            <a:avLst/>
          </a:prstGeom>
          <a:noFill/>
          <a:ln w="12700">
            <a:solidFill>
              <a:srgbClr val="D6D0C5"/>
            </a:solidFill>
            <a:prstDash val="solid"/>
          </a:ln>
        </p:spPr>
      </p:sp>
      <p:sp>
        <p:nvSpPr>
          <p:cNvPr id="23" name="Text 21"/>
          <p:cNvSpPr/>
          <p:nvPr/>
        </p:nvSpPr>
        <p:spPr>
          <a:xfrm>
            <a:off x="7333488" y="2816352"/>
            <a:ext cx="1645920" cy="274320"/>
          </a:xfrm>
          <a:prstGeom prst="rect">
            <a:avLst/>
          </a:prstGeom>
          <a:noFill/>
          <a:ln/>
        </p:spPr>
        <p:txBody>
          <a:bodyPr wrap="square" lIns="0" tIns="0" rIns="0" bIns="0" rtlCol="0" anchor="ctr">
            <a:normAutofit/>
          </a:bodyPr>
          <a:lstStyle/>
          <a:p>
            <a:pPr algn="l" indent="0" marL="0">
              <a:buNone/>
            </a:pPr>
            <a:r>
              <a:rPr lang="en-US" sz="1300" b="1" dirty="0">
                <a:solidFill>
                  <a:srgbClr val="111111"/>
                </a:solidFill>
                <a:latin typeface="Aptos" pitchFamily="34" charset="0"/>
                <a:ea typeface="Aptos" pitchFamily="34" charset="-122"/>
                <a:cs typeface="Aptos" pitchFamily="34" charset="-120"/>
              </a:rPr>
              <a:t>GOVERN</a:t>
            </a:r>
            <a:endParaRPr lang="en-US" sz="1300" dirty="0"/>
          </a:p>
        </p:txBody>
      </p:sp>
      <p:sp>
        <p:nvSpPr>
          <p:cNvPr id="24" name="Text 22"/>
          <p:cNvSpPr/>
          <p:nvPr/>
        </p:nvSpPr>
        <p:spPr>
          <a:xfrm>
            <a:off x="7333488" y="3273552"/>
            <a:ext cx="1664208" cy="1444752"/>
          </a:xfrm>
          <a:prstGeom prst="rect">
            <a:avLst/>
          </a:prstGeom>
          <a:noFill/>
          <a:ln/>
        </p:spPr>
        <p:txBody>
          <a:bodyPr wrap="square" lIns="0" tIns="0" rIns="0" bIns="0" rtlCol="0" anchor="t">
            <a:normAutofit/>
          </a:bodyPr>
          <a:lstStyle/>
          <a:p>
            <a:pPr algn="l" indent="0" marL="0">
              <a:lnSpc>
                <a:spcPct val="105000"/>
              </a:lnSpc>
              <a:buNone/>
            </a:pPr>
            <a:r>
              <a:rPr lang="en-US" sz="920" dirty="0">
                <a:solidFill>
                  <a:srgbClr val="6D695F"/>
                </a:solidFill>
                <a:latin typeface="Aptos" pitchFamily="34" charset="0"/>
                <a:ea typeface="Aptos" pitchFamily="34" charset="-122"/>
                <a:cs typeface="Aptos" pitchFamily="34" charset="-120"/>
              </a:rPr>
              <a:t>Track obligations, renewals, compliance checks and audit signals.</a:t>
            </a:r>
            <a:endParaRPr lang="en-US" sz="920" dirty="0"/>
          </a:p>
        </p:txBody>
      </p:sp>
      <p:sp>
        <p:nvSpPr>
          <p:cNvPr id="25" name="Shape 23"/>
          <p:cNvSpPr/>
          <p:nvPr/>
        </p:nvSpPr>
        <p:spPr>
          <a:xfrm>
            <a:off x="9400032" y="1947672"/>
            <a:ext cx="1993392" cy="3310128"/>
          </a:xfrm>
          <a:prstGeom prst="rect">
            <a:avLst/>
          </a:prstGeom>
          <a:solidFill>
            <a:srgbClr val="FFFFFF"/>
          </a:solidFill>
          <a:ln w="12700">
            <a:solidFill>
              <a:srgbClr val="D6D0C5"/>
            </a:solidFill>
            <a:prstDash val="solid"/>
          </a:ln>
        </p:spPr>
      </p:sp>
      <p:sp>
        <p:nvSpPr>
          <p:cNvPr id="26" name="Text 24"/>
          <p:cNvSpPr/>
          <p:nvPr/>
        </p:nvSpPr>
        <p:spPr>
          <a:xfrm>
            <a:off x="9546336" y="2139696"/>
            <a:ext cx="475488" cy="228600"/>
          </a:xfrm>
          <a:prstGeom prst="rect">
            <a:avLst/>
          </a:prstGeom>
          <a:noFill/>
          <a:ln/>
        </p:spPr>
        <p:txBody>
          <a:bodyPr wrap="square" lIns="0" tIns="0" rIns="0" bIns="0" rtlCol="0" anchor="ctr">
            <a:normAutofit/>
          </a:bodyPr>
          <a:lstStyle/>
          <a:p>
            <a:pPr algn="l" indent="0" marL="0">
              <a:buNone/>
            </a:pPr>
            <a:r>
              <a:rPr lang="en-US" sz="900" b="1" spc="140" kern="0" dirty="0">
                <a:solidFill>
                  <a:srgbClr val="6D695F"/>
                </a:solidFill>
                <a:latin typeface="Aptos" pitchFamily="34" charset="0"/>
                <a:ea typeface="Aptos" pitchFamily="34" charset="-122"/>
                <a:cs typeface="Aptos" pitchFamily="34" charset="-120"/>
              </a:rPr>
              <a:t>05</a:t>
            </a:r>
            <a:endParaRPr lang="en-US" sz="900" dirty="0"/>
          </a:p>
        </p:txBody>
      </p:sp>
      <p:sp>
        <p:nvSpPr>
          <p:cNvPr id="27" name="Shape 25"/>
          <p:cNvSpPr/>
          <p:nvPr/>
        </p:nvSpPr>
        <p:spPr>
          <a:xfrm>
            <a:off x="9546336" y="2505456"/>
            <a:ext cx="1673352" cy="0"/>
          </a:xfrm>
          <a:prstGeom prst="line">
            <a:avLst/>
          </a:prstGeom>
          <a:noFill/>
          <a:ln w="12700">
            <a:solidFill>
              <a:srgbClr val="D6D0C5"/>
            </a:solidFill>
            <a:prstDash val="solid"/>
          </a:ln>
        </p:spPr>
      </p:sp>
      <p:sp>
        <p:nvSpPr>
          <p:cNvPr id="28" name="Text 26"/>
          <p:cNvSpPr/>
          <p:nvPr/>
        </p:nvSpPr>
        <p:spPr>
          <a:xfrm>
            <a:off x="9546336" y="2816352"/>
            <a:ext cx="1645920" cy="274320"/>
          </a:xfrm>
          <a:prstGeom prst="rect">
            <a:avLst/>
          </a:prstGeom>
          <a:noFill/>
          <a:ln/>
        </p:spPr>
        <p:txBody>
          <a:bodyPr wrap="square" lIns="0" tIns="0" rIns="0" bIns="0" rtlCol="0" anchor="ctr">
            <a:normAutofit/>
          </a:bodyPr>
          <a:lstStyle/>
          <a:p>
            <a:pPr algn="l" indent="0" marL="0">
              <a:buNone/>
            </a:pPr>
            <a:r>
              <a:rPr lang="en-US" sz="1300" b="1" dirty="0">
                <a:solidFill>
                  <a:srgbClr val="111111"/>
                </a:solidFill>
                <a:latin typeface="Aptos" pitchFamily="34" charset="0"/>
                <a:ea typeface="Aptos" pitchFamily="34" charset="-122"/>
                <a:cs typeface="Aptos" pitchFamily="34" charset="-120"/>
              </a:rPr>
              <a:t>VERIFY</a:t>
            </a:r>
            <a:endParaRPr lang="en-US" sz="1300" dirty="0"/>
          </a:p>
        </p:txBody>
      </p:sp>
      <p:sp>
        <p:nvSpPr>
          <p:cNvPr id="29" name="Text 27"/>
          <p:cNvSpPr/>
          <p:nvPr/>
        </p:nvSpPr>
        <p:spPr>
          <a:xfrm>
            <a:off x="9546336" y="3273552"/>
            <a:ext cx="1664208" cy="1444752"/>
          </a:xfrm>
          <a:prstGeom prst="rect">
            <a:avLst/>
          </a:prstGeom>
          <a:noFill/>
          <a:ln/>
        </p:spPr>
        <p:txBody>
          <a:bodyPr wrap="square" lIns="0" tIns="0" rIns="0" bIns="0" rtlCol="0" anchor="t">
            <a:normAutofit/>
          </a:bodyPr>
          <a:lstStyle/>
          <a:p>
            <a:pPr algn="l" indent="0" marL="0">
              <a:lnSpc>
                <a:spcPct val="105000"/>
              </a:lnSpc>
              <a:buNone/>
            </a:pPr>
            <a:r>
              <a:rPr lang="en-US" sz="920" dirty="0">
                <a:solidFill>
                  <a:srgbClr val="6D695F"/>
                </a:solidFill>
                <a:latin typeface="Aptos" pitchFamily="34" charset="0"/>
                <a:ea typeface="Aptos" pitchFamily="34" charset="-122"/>
                <a:cs typeface="Aptos" pitchFamily="34" charset="-120"/>
              </a:rPr>
              <a:t>Protect document integrity with client-side tooling and cryptographic hashing.</a:t>
            </a:r>
            <a:endParaRPr lang="en-US" sz="920" dirty="0"/>
          </a:p>
        </p:txBody>
      </p:sp>
      <p:sp>
        <p:nvSpPr>
          <p:cNvPr id="30" name="Shape 28"/>
          <p:cNvSpPr/>
          <p:nvPr/>
        </p:nvSpPr>
        <p:spPr>
          <a:xfrm>
            <a:off x="548640" y="5541264"/>
            <a:ext cx="10927080" cy="548640"/>
          </a:xfrm>
          <a:prstGeom prst="rect">
            <a:avLst/>
          </a:prstGeom>
          <a:solidFill>
            <a:srgbClr val="F1E4CB"/>
          </a:solidFill>
          <a:ln w="12700">
            <a:solidFill>
              <a:srgbClr val="F1E4CB"/>
            </a:solidFill>
            <a:prstDash val="solid"/>
          </a:ln>
        </p:spPr>
      </p:sp>
      <p:sp>
        <p:nvSpPr>
          <p:cNvPr id="31" name="Text 29"/>
          <p:cNvSpPr/>
          <p:nvPr/>
        </p:nvSpPr>
        <p:spPr>
          <a:xfrm>
            <a:off x="731520" y="5669280"/>
            <a:ext cx="1280160" cy="201168"/>
          </a:xfrm>
          <a:prstGeom prst="rect">
            <a:avLst/>
          </a:prstGeom>
          <a:noFill/>
          <a:ln/>
        </p:spPr>
        <p:txBody>
          <a:bodyPr wrap="square" lIns="0" tIns="0" rIns="0" bIns="0" rtlCol="0" anchor="ctr">
            <a:normAutofit/>
          </a:bodyPr>
          <a:lstStyle/>
          <a:p>
            <a:pPr algn="l" indent="0" marL="0">
              <a:buNone/>
            </a:pPr>
            <a:r>
              <a:rPr lang="en-US" sz="830" b="1" spc="140" kern="0" dirty="0">
                <a:solidFill>
                  <a:srgbClr val="C58A2B"/>
                </a:solidFill>
                <a:latin typeface="Aptos" pitchFamily="34" charset="0"/>
                <a:ea typeface="Aptos" pitchFamily="34" charset="-122"/>
                <a:cs typeface="Aptos" pitchFamily="34" charset="-120"/>
              </a:rPr>
              <a:t>UNIFY THE LOOP</a:t>
            </a:r>
            <a:endParaRPr lang="en-US" sz="830" dirty="0"/>
          </a:p>
        </p:txBody>
      </p:sp>
      <p:sp>
        <p:nvSpPr>
          <p:cNvPr id="32" name="Text 30"/>
          <p:cNvSpPr/>
          <p:nvPr/>
        </p:nvSpPr>
        <p:spPr>
          <a:xfrm>
            <a:off x="2148840" y="5632704"/>
            <a:ext cx="8915400" cy="256032"/>
          </a:xfrm>
          <a:prstGeom prst="rect">
            <a:avLst/>
          </a:prstGeom>
          <a:noFill/>
          <a:ln/>
        </p:spPr>
        <p:txBody>
          <a:bodyPr wrap="square" lIns="0" tIns="0" rIns="0" bIns="0" rtlCol="0" anchor="ctr">
            <a:normAutofit/>
          </a:bodyPr>
          <a:lstStyle/>
          <a:p>
            <a:pPr algn="l" indent="0" marL="0">
              <a:buNone/>
            </a:pPr>
            <a:r>
              <a:rPr lang="en-US" sz="1200" b="1" dirty="0">
                <a:solidFill>
                  <a:srgbClr val="111111"/>
                </a:solidFill>
                <a:latin typeface="Aptos" pitchFamily="34" charset="0"/>
                <a:ea typeface="Aptos" pitchFamily="34" charset="-122"/>
                <a:cs typeface="Aptos" pitchFamily="34" charset="-120"/>
              </a:rPr>
              <a:t>Analyze → benchmark → explain → negotiate → sign → monitor</a:t>
            </a:r>
            <a:endParaRPr lang="en-US" sz="120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A9A59A"/>
                </a:solidFill>
                <a:latin typeface="Aptos" pitchFamily="34" charset="0"/>
                <a:ea typeface="Aptos" pitchFamily="34" charset="-122"/>
                <a:cs typeface="Aptos" pitchFamily="34" charset="-120"/>
              </a:rPr>
              <a:t>03  /  WHAT MAKES IT DIFFERENT</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pitchFamily="34" charset="0"/>
                <a:ea typeface="Aptos" pitchFamily="34" charset="-122"/>
                <a:cs typeface="Aptos" pitchFamily="34" charset="-120"/>
              </a:rPr>
              <a:t>Not another “upload your contract to a chatbot” product.</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C4C0B7"/>
                </a:solidFill>
                <a:latin typeface="Aptos" pitchFamily="34" charset="0"/>
                <a:ea typeface="Aptos" pitchFamily="34" charset="-122"/>
                <a:cs typeface="Aptos" pitchFamily="34" charset="-120"/>
              </a:rPr>
              <a:t>BeforeYouSign separates deterministic benchmark logic from generative reasoning.</a:t>
            </a:r>
            <a:endParaRPr lang="en-US" sz="1150" dirty="0"/>
          </a:p>
        </p:txBody>
      </p:sp>
      <p:sp>
        <p:nvSpPr>
          <p:cNvPr id="5" name="Text 3"/>
          <p:cNvSpPr/>
          <p:nvPr/>
        </p:nvSpPr>
        <p:spPr>
          <a:xfrm>
            <a:off x="566928" y="1755648"/>
            <a:ext cx="3108960" cy="201168"/>
          </a:xfrm>
          <a:prstGeom prst="rect">
            <a:avLst/>
          </a:prstGeom>
          <a:noFill/>
          <a:ln/>
        </p:spPr>
        <p:txBody>
          <a:bodyPr wrap="square" lIns="0" tIns="0" rIns="0" bIns="0" rtlCol="0" anchor="ctr">
            <a:normAutofit/>
          </a:bodyPr>
          <a:lstStyle/>
          <a:p>
            <a:pPr algn="l" indent="0" marL="0">
              <a:buNone/>
            </a:pPr>
            <a:r>
              <a:rPr lang="en-US" sz="850" b="1" spc="150" kern="0" dirty="0">
                <a:solidFill>
                  <a:srgbClr val="A9A59A"/>
                </a:solidFill>
                <a:latin typeface="Aptos" pitchFamily="34" charset="0"/>
                <a:ea typeface="Aptos" pitchFamily="34" charset="-122"/>
                <a:cs typeface="Aptos" pitchFamily="34" charset="-120"/>
              </a:rPr>
              <a:t>DUAL-PIPELINE INTELLIGENCE</a:t>
            </a:r>
            <a:endParaRPr lang="en-US" sz="850" dirty="0"/>
          </a:p>
        </p:txBody>
      </p:sp>
      <p:sp>
        <p:nvSpPr>
          <p:cNvPr id="6" name="Shape 4"/>
          <p:cNvSpPr/>
          <p:nvPr/>
        </p:nvSpPr>
        <p:spPr>
          <a:xfrm>
            <a:off x="566928" y="2112264"/>
            <a:ext cx="5184648" cy="3429000"/>
          </a:xfrm>
          <a:prstGeom prst="rect">
            <a:avLst/>
          </a:prstGeom>
          <a:solidFill>
            <a:srgbClr val="1A1A18"/>
          </a:solidFill>
          <a:ln w="12700">
            <a:solidFill>
              <a:srgbClr val="3B3935"/>
            </a:solidFill>
            <a:prstDash val="solid"/>
          </a:ln>
        </p:spPr>
      </p:sp>
      <p:sp>
        <p:nvSpPr>
          <p:cNvPr id="7" name="Text 5"/>
          <p:cNvSpPr/>
          <p:nvPr/>
        </p:nvSpPr>
        <p:spPr>
          <a:xfrm>
            <a:off x="841248" y="2395728"/>
            <a:ext cx="2103120" cy="228600"/>
          </a:xfrm>
          <a:prstGeom prst="rect">
            <a:avLst/>
          </a:prstGeom>
          <a:noFill/>
          <a:ln/>
        </p:spPr>
        <p:txBody>
          <a:bodyPr wrap="square" lIns="0" tIns="0" rIns="0" bIns="0" rtlCol="0" anchor="ctr">
            <a:normAutofit/>
          </a:bodyPr>
          <a:lstStyle/>
          <a:p>
            <a:pPr algn="l" indent="0" marL="0">
              <a:buNone/>
            </a:pPr>
            <a:r>
              <a:rPr lang="en-US" sz="900" b="1" spc="110" kern="0" dirty="0">
                <a:solidFill>
                  <a:srgbClr val="C58A2B"/>
                </a:solidFill>
                <a:latin typeface="Aptos" pitchFamily="34" charset="0"/>
                <a:ea typeface="Aptos" pitchFamily="34" charset="-122"/>
                <a:cs typeface="Aptos" pitchFamily="34" charset="-120"/>
              </a:rPr>
              <a:t>A / DETERMINISTIC</a:t>
            </a:r>
            <a:endParaRPr lang="en-US" sz="900" dirty="0"/>
          </a:p>
        </p:txBody>
      </p:sp>
      <p:sp>
        <p:nvSpPr>
          <p:cNvPr id="8" name="Text 6"/>
          <p:cNvSpPr/>
          <p:nvPr/>
        </p:nvSpPr>
        <p:spPr>
          <a:xfrm>
            <a:off x="841248" y="2770632"/>
            <a:ext cx="4297680" cy="402336"/>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Aptos" pitchFamily="34" charset="0"/>
                <a:ea typeface="Aptos" pitchFamily="34" charset="-122"/>
                <a:cs typeface="Aptos" pitchFamily="34" charset="-120"/>
              </a:rPr>
              <a:t>Edge ML + semantic precedent search</a:t>
            </a:r>
            <a:endParaRPr lang="en-US" sz="1900" dirty="0"/>
          </a:p>
        </p:txBody>
      </p:sp>
      <p:sp>
        <p:nvSpPr>
          <p:cNvPr id="9" name="Shape 7"/>
          <p:cNvSpPr/>
          <p:nvPr/>
        </p:nvSpPr>
        <p:spPr>
          <a:xfrm>
            <a:off x="850392" y="3529584"/>
            <a:ext cx="73152" cy="73152"/>
          </a:xfrm>
          <a:prstGeom prst="ellipse">
            <a:avLst/>
          </a:prstGeom>
          <a:solidFill>
            <a:srgbClr val="C58A2B"/>
          </a:solidFill>
          <a:ln w="12700">
            <a:solidFill>
              <a:srgbClr val="C58A2B"/>
            </a:solidFill>
            <a:prstDash val="solid"/>
          </a:ln>
        </p:spPr>
      </p:sp>
      <p:sp>
        <p:nvSpPr>
          <p:cNvPr id="10" name="Text 8"/>
          <p:cNvSpPr/>
          <p:nvPr/>
        </p:nvSpPr>
        <p:spPr>
          <a:xfrm>
            <a:off x="1005840" y="3456432"/>
            <a:ext cx="4370832" cy="411480"/>
          </a:xfrm>
          <a:prstGeom prst="rect">
            <a:avLst/>
          </a:prstGeom>
          <a:noFill/>
          <a:ln/>
        </p:spPr>
        <p:txBody>
          <a:bodyPr wrap="square" lIns="0" tIns="0" rIns="0" bIns="0" rtlCol="0" anchor="t">
            <a:normAutofit/>
          </a:bodyPr>
          <a:lstStyle/>
          <a:p>
            <a:pPr algn="l" indent="0" marL="0">
              <a:buNone/>
            </a:pPr>
            <a:r>
              <a:rPr lang="en-US" sz="1020" dirty="0">
                <a:solidFill>
                  <a:srgbClr val="D0CCC4"/>
                </a:solidFill>
                <a:latin typeface="Aptos" pitchFamily="34" charset="0"/>
                <a:ea typeface="Aptos" pitchFamily="34" charset="-122"/>
                <a:cs typeface="Aptos" pitchFamily="34" charset="-120"/>
              </a:rPr>
              <a:t>384-D embeddings via all-MiniLM-L6-v2</a:t>
            </a:r>
            <a:endParaRPr lang="en-US" sz="1020" dirty="0"/>
          </a:p>
        </p:txBody>
      </p:sp>
      <p:sp>
        <p:nvSpPr>
          <p:cNvPr id="11" name="Shape 9"/>
          <p:cNvSpPr/>
          <p:nvPr/>
        </p:nvSpPr>
        <p:spPr>
          <a:xfrm>
            <a:off x="850392" y="4014216"/>
            <a:ext cx="73152" cy="73152"/>
          </a:xfrm>
          <a:prstGeom prst="ellipse">
            <a:avLst/>
          </a:prstGeom>
          <a:solidFill>
            <a:srgbClr val="C58A2B"/>
          </a:solidFill>
          <a:ln w="12700">
            <a:solidFill>
              <a:srgbClr val="C58A2B"/>
            </a:solidFill>
            <a:prstDash val="solid"/>
          </a:ln>
        </p:spPr>
      </p:sp>
      <p:sp>
        <p:nvSpPr>
          <p:cNvPr id="12" name="Text 10"/>
          <p:cNvSpPr/>
          <p:nvPr/>
        </p:nvSpPr>
        <p:spPr>
          <a:xfrm>
            <a:off x="1005840" y="3941064"/>
            <a:ext cx="4370832" cy="411480"/>
          </a:xfrm>
          <a:prstGeom prst="rect">
            <a:avLst/>
          </a:prstGeom>
          <a:noFill/>
          <a:ln/>
        </p:spPr>
        <p:txBody>
          <a:bodyPr wrap="square" lIns="0" tIns="0" rIns="0" bIns="0" rtlCol="0" anchor="t">
            <a:normAutofit/>
          </a:bodyPr>
          <a:lstStyle/>
          <a:p>
            <a:pPr algn="l" indent="0" marL="0">
              <a:buNone/>
            </a:pPr>
            <a:r>
              <a:rPr lang="en-US" sz="1020" dirty="0">
                <a:solidFill>
                  <a:srgbClr val="D0CCC4"/>
                </a:solidFill>
                <a:latin typeface="Aptos" pitchFamily="34" charset="0"/>
                <a:ea typeface="Aptos" pitchFamily="34" charset="-122"/>
                <a:cs typeface="Aptos" pitchFamily="34" charset="-120"/>
              </a:rPr>
              <a:t>Cosine similarity + k-NN category voting</a:t>
            </a:r>
            <a:endParaRPr lang="en-US" sz="1020" dirty="0"/>
          </a:p>
        </p:txBody>
      </p:sp>
      <p:sp>
        <p:nvSpPr>
          <p:cNvPr id="13" name="Shape 11"/>
          <p:cNvSpPr/>
          <p:nvPr/>
        </p:nvSpPr>
        <p:spPr>
          <a:xfrm>
            <a:off x="850392" y="4498848"/>
            <a:ext cx="73152" cy="73152"/>
          </a:xfrm>
          <a:prstGeom prst="ellipse">
            <a:avLst/>
          </a:prstGeom>
          <a:solidFill>
            <a:srgbClr val="C58A2B"/>
          </a:solidFill>
          <a:ln w="12700">
            <a:solidFill>
              <a:srgbClr val="C58A2B"/>
            </a:solidFill>
            <a:prstDash val="solid"/>
          </a:ln>
        </p:spPr>
      </p:sp>
      <p:sp>
        <p:nvSpPr>
          <p:cNvPr id="14" name="Text 12"/>
          <p:cNvSpPr/>
          <p:nvPr/>
        </p:nvSpPr>
        <p:spPr>
          <a:xfrm>
            <a:off x="1005840" y="4425696"/>
            <a:ext cx="4370832" cy="411480"/>
          </a:xfrm>
          <a:prstGeom prst="rect">
            <a:avLst/>
          </a:prstGeom>
          <a:noFill/>
          <a:ln/>
        </p:spPr>
        <p:txBody>
          <a:bodyPr wrap="square" lIns="0" tIns="0" rIns="0" bIns="0" rtlCol="0" anchor="t">
            <a:normAutofit/>
          </a:bodyPr>
          <a:lstStyle/>
          <a:p>
            <a:pPr algn="l" indent="0" marL="0">
              <a:buNone/>
            </a:pPr>
            <a:r>
              <a:rPr lang="en-US" sz="1020" dirty="0">
                <a:solidFill>
                  <a:srgbClr val="D0CCC4"/>
                </a:solidFill>
                <a:latin typeface="Aptos" pitchFamily="34" charset="0"/>
                <a:ea typeface="Aptos" pitchFamily="34" charset="-122"/>
                <a:cs typeface="Aptos" pitchFamily="34" charset="-120"/>
              </a:rPr>
              <a:t>LEDGAR/SEC precedents as benchmark context</a:t>
            </a:r>
            <a:endParaRPr lang="en-US" sz="1020" dirty="0"/>
          </a:p>
        </p:txBody>
      </p:sp>
      <p:sp>
        <p:nvSpPr>
          <p:cNvPr id="15" name="Shape 13"/>
          <p:cNvSpPr/>
          <p:nvPr/>
        </p:nvSpPr>
        <p:spPr>
          <a:xfrm>
            <a:off x="850392" y="4983480"/>
            <a:ext cx="73152" cy="73152"/>
          </a:xfrm>
          <a:prstGeom prst="ellipse">
            <a:avLst/>
          </a:prstGeom>
          <a:solidFill>
            <a:srgbClr val="C58A2B"/>
          </a:solidFill>
          <a:ln w="12700">
            <a:solidFill>
              <a:srgbClr val="C58A2B"/>
            </a:solidFill>
            <a:prstDash val="solid"/>
          </a:ln>
        </p:spPr>
      </p:sp>
      <p:sp>
        <p:nvSpPr>
          <p:cNvPr id="16" name="Text 14"/>
          <p:cNvSpPr/>
          <p:nvPr/>
        </p:nvSpPr>
        <p:spPr>
          <a:xfrm>
            <a:off x="1005840" y="4910328"/>
            <a:ext cx="4370832" cy="411480"/>
          </a:xfrm>
          <a:prstGeom prst="rect">
            <a:avLst/>
          </a:prstGeom>
          <a:noFill/>
          <a:ln/>
        </p:spPr>
        <p:txBody>
          <a:bodyPr wrap="square" lIns="0" tIns="0" rIns="0" bIns="0" rtlCol="0" anchor="t">
            <a:normAutofit/>
          </a:bodyPr>
          <a:lstStyle/>
          <a:p>
            <a:pPr algn="l" indent="0" marL="0">
              <a:buNone/>
            </a:pPr>
            <a:r>
              <a:rPr lang="en-US" sz="1020" dirty="0">
                <a:solidFill>
                  <a:srgbClr val="D0CCC4"/>
                </a:solidFill>
                <a:latin typeface="Aptos" pitchFamily="34" charset="0"/>
                <a:ea typeface="Aptos" pitchFamily="34" charset="-122"/>
                <a:cs typeface="Aptos" pitchFamily="34" charset="-120"/>
              </a:rPr>
              <a:t>ERR turns “risky” into a measurable delta</a:t>
            </a:r>
            <a:endParaRPr lang="en-US" sz="1020" dirty="0"/>
          </a:p>
        </p:txBody>
      </p:sp>
      <p:sp>
        <p:nvSpPr>
          <p:cNvPr id="17" name="Shape 15"/>
          <p:cNvSpPr/>
          <p:nvPr/>
        </p:nvSpPr>
        <p:spPr>
          <a:xfrm>
            <a:off x="6035040" y="2112264"/>
            <a:ext cx="5422392" cy="3429000"/>
          </a:xfrm>
          <a:prstGeom prst="rect">
            <a:avLst/>
          </a:prstGeom>
          <a:solidFill>
            <a:srgbClr val="1A1A18"/>
          </a:solidFill>
          <a:ln w="12700">
            <a:solidFill>
              <a:srgbClr val="3B3935"/>
            </a:solidFill>
            <a:prstDash val="solid"/>
          </a:ln>
        </p:spPr>
      </p:sp>
      <p:sp>
        <p:nvSpPr>
          <p:cNvPr id="18" name="Text 16"/>
          <p:cNvSpPr/>
          <p:nvPr/>
        </p:nvSpPr>
        <p:spPr>
          <a:xfrm>
            <a:off x="6309360" y="2395728"/>
            <a:ext cx="2103120" cy="228600"/>
          </a:xfrm>
          <a:prstGeom prst="rect">
            <a:avLst/>
          </a:prstGeom>
          <a:noFill/>
          <a:ln/>
        </p:spPr>
        <p:txBody>
          <a:bodyPr wrap="square" lIns="0" tIns="0" rIns="0" bIns="0" rtlCol="0" anchor="ctr">
            <a:normAutofit/>
          </a:bodyPr>
          <a:lstStyle/>
          <a:p>
            <a:pPr algn="l" indent="0" marL="0">
              <a:buNone/>
            </a:pPr>
            <a:r>
              <a:rPr lang="en-US" sz="900" b="1" spc="110" kern="0" dirty="0">
                <a:solidFill>
                  <a:srgbClr val="C84A45"/>
                </a:solidFill>
                <a:latin typeface="Aptos" pitchFamily="34" charset="0"/>
                <a:ea typeface="Aptos" pitchFamily="34" charset="-122"/>
                <a:cs typeface="Aptos" pitchFamily="34" charset="-120"/>
              </a:rPr>
              <a:t>B / GENERATIVE</a:t>
            </a:r>
            <a:endParaRPr lang="en-US" sz="900" dirty="0"/>
          </a:p>
        </p:txBody>
      </p:sp>
      <p:sp>
        <p:nvSpPr>
          <p:cNvPr id="19" name="Text 17"/>
          <p:cNvSpPr/>
          <p:nvPr/>
        </p:nvSpPr>
        <p:spPr>
          <a:xfrm>
            <a:off x="6309360" y="2770632"/>
            <a:ext cx="4663440" cy="402336"/>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Aptos" pitchFamily="34" charset="0"/>
                <a:ea typeface="Aptos" pitchFamily="34" charset="-122"/>
                <a:cs typeface="Aptos" pitchFamily="34" charset="-120"/>
              </a:rPr>
              <a:t>LLM reasoning + legal action layer</a:t>
            </a:r>
            <a:endParaRPr lang="en-US" sz="1900" dirty="0"/>
          </a:p>
        </p:txBody>
      </p:sp>
      <p:sp>
        <p:nvSpPr>
          <p:cNvPr id="20" name="Shape 18"/>
          <p:cNvSpPr/>
          <p:nvPr/>
        </p:nvSpPr>
        <p:spPr>
          <a:xfrm>
            <a:off x="6318504" y="3529584"/>
            <a:ext cx="73152" cy="73152"/>
          </a:xfrm>
          <a:prstGeom prst="ellipse">
            <a:avLst/>
          </a:prstGeom>
          <a:solidFill>
            <a:srgbClr val="C84A45"/>
          </a:solidFill>
          <a:ln w="12700">
            <a:solidFill>
              <a:srgbClr val="C84A45"/>
            </a:solidFill>
            <a:prstDash val="solid"/>
          </a:ln>
        </p:spPr>
      </p:sp>
      <p:sp>
        <p:nvSpPr>
          <p:cNvPr id="21" name="Text 19"/>
          <p:cNvSpPr/>
          <p:nvPr/>
        </p:nvSpPr>
        <p:spPr>
          <a:xfrm>
            <a:off x="6473952" y="3456432"/>
            <a:ext cx="4462272" cy="411480"/>
          </a:xfrm>
          <a:prstGeom prst="rect">
            <a:avLst/>
          </a:prstGeom>
          <a:noFill/>
          <a:ln/>
        </p:spPr>
        <p:txBody>
          <a:bodyPr wrap="square" lIns="0" tIns="0" rIns="0" bIns="0" rtlCol="0" anchor="t">
            <a:normAutofit/>
          </a:bodyPr>
          <a:lstStyle/>
          <a:p>
            <a:pPr algn="l" indent="0" marL="0">
              <a:buNone/>
            </a:pPr>
            <a:r>
              <a:rPr lang="en-US" sz="1020" dirty="0">
                <a:solidFill>
                  <a:srgbClr val="D0CCC4"/>
                </a:solidFill>
                <a:latin typeface="Aptos" pitchFamily="34" charset="0"/>
                <a:ea typeface="Aptos" pitchFamily="34" charset="-122"/>
                <a:cs typeface="Aptos" pitchFamily="34" charset="-120"/>
              </a:rPr>
              <a:t>Llama 3.3 70B for deep reasoning / negotiation</a:t>
            </a:r>
            <a:endParaRPr lang="en-US" sz="1020" dirty="0"/>
          </a:p>
        </p:txBody>
      </p:sp>
      <p:sp>
        <p:nvSpPr>
          <p:cNvPr id="22" name="Shape 20"/>
          <p:cNvSpPr/>
          <p:nvPr/>
        </p:nvSpPr>
        <p:spPr>
          <a:xfrm>
            <a:off x="6318504" y="4014216"/>
            <a:ext cx="73152" cy="73152"/>
          </a:xfrm>
          <a:prstGeom prst="ellipse">
            <a:avLst/>
          </a:prstGeom>
          <a:solidFill>
            <a:srgbClr val="C84A45"/>
          </a:solidFill>
          <a:ln w="12700">
            <a:solidFill>
              <a:srgbClr val="C84A45"/>
            </a:solidFill>
            <a:prstDash val="solid"/>
          </a:ln>
        </p:spPr>
      </p:sp>
      <p:sp>
        <p:nvSpPr>
          <p:cNvPr id="23" name="Text 21"/>
          <p:cNvSpPr/>
          <p:nvPr/>
        </p:nvSpPr>
        <p:spPr>
          <a:xfrm>
            <a:off x="6473952" y="3941064"/>
            <a:ext cx="4462272" cy="411480"/>
          </a:xfrm>
          <a:prstGeom prst="rect">
            <a:avLst/>
          </a:prstGeom>
          <a:noFill/>
          <a:ln/>
        </p:spPr>
        <p:txBody>
          <a:bodyPr wrap="square" lIns="0" tIns="0" rIns="0" bIns="0" rtlCol="0" anchor="t">
            <a:normAutofit/>
          </a:bodyPr>
          <a:lstStyle/>
          <a:p>
            <a:pPr algn="l" indent="0" marL="0">
              <a:buNone/>
            </a:pPr>
            <a:r>
              <a:rPr lang="en-US" sz="1020" dirty="0">
                <a:solidFill>
                  <a:srgbClr val="D0CCC4"/>
                </a:solidFill>
                <a:latin typeface="Aptos" pitchFamily="34" charset="0"/>
                <a:ea typeface="Aptos" pitchFamily="34" charset="-122"/>
                <a:cs typeface="Aptos" pitchFamily="34" charset="-120"/>
              </a:rPr>
              <a:t>Llama 3.1 8B for fast analysis tasks</a:t>
            </a:r>
            <a:endParaRPr lang="en-US" sz="1020" dirty="0"/>
          </a:p>
        </p:txBody>
      </p:sp>
      <p:sp>
        <p:nvSpPr>
          <p:cNvPr id="24" name="Shape 22"/>
          <p:cNvSpPr/>
          <p:nvPr/>
        </p:nvSpPr>
        <p:spPr>
          <a:xfrm>
            <a:off x="6318504" y="4498848"/>
            <a:ext cx="73152" cy="73152"/>
          </a:xfrm>
          <a:prstGeom prst="ellipse">
            <a:avLst/>
          </a:prstGeom>
          <a:solidFill>
            <a:srgbClr val="C84A45"/>
          </a:solidFill>
          <a:ln w="12700">
            <a:solidFill>
              <a:srgbClr val="C84A45"/>
            </a:solidFill>
            <a:prstDash val="solid"/>
          </a:ln>
        </p:spPr>
      </p:sp>
      <p:sp>
        <p:nvSpPr>
          <p:cNvPr id="25" name="Text 23"/>
          <p:cNvSpPr/>
          <p:nvPr/>
        </p:nvSpPr>
        <p:spPr>
          <a:xfrm>
            <a:off x="6473952" y="4425696"/>
            <a:ext cx="4462272" cy="411480"/>
          </a:xfrm>
          <a:prstGeom prst="rect">
            <a:avLst/>
          </a:prstGeom>
          <a:noFill/>
          <a:ln/>
        </p:spPr>
        <p:txBody>
          <a:bodyPr wrap="square" lIns="0" tIns="0" rIns="0" bIns="0" rtlCol="0" anchor="t">
            <a:normAutofit/>
          </a:bodyPr>
          <a:lstStyle/>
          <a:p>
            <a:pPr algn="l" indent="0" marL="0">
              <a:buNone/>
            </a:pPr>
            <a:r>
              <a:rPr lang="en-US" sz="1020" dirty="0">
                <a:solidFill>
                  <a:srgbClr val="D0CCC4"/>
                </a:solidFill>
                <a:latin typeface="Aptos" pitchFamily="34" charset="0"/>
                <a:ea typeface="Aptos" pitchFamily="34" charset="-122"/>
                <a:cs typeface="Aptos" pitchFamily="34" charset="-120"/>
              </a:rPr>
              <a:t>Gemini fallback for provider redundancy</a:t>
            </a:r>
            <a:endParaRPr lang="en-US" sz="1020" dirty="0"/>
          </a:p>
        </p:txBody>
      </p:sp>
      <p:sp>
        <p:nvSpPr>
          <p:cNvPr id="26" name="Shape 24"/>
          <p:cNvSpPr/>
          <p:nvPr/>
        </p:nvSpPr>
        <p:spPr>
          <a:xfrm>
            <a:off x="6318504" y="4983480"/>
            <a:ext cx="73152" cy="73152"/>
          </a:xfrm>
          <a:prstGeom prst="ellipse">
            <a:avLst/>
          </a:prstGeom>
          <a:solidFill>
            <a:srgbClr val="C84A45"/>
          </a:solidFill>
          <a:ln w="12700">
            <a:solidFill>
              <a:srgbClr val="C84A45"/>
            </a:solidFill>
            <a:prstDash val="solid"/>
          </a:ln>
        </p:spPr>
      </p:sp>
      <p:sp>
        <p:nvSpPr>
          <p:cNvPr id="27" name="Text 25"/>
          <p:cNvSpPr/>
          <p:nvPr/>
        </p:nvSpPr>
        <p:spPr>
          <a:xfrm>
            <a:off x="6473952" y="4910328"/>
            <a:ext cx="4462272" cy="411480"/>
          </a:xfrm>
          <a:prstGeom prst="rect">
            <a:avLst/>
          </a:prstGeom>
          <a:noFill/>
          <a:ln/>
        </p:spPr>
        <p:txBody>
          <a:bodyPr wrap="square" lIns="0" tIns="0" rIns="0" bIns="0" rtlCol="0" anchor="t">
            <a:normAutofit/>
          </a:bodyPr>
          <a:lstStyle/>
          <a:p>
            <a:pPr algn="l" indent="0" marL="0">
              <a:buNone/>
            </a:pPr>
            <a:r>
              <a:rPr lang="en-US" sz="1020" dirty="0">
                <a:solidFill>
                  <a:srgbClr val="D0CCC4"/>
                </a:solidFill>
                <a:latin typeface="Aptos" pitchFamily="34" charset="0"/>
                <a:ea typeface="Aptos" pitchFamily="34" charset="-122"/>
                <a:cs typeface="Aptos" pitchFamily="34" charset="-120"/>
              </a:rPr>
              <a:t>Outputs explanations, exposure, redlines &amp; playbooks</a:t>
            </a:r>
            <a:endParaRPr lang="en-US" sz="1020" dirty="0"/>
          </a:p>
        </p:txBody>
      </p:sp>
      <p:sp>
        <p:nvSpPr>
          <p:cNvPr id="28" name="Shape 26"/>
          <p:cNvSpPr/>
          <p:nvPr/>
        </p:nvSpPr>
        <p:spPr>
          <a:xfrm>
            <a:off x="566928" y="5788152"/>
            <a:ext cx="10890504" cy="475488"/>
          </a:xfrm>
          <a:prstGeom prst="rect">
            <a:avLst/>
          </a:prstGeom>
          <a:solidFill>
            <a:srgbClr val="C58A2B"/>
          </a:solidFill>
          <a:ln w="12700">
            <a:solidFill>
              <a:srgbClr val="C58A2B"/>
            </a:solidFill>
            <a:prstDash val="solid"/>
          </a:ln>
        </p:spPr>
      </p:sp>
      <p:sp>
        <p:nvSpPr>
          <p:cNvPr id="29" name="Text 27"/>
          <p:cNvSpPr/>
          <p:nvPr/>
        </p:nvSpPr>
        <p:spPr>
          <a:xfrm>
            <a:off x="804672" y="5870448"/>
            <a:ext cx="10378440" cy="274320"/>
          </a:xfrm>
          <a:prstGeom prst="rect">
            <a:avLst/>
          </a:prstGeom>
          <a:noFill/>
          <a:ln/>
        </p:spPr>
        <p:txBody>
          <a:bodyPr wrap="square" lIns="0" tIns="0" rIns="0" bIns="0" rtlCol="0" anchor="ctr">
            <a:normAutofit/>
          </a:bodyPr>
          <a:lstStyle/>
          <a:p>
            <a:pPr algn="ctr" indent="0" marL="0">
              <a:buNone/>
            </a:pPr>
            <a:r>
              <a:rPr lang="en-US" sz="1150" b="1" dirty="0">
                <a:solidFill>
                  <a:srgbClr val="111111"/>
                </a:solidFill>
                <a:latin typeface="Aptos" pitchFamily="34" charset="0"/>
                <a:ea typeface="Aptos" pitchFamily="34" charset="-122"/>
                <a:cs typeface="Aptos" pitchFamily="34" charset="-120"/>
              </a:rPr>
              <a:t>Benchmark what can be measured. Use generative AI where reasoning is actually required.</a:t>
            </a:r>
            <a:endParaRPr lang="en-US" sz="115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A968C"/>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04  /  END-TO-END WORKFLOW</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From uploaded file to signed, monitored agreement.</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A single user action triggers a chain of parsing, retrieval, reasoning and lifecycle controls.</a:t>
            </a:r>
            <a:endParaRPr lang="en-US" sz="1150" dirty="0"/>
          </a:p>
        </p:txBody>
      </p:sp>
      <p:sp>
        <p:nvSpPr>
          <p:cNvPr id="5" name="Shape 3"/>
          <p:cNvSpPr/>
          <p:nvPr/>
        </p:nvSpPr>
        <p:spPr>
          <a:xfrm>
            <a:off x="1956816" y="3246120"/>
            <a:ext cx="502920" cy="0"/>
          </a:xfrm>
          <a:prstGeom prst="line">
            <a:avLst/>
          </a:prstGeom>
          <a:noFill/>
          <a:ln w="20320">
            <a:solidFill>
              <a:srgbClr val="3A3936"/>
            </a:solidFill>
            <a:prstDash val="solid"/>
          </a:ln>
        </p:spPr>
      </p:sp>
      <p:sp>
        <p:nvSpPr>
          <p:cNvPr id="6" name="Shape 4"/>
          <p:cNvSpPr/>
          <p:nvPr/>
        </p:nvSpPr>
        <p:spPr>
          <a:xfrm>
            <a:off x="621792" y="2377440"/>
            <a:ext cx="676656" cy="676656"/>
          </a:xfrm>
          <a:prstGeom prst="ellipse">
            <a:avLst/>
          </a:prstGeom>
          <a:solidFill>
            <a:srgbClr val="111111"/>
          </a:solidFill>
          <a:ln w="12700">
            <a:solidFill>
              <a:srgbClr val="111111"/>
            </a:solidFill>
            <a:prstDash val="solid"/>
          </a:ln>
        </p:spPr>
      </p:sp>
      <p:sp>
        <p:nvSpPr>
          <p:cNvPr id="7" name="Text 5"/>
          <p:cNvSpPr/>
          <p:nvPr/>
        </p:nvSpPr>
        <p:spPr>
          <a:xfrm>
            <a:off x="621792" y="2532888"/>
            <a:ext cx="676656"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01</a:t>
            </a:r>
            <a:endParaRPr lang="en-US" sz="850" dirty="0"/>
          </a:p>
        </p:txBody>
      </p:sp>
      <p:sp>
        <p:nvSpPr>
          <p:cNvPr id="8" name="Text 6"/>
          <p:cNvSpPr/>
          <p:nvPr/>
        </p:nvSpPr>
        <p:spPr>
          <a:xfrm>
            <a:off x="493776" y="3227832"/>
            <a:ext cx="969264" cy="237744"/>
          </a:xfrm>
          <a:prstGeom prst="rect">
            <a:avLst/>
          </a:prstGeom>
          <a:noFill/>
          <a:ln/>
        </p:spPr>
        <p:txBody>
          <a:bodyPr wrap="square" lIns="0" tIns="0" rIns="0" bIns="0" rtlCol="0" anchor="ctr">
            <a:normAutofit/>
          </a:bodyPr>
          <a:lstStyle/>
          <a:p>
            <a:pPr algn="ctr" indent="0" marL="0">
              <a:buNone/>
            </a:pPr>
            <a:r>
              <a:rPr lang="en-US" sz="1050" b="1" dirty="0">
                <a:solidFill>
                  <a:srgbClr val="111111"/>
                </a:solidFill>
                <a:latin typeface="Aptos" pitchFamily="34" charset="0"/>
                <a:ea typeface="Aptos" pitchFamily="34" charset="-122"/>
                <a:cs typeface="Aptos" pitchFamily="34" charset="-120"/>
              </a:rPr>
              <a:t>UPLOAD</a:t>
            </a:r>
            <a:endParaRPr lang="en-US" sz="1050" dirty="0"/>
          </a:p>
        </p:txBody>
      </p:sp>
      <p:sp>
        <p:nvSpPr>
          <p:cNvPr id="9" name="Text 7"/>
          <p:cNvSpPr/>
          <p:nvPr/>
        </p:nvSpPr>
        <p:spPr>
          <a:xfrm>
            <a:off x="365760" y="3547872"/>
            <a:ext cx="1225296" cy="512064"/>
          </a:xfrm>
          <a:prstGeom prst="rect">
            <a:avLst/>
          </a:prstGeom>
          <a:noFill/>
          <a:ln/>
        </p:spPr>
        <p:txBody>
          <a:bodyPr wrap="square" lIns="0" tIns="0" rIns="0" bIns="0" rtlCol="0" anchor="t">
            <a:normAutofit/>
          </a:bodyPr>
          <a:lstStyle/>
          <a:p>
            <a:pPr algn="ctr" indent="0" marL="0">
              <a:buNone/>
            </a:pPr>
            <a:r>
              <a:rPr lang="en-US" sz="850" dirty="0">
                <a:solidFill>
                  <a:srgbClr val="6D695F"/>
                </a:solidFill>
                <a:latin typeface="Aptos" pitchFamily="34" charset="0"/>
                <a:ea typeface="Aptos" pitchFamily="34" charset="-122"/>
                <a:cs typeface="Aptos" pitchFamily="34" charset="-120"/>
              </a:rPr>
              <a:t>PDF / DOCX / TXT</a:t>
            </a:r>
            <a:endParaRPr lang="en-US" sz="850" dirty="0"/>
          </a:p>
        </p:txBody>
      </p:sp>
      <p:sp>
        <p:nvSpPr>
          <p:cNvPr id="10" name="Shape 8"/>
          <p:cNvSpPr/>
          <p:nvPr/>
        </p:nvSpPr>
        <p:spPr>
          <a:xfrm>
            <a:off x="3803904" y="3246120"/>
            <a:ext cx="502920" cy="0"/>
          </a:xfrm>
          <a:prstGeom prst="line">
            <a:avLst/>
          </a:prstGeom>
          <a:noFill/>
          <a:ln w="20320">
            <a:solidFill>
              <a:srgbClr val="3A3936"/>
            </a:solidFill>
            <a:prstDash val="solid"/>
          </a:ln>
        </p:spPr>
      </p:sp>
      <p:sp>
        <p:nvSpPr>
          <p:cNvPr id="11" name="Shape 9"/>
          <p:cNvSpPr/>
          <p:nvPr/>
        </p:nvSpPr>
        <p:spPr>
          <a:xfrm>
            <a:off x="2468880" y="2377440"/>
            <a:ext cx="676656" cy="676656"/>
          </a:xfrm>
          <a:prstGeom prst="ellipse">
            <a:avLst/>
          </a:prstGeom>
          <a:solidFill>
            <a:srgbClr val="111111"/>
          </a:solidFill>
          <a:ln w="12700">
            <a:solidFill>
              <a:srgbClr val="111111"/>
            </a:solidFill>
            <a:prstDash val="solid"/>
          </a:ln>
        </p:spPr>
      </p:sp>
      <p:sp>
        <p:nvSpPr>
          <p:cNvPr id="12" name="Text 10"/>
          <p:cNvSpPr/>
          <p:nvPr/>
        </p:nvSpPr>
        <p:spPr>
          <a:xfrm>
            <a:off x="2468880" y="2532888"/>
            <a:ext cx="676656"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02</a:t>
            </a:r>
            <a:endParaRPr lang="en-US" sz="850" dirty="0"/>
          </a:p>
        </p:txBody>
      </p:sp>
      <p:sp>
        <p:nvSpPr>
          <p:cNvPr id="13" name="Text 11"/>
          <p:cNvSpPr/>
          <p:nvPr/>
        </p:nvSpPr>
        <p:spPr>
          <a:xfrm>
            <a:off x="2340864" y="3227832"/>
            <a:ext cx="969264" cy="237744"/>
          </a:xfrm>
          <a:prstGeom prst="rect">
            <a:avLst/>
          </a:prstGeom>
          <a:noFill/>
          <a:ln/>
        </p:spPr>
        <p:txBody>
          <a:bodyPr wrap="square" lIns="0" tIns="0" rIns="0" bIns="0" rtlCol="0" anchor="ctr">
            <a:normAutofit/>
          </a:bodyPr>
          <a:lstStyle/>
          <a:p>
            <a:pPr algn="ctr" indent="0" marL="0">
              <a:buNone/>
            </a:pPr>
            <a:r>
              <a:rPr lang="en-US" sz="1050" b="1" dirty="0">
                <a:solidFill>
                  <a:srgbClr val="111111"/>
                </a:solidFill>
                <a:latin typeface="Aptos" pitchFamily="34" charset="0"/>
                <a:ea typeface="Aptos" pitchFamily="34" charset="-122"/>
                <a:cs typeface="Aptos" pitchFamily="34" charset="-120"/>
              </a:rPr>
              <a:t>PARSE</a:t>
            </a:r>
            <a:endParaRPr lang="en-US" sz="1050" dirty="0"/>
          </a:p>
        </p:txBody>
      </p:sp>
      <p:sp>
        <p:nvSpPr>
          <p:cNvPr id="14" name="Text 12"/>
          <p:cNvSpPr/>
          <p:nvPr/>
        </p:nvSpPr>
        <p:spPr>
          <a:xfrm>
            <a:off x="2212848" y="3547872"/>
            <a:ext cx="1225296" cy="512064"/>
          </a:xfrm>
          <a:prstGeom prst="rect">
            <a:avLst/>
          </a:prstGeom>
          <a:noFill/>
          <a:ln/>
        </p:spPr>
        <p:txBody>
          <a:bodyPr wrap="square" lIns="0" tIns="0" rIns="0" bIns="0" rtlCol="0" anchor="t">
            <a:normAutofit/>
          </a:bodyPr>
          <a:lstStyle/>
          <a:p>
            <a:pPr algn="ctr" indent="0" marL="0">
              <a:buNone/>
            </a:pPr>
            <a:r>
              <a:rPr lang="en-US" sz="850" dirty="0">
                <a:solidFill>
                  <a:srgbClr val="6D695F"/>
                </a:solidFill>
                <a:latin typeface="Aptos" pitchFamily="34" charset="0"/>
                <a:ea typeface="Aptos" pitchFamily="34" charset="-122"/>
                <a:cs typeface="Aptos" pitchFamily="34" charset="-120"/>
              </a:rPr>
              <a:t>Clean text + metadata</a:t>
            </a:r>
            <a:endParaRPr lang="en-US" sz="850" dirty="0"/>
          </a:p>
        </p:txBody>
      </p:sp>
      <p:sp>
        <p:nvSpPr>
          <p:cNvPr id="15" name="Shape 13"/>
          <p:cNvSpPr/>
          <p:nvPr/>
        </p:nvSpPr>
        <p:spPr>
          <a:xfrm>
            <a:off x="5650992" y="3246120"/>
            <a:ext cx="502920" cy="0"/>
          </a:xfrm>
          <a:prstGeom prst="line">
            <a:avLst/>
          </a:prstGeom>
          <a:noFill/>
          <a:ln w="20320">
            <a:solidFill>
              <a:srgbClr val="3A3936"/>
            </a:solidFill>
            <a:prstDash val="solid"/>
          </a:ln>
        </p:spPr>
      </p:sp>
      <p:sp>
        <p:nvSpPr>
          <p:cNvPr id="16" name="Shape 14"/>
          <p:cNvSpPr/>
          <p:nvPr/>
        </p:nvSpPr>
        <p:spPr>
          <a:xfrm>
            <a:off x="4315968" y="2377440"/>
            <a:ext cx="676656" cy="676656"/>
          </a:xfrm>
          <a:prstGeom prst="ellipse">
            <a:avLst/>
          </a:prstGeom>
          <a:solidFill>
            <a:srgbClr val="111111"/>
          </a:solidFill>
          <a:ln w="12700">
            <a:solidFill>
              <a:srgbClr val="111111"/>
            </a:solidFill>
            <a:prstDash val="solid"/>
          </a:ln>
        </p:spPr>
      </p:sp>
      <p:sp>
        <p:nvSpPr>
          <p:cNvPr id="17" name="Text 15"/>
          <p:cNvSpPr/>
          <p:nvPr/>
        </p:nvSpPr>
        <p:spPr>
          <a:xfrm>
            <a:off x="4315968" y="2532888"/>
            <a:ext cx="676656"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03</a:t>
            </a:r>
            <a:endParaRPr lang="en-US" sz="850" dirty="0"/>
          </a:p>
        </p:txBody>
      </p:sp>
      <p:sp>
        <p:nvSpPr>
          <p:cNvPr id="18" name="Text 16"/>
          <p:cNvSpPr/>
          <p:nvPr/>
        </p:nvSpPr>
        <p:spPr>
          <a:xfrm>
            <a:off x="4187952" y="3227832"/>
            <a:ext cx="969264" cy="237744"/>
          </a:xfrm>
          <a:prstGeom prst="rect">
            <a:avLst/>
          </a:prstGeom>
          <a:noFill/>
          <a:ln/>
        </p:spPr>
        <p:txBody>
          <a:bodyPr wrap="square" lIns="0" tIns="0" rIns="0" bIns="0" rtlCol="0" anchor="ctr">
            <a:normAutofit/>
          </a:bodyPr>
          <a:lstStyle/>
          <a:p>
            <a:pPr algn="ctr" indent="0" marL="0">
              <a:buNone/>
            </a:pPr>
            <a:r>
              <a:rPr lang="en-US" sz="1050" b="1" dirty="0">
                <a:solidFill>
                  <a:srgbClr val="111111"/>
                </a:solidFill>
                <a:latin typeface="Aptos" pitchFamily="34" charset="0"/>
                <a:ea typeface="Aptos" pitchFamily="34" charset="-122"/>
                <a:cs typeface="Aptos" pitchFamily="34" charset="-120"/>
              </a:rPr>
              <a:t>BENCHMARK</a:t>
            </a:r>
            <a:endParaRPr lang="en-US" sz="1050" dirty="0"/>
          </a:p>
        </p:txBody>
      </p:sp>
      <p:sp>
        <p:nvSpPr>
          <p:cNvPr id="19" name="Text 17"/>
          <p:cNvSpPr/>
          <p:nvPr/>
        </p:nvSpPr>
        <p:spPr>
          <a:xfrm>
            <a:off x="4059936" y="3547872"/>
            <a:ext cx="1225296" cy="512064"/>
          </a:xfrm>
          <a:prstGeom prst="rect">
            <a:avLst/>
          </a:prstGeom>
          <a:noFill/>
          <a:ln/>
        </p:spPr>
        <p:txBody>
          <a:bodyPr wrap="square" lIns="0" tIns="0" rIns="0" bIns="0" rtlCol="0" anchor="t">
            <a:normAutofit/>
          </a:bodyPr>
          <a:lstStyle/>
          <a:p>
            <a:pPr algn="ctr" indent="0" marL="0">
              <a:buNone/>
            </a:pPr>
            <a:r>
              <a:rPr lang="en-US" sz="850" dirty="0">
                <a:solidFill>
                  <a:srgbClr val="6D695F"/>
                </a:solidFill>
                <a:latin typeface="Aptos" pitchFamily="34" charset="0"/>
                <a:ea typeface="Aptos" pitchFamily="34" charset="-122"/>
                <a:cs typeface="Aptos" pitchFamily="34" charset="-120"/>
              </a:rPr>
              <a:t>Semantic precedents</a:t>
            </a:r>
            <a:endParaRPr lang="en-US" sz="850" dirty="0"/>
          </a:p>
        </p:txBody>
      </p:sp>
      <p:sp>
        <p:nvSpPr>
          <p:cNvPr id="20" name="Shape 18"/>
          <p:cNvSpPr/>
          <p:nvPr/>
        </p:nvSpPr>
        <p:spPr>
          <a:xfrm>
            <a:off x="7498080" y="3246120"/>
            <a:ext cx="502920" cy="0"/>
          </a:xfrm>
          <a:prstGeom prst="line">
            <a:avLst/>
          </a:prstGeom>
          <a:noFill/>
          <a:ln w="20320">
            <a:solidFill>
              <a:srgbClr val="3A3936"/>
            </a:solidFill>
            <a:prstDash val="solid"/>
          </a:ln>
        </p:spPr>
      </p:sp>
      <p:sp>
        <p:nvSpPr>
          <p:cNvPr id="21" name="Shape 19"/>
          <p:cNvSpPr/>
          <p:nvPr/>
        </p:nvSpPr>
        <p:spPr>
          <a:xfrm>
            <a:off x="6163056" y="2377440"/>
            <a:ext cx="676656" cy="676656"/>
          </a:xfrm>
          <a:prstGeom prst="ellipse">
            <a:avLst/>
          </a:prstGeom>
          <a:solidFill>
            <a:srgbClr val="C58A2B"/>
          </a:solidFill>
          <a:ln w="12700">
            <a:solidFill>
              <a:srgbClr val="C58A2B"/>
            </a:solidFill>
            <a:prstDash val="solid"/>
          </a:ln>
        </p:spPr>
      </p:sp>
      <p:sp>
        <p:nvSpPr>
          <p:cNvPr id="22" name="Text 20"/>
          <p:cNvSpPr/>
          <p:nvPr/>
        </p:nvSpPr>
        <p:spPr>
          <a:xfrm>
            <a:off x="6163056" y="2532888"/>
            <a:ext cx="676656"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04</a:t>
            </a:r>
            <a:endParaRPr lang="en-US" sz="850" dirty="0"/>
          </a:p>
        </p:txBody>
      </p:sp>
      <p:sp>
        <p:nvSpPr>
          <p:cNvPr id="23" name="Text 21"/>
          <p:cNvSpPr/>
          <p:nvPr/>
        </p:nvSpPr>
        <p:spPr>
          <a:xfrm>
            <a:off x="6035040" y="3227832"/>
            <a:ext cx="969264" cy="237744"/>
          </a:xfrm>
          <a:prstGeom prst="rect">
            <a:avLst/>
          </a:prstGeom>
          <a:noFill/>
          <a:ln/>
        </p:spPr>
        <p:txBody>
          <a:bodyPr wrap="square" lIns="0" tIns="0" rIns="0" bIns="0" rtlCol="0" anchor="ctr">
            <a:normAutofit/>
          </a:bodyPr>
          <a:lstStyle/>
          <a:p>
            <a:pPr algn="ctr" indent="0" marL="0">
              <a:buNone/>
            </a:pPr>
            <a:r>
              <a:rPr lang="en-US" sz="1050" b="1" dirty="0">
                <a:solidFill>
                  <a:srgbClr val="111111"/>
                </a:solidFill>
                <a:latin typeface="Aptos" pitchFamily="34" charset="0"/>
                <a:ea typeface="Aptos" pitchFamily="34" charset="-122"/>
                <a:cs typeface="Aptos" pitchFamily="34" charset="-120"/>
              </a:rPr>
              <a:t>REASON</a:t>
            </a:r>
            <a:endParaRPr lang="en-US" sz="1050" dirty="0"/>
          </a:p>
        </p:txBody>
      </p:sp>
      <p:sp>
        <p:nvSpPr>
          <p:cNvPr id="24" name="Text 22"/>
          <p:cNvSpPr/>
          <p:nvPr/>
        </p:nvSpPr>
        <p:spPr>
          <a:xfrm>
            <a:off x="5907024" y="3547872"/>
            <a:ext cx="1225296" cy="512064"/>
          </a:xfrm>
          <a:prstGeom prst="rect">
            <a:avLst/>
          </a:prstGeom>
          <a:noFill/>
          <a:ln/>
        </p:spPr>
        <p:txBody>
          <a:bodyPr wrap="square" lIns="0" tIns="0" rIns="0" bIns="0" rtlCol="0" anchor="t">
            <a:normAutofit/>
          </a:bodyPr>
          <a:lstStyle/>
          <a:p>
            <a:pPr algn="ctr" indent="0" marL="0">
              <a:buNone/>
            </a:pPr>
            <a:r>
              <a:rPr lang="en-US" sz="850" dirty="0">
                <a:solidFill>
                  <a:srgbClr val="6D695F"/>
                </a:solidFill>
                <a:latin typeface="Aptos" pitchFamily="34" charset="0"/>
                <a:ea typeface="Aptos" pitchFamily="34" charset="-122"/>
                <a:cs typeface="Aptos" pitchFamily="34" charset="-120"/>
              </a:rPr>
              <a:t>Risk + exposure + explain</a:t>
            </a:r>
            <a:endParaRPr lang="en-US" sz="850" dirty="0"/>
          </a:p>
        </p:txBody>
      </p:sp>
      <p:sp>
        <p:nvSpPr>
          <p:cNvPr id="25" name="Shape 23"/>
          <p:cNvSpPr/>
          <p:nvPr/>
        </p:nvSpPr>
        <p:spPr>
          <a:xfrm>
            <a:off x="9345168" y="3246120"/>
            <a:ext cx="502920" cy="0"/>
          </a:xfrm>
          <a:prstGeom prst="line">
            <a:avLst/>
          </a:prstGeom>
          <a:noFill/>
          <a:ln w="20320">
            <a:solidFill>
              <a:srgbClr val="3A3936"/>
            </a:solidFill>
            <a:prstDash val="solid"/>
          </a:ln>
        </p:spPr>
      </p:sp>
      <p:sp>
        <p:nvSpPr>
          <p:cNvPr id="26" name="Shape 24"/>
          <p:cNvSpPr/>
          <p:nvPr/>
        </p:nvSpPr>
        <p:spPr>
          <a:xfrm>
            <a:off x="8010144" y="2377440"/>
            <a:ext cx="676656" cy="676656"/>
          </a:xfrm>
          <a:prstGeom prst="ellipse">
            <a:avLst/>
          </a:prstGeom>
          <a:solidFill>
            <a:srgbClr val="111111"/>
          </a:solidFill>
          <a:ln w="12700">
            <a:solidFill>
              <a:srgbClr val="111111"/>
            </a:solidFill>
            <a:prstDash val="solid"/>
          </a:ln>
        </p:spPr>
      </p:sp>
      <p:sp>
        <p:nvSpPr>
          <p:cNvPr id="27" name="Text 25"/>
          <p:cNvSpPr/>
          <p:nvPr/>
        </p:nvSpPr>
        <p:spPr>
          <a:xfrm>
            <a:off x="8010144" y="2532888"/>
            <a:ext cx="676656"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05</a:t>
            </a:r>
            <a:endParaRPr lang="en-US" sz="850" dirty="0"/>
          </a:p>
        </p:txBody>
      </p:sp>
      <p:sp>
        <p:nvSpPr>
          <p:cNvPr id="28" name="Text 26"/>
          <p:cNvSpPr/>
          <p:nvPr/>
        </p:nvSpPr>
        <p:spPr>
          <a:xfrm>
            <a:off x="7882128" y="3227832"/>
            <a:ext cx="969264" cy="237744"/>
          </a:xfrm>
          <a:prstGeom prst="rect">
            <a:avLst/>
          </a:prstGeom>
          <a:noFill/>
          <a:ln/>
        </p:spPr>
        <p:txBody>
          <a:bodyPr wrap="square" lIns="0" tIns="0" rIns="0" bIns="0" rtlCol="0" anchor="ctr">
            <a:normAutofit/>
          </a:bodyPr>
          <a:lstStyle/>
          <a:p>
            <a:pPr algn="ctr" indent="0" marL="0">
              <a:buNone/>
            </a:pPr>
            <a:r>
              <a:rPr lang="en-US" sz="1050" b="1" dirty="0">
                <a:solidFill>
                  <a:srgbClr val="111111"/>
                </a:solidFill>
                <a:latin typeface="Aptos" pitchFamily="34" charset="0"/>
                <a:ea typeface="Aptos" pitchFamily="34" charset="-122"/>
                <a:cs typeface="Aptos" pitchFamily="34" charset="-120"/>
              </a:rPr>
              <a:t>NEGOTIATE</a:t>
            </a:r>
            <a:endParaRPr lang="en-US" sz="1050" dirty="0"/>
          </a:p>
        </p:txBody>
      </p:sp>
      <p:sp>
        <p:nvSpPr>
          <p:cNvPr id="29" name="Text 27"/>
          <p:cNvSpPr/>
          <p:nvPr/>
        </p:nvSpPr>
        <p:spPr>
          <a:xfrm>
            <a:off x="7754112" y="3547872"/>
            <a:ext cx="1225296" cy="512064"/>
          </a:xfrm>
          <a:prstGeom prst="rect">
            <a:avLst/>
          </a:prstGeom>
          <a:noFill/>
          <a:ln/>
        </p:spPr>
        <p:txBody>
          <a:bodyPr wrap="square" lIns="0" tIns="0" rIns="0" bIns="0" rtlCol="0" anchor="t">
            <a:normAutofit/>
          </a:bodyPr>
          <a:lstStyle/>
          <a:p>
            <a:pPr algn="ctr" indent="0" marL="0">
              <a:buNone/>
            </a:pPr>
            <a:r>
              <a:rPr lang="en-US" sz="850" dirty="0">
                <a:solidFill>
                  <a:srgbClr val="6D695F"/>
                </a:solidFill>
                <a:latin typeface="Aptos" pitchFamily="34" charset="0"/>
                <a:ea typeface="Aptos" pitchFamily="34" charset="-122"/>
                <a:cs typeface="Aptos" pitchFamily="34" charset="-120"/>
              </a:rPr>
              <a:t>Redline / playbook</a:t>
            </a:r>
            <a:endParaRPr lang="en-US" sz="850" dirty="0"/>
          </a:p>
        </p:txBody>
      </p:sp>
      <p:sp>
        <p:nvSpPr>
          <p:cNvPr id="30" name="Shape 28"/>
          <p:cNvSpPr/>
          <p:nvPr/>
        </p:nvSpPr>
        <p:spPr>
          <a:xfrm>
            <a:off x="9857232" y="2377440"/>
            <a:ext cx="676656" cy="676656"/>
          </a:xfrm>
          <a:prstGeom prst="ellipse">
            <a:avLst/>
          </a:prstGeom>
          <a:solidFill>
            <a:srgbClr val="111111"/>
          </a:solidFill>
          <a:ln w="12700">
            <a:solidFill>
              <a:srgbClr val="111111"/>
            </a:solidFill>
            <a:prstDash val="solid"/>
          </a:ln>
        </p:spPr>
      </p:sp>
      <p:sp>
        <p:nvSpPr>
          <p:cNvPr id="31" name="Text 29"/>
          <p:cNvSpPr/>
          <p:nvPr/>
        </p:nvSpPr>
        <p:spPr>
          <a:xfrm>
            <a:off x="9857232" y="2532888"/>
            <a:ext cx="676656" cy="1645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06</a:t>
            </a:r>
            <a:endParaRPr lang="en-US" sz="850" dirty="0"/>
          </a:p>
        </p:txBody>
      </p:sp>
      <p:sp>
        <p:nvSpPr>
          <p:cNvPr id="32" name="Text 30"/>
          <p:cNvSpPr/>
          <p:nvPr/>
        </p:nvSpPr>
        <p:spPr>
          <a:xfrm>
            <a:off x="9729216" y="3227832"/>
            <a:ext cx="969264" cy="237744"/>
          </a:xfrm>
          <a:prstGeom prst="rect">
            <a:avLst/>
          </a:prstGeom>
          <a:noFill/>
          <a:ln/>
        </p:spPr>
        <p:txBody>
          <a:bodyPr wrap="square" lIns="0" tIns="0" rIns="0" bIns="0" rtlCol="0" anchor="ctr">
            <a:normAutofit/>
          </a:bodyPr>
          <a:lstStyle/>
          <a:p>
            <a:pPr algn="ctr" indent="0" marL="0">
              <a:buNone/>
            </a:pPr>
            <a:r>
              <a:rPr lang="en-US" sz="1050" b="1" dirty="0">
                <a:solidFill>
                  <a:srgbClr val="111111"/>
                </a:solidFill>
                <a:latin typeface="Aptos" pitchFamily="34" charset="0"/>
                <a:ea typeface="Aptos" pitchFamily="34" charset="-122"/>
                <a:cs typeface="Aptos" pitchFamily="34" charset="-120"/>
              </a:rPr>
              <a:t>CONTROL</a:t>
            </a:r>
            <a:endParaRPr lang="en-US" sz="1050" dirty="0"/>
          </a:p>
        </p:txBody>
      </p:sp>
      <p:sp>
        <p:nvSpPr>
          <p:cNvPr id="33" name="Text 31"/>
          <p:cNvSpPr/>
          <p:nvPr/>
        </p:nvSpPr>
        <p:spPr>
          <a:xfrm>
            <a:off x="9601200" y="3547872"/>
            <a:ext cx="1225296" cy="512064"/>
          </a:xfrm>
          <a:prstGeom prst="rect">
            <a:avLst/>
          </a:prstGeom>
          <a:noFill/>
          <a:ln/>
        </p:spPr>
        <p:txBody>
          <a:bodyPr wrap="square" lIns="0" tIns="0" rIns="0" bIns="0" rtlCol="0" anchor="t">
            <a:normAutofit/>
          </a:bodyPr>
          <a:lstStyle/>
          <a:p>
            <a:pPr algn="ctr" indent="0" marL="0">
              <a:buNone/>
            </a:pPr>
            <a:r>
              <a:rPr lang="en-US" sz="850" dirty="0">
                <a:solidFill>
                  <a:srgbClr val="6D695F"/>
                </a:solidFill>
                <a:latin typeface="Aptos" pitchFamily="34" charset="0"/>
                <a:ea typeface="Aptos" pitchFamily="34" charset="-122"/>
                <a:cs typeface="Aptos" pitchFamily="34" charset="-120"/>
              </a:rPr>
              <a:t>Sign + hash + monitor</a:t>
            </a:r>
            <a:endParaRPr lang="en-US" sz="850" dirty="0"/>
          </a:p>
        </p:txBody>
      </p:sp>
      <p:sp>
        <p:nvSpPr>
          <p:cNvPr id="34" name="Shape 32"/>
          <p:cNvSpPr/>
          <p:nvPr/>
        </p:nvSpPr>
        <p:spPr>
          <a:xfrm>
            <a:off x="621792" y="4462272"/>
            <a:ext cx="5248656" cy="1188720"/>
          </a:xfrm>
          <a:prstGeom prst="rect">
            <a:avLst/>
          </a:prstGeom>
          <a:solidFill>
            <a:srgbClr val="111111"/>
          </a:solidFill>
          <a:ln w="12700">
            <a:solidFill>
              <a:srgbClr val="111111"/>
            </a:solidFill>
            <a:prstDash val="solid"/>
          </a:ln>
        </p:spPr>
      </p:sp>
      <p:sp>
        <p:nvSpPr>
          <p:cNvPr id="35" name="Text 33"/>
          <p:cNvSpPr/>
          <p:nvPr/>
        </p:nvSpPr>
        <p:spPr>
          <a:xfrm>
            <a:off x="841248" y="4681728"/>
            <a:ext cx="1508760" cy="201168"/>
          </a:xfrm>
          <a:prstGeom prst="rect">
            <a:avLst/>
          </a:prstGeom>
          <a:noFill/>
          <a:ln/>
        </p:spPr>
        <p:txBody>
          <a:bodyPr wrap="square" lIns="0" tIns="0" rIns="0" bIns="0" rtlCol="0" anchor="ctr">
            <a:normAutofit/>
          </a:bodyPr>
          <a:lstStyle/>
          <a:p>
            <a:pPr algn="l" indent="0" marL="0">
              <a:buNone/>
            </a:pPr>
            <a:r>
              <a:rPr lang="en-US" sz="800" b="1" spc="140" kern="0" dirty="0">
                <a:solidFill>
                  <a:srgbClr val="A9A59A"/>
                </a:solidFill>
                <a:latin typeface="Aptos" pitchFamily="34" charset="0"/>
                <a:ea typeface="Aptos" pitchFamily="34" charset="-122"/>
                <a:cs typeface="Aptos" pitchFamily="34" charset="-120"/>
              </a:rPr>
              <a:t>PARALLEL PATH A</a:t>
            </a:r>
            <a:endParaRPr lang="en-US" sz="800" dirty="0"/>
          </a:p>
        </p:txBody>
      </p:sp>
      <p:sp>
        <p:nvSpPr>
          <p:cNvPr id="36" name="Text 34"/>
          <p:cNvSpPr/>
          <p:nvPr/>
        </p:nvSpPr>
        <p:spPr>
          <a:xfrm>
            <a:off x="841248" y="5047488"/>
            <a:ext cx="4709160" cy="256032"/>
          </a:xfrm>
          <a:prstGeom prst="rect">
            <a:avLst/>
          </a:prstGeom>
          <a:noFill/>
          <a:ln/>
        </p:spPr>
        <p:txBody>
          <a:bodyPr wrap="square" lIns="0" tIns="0" rIns="0" bIns="0" rtlCol="0" anchor="ctr">
            <a:normAutofit/>
          </a:bodyPr>
          <a:lstStyle/>
          <a:p>
            <a:pPr algn="l" indent="0" marL="0">
              <a:buNone/>
            </a:pPr>
            <a:r>
              <a:rPr lang="en-US" sz="1020" b="1" dirty="0">
                <a:solidFill>
                  <a:srgbClr val="FFFFFF"/>
                </a:solidFill>
                <a:latin typeface="Aptos" pitchFamily="34" charset="0"/>
                <a:ea typeface="Aptos" pitchFamily="34" charset="-122"/>
                <a:cs typeface="Aptos" pitchFamily="34" charset="-120"/>
              </a:rPr>
              <a:t>ONNX → embeddings → similarity → benchmark</a:t>
            </a:r>
            <a:endParaRPr lang="en-US" sz="1020" dirty="0"/>
          </a:p>
        </p:txBody>
      </p:sp>
      <p:sp>
        <p:nvSpPr>
          <p:cNvPr id="37" name="Shape 35"/>
          <p:cNvSpPr/>
          <p:nvPr/>
        </p:nvSpPr>
        <p:spPr>
          <a:xfrm>
            <a:off x="6144768" y="4462272"/>
            <a:ext cx="5303520" cy="1188720"/>
          </a:xfrm>
          <a:prstGeom prst="rect">
            <a:avLst/>
          </a:prstGeom>
          <a:solidFill>
            <a:srgbClr val="FFFFFF"/>
          </a:solidFill>
          <a:ln w="12700">
            <a:solidFill>
              <a:srgbClr val="D6D0C5"/>
            </a:solidFill>
            <a:prstDash val="solid"/>
          </a:ln>
        </p:spPr>
      </p:sp>
      <p:sp>
        <p:nvSpPr>
          <p:cNvPr id="38" name="Text 36"/>
          <p:cNvSpPr/>
          <p:nvPr/>
        </p:nvSpPr>
        <p:spPr>
          <a:xfrm>
            <a:off x="6382512" y="4681728"/>
            <a:ext cx="1508760" cy="201168"/>
          </a:xfrm>
          <a:prstGeom prst="rect">
            <a:avLst/>
          </a:prstGeom>
          <a:noFill/>
          <a:ln/>
        </p:spPr>
        <p:txBody>
          <a:bodyPr wrap="square" lIns="0" tIns="0" rIns="0" bIns="0" rtlCol="0" anchor="ctr">
            <a:normAutofit/>
          </a:bodyPr>
          <a:lstStyle/>
          <a:p>
            <a:pPr algn="l" indent="0" marL="0">
              <a:buNone/>
            </a:pPr>
            <a:r>
              <a:rPr lang="en-US" sz="800" b="1" spc="140" kern="0" dirty="0">
                <a:solidFill>
                  <a:srgbClr val="C84A45"/>
                </a:solidFill>
                <a:latin typeface="Aptos" pitchFamily="34" charset="0"/>
                <a:ea typeface="Aptos" pitchFamily="34" charset="-122"/>
                <a:cs typeface="Aptos" pitchFamily="34" charset="-120"/>
              </a:rPr>
              <a:t>PARALLEL PATH B</a:t>
            </a:r>
            <a:endParaRPr lang="en-US" sz="800" dirty="0"/>
          </a:p>
        </p:txBody>
      </p:sp>
      <p:sp>
        <p:nvSpPr>
          <p:cNvPr id="39" name="Text 37"/>
          <p:cNvSpPr/>
          <p:nvPr/>
        </p:nvSpPr>
        <p:spPr>
          <a:xfrm>
            <a:off x="6382512" y="5047488"/>
            <a:ext cx="4709160" cy="256032"/>
          </a:xfrm>
          <a:prstGeom prst="rect">
            <a:avLst/>
          </a:prstGeom>
          <a:noFill/>
          <a:ln/>
        </p:spPr>
        <p:txBody>
          <a:bodyPr wrap="square" lIns="0" tIns="0" rIns="0" bIns="0" rtlCol="0" anchor="ctr">
            <a:normAutofit/>
          </a:bodyPr>
          <a:lstStyle/>
          <a:p>
            <a:pPr algn="l" indent="0" marL="0">
              <a:buNone/>
            </a:pPr>
            <a:r>
              <a:rPr lang="en-US" sz="1020" b="1" dirty="0">
                <a:solidFill>
                  <a:srgbClr val="111111"/>
                </a:solidFill>
                <a:latin typeface="Aptos" pitchFamily="34" charset="0"/>
                <a:ea typeface="Aptos" pitchFamily="34" charset="-122"/>
                <a:cs typeface="Aptos" pitchFamily="34" charset="-120"/>
              </a:rPr>
              <a:t>LLM → structured JSON → explanation → action</a:t>
            </a:r>
            <a:endParaRPr lang="en-US" sz="1020" dirty="0"/>
          </a:p>
        </p:txBody>
      </p:sp>
      <p:sp>
        <p:nvSpPr>
          <p:cNvPr id="40" name="Text 38"/>
          <p:cNvSpPr/>
          <p:nvPr/>
        </p:nvSpPr>
        <p:spPr>
          <a:xfrm>
            <a:off x="621792" y="5870448"/>
            <a:ext cx="10789920" cy="274320"/>
          </a:xfrm>
          <a:prstGeom prst="rect">
            <a:avLst/>
          </a:prstGeom>
          <a:noFill/>
          <a:ln/>
        </p:spPr>
        <p:txBody>
          <a:bodyPr wrap="square" lIns="0" tIns="0" rIns="0" bIns="0" rtlCol="0" anchor="ctr">
            <a:normAutofit/>
          </a:bodyPr>
          <a:lstStyle/>
          <a:p>
            <a:pPr algn="ctr" indent="0" marL="0">
              <a:buNone/>
            </a:pPr>
            <a:r>
              <a:rPr lang="en-US" sz="1400" i="1" dirty="0">
                <a:solidFill>
                  <a:srgbClr val="6D695F"/>
                </a:solidFill>
                <a:latin typeface="Georgia" pitchFamily="34" charset="0"/>
                <a:ea typeface="Georgia" pitchFamily="34" charset="-122"/>
                <a:cs typeface="Georgia" pitchFamily="34" charset="-120"/>
              </a:rPr>
              <a:t>The merge point is an actionable contract report — not just a score.</a:t>
            </a:r>
            <a:endParaRPr lang="en-US" sz="140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05  /  PRODUCT EXPERIENCE</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Contract Risk Analyzer</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The primary interaction: turn a document into a structured risk report in one pass.</a:t>
            </a:r>
            <a:endParaRPr lang="en-US" sz="1150" dirty="0"/>
          </a:p>
        </p:txBody>
      </p:sp>
      <p:sp>
        <p:nvSpPr>
          <p:cNvPr id="5" name="Shape 3"/>
          <p:cNvSpPr/>
          <p:nvPr/>
        </p:nvSpPr>
        <p:spPr>
          <a:xfrm>
            <a:off x="548640" y="1828800"/>
            <a:ext cx="7333488" cy="4142232"/>
          </a:xfrm>
          <a:prstGeom prst="rect">
            <a:avLst/>
          </a:prstGeom>
          <a:solidFill>
            <a:srgbClr val="FFFFFF"/>
          </a:solidFill>
          <a:ln w="12700">
            <a:solidFill>
              <a:srgbClr val="D6D0C5"/>
            </a:solidFill>
            <a:prstDash val="solid"/>
          </a:ln>
        </p:spPr>
      </p:sp>
      <p:sp>
        <p:nvSpPr>
          <p:cNvPr id="6" name="Text 4"/>
          <p:cNvSpPr/>
          <p:nvPr/>
        </p:nvSpPr>
        <p:spPr>
          <a:xfrm>
            <a:off x="786384" y="2029968"/>
            <a:ext cx="2423160" cy="201168"/>
          </a:xfrm>
          <a:prstGeom prst="rect">
            <a:avLst/>
          </a:prstGeom>
          <a:noFill/>
          <a:ln/>
        </p:spPr>
        <p:txBody>
          <a:bodyPr wrap="square" lIns="0" tIns="0" rIns="0" bIns="0" rtlCol="0" anchor="ctr">
            <a:normAutofit/>
          </a:bodyPr>
          <a:lstStyle/>
          <a:p>
            <a:pPr algn="l" indent="0" marL="0">
              <a:buNone/>
            </a:pPr>
            <a:r>
              <a:rPr lang="en-US" sz="800" b="1" spc="120" kern="0" dirty="0">
                <a:solidFill>
                  <a:srgbClr val="6D695F"/>
                </a:solidFill>
                <a:latin typeface="Aptos" pitchFamily="34" charset="0"/>
                <a:ea typeface="Aptos" pitchFamily="34" charset="-122"/>
                <a:cs typeface="Aptos" pitchFamily="34" charset="-120"/>
              </a:rPr>
              <a:t>VENDOR AGREEMENT / ANALYSIS</a:t>
            </a:r>
            <a:endParaRPr lang="en-US" sz="800" dirty="0"/>
          </a:p>
        </p:txBody>
      </p:sp>
      <p:sp>
        <p:nvSpPr>
          <p:cNvPr id="7" name="Shape 5"/>
          <p:cNvSpPr/>
          <p:nvPr/>
        </p:nvSpPr>
        <p:spPr>
          <a:xfrm>
            <a:off x="6931152" y="1956816"/>
            <a:ext cx="713232" cy="310896"/>
          </a:xfrm>
          <a:prstGeom prst="roundRect">
            <a:avLst>
              <a:gd name="adj" fmla="val 23529"/>
            </a:avLst>
          </a:prstGeom>
          <a:solidFill>
            <a:srgbClr val="DFEBD9"/>
          </a:solidFill>
          <a:ln w="10160">
            <a:solidFill>
              <a:srgbClr val="DFEBD9"/>
            </a:solidFill>
            <a:prstDash val="solid"/>
          </a:ln>
        </p:spPr>
      </p:sp>
      <p:sp>
        <p:nvSpPr>
          <p:cNvPr id="8" name="Text 6"/>
          <p:cNvSpPr/>
          <p:nvPr/>
        </p:nvSpPr>
        <p:spPr>
          <a:xfrm>
            <a:off x="6931152" y="1965960"/>
            <a:ext cx="713232" cy="274320"/>
          </a:xfrm>
          <a:prstGeom prst="rect">
            <a:avLst/>
          </a:prstGeom>
          <a:noFill/>
          <a:ln/>
        </p:spPr>
        <p:txBody>
          <a:bodyPr wrap="square" lIns="0" tIns="0" rIns="0" bIns="0" rtlCol="0" anchor="ctr">
            <a:normAutofit/>
          </a:bodyPr>
          <a:lstStyle/>
          <a:p>
            <a:pPr algn="ctr" indent="0" marL="0">
              <a:buNone/>
            </a:pPr>
            <a:r>
              <a:rPr lang="en-US" sz="850" b="1" dirty="0">
                <a:solidFill>
                  <a:srgbClr val="4E7C52"/>
                </a:solidFill>
                <a:latin typeface="Aptos" pitchFamily="34" charset="0"/>
                <a:ea typeface="Aptos" pitchFamily="34" charset="-122"/>
                <a:cs typeface="Aptos" pitchFamily="34" charset="-120"/>
              </a:rPr>
              <a:t>ANALYZED</a:t>
            </a:r>
            <a:endParaRPr lang="en-US" sz="850" dirty="0"/>
          </a:p>
        </p:txBody>
      </p:sp>
      <p:sp>
        <p:nvSpPr>
          <p:cNvPr id="9" name="Shape 7"/>
          <p:cNvSpPr/>
          <p:nvPr/>
        </p:nvSpPr>
        <p:spPr>
          <a:xfrm>
            <a:off x="786384" y="2359152"/>
            <a:ext cx="6839712" cy="0"/>
          </a:xfrm>
          <a:prstGeom prst="line">
            <a:avLst/>
          </a:prstGeom>
          <a:noFill/>
          <a:ln w="12700">
            <a:solidFill>
              <a:srgbClr val="D6D0C5"/>
            </a:solidFill>
            <a:prstDash val="solid"/>
          </a:ln>
        </p:spPr>
      </p:sp>
      <p:sp>
        <p:nvSpPr>
          <p:cNvPr id="10" name="Shape 8"/>
          <p:cNvSpPr/>
          <p:nvPr/>
        </p:nvSpPr>
        <p:spPr>
          <a:xfrm>
            <a:off x="786384" y="2606040"/>
            <a:ext cx="1938528" cy="2011680"/>
          </a:xfrm>
          <a:prstGeom prst="rect">
            <a:avLst/>
          </a:prstGeom>
          <a:solidFill>
            <a:srgbClr val="111111"/>
          </a:solidFill>
          <a:ln w="12700">
            <a:solidFill>
              <a:srgbClr val="111111"/>
            </a:solidFill>
            <a:prstDash val="solid"/>
          </a:ln>
        </p:spPr>
      </p:sp>
      <p:sp>
        <p:nvSpPr>
          <p:cNvPr id="11" name="Text 9"/>
          <p:cNvSpPr/>
          <p:nvPr/>
        </p:nvSpPr>
        <p:spPr>
          <a:xfrm>
            <a:off x="950976" y="2816352"/>
            <a:ext cx="1600200" cy="182880"/>
          </a:xfrm>
          <a:prstGeom prst="rect">
            <a:avLst/>
          </a:prstGeom>
          <a:noFill/>
          <a:ln/>
        </p:spPr>
        <p:txBody>
          <a:bodyPr wrap="square" lIns="0" tIns="0" rIns="0" bIns="0" rtlCol="0" anchor="ctr">
            <a:normAutofit/>
          </a:bodyPr>
          <a:lstStyle/>
          <a:p>
            <a:pPr algn="ctr" indent="0" marL="0">
              <a:buNone/>
            </a:pPr>
            <a:r>
              <a:rPr lang="en-US" sz="780" b="1" spc="120" kern="0" dirty="0">
                <a:solidFill>
                  <a:srgbClr val="A9A59A"/>
                </a:solidFill>
                <a:latin typeface="Aptos" pitchFamily="34" charset="0"/>
                <a:ea typeface="Aptos" pitchFamily="34" charset="-122"/>
                <a:cs typeface="Aptos" pitchFamily="34" charset="-120"/>
              </a:rPr>
              <a:t>OVERALL RISK</a:t>
            </a:r>
            <a:endParaRPr lang="en-US" sz="780" dirty="0"/>
          </a:p>
        </p:txBody>
      </p:sp>
      <p:sp>
        <p:nvSpPr>
          <p:cNvPr id="12" name="Text 10"/>
          <p:cNvSpPr/>
          <p:nvPr/>
        </p:nvSpPr>
        <p:spPr>
          <a:xfrm>
            <a:off x="914400" y="3163824"/>
            <a:ext cx="1682496" cy="640080"/>
          </a:xfrm>
          <a:prstGeom prst="rect">
            <a:avLst/>
          </a:prstGeom>
          <a:noFill/>
          <a:ln/>
        </p:spPr>
        <p:txBody>
          <a:bodyPr wrap="square" lIns="0" tIns="0" rIns="0" bIns="0" rtlCol="0" anchor="ctr">
            <a:normAutofit/>
          </a:bodyPr>
          <a:lstStyle/>
          <a:p>
            <a:pPr algn="ctr" indent="0" marL="0">
              <a:buNone/>
            </a:pPr>
            <a:r>
              <a:rPr lang="en-US" sz="3900" b="1" dirty="0">
                <a:solidFill>
                  <a:srgbClr val="FFFFFF"/>
                </a:solidFill>
                <a:latin typeface="Aptos" pitchFamily="34" charset="0"/>
                <a:ea typeface="Aptos" pitchFamily="34" charset="-122"/>
                <a:cs typeface="Aptos" pitchFamily="34" charset="-120"/>
              </a:rPr>
              <a:t>72</a:t>
            </a:r>
            <a:endParaRPr lang="en-US" sz="3900" dirty="0"/>
          </a:p>
        </p:txBody>
      </p:sp>
      <p:sp>
        <p:nvSpPr>
          <p:cNvPr id="13" name="Text 11"/>
          <p:cNvSpPr/>
          <p:nvPr/>
        </p:nvSpPr>
        <p:spPr>
          <a:xfrm>
            <a:off x="914400" y="3840480"/>
            <a:ext cx="1682496" cy="219456"/>
          </a:xfrm>
          <a:prstGeom prst="rect">
            <a:avLst/>
          </a:prstGeom>
          <a:noFill/>
          <a:ln/>
        </p:spPr>
        <p:txBody>
          <a:bodyPr wrap="square" lIns="0" tIns="0" rIns="0" bIns="0" rtlCol="0" anchor="ctr">
            <a:normAutofit/>
          </a:bodyPr>
          <a:lstStyle/>
          <a:p>
            <a:pPr algn="ctr" indent="0" marL="0">
              <a:buNone/>
            </a:pPr>
            <a:r>
              <a:rPr lang="en-US" sz="850" dirty="0">
                <a:solidFill>
                  <a:srgbClr val="A9A59A"/>
                </a:solidFill>
                <a:latin typeface="Aptos" pitchFamily="34" charset="0"/>
                <a:ea typeface="Aptos" pitchFamily="34" charset="-122"/>
                <a:cs typeface="Aptos" pitchFamily="34" charset="-120"/>
              </a:rPr>
              <a:t>/ 100</a:t>
            </a:r>
            <a:endParaRPr lang="en-US" sz="850" dirty="0"/>
          </a:p>
        </p:txBody>
      </p:sp>
      <p:sp>
        <p:nvSpPr>
          <p:cNvPr id="14" name="Text 12"/>
          <p:cNvSpPr/>
          <p:nvPr/>
        </p:nvSpPr>
        <p:spPr>
          <a:xfrm>
            <a:off x="2971800" y="2670048"/>
            <a:ext cx="1737360" cy="182880"/>
          </a:xfrm>
          <a:prstGeom prst="rect">
            <a:avLst/>
          </a:prstGeom>
          <a:noFill/>
          <a:ln/>
        </p:spPr>
        <p:txBody>
          <a:bodyPr wrap="square" lIns="0" tIns="0" rIns="0" bIns="0" rtlCol="0" anchor="ctr">
            <a:normAutofit/>
          </a:bodyPr>
          <a:lstStyle/>
          <a:p>
            <a:pPr algn="l" indent="0" marL="0">
              <a:buNone/>
            </a:pPr>
            <a:r>
              <a:rPr lang="en-US" sz="780" b="1" spc="110" kern="0" dirty="0">
                <a:solidFill>
                  <a:srgbClr val="6D695F"/>
                </a:solidFill>
                <a:latin typeface="Aptos" pitchFamily="34" charset="0"/>
                <a:ea typeface="Aptos" pitchFamily="34" charset="-122"/>
                <a:cs typeface="Aptos" pitchFamily="34" charset="-120"/>
              </a:rPr>
              <a:t>RISK DISTRIBUTION</a:t>
            </a:r>
            <a:endParaRPr lang="en-US" sz="780" dirty="0"/>
          </a:p>
        </p:txBody>
      </p:sp>
      <p:sp>
        <p:nvSpPr>
          <p:cNvPr id="15" name="Text 13"/>
          <p:cNvSpPr/>
          <p:nvPr/>
        </p:nvSpPr>
        <p:spPr>
          <a:xfrm>
            <a:off x="2971800" y="3035808"/>
            <a:ext cx="658368" cy="182880"/>
          </a:xfrm>
          <a:prstGeom prst="rect">
            <a:avLst/>
          </a:prstGeom>
          <a:noFill/>
          <a:ln/>
        </p:spPr>
        <p:txBody>
          <a:bodyPr wrap="square" lIns="0" tIns="0" rIns="0" bIns="0" rtlCol="0" anchor="ctr">
            <a:normAutofit/>
          </a:bodyPr>
          <a:lstStyle/>
          <a:p>
            <a:pPr algn="l" indent="0" marL="0">
              <a:buNone/>
            </a:pPr>
            <a:r>
              <a:rPr lang="en-US" sz="850" b="1" dirty="0">
                <a:solidFill>
                  <a:srgbClr val="111111"/>
                </a:solidFill>
                <a:latin typeface="Aptos" pitchFamily="34" charset="0"/>
                <a:ea typeface="Aptos" pitchFamily="34" charset="-122"/>
                <a:cs typeface="Aptos" pitchFamily="34" charset="-120"/>
              </a:rPr>
              <a:t>Critical</a:t>
            </a:r>
            <a:endParaRPr lang="en-US" sz="850" dirty="0"/>
          </a:p>
        </p:txBody>
      </p:sp>
      <p:sp>
        <p:nvSpPr>
          <p:cNvPr id="16" name="Shape 14"/>
          <p:cNvSpPr/>
          <p:nvPr/>
        </p:nvSpPr>
        <p:spPr>
          <a:xfrm>
            <a:off x="3685032" y="3081528"/>
            <a:ext cx="2560320" cy="118872"/>
          </a:xfrm>
          <a:prstGeom prst="rect">
            <a:avLst/>
          </a:prstGeom>
          <a:solidFill>
            <a:srgbClr val="EEEAE1"/>
          </a:solidFill>
          <a:ln w="12700">
            <a:solidFill>
              <a:srgbClr val="EEEAE1"/>
            </a:solidFill>
            <a:prstDash val="solid"/>
          </a:ln>
        </p:spPr>
      </p:sp>
      <p:sp>
        <p:nvSpPr>
          <p:cNvPr id="17" name="Shape 15"/>
          <p:cNvSpPr/>
          <p:nvPr/>
        </p:nvSpPr>
        <p:spPr>
          <a:xfrm>
            <a:off x="3685032" y="3081528"/>
            <a:ext cx="1997050" cy="118872"/>
          </a:xfrm>
          <a:prstGeom prst="rect">
            <a:avLst/>
          </a:prstGeom>
          <a:solidFill>
            <a:srgbClr val="C84A45"/>
          </a:solidFill>
          <a:ln w="12700">
            <a:solidFill>
              <a:srgbClr val="C84A45"/>
            </a:solidFill>
            <a:prstDash val="solid"/>
          </a:ln>
        </p:spPr>
      </p:sp>
      <p:sp>
        <p:nvSpPr>
          <p:cNvPr id="18" name="Text 16"/>
          <p:cNvSpPr/>
          <p:nvPr/>
        </p:nvSpPr>
        <p:spPr>
          <a:xfrm>
            <a:off x="2971800" y="3401568"/>
            <a:ext cx="658368" cy="182880"/>
          </a:xfrm>
          <a:prstGeom prst="rect">
            <a:avLst/>
          </a:prstGeom>
          <a:noFill/>
          <a:ln/>
        </p:spPr>
        <p:txBody>
          <a:bodyPr wrap="square" lIns="0" tIns="0" rIns="0" bIns="0" rtlCol="0" anchor="ctr">
            <a:normAutofit/>
          </a:bodyPr>
          <a:lstStyle/>
          <a:p>
            <a:pPr algn="l" indent="0" marL="0">
              <a:buNone/>
            </a:pPr>
            <a:r>
              <a:rPr lang="en-US" sz="850" b="1" dirty="0">
                <a:solidFill>
                  <a:srgbClr val="111111"/>
                </a:solidFill>
                <a:latin typeface="Aptos" pitchFamily="34" charset="0"/>
                <a:ea typeface="Aptos" pitchFamily="34" charset="-122"/>
                <a:cs typeface="Aptos" pitchFamily="34" charset="-120"/>
              </a:rPr>
              <a:t>High</a:t>
            </a:r>
            <a:endParaRPr lang="en-US" sz="850" dirty="0"/>
          </a:p>
        </p:txBody>
      </p:sp>
      <p:sp>
        <p:nvSpPr>
          <p:cNvPr id="19" name="Shape 17"/>
          <p:cNvSpPr/>
          <p:nvPr/>
        </p:nvSpPr>
        <p:spPr>
          <a:xfrm>
            <a:off x="3685032" y="3447288"/>
            <a:ext cx="2560320" cy="118872"/>
          </a:xfrm>
          <a:prstGeom prst="rect">
            <a:avLst/>
          </a:prstGeom>
          <a:solidFill>
            <a:srgbClr val="EEEAE1"/>
          </a:solidFill>
          <a:ln w="12700">
            <a:solidFill>
              <a:srgbClr val="EEEAE1"/>
            </a:solidFill>
            <a:prstDash val="solid"/>
          </a:ln>
        </p:spPr>
      </p:sp>
      <p:sp>
        <p:nvSpPr>
          <p:cNvPr id="20" name="Shape 18"/>
          <p:cNvSpPr/>
          <p:nvPr/>
        </p:nvSpPr>
        <p:spPr>
          <a:xfrm>
            <a:off x="3685032" y="3447288"/>
            <a:ext cx="1484986" cy="118872"/>
          </a:xfrm>
          <a:prstGeom prst="rect">
            <a:avLst/>
          </a:prstGeom>
          <a:solidFill>
            <a:srgbClr val="D87931"/>
          </a:solidFill>
          <a:ln w="12700">
            <a:solidFill>
              <a:srgbClr val="D87931"/>
            </a:solidFill>
            <a:prstDash val="solid"/>
          </a:ln>
        </p:spPr>
      </p:sp>
      <p:sp>
        <p:nvSpPr>
          <p:cNvPr id="21" name="Text 19"/>
          <p:cNvSpPr/>
          <p:nvPr/>
        </p:nvSpPr>
        <p:spPr>
          <a:xfrm>
            <a:off x="2971800" y="3767328"/>
            <a:ext cx="658368" cy="182880"/>
          </a:xfrm>
          <a:prstGeom prst="rect">
            <a:avLst/>
          </a:prstGeom>
          <a:noFill/>
          <a:ln/>
        </p:spPr>
        <p:txBody>
          <a:bodyPr wrap="square" lIns="0" tIns="0" rIns="0" bIns="0" rtlCol="0" anchor="ctr">
            <a:normAutofit/>
          </a:bodyPr>
          <a:lstStyle/>
          <a:p>
            <a:pPr algn="l" indent="0" marL="0">
              <a:buNone/>
            </a:pPr>
            <a:r>
              <a:rPr lang="en-US" sz="850" b="1" dirty="0">
                <a:solidFill>
                  <a:srgbClr val="111111"/>
                </a:solidFill>
                <a:latin typeface="Aptos" pitchFamily="34" charset="0"/>
                <a:ea typeface="Aptos" pitchFamily="34" charset="-122"/>
                <a:cs typeface="Aptos" pitchFamily="34" charset="-120"/>
              </a:rPr>
              <a:t>Medium</a:t>
            </a:r>
            <a:endParaRPr lang="en-US" sz="850" dirty="0"/>
          </a:p>
        </p:txBody>
      </p:sp>
      <p:sp>
        <p:nvSpPr>
          <p:cNvPr id="22" name="Shape 20"/>
          <p:cNvSpPr/>
          <p:nvPr/>
        </p:nvSpPr>
        <p:spPr>
          <a:xfrm>
            <a:off x="3685032" y="3813048"/>
            <a:ext cx="2560320" cy="118872"/>
          </a:xfrm>
          <a:prstGeom prst="rect">
            <a:avLst/>
          </a:prstGeom>
          <a:solidFill>
            <a:srgbClr val="EEEAE1"/>
          </a:solidFill>
          <a:ln w="12700">
            <a:solidFill>
              <a:srgbClr val="EEEAE1"/>
            </a:solidFill>
            <a:prstDash val="solid"/>
          </a:ln>
        </p:spPr>
      </p:sp>
      <p:sp>
        <p:nvSpPr>
          <p:cNvPr id="23" name="Shape 21"/>
          <p:cNvSpPr/>
          <p:nvPr/>
        </p:nvSpPr>
        <p:spPr>
          <a:xfrm>
            <a:off x="3685032" y="3813048"/>
            <a:ext cx="921715" cy="118872"/>
          </a:xfrm>
          <a:prstGeom prst="rect">
            <a:avLst/>
          </a:prstGeom>
          <a:solidFill>
            <a:srgbClr val="B99028"/>
          </a:solidFill>
          <a:ln w="12700">
            <a:solidFill>
              <a:srgbClr val="B99028"/>
            </a:solidFill>
            <a:prstDash val="solid"/>
          </a:ln>
        </p:spPr>
      </p:sp>
      <p:sp>
        <p:nvSpPr>
          <p:cNvPr id="24" name="Text 22"/>
          <p:cNvSpPr/>
          <p:nvPr/>
        </p:nvSpPr>
        <p:spPr>
          <a:xfrm>
            <a:off x="2971800" y="4133088"/>
            <a:ext cx="658368" cy="182880"/>
          </a:xfrm>
          <a:prstGeom prst="rect">
            <a:avLst/>
          </a:prstGeom>
          <a:noFill/>
          <a:ln/>
        </p:spPr>
        <p:txBody>
          <a:bodyPr wrap="square" lIns="0" tIns="0" rIns="0" bIns="0" rtlCol="0" anchor="ctr">
            <a:normAutofit/>
          </a:bodyPr>
          <a:lstStyle/>
          <a:p>
            <a:pPr algn="l" indent="0" marL="0">
              <a:buNone/>
            </a:pPr>
            <a:r>
              <a:rPr lang="en-US" sz="850" b="1" dirty="0">
                <a:solidFill>
                  <a:srgbClr val="111111"/>
                </a:solidFill>
                <a:latin typeface="Aptos" pitchFamily="34" charset="0"/>
                <a:ea typeface="Aptos" pitchFamily="34" charset="-122"/>
                <a:cs typeface="Aptos" pitchFamily="34" charset="-120"/>
              </a:rPr>
              <a:t>Low</a:t>
            </a:r>
            <a:endParaRPr lang="en-US" sz="850" dirty="0"/>
          </a:p>
        </p:txBody>
      </p:sp>
      <p:sp>
        <p:nvSpPr>
          <p:cNvPr id="25" name="Shape 23"/>
          <p:cNvSpPr/>
          <p:nvPr/>
        </p:nvSpPr>
        <p:spPr>
          <a:xfrm>
            <a:off x="3685032" y="4178808"/>
            <a:ext cx="2560320" cy="118872"/>
          </a:xfrm>
          <a:prstGeom prst="rect">
            <a:avLst/>
          </a:prstGeom>
          <a:solidFill>
            <a:srgbClr val="EEEAE1"/>
          </a:solidFill>
          <a:ln w="12700">
            <a:solidFill>
              <a:srgbClr val="EEEAE1"/>
            </a:solidFill>
            <a:prstDash val="solid"/>
          </a:ln>
        </p:spPr>
      </p:sp>
      <p:sp>
        <p:nvSpPr>
          <p:cNvPr id="26" name="Shape 24"/>
          <p:cNvSpPr/>
          <p:nvPr/>
        </p:nvSpPr>
        <p:spPr>
          <a:xfrm>
            <a:off x="3685032" y="4178808"/>
            <a:ext cx="563270" cy="118872"/>
          </a:xfrm>
          <a:prstGeom prst="rect">
            <a:avLst/>
          </a:prstGeom>
          <a:solidFill>
            <a:srgbClr val="4E7C52"/>
          </a:solidFill>
          <a:ln w="12700">
            <a:solidFill>
              <a:srgbClr val="4E7C52"/>
            </a:solidFill>
            <a:prstDash val="solid"/>
          </a:ln>
        </p:spPr>
      </p:sp>
      <p:sp>
        <p:nvSpPr>
          <p:cNvPr id="27" name="Text 25"/>
          <p:cNvSpPr/>
          <p:nvPr/>
        </p:nvSpPr>
        <p:spPr>
          <a:xfrm>
            <a:off x="2971800" y="4617720"/>
            <a:ext cx="1005840" cy="182880"/>
          </a:xfrm>
          <a:prstGeom prst="rect">
            <a:avLst/>
          </a:prstGeom>
          <a:noFill/>
          <a:ln/>
        </p:spPr>
        <p:txBody>
          <a:bodyPr wrap="square" lIns="0" tIns="0" rIns="0" bIns="0" rtlCol="0" anchor="ctr">
            <a:normAutofit/>
          </a:bodyPr>
          <a:lstStyle/>
          <a:p>
            <a:pPr algn="l" indent="0" marL="0">
              <a:buNone/>
            </a:pPr>
            <a:r>
              <a:rPr lang="en-US" sz="780" b="1" spc="110" kern="0" dirty="0">
                <a:solidFill>
                  <a:srgbClr val="C84A45"/>
                </a:solidFill>
                <a:latin typeface="Aptos" pitchFamily="34" charset="0"/>
                <a:ea typeface="Aptos" pitchFamily="34" charset="-122"/>
                <a:cs typeface="Aptos" pitchFamily="34" charset="-120"/>
              </a:rPr>
              <a:t>KEY RED FLAG</a:t>
            </a:r>
            <a:endParaRPr lang="en-US" sz="780" dirty="0"/>
          </a:p>
        </p:txBody>
      </p:sp>
      <p:sp>
        <p:nvSpPr>
          <p:cNvPr id="28" name="Text 26"/>
          <p:cNvSpPr/>
          <p:nvPr/>
        </p:nvSpPr>
        <p:spPr>
          <a:xfrm>
            <a:off x="3968496" y="4590288"/>
            <a:ext cx="3429000" cy="301752"/>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Uncapped indemnification creates open-ended exposure.</a:t>
            </a:r>
            <a:endParaRPr lang="en-US" sz="950" dirty="0"/>
          </a:p>
        </p:txBody>
      </p:sp>
      <p:sp>
        <p:nvSpPr>
          <p:cNvPr id="29" name="Shape 27"/>
          <p:cNvSpPr/>
          <p:nvPr/>
        </p:nvSpPr>
        <p:spPr>
          <a:xfrm>
            <a:off x="8147304" y="1828800"/>
            <a:ext cx="3310128" cy="1024128"/>
          </a:xfrm>
          <a:prstGeom prst="rect">
            <a:avLst/>
          </a:prstGeom>
          <a:solidFill>
            <a:srgbClr val="FFFFFF"/>
          </a:solidFill>
          <a:ln w="12700">
            <a:solidFill>
              <a:srgbClr val="D6D0C5"/>
            </a:solidFill>
            <a:prstDash val="solid"/>
          </a:ln>
        </p:spPr>
      </p:sp>
      <p:sp>
        <p:nvSpPr>
          <p:cNvPr id="30" name="Shape 28"/>
          <p:cNvSpPr/>
          <p:nvPr/>
        </p:nvSpPr>
        <p:spPr>
          <a:xfrm>
            <a:off x="8293608" y="1975104"/>
            <a:ext cx="438912" cy="274320"/>
          </a:xfrm>
          <a:prstGeom prst="roundRect">
            <a:avLst>
              <a:gd name="adj" fmla="val 20000"/>
            </a:avLst>
          </a:prstGeom>
          <a:solidFill>
            <a:srgbClr val="111111"/>
          </a:solidFill>
          <a:ln w="10160">
            <a:solidFill>
              <a:srgbClr val="111111"/>
            </a:solidFill>
            <a:prstDash val="solid"/>
          </a:ln>
        </p:spPr>
      </p:sp>
      <p:sp>
        <p:nvSpPr>
          <p:cNvPr id="31" name="Text 29"/>
          <p:cNvSpPr/>
          <p:nvPr/>
        </p:nvSpPr>
        <p:spPr>
          <a:xfrm>
            <a:off x="8293608" y="1984248"/>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A</a:t>
            </a:r>
            <a:endParaRPr lang="en-US" sz="850" dirty="0"/>
          </a:p>
        </p:txBody>
      </p:sp>
      <p:sp>
        <p:nvSpPr>
          <p:cNvPr id="32" name="Text 30"/>
          <p:cNvSpPr/>
          <p:nvPr/>
        </p:nvSpPr>
        <p:spPr>
          <a:xfrm>
            <a:off x="8860536" y="1975104"/>
            <a:ext cx="2450592" cy="256032"/>
          </a:xfrm>
          <a:prstGeom prst="rect">
            <a:avLst/>
          </a:prstGeom>
          <a:noFill/>
          <a:ln/>
        </p:spPr>
        <p:txBody>
          <a:bodyPr wrap="square" lIns="0" tIns="0" rIns="0" bIns="0" rtlCol="0" anchor="ctr">
            <a:normAutofit/>
          </a:bodyPr>
          <a:lstStyle/>
          <a:p>
            <a:pPr algn="l" indent="0" marL="0">
              <a:buNone/>
            </a:pPr>
            <a:r>
              <a:rPr lang="en-US" sz="1100" b="1" dirty="0">
                <a:solidFill>
                  <a:srgbClr val="111111"/>
                </a:solidFill>
                <a:latin typeface="Aptos" pitchFamily="34" charset="0"/>
                <a:ea typeface="Aptos" pitchFamily="34" charset="-122"/>
                <a:cs typeface="Aptos" pitchFamily="34" charset="-120"/>
              </a:rPr>
              <a:t>Multi-format ingestion</a:t>
            </a:r>
            <a:endParaRPr lang="en-US" sz="1100" dirty="0"/>
          </a:p>
        </p:txBody>
      </p:sp>
      <p:sp>
        <p:nvSpPr>
          <p:cNvPr id="33" name="Text 31"/>
          <p:cNvSpPr/>
          <p:nvPr/>
        </p:nvSpPr>
        <p:spPr>
          <a:xfrm>
            <a:off x="8293608" y="2359152"/>
            <a:ext cx="3017520" cy="384048"/>
          </a:xfrm>
          <a:prstGeom prst="rect">
            <a:avLst/>
          </a:prstGeom>
          <a:noFill/>
          <a:ln/>
        </p:spPr>
        <p:txBody>
          <a:bodyPr wrap="square" lIns="0" tIns="0" rIns="0" bIns="0" rtlCol="0" anchor="t">
            <a:normAutofit/>
          </a:bodyPr>
          <a:lstStyle/>
          <a:p>
            <a:pPr algn="l" indent="0" marL="0">
              <a:lnSpc>
                <a:spcPct val="108000"/>
              </a:lnSpc>
              <a:buNone/>
            </a:pPr>
            <a:r>
              <a:rPr lang="en-US" sz="930" dirty="0">
                <a:solidFill>
                  <a:srgbClr val="6D695F"/>
                </a:solidFill>
                <a:latin typeface="Aptos" pitchFamily="34" charset="0"/>
                <a:ea typeface="Aptos" pitchFamily="34" charset="-122"/>
                <a:cs typeface="Aptos" pitchFamily="34" charset="-120"/>
              </a:rPr>
              <a:t>PDF, DOCX and TXT with configurable size bounds.</a:t>
            </a:r>
            <a:endParaRPr lang="en-US" sz="930" dirty="0"/>
          </a:p>
        </p:txBody>
      </p:sp>
      <p:sp>
        <p:nvSpPr>
          <p:cNvPr id="34" name="Shape 32"/>
          <p:cNvSpPr/>
          <p:nvPr/>
        </p:nvSpPr>
        <p:spPr>
          <a:xfrm>
            <a:off x="8147304" y="3026664"/>
            <a:ext cx="3310128" cy="1024128"/>
          </a:xfrm>
          <a:prstGeom prst="rect">
            <a:avLst/>
          </a:prstGeom>
          <a:solidFill>
            <a:srgbClr val="FFFFFF"/>
          </a:solidFill>
          <a:ln w="12700">
            <a:solidFill>
              <a:srgbClr val="D6D0C5"/>
            </a:solidFill>
            <a:prstDash val="solid"/>
          </a:ln>
        </p:spPr>
      </p:sp>
      <p:sp>
        <p:nvSpPr>
          <p:cNvPr id="35" name="Shape 33"/>
          <p:cNvSpPr/>
          <p:nvPr/>
        </p:nvSpPr>
        <p:spPr>
          <a:xfrm>
            <a:off x="8293608" y="3172968"/>
            <a:ext cx="438912" cy="274320"/>
          </a:xfrm>
          <a:prstGeom prst="roundRect">
            <a:avLst>
              <a:gd name="adj" fmla="val 20000"/>
            </a:avLst>
          </a:prstGeom>
          <a:solidFill>
            <a:srgbClr val="C58A2B"/>
          </a:solidFill>
          <a:ln w="10160">
            <a:solidFill>
              <a:srgbClr val="C58A2B"/>
            </a:solidFill>
            <a:prstDash val="solid"/>
          </a:ln>
        </p:spPr>
      </p:sp>
      <p:sp>
        <p:nvSpPr>
          <p:cNvPr id="36" name="Text 34"/>
          <p:cNvSpPr/>
          <p:nvPr/>
        </p:nvSpPr>
        <p:spPr>
          <a:xfrm>
            <a:off x="8293608" y="3182112"/>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B</a:t>
            </a:r>
            <a:endParaRPr lang="en-US" sz="850" dirty="0"/>
          </a:p>
        </p:txBody>
      </p:sp>
      <p:sp>
        <p:nvSpPr>
          <p:cNvPr id="37" name="Text 35"/>
          <p:cNvSpPr/>
          <p:nvPr/>
        </p:nvSpPr>
        <p:spPr>
          <a:xfrm>
            <a:off x="8860536" y="3172968"/>
            <a:ext cx="2450592" cy="256032"/>
          </a:xfrm>
          <a:prstGeom prst="rect">
            <a:avLst/>
          </a:prstGeom>
          <a:noFill/>
          <a:ln/>
        </p:spPr>
        <p:txBody>
          <a:bodyPr wrap="square" lIns="0" tIns="0" rIns="0" bIns="0" rtlCol="0" anchor="ctr">
            <a:normAutofit/>
          </a:bodyPr>
          <a:lstStyle/>
          <a:p>
            <a:pPr algn="l" indent="0" marL="0">
              <a:buNone/>
            </a:pPr>
            <a:r>
              <a:rPr lang="en-US" sz="1100" b="1" dirty="0">
                <a:solidFill>
                  <a:srgbClr val="111111"/>
                </a:solidFill>
                <a:latin typeface="Aptos" pitchFamily="34" charset="0"/>
                <a:ea typeface="Aptos" pitchFamily="34" charset="-122"/>
                <a:cs typeface="Aptos" pitchFamily="34" charset="-120"/>
              </a:rPr>
              <a:t>Financial exposure</a:t>
            </a:r>
            <a:endParaRPr lang="en-US" sz="1100" dirty="0"/>
          </a:p>
        </p:txBody>
      </p:sp>
      <p:sp>
        <p:nvSpPr>
          <p:cNvPr id="38" name="Text 36"/>
          <p:cNvSpPr/>
          <p:nvPr/>
        </p:nvSpPr>
        <p:spPr>
          <a:xfrm>
            <a:off x="8293608" y="3557016"/>
            <a:ext cx="3017520" cy="384048"/>
          </a:xfrm>
          <a:prstGeom prst="rect">
            <a:avLst/>
          </a:prstGeom>
          <a:noFill/>
          <a:ln/>
        </p:spPr>
        <p:txBody>
          <a:bodyPr wrap="square" lIns="0" tIns="0" rIns="0" bIns="0" rtlCol="0" anchor="t">
            <a:normAutofit/>
          </a:bodyPr>
          <a:lstStyle/>
          <a:p>
            <a:pPr algn="l" indent="0" marL="0">
              <a:lnSpc>
                <a:spcPct val="108000"/>
              </a:lnSpc>
              <a:buNone/>
            </a:pPr>
            <a:r>
              <a:rPr lang="en-US" sz="930" dirty="0">
                <a:solidFill>
                  <a:srgbClr val="6D695F"/>
                </a:solidFill>
                <a:latin typeface="Aptos" pitchFamily="34" charset="0"/>
                <a:ea typeface="Aptos" pitchFamily="34" charset="-122"/>
                <a:cs typeface="Aptos" pitchFamily="34" charset="-120"/>
              </a:rPr>
              <a:t>Estimate the monetary impact hidden in the clause set.</a:t>
            </a:r>
            <a:endParaRPr lang="en-US" sz="930" dirty="0"/>
          </a:p>
        </p:txBody>
      </p:sp>
      <p:sp>
        <p:nvSpPr>
          <p:cNvPr id="39" name="Shape 37"/>
          <p:cNvSpPr/>
          <p:nvPr/>
        </p:nvSpPr>
        <p:spPr>
          <a:xfrm>
            <a:off x="8147304" y="4224528"/>
            <a:ext cx="3310128" cy="1024128"/>
          </a:xfrm>
          <a:prstGeom prst="rect">
            <a:avLst/>
          </a:prstGeom>
          <a:solidFill>
            <a:srgbClr val="FFFFFF"/>
          </a:solidFill>
          <a:ln w="12700">
            <a:solidFill>
              <a:srgbClr val="D6D0C5"/>
            </a:solidFill>
            <a:prstDash val="solid"/>
          </a:ln>
        </p:spPr>
      </p:sp>
      <p:sp>
        <p:nvSpPr>
          <p:cNvPr id="40" name="Shape 38"/>
          <p:cNvSpPr/>
          <p:nvPr/>
        </p:nvSpPr>
        <p:spPr>
          <a:xfrm>
            <a:off x="8293608" y="4370832"/>
            <a:ext cx="438912" cy="274320"/>
          </a:xfrm>
          <a:prstGeom prst="roundRect">
            <a:avLst>
              <a:gd name="adj" fmla="val 20000"/>
            </a:avLst>
          </a:prstGeom>
          <a:solidFill>
            <a:srgbClr val="4E7C52"/>
          </a:solidFill>
          <a:ln w="10160">
            <a:solidFill>
              <a:srgbClr val="4E7C52"/>
            </a:solidFill>
            <a:prstDash val="solid"/>
          </a:ln>
        </p:spPr>
      </p:sp>
      <p:sp>
        <p:nvSpPr>
          <p:cNvPr id="41" name="Text 39"/>
          <p:cNvSpPr/>
          <p:nvPr/>
        </p:nvSpPr>
        <p:spPr>
          <a:xfrm>
            <a:off x="8293608" y="4379976"/>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C</a:t>
            </a:r>
            <a:endParaRPr lang="en-US" sz="850" dirty="0"/>
          </a:p>
        </p:txBody>
      </p:sp>
      <p:sp>
        <p:nvSpPr>
          <p:cNvPr id="42" name="Text 40"/>
          <p:cNvSpPr/>
          <p:nvPr/>
        </p:nvSpPr>
        <p:spPr>
          <a:xfrm>
            <a:off x="8860536" y="4370832"/>
            <a:ext cx="2450592" cy="256032"/>
          </a:xfrm>
          <a:prstGeom prst="rect">
            <a:avLst/>
          </a:prstGeom>
          <a:noFill/>
          <a:ln/>
        </p:spPr>
        <p:txBody>
          <a:bodyPr wrap="square" lIns="0" tIns="0" rIns="0" bIns="0" rtlCol="0" anchor="ctr">
            <a:normAutofit/>
          </a:bodyPr>
          <a:lstStyle/>
          <a:p>
            <a:pPr algn="l" indent="0" marL="0">
              <a:buNone/>
            </a:pPr>
            <a:r>
              <a:rPr lang="en-US" sz="1100" b="1" dirty="0">
                <a:solidFill>
                  <a:srgbClr val="111111"/>
                </a:solidFill>
                <a:latin typeface="Aptos" pitchFamily="34" charset="0"/>
                <a:ea typeface="Aptos" pitchFamily="34" charset="-122"/>
                <a:cs typeface="Aptos" pitchFamily="34" charset="-120"/>
              </a:rPr>
              <a:t>Export-ready</a:t>
            </a:r>
            <a:endParaRPr lang="en-US" sz="1100" dirty="0"/>
          </a:p>
        </p:txBody>
      </p:sp>
      <p:sp>
        <p:nvSpPr>
          <p:cNvPr id="43" name="Text 41"/>
          <p:cNvSpPr/>
          <p:nvPr/>
        </p:nvSpPr>
        <p:spPr>
          <a:xfrm>
            <a:off x="8293608" y="4754880"/>
            <a:ext cx="3017520" cy="384048"/>
          </a:xfrm>
          <a:prstGeom prst="rect">
            <a:avLst/>
          </a:prstGeom>
          <a:noFill/>
          <a:ln/>
        </p:spPr>
        <p:txBody>
          <a:bodyPr wrap="square" lIns="0" tIns="0" rIns="0" bIns="0" rtlCol="0" anchor="t">
            <a:normAutofit/>
          </a:bodyPr>
          <a:lstStyle/>
          <a:p>
            <a:pPr algn="l" indent="0" marL="0">
              <a:lnSpc>
                <a:spcPct val="108000"/>
              </a:lnSpc>
              <a:buNone/>
            </a:pPr>
            <a:r>
              <a:rPr lang="en-US" sz="930" dirty="0">
                <a:solidFill>
                  <a:srgbClr val="6D695F"/>
                </a:solidFill>
                <a:latin typeface="Aptos" pitchFamily="34" charset="0"/>
                <a:ea typeface="Aptos" pitchFamily="34" charset="-122"/>
                <a:cs typeface="Aptos" pitchFamily="34" charset="-120"/>
              </a:rPr>
              <a:t>Generate PDF, DOCX, JSON or Markdown briefings.</a:t>
            </a:r>
            <a:endParaRPr lang="en-US" sz="930" dirty="0"/>
          </a:p>
        </p:txBody>
      </p:sp>
      <p:sp>
        <p:nvSpPr>
          <p:cNvPr id="44" name="Text 42"/>
          <p:cNvSpPr/>
          <p:nvPr/>
        </p:nvSpPr>
        <p:spPr>
          <a:xfrm>
            <a:off x="8147304" y="5532120"/>
            <a:ext cx="3063240" cy="384048"/>
          </a:xfrm>
          <a:prstGeom prst="rect">
            <a:avLst/>
          </a:prstGeom>
          <a:noFill/>
          <a:ln/>
        </p:spPr>
        <p:txBody>
          <a:bodyPr wrap="square" lIns="0" tIns="0" rIns="0" bIns="0" rtlCol="0" anchor="t">
            <a:normAutofit/>
          </a:bodyPr>
          <a:lstStyle/>
          <a:p>
            <a:pPr algn="l" indent="0" marL="0">
              <a:buNone/>
            </a:pPr>
            <a:r>
              <a:rPr lang="en-US" sz="1320" i="1" dirty="0">
                <a:solidFill>
                  <a:srgbClr val="6D695F"/>
                </a:solidFill>
                <a:latin typeface="Georgia" pitchFamily="34" charset="0"/>
                <a:ea typeface="Georgia" pitchFamily="34" charset="-122"/>
                <a:cs typeface="Georgia" pitchFamily="34" charset="-120"/>
              </a:rPr>
              <a:t>UX principle: show “what”, “why” and “what next” on one screen.</a:t>
            </a:r>
            <a:endParaRPr lang="en-US" sz="132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A9A59A"/>
                </a:solidFill>
                <a:latin typeface="Aptos" pitchFamily="34" charset="0"/>
                <a:ea typeface="Aptos" pitchFamily="34" charset="-122"/>
                <a:cs typeface="Aptos" pitchFamily="34" charset="-120"/>
              </a:rPr>
              <a:t>06  /  MACHINE LEARNING CORE</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pitchFamily="34" charset="0"/>
                <a:ea typeface="Aptos" pitchFamily="34" charset="-122"/>
                <a:cs typeface="Aptos" pitchFamily="34" charset="-120"/>
              </a:rPr>
              <a:t>Empirical benchmarking with semantic retrieval.</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C4C0B7"/>
                </a:solidFill>
                <a:latin typeface="Aptos" pitchFamily="34" charset="0"/>
                <a:ea typeface="Aptos" pitchFamily="34" charset="-122"/>
                <a:cs typeface="Aptos" pitchFamily="34" charset="-120"/>
              </a:rPr>
              <a:t>The system does not ask an LLM to invent what “market standard” means; it retrieves comparable clauses and computes a signal.</a:t>
            </a:r>
            <a:endParaRPr lang="en-US" sz="1150" dirty="0"/>
          </a:p>
        </p:txBody>
      </p:sp>
      <p:sp>
        <p:nvSpPr>
          <p:cNvPr id="5" name="Shape 3"/>
          <p:cNvSpPr/>
          <p:nvPr/>
        </p:nvSpPr>
        <p:spPr>
          <a:xfrm>
            <a:off x="1947672" y="2880360"/>
            <a:ext cx="393192" cy="0"/>
          </a:xfrm>
          <a:prstGeom prst="line">
            <a:avLst/>
          </a:prstGeom>
          <a:noFill/>
          <a:ln w="15240">
            <a:solidFill>
              <a:srgbClr val="57534D"/>
            </a:solidFill>
            <a:prstDash val="solid"/>
          </a:ln>
        </p:spPr>
      </p:sp>
      <p:sp>
        <p:nvSpPr>
          <p:cNvPr id="6" name="Shape 4"/>
          <p:cNvSpPr/>
          <p:nvPr/>
        </p:nvSpPr>
        <p:spPr>
          <a:xfrm>
            <a:off x="548640" y="2112264"/>
            <a:ext cx="1426464" cy="1508760"/>
          </a:xfrm>
          <a:prstGeom prst="rect">
            <a:avLst/>
          </a:prstGeom>
          <a:solidFill>
            <a:srgbClr val="191918"/>
          </a:solidFill>
          <a:ln w="12700">
            <a:solidFill>
              <a:srgbClr val="3C3A36"/>
            </a:solidFill>
            <a:prstDash val="solid"/>
          </a:ln>
        </p:spPr>
      </p:sp>
      <p:sp>
        <p:nvSpPr>
          <p:cNvPr id="7" name="Text 5"/>
          <p:cNvSpPr/>
          <p:nvPr/>
        </p:nvSpPr>
        <p:spPr>
          <a:xfrm>
            <a:off x="658368" y="2322576"/>
            <a:ext cx="1207008" cy="182880"/>
          </a:xfrm>
          <a:prstGeom prst="rect">
            <a:avLst/>
          </a:prstGeom>
          <a:noFill/>
          <a:ln/>
        </p:spPr>
        <p:txBody>
          <a:bodyPr wrap="square" lIns="0" tIns="0" rIns="0" bIns="0" rtlCol="0" anchor="ctr">
            <a:normAutofit/>
          </a:bodyPr>
          <a:lstStyle/>
          <a:p>
            <a:pPr algn="l" indent="0" marL="0">
              <a:buNone/>
            </a:pPr>
            <a:r>
              <a:rPr lang="en-US" sz="800" b="1" spc="120" kern="0" dirty="0">
                <a:solidFill>
                  <a:srgbClr val="A9A59A"/>
                </a:solidFill>
                <a:latin typeface="Aptos" pitchFamily="34" charset="0"/>
                <a:ea typeface="Aptos" pitchFamily="34" charset="-122"/>
                <a:cs typeface="Aptos" pitchFamily="34" charset="-120"/>
              </a:rPr>
              <a:t>CLAUSE</a:t>
            </a:r>
            <a:endParaRPr lang="en-US" sz="800" dirty="0"/>
          </a:p>
        </p:txBody>
      </p:sp>
      <p:sp>
        <p:nvSpPr>
          <p:cNvPr id="8" name="Text 6"/>
          <p:cNvSpPr/>
          <p:nvPr/>
        </p:nvSpPr>
        <p:spPr>
          <a:xfrm>
            <a:off x="658368" y="2670048"/>
            <a:ext cx="1207008" cy="640080"/>
          </a:xfrm>
          <a:prstGeom prst="rect">
            <a:avLst/>
          </a:prstGeom>
          <a:noFill/>
          <a:ln/>
        </p:spPr>
        <p:txBody>
          <a:bodyPr wrap="square" lIns="0" tIns="0" rIns="0" bIns="0" rtlCol="0" anchor="t">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User clause</a:t>
            </a:r>
            <a:endParaRPr lang="en-US" sz="950" dirty="0"/>
          </a:p>
          <a:p>
            <a:pPr algn="l" indent="0" marL="0">
              <a:buNone/>
            </a:pPr>
            <a:r>
              <a:rPr lang="en-US" sz="950" b="1" dirty="0">
                <a:solidFill>
                  <a:srgbClr val="FFFFFF"/>
                </a:solidFill>
                <a:latin typeface="Aptos" pitchFamily="34" charset="0"/>
                <a:ea typeface="Aptos" pitchFamily="34" charset="-122"/>
                <a:cs typeface="Aptos" pitchFamily="34" charset="-120"/>
              </a:rPr>
              <a:t>text</a:t>
            </a:r>
            <a:endParaRPr lang="en-US" sz="950" dirty="0"/>
          </a:p>
        </p:txBody>
      </p:sp>
      <p:sp>
        <p:nvSpPr>
          <p:cNvPr id="9" name="Shape 7"/>
          <p:cNvSpPr/>
          <p:nvPr/>
        </p:nvSpPr>
        <p:spPr>
          <a:xfrm>
            <a:off x="3822192" y="2880360"/>
            <a:ext cx="393192" cy="0"/>
          </a:xfrm>
          <a:prstGeom prst="line">
            <a:avLst/>
          </a:prstGeom>
          <a:noFill/>
          <a:ln w="15240">
            <a:solidFill>
              <a:srgbClr val="57534D"/>
            </a:solidFill>
            <a:prstDash val="solid"/>
          </a:ln>
        </p:spPr>
      </p:sp>
      <p:sp>
        <p:nvSpPr>
          <p:cNvPr id="10" name="Shape 8"/>
          <p:cNvSpPr/>
          <p:nvPr/>
        </p:nvSpPr>
        <p:spPr>
          <a:xfrm>
            <a:off x="2423160" y="2112264"/>
            <a:ext cx="1426464" cy="1508760"/>
          </a:xfrm>
          <a:prstGeom prst="rect">
            <a:avLst/>
          </a:prstGeom>
          <a:solidFill>
            <a:srgbClr val="191918"/>
          </a:solidFill>
          <a:ln w="12700">
            <a:solidFill>
              <a:srgbClr val="3C3A36"/>
            </a:solidFill>
            <a:prstDash val="solid"/>
          </a:ln>
        </p:spPr>
      </p:sp>
      <p:sp>
        <p:nvSpPr>
          <p:cNvPr id="11" name="Text 9"/>
          <p:cNvSpPr/>
          <p:nvPr/>
        </p:nvSpPr>
        <p:spPr>
          <a:xfrm>
            <a:off x="2532888" y="2322576"/>
            <a:ext cx="1207008" cy="182880"/>
          </a:xfrm>
          <a:prstGeom prst="rect">
            <a:avLst/>
          </a:prstGeom>
          <a:noFill/>
          <a:ln/>
        </p:spPr>
        <p:txBody>
          <a:bodyPr wrap="square" lIns="0" tIns="0" rIns="0" bIns="0" rtlCol="0" anchor="ctr">
            <a:normAutofit/>
          </a:bodyPr>
          <a:lstStyle/>
          <a:p>
            <a:pPr algn="l" indent="0" marL="0">
              <a:buNone/>
            </a:pPr>
            <a:r>
              <a:rPr lang="en-US" sz="800" b="1" spc="120" kern="0" dirty="0">
                <a:solidFill>
                  <a:srgbClr val="A9A59A"/>
                </a:solidFill>
                <a:latin typeface="Aptos" pitchFamily="34" charset="0"/>
                <a:ea typeface="Aptos" pitchFamily="34" charset="-122"/>
                <a:cs typeface="Aptos" pitchFamily="34" charset="-120"/>
              </a:rPr>
              <a:t>EMBED</a:t>
            </a:r>
            <a:endParaRPr lang="en-US" sz="800" dirty="0"/>
          </a:p>
        </p:txBody>
      </p:sp>
      <p:sp>
        <p:nvSpPr>
          <p:cNvPr id="12" name="Text 10"/>
          <p:cNvSpPr/>
          <p:nvPr/>
        </p:nvSpPr>
        <p:spPr>
          <a:xfrm>
            <a:off x="2532888" y="2670048"/>
            <a:ext cx="1207008" cy="640080"/>
          </a:xfrm>
          <a:prstGeom prst="rect">
            <a:avLst/>
          </a:prstGeom>
          <a:noFill/>
          <a:ln/>
        </p:spPr>
        <p:txBody>
          <a:bodyPr wrap="square" lIns="0" tIns="0" rIns="0" bIns="0" rtlCol="0" anchor="t">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384-D vector</a:t>
            </a:r>
            <a:endParaRPr lang="en-US" sz="950" dirty="0"/>
          </a:p>
          <a:p>
            <a:pPr algn="l" indent="0" marL="0">
              <a:buNone/>
            </a:pPr>
            <a:r>
              <a:rPr lang="en-US" sz="950" b="1" dirty="0">
                <a:solidFill>
                  <a:srgbClr val="FFFFFF"/>
                </a:solidFill>
                <a:latin typeface="Aptos" pitchFamily="34" charset="0"/>
                <a:ea typeface="Aptos" pitchFamily="34" charset="-122"/>
                <a:cs typeface="Aptos" pitchFamily="34" charset="-120"/>
              </a:rPr>
              <a:t>all-MiniLM-L6-v2</a:t>
            </a:r>
            <a:endParaRPr lang="en-US" sz="950" dirty="0"/>
          </a:p>
        </p:txBody>
      </p:sp>
      <p:sp>
        <p:nvSpPr>
          <p:cNvPr id="13" name="Shape 11"/>
          <p:cNvSpPr/>
          <p:nvPr/>
        </p:nvSpPr>
        <p:spPr>
          <a:xfrm>
            <a:off x="5696712" y="2880360"/>
            <a:ext cx="393192" cy="0"/>
          </a:xfrm>
          <a:prstGeom prst="line">
            <a:avLst/>
          </a:prstGeom>
          <a:noFill/>
          <a:ln w="15240">
            <a:solidFill>
              <a:srgbClr val="57534D"/>
            </a:solidFill>
            <a:prstDash val="solid"/>
          </a:ln>
        </p:spPr>
      </p:sp>
      <p:sp>
        <p:nvSpPr>
          <p:cNvPr id="14" name="Shape 12"/>
          <p:cNvSpPr/>
          <p:nvPr/>
        </p:nvSpPr>
        <p:spPr>
          <a:xfrm>
            <a:off x="4297680" y="2112264"/>
            <a:ext cx="1426464" cy="1508760"/>
          </a:xfrm>
          <a:prstGeom prst="rect">
            <a:avLst/>
          </a:prstGeom>
          <a:solidFill>
            <a:srgbClr val="191918"/>
          </a:solidFill>
          <a:ln w="12700">
            <a:solidFill>
              <a:srgbClr val="3C3A36"/>
            </a:solidFill>
            <a:prstDash val="solid"/>
          </a:ln>
        </p:spPr>
      </p:sp>
      <p:sp>
        <p:nvSpPr>
          <p:cNvPr id="15" name="Text 13"/>
          <p:cNvSpPr/>
          <p:nvPr/>
        </p:nvSpPr>
        <p:spPr>
          <a:xfrm>
            <a:off x="4407408" y="2322576"/>
            <a:ext cx="1207008" cy="182880"/>
          </a:xfrm>
          <a:prstGeom prst="rect">
            <a:avLst/>
          </a:prstGeom>
          <a:noFill/>
          <a:ln/>
        </p:spPr>
        <p:txBody>
          <a:bodyPr wrap="square" lIns="0" tIns="0" rIns="0" bIns="0" rtlCol="0" anchor="ctr">
            <a:normAutofit/>
          </a:bodyPr>
          <a:lstStyle/>
          <a:p>
            <a:pPr algn="l" indent="0" marL="0">
              <a:buNone/>
            </a:pPr>
            <a:r>
              <a:rPr lang="en-US" sz="800" b="1" spc="120" kern="0" dirty="0">
                <a:solidFill>
                  <a:srgbClr val="A9A59A"/>
                </a:solidFill>
                <a:latin typeface="Aptos" pitchFamily="34" charset="0"/>
                <a:ea typeface="Aptos" pitchFamily="34" charset="-122"/>
                <a:cs typeface="Aptos" pitchFamily="34" charset="-120"/>
              </a:rPr>
              <a:t>MATCH</a:t>
            </a:r>
            <a:endParaRPr lang="en-US" sz="800" dirty="0"/>
          </a:p>
        </p:txBody>
      </p:sp>
      <p:sp>
        <p:nvSpPr>
          <p:cNvPr id="16" name="Text 14"/>
          <p:cNvSpPr/>
          <p:nvPr/>
        </p:nvSpPr>
        <p:spPr>
          <a:xfrm>
            <a:off x="4407408" y="2670048"/>
            <a:ext cx="1207008" cy="640080"/>
          </a:xfrm>
          <a:prstGeom prst="rect">
            <a:avLst/>
          </a:prstGeom>
          <a:noFill/>
          <a:ln/>
        </p:spPr>
        <p:txBody>
          <a:bodyPr wrap="square" lIns="0" tIns="0" rIns="0" bIns="0" rtlCol="0" anchor="t">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Cosine</a:t>
            </a:r>
            <a:endParaRPr lang="en-US" sz="950" dirty="0"/>
          </a:p>
          <a:p>
            <a:pPr algn="l" indent="0" marL="0">
              <a:buNone/>
            </a:pPr>
            <a:r>
              <a:rPr lang="en-US" sz="950" b="1" dirty="0">
                <a:solidFill>
                  <a:srgbClr val="FFFFFF"/>
                </a:solidFill>
                <a:latin typeface="Aptos" pitchFamily="34" charset="0"/>
                <a:ea typeface="Aptos" pitchFamily="34" charset="-122"/>
                <a:cs typeface="Aptos" pitchFamily="34" charset="-120"/>
              </a:rPr>
              <a:t>similarity</a:t>
            </a:r>
            <a:endParaRPr lang="en-US" sz="950" dirty="0"/>
          </a:p>
        </p:txBody>
      </p:sp>
      <p:sp>
        <p:nvSpPr>
          <p:cNvPr id="17" name="Shape 15"/>
          <p:cNvSpPr/>
          <p:nvPr/>
        </p:nvSpPr>
        <p:spPr>
          <a:xfrm>
            <a:off x="7571232" y="2880360"/>
            <a:ext cx="393192" cy="0"/>
          </a:xfrm>
          <a:prstGeom prst="line">
            <a:avLst/>
          </a:prstGeom>
          <a:noFill/>
          <a:ln w="15240">
            <a:solidFill>
              <a:srgbClr val="57534D"/>
            </a:solidFill>
            <a:prstDash val="solid"/>
          </a:ln>
        </p:spPr>
      </p:sp>
      <p:sp>
        <p:nvSpPr>
          <p:cNvPr id="18" name="Shape 16"/>
          <p:cNvSpPr/>
          <p:nvPr/>
        </p:nvSpPr>
        <p:spPr>
          <a:xfrm>
            <a:off x="6172200" y="2112264"/>
            <a:ext cx="1426464" cy="1508760"/>
          </a:xfrm>
          <a:prstGeom prst="rect">
            <a:avLst/>
          </a:prstGeom>
          <a:solidFill>
            <a:srgbClr val="191918"/>
          </a:solidFill>
          <a:ln w="12700">
            <a:solidFill>
              <a:srgbClr val="3C3A36"/>
            </a:solidFill>
            <a:prstDash val="solid"/>
          </a:ln>
        </p:spPr>
      </p:sp>
      <p:sp>
        <p:nvSpPr>
          <p:cNvPr id="19" name="Text 17"/>
          <p:cNvSpPr/>
          <p:nvPr/>
        </p:nvSpPr>
        <p:spPr>
          <a:xfrm>
            <a:off x="6281928" y="2322576"/>
            <a:ext cx="1207008" cy="182880"/>
          </a:xfrm>
          <a:prstGeom prst="rect">
            <a:avLst/>
          </a:prstGeom>
          <a:noFill/>
          <a:ln/>
        </p:spPr>
        <p:txBody>
          <a:bodyPr wrap="square" lIns="0" tIns="0" rIns="0" bIns="0" rtlCol="0" anchor="ctr">
            <a:normAutofit/>
          </a:bodyPr>
          <a:lstStyle/>
          <a:p>
            <a:pPr algn="l" indent="0" marL="0">
              <a:buNone/>
            </a:pPr>
            <a:r>
              <a:rPr lang="en-US" sz="800" b="1" spc="120" kern="0" dirty="0">
                <a:solidFill>
                  <a:srgbClr val="A9A59A"/>
                </a:solidFill>
                <a:latin typeface="Aptos" pitchFamily="34" charset="0"/>
                <a:ea typeface="Aptos" pitchFamily="34" charset="-122"/>
                <a:cs typeface="Aptos" pitchFamily="34" charset="-120"/>
              </a:rPr>
              <a:t>CLASSIFY</a:t>
            </a:r>
            <a:endParaRPr lang="en-US" sz="800" dirty="0"/>
          </a:p>
        </p:txBody>
      </p:sp>
      <p:sp>
        <p:nvSpPr>
          <p:cNvPr id="20" name="Text 18"/>
          <p:cNvSpPr/>
          <p:nvPr/>
        </p:nvSpPr>
        <p:spPr>
          <a:xfrm>
            <a:off x="6281928" y="2670048"/>
            <a:ext cx="1207008" cy="640080"/>
          </a:xfrm>
          <a:prstGeom prst="rect">
            <a:avLst/>
          </a:prstGeom>
          <a:noFill/>
          <a:ln/>
        </p:spPr>
        <p:txBody>
          <a:bodyPr wrap="square" lIns="0" tIns="0" rIns="0" bIns="0" rtlCol="0" anchor="t">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k-NN</a:t>
            </a:r>
            <a:endParaRPr lang="en-US" sz="950" dirty="0"/>
          </a:p>
          <a:p>
            <a:pPr algn="l" indent="0" marL="0">
              <a:buNone/>
            </a:pPr>
            <a:r>
              <a:rPr lang="en-US" sz="950" b="1" dirty="0">
                <a:solidFill>
                  <a:srgbClr val="FFFFFF"/>
                </a:solidFill>
                <a:latin typeface="Aptos" pitchFamily="34" charset="0"/>
                <a:ea typeface="Aptos" pitchFamily="34" charset="-122"/>
                <a:cs typeface="Aptos" pitchFamily="34" charset="-120"/>
              </a:rPr>
              <a:t>category vote</a:t>
            </a:r>
            <a:endParaRPr lang="en-US" sz="950" dirty="0"/>
          </a:p>
        </p:txBody>
      </p:sp>
      <p:sp>
        <p:nvSpPr>
          <p:cNvPr id="21" name="Shape 19"/>
          <p:cNvSpPr/>
          <p:nvPr/>
        </p:nvSpPr>
        <p:spPr>
          <a:xfrm>
            <a:off x="9445752" y="2880360"/>
            <a:ext cx="393192" cy="0"/>
          </a:xfrm>
          <a:prstGeom prst="line">
            <a:avLst/>
          </a:prstGeom>
          <a:noFill/>
          <a:ln w="15240">
            <a:solidFill>
              <a:srgbClr val="57534D"/>
            </a:solidFill>
            <a:prstDash val="solid"/>
          </a:ln>
        </p:spPr>
      </p:sp>
      <p:sp>
        <p:nvSpPr>
          <p:cNvPr id="22" name="Shape 20"/>
          <p:cNvSpPr/>
          <p:nvPr/>
        </p:nvSpPr>
        <p:spPr>
          <a:xfrm>
            <a:off x="8046720" y="2112264"/>
            <a:ext cx="1426464" cy="1508760"/>
          </a:xfrm>
          <a:prstGeom prst="rect">
            <a:avLst/>
          </a:prstGeom>
          <a:solidFill>
            <a:srgbClr val="191918"/>
          </a:solidFill>
          <a:ln w="12700">
            <a:solidFill>
              <a:srgbClr val="3C3A36"/>
            </a:solidFill>
            <a:prstDash val="solid"/>
          </a:ln>
        </p:spPr>
      </p:sp>
      <p:sp>
        <p:nvSpPr>
          <p:cNvPr id="23" name="Text 21"/>
          <p:cNvSpPr/>
          <p:nvPr/>
        </p:nvSpPr>
        <p:spPr>
          <a:xfrm>
            <a:off x="8156448" y="2322576"/>
            <a:ext cx="1207008" cy="182880"/>
          </a:xfrm>
          <a:prstGeom prst="rect">
            <a:avLst/>
          </a:prstGeom>
          <a:noFill/>
          <a:ln/>
        </p:spPr>
        <p:txBody>
          <a:bodyPr wrap="square" lIns="0" tIns="0" rIns="0" bIns="0" rtlCol="0" anchor="ctr">
            <a:normAutofit/>
          </a:bodyPr>
          <a:lstStyle/>
          <a:p>
            <a:pPr algn="l" indent="0" marL="0">
              <a:buNone/>
            </a:pPr>
            <a:r>
              <a:rPr lang="en-US" sz="800" b="1" spc="120" kern="0" dirty="0">
                <a:solidFill>
                  <a:srgbClr val="A9A59A"/>
                </a:solidFill>
                <a:latin typeface="Aptos" pitchFamily="34" charset="0"/>
                <a:ea typeface="Aptos" pitchFamily="34" charset="-122"/>
                <a:cs typeface="Aptos" pitchFamily="34" charset="-120"/>
              </a:rPr>
              <a:t>BENCHMARK</a:t>
            </a:r>
            <a:endParaRPr lang="en-US" sz="800" dirty="0"/>
          </a:p>
        </p:txBody>
      </p:sp>
      <p:sp>
        <p:nvSpPr>
          <p:cNvPr id="24" name="Text 22"/>
          <p:cNvSpPr/>
          <p:nvPr/>
        </p:nvSpPr>
        <p:spPr>
          <a:xfrm>
            <a:off x="8156448" y="2670048"/>
            <a:ext cx="1207008" cy="640080"/>
          </a:xfrm>
          <a:prstGeom prst="rect">
            <a:avLst/>
          </a:prstGeom>
          <a:noFill/>
          <a:ln/>
        </p:spPr>
        <p:txBody>
          <a:bodyPr wrap="square" lIns="0" tIns="0" rIns="0" bIns="0" rtlCol="0" anchor="t">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Precedent risk</a:t>
            </a:r>
            <a:endParaRPr lang="en-US" sz="950" dirty="0"/>
          </a:p>
          <a:p>
            <a:pPr algn="l" indent="0" marL="0">
              <a:buNone/>
            </a:pPr>
            <a:r>
              <a:rPr lang="en-US" sz="950" b="1" dirty="0">
                <a:solidFill>
                  <a:srgbClr val="FFFFFF"/>
                </a:solidFill>
                <a:latin typeface="Aptos" pitchFamily="34" charset="0"/>
                <a:ea typeface="Aptos" pitchFamily="34" charset="-122"/>
                <a:cs typeface="Aptos" pitchFamily="34" charset="-120"/>
              </a:rPr>
              <a:t>range</a:t>
            </a:r>
            <a:endParaRPr lang="en-US" sz="950" dirty="0"/>
          </a:p>
        </p:txBody>
      </p:sp>
      <p:sp>
        <p:nvSpPr>
          <p:cNvPr id="25" name="Shape 23"/>
          <p:cNvSpPr/>
          <p:nvPr/>
        </p:nvSpPr>
        <p:spPr>
          <a:xfrm>
            <a:off x="9921240" y="2112264"/>
            <a:ext cx="1426464" cy="1508760"/>
          </a:xfrm>
          <a:prstGeom prst="rect">
            <a:avLst/>
          </a:prstGeom>
          <a:solidFill>
            <a:srgbClr val="2B2417"/>
          </a:solidFill>
          <a:ln w="12700">
            <a:solidFill>
              <a:srgbClr val="C58A2B"/>
            </a:solidFill>
            <a:prstDash val="solid"/>
          </a:ln>
        </p:spPr>
      </p:sp>
      <p:sp>
        <p:nvSpPr>
          <p:cNvPr id="26" name="Text 24"/>
          <p:cNvSpPr/>
          <p:nvPr/>
        </p:nvSpPr>
        <p:spPr>
          <a:xfrm>
            <a:off x="10030968" y="2322576"/>
            <a:ext cx="1207008" cy="182880"/>
          </a:xfrm>
          <a:prstGeom prst="rect">
            <a:avLst/>
          </a:prstGeom>
          <a:noFill/>
          <a:ln/>
        </p:spPr>
        <p:txBody>
          <a:bodyPr wrap="square" lIns="0" tIns="0" rIns="0" bIns="0" rtlCol="0" anchor="ctr">
            <a:normAutofit/>
          </a:bodyPr>
          <a:lstStyle/>
          <a:p>
            <a:pPr algn="l" indent="0" marL="0">
              <a:buNone/>
            </a:pPr>
            <a:r>
              <a:rPr lang="en-US" sz="800" b="1" spc="120" kern="0" dirty="0">
                <a:solidFill>
                  <a:srgbClr val="C58A2B"/>
                </a:solidFill>
                <a:latin typeface="Aptos" pitchFamily="34" charset="0"/>
                <a:ea typeface="Aptos" pitchFamily="34" charset="-122"/>
                <a:cs typeface="Aptos" pitchFamily="34" charset="-120"/>
              </a:rPr>
              <a:t>ERR</a:t>
            </a:r>
            <a:endParaRPr lang="en-US" sz="800" dirty="0"/>
          </a:p>
        </p:txBody>
      </p:sp>
      <p:sp>
        <p:nvSpPr>
          <p:cNvPr id="27" name="Text 25"/>
          <p:cNvSpPr/>
          <p:nvPr/>
        </p:nvSpPr>
        <p:spPr>
          <a:xfrm>
            <a:off x="10030968" y="2670048"/>
            <a:ext cx="1207008" cy="640080"/>
          </a:xfrm>
          <a:prstGeom prst="rect">
            <a:avLst/>
          </a:prstGeom>
          <a:noFill/>
          <a:ln/>
        </p:spPr>
        <p:txBody>
          <a:bodyPr wrap="square" lIns="0" tIns="0" rIns="0" bIns="0" rtlCol="0" anchor="t">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Safer alternative</a:t>
            </a:r>
            <a:endParaRPr lang="en-US" sz="950" dirty="0"/>
          </a:p>
          <a:p>
            <a:pPr algn="l" indent="0" marL="0">
              <a:buNone/>
            </a:pPr>
            <a:r>
              <a:rPr lang="en-US" sz="950" b="1" dirty="0">
                <a:solidFill>
                  <a:srgbClr val="FFFFFF"/>
                </a:solidFill>
                <a:latin typeface="Aptos" pitchFamily="34" charset="0"/>
                <a:ea typeface="Aptos" pitchFamily="34" charset="-122"/>
                <a:cs typeface="Aptos" pitchFamily="34" charset="-120"/>
              </a:rPr>
              <a:t>+ risk delta</a:t>
            </a:r>
            <a:endParaRPr lang="en-US" sz="950" dirty="0"/>
          </a:p>
        </p:txBody>
      </p:sp>
      <p:sp>
        <p:nvSpPr>
          <p:cNvPr id="28" name="Shape 26"/>
          <p:cNvSpPr/>
          <p:nvPr/>
        </p:nvSpPr>
        <p:spPr>
          <a:xfrm>
            <a:off x="548640" y="4041648"/>
            <a:ext cx="7223760" cy="1609344"/>
          </a:xfrm>
          <a:prstGeom prst="rect">
            <a:avLst/>
          </a:prstGeom>
          <a:solidFill>
            <a:srgbClr val="191918"/>
          </a:solidFill>
          <a:ln w="12700">
            <a:solidFill>
              <a:srgbClr val="3C3A36"/>
            </a:solidFill>
            <a:prstDash val="solid"/>
          </a:ln>
        </p:spPr>
      </p:sp>
      <p:sp>
        <p:nvSpPr>
          <p:cNvPr id="29" name="Text 27"/>
          <p:cNvSpPr/>
          <p:nvPr/>
        </p:nvSpPr>
        <p:spPr>
          <a:xfrm>
            <a:off x="804672" y="4297680"/>
            <a:ext cx="1554480" cy="201168"/>
          </a:xfrm>
          <a:prstGeom prst="rect">
            <a:avLst/>
          </a:prstGeom>
          <a:noFill/>
          <a:ln/>
        </p:spPr>
        <p:txBody>
          <a:bodyPr wrap="square" lIns="0" tIns="0" rIns="0" bIns="0" rtlCol="0" anchor="ctr">
            <a:normAutofit/>
          </a:bodyPr>
          <a:lstStyle/>
          <a:p>
            <a:pPr algn="l" indent="0" marL="0">
              <a:buNone/>
            </a:pPr>
            <a:r>
              <a:rPr lang="en-US" sz="800" b="1" spc="140" kern="0" dirty="0">
                <a:solidFill>
                  <a:srgbClr val="A9A59A"/>
                </a:solidFill>
                <a:latin typeface="Aptos" pitchFamily="34" charset="0"/>
                <a:ea typeface="Aptos" pitchFamily="34" charset="-122"/>
                <a:cs typeface="Aptos" pitchFamily="34" charset="-120"/>
              </a:rPr>
              <a:t>COSINE SIMILARITY</a:t>
            </a:r>
            <a:endParaRPr lang="en-US" sz="800" dirty="0"/>
          </a:p>
        </p:txBody>
      </p:sp>
      <p:sp>
        <p:nvSpPr>
          <p:cNvPr id="30" name="Text 28"/>
          <p:cNvSpPr/>
          <p:nvPr/>
        </p:nvSpPr>
        <p:spPr>
          <a:xfrm>
            <a:off x="804672" y="4663440"/>
            <a:ext cx="6263640" cy="384048"/>
          </a:xfrm>
          <a:prstGeom prst="rect">
            <a:avLst/>
          </a:prstGeom>
          <a:noFill/>
          <a:ln/>
        </p:spPr>
        <p:txBody>
          <a:bodyPr wrap="square" lIns="0" tIns="0" rIns="0" bIns="0" rtlCol="0" anchor="ctr">
            <a:normAutofit/>
          </a:bodyPr>
          <a:lstStyle/>
          <a:p>
            <a:pPr algn="ctr" indent="0" marL="0">
              <a:buNone/>
            </a:pPr>
            <a:r>
              <a:rPr lang="en-US" sz="1900" i="1" dirty="0">
                <a:solidFill>
                  <a:srgbClr val="FFFFFF"/>
                </a:solidFill>
                <a:latin typeface="Georgia" pitchFamily="34" charset="0"/>
                <a:ea typeface="Georgia" pitchFamily="34" charset="-122"/>
                <a:cs typeface="Georgia" pitchFamily="34" charset="-120"/>
              </a:rPr>
              <a:t>Similarity(A, B) = Σ  Aᵢ × Bᵢ   for i = 1 … 384</a:t>
            </a:r>
            <a:endParaRPr lang="en-US" sz="1900" dirty="0"/>
          </a:p>
        </p:txBody>
      </p:sp>
      <p:sp>
        <p:nvSpPr>
          <p:cNvPr id="31" name="Text 29"/>
          <p:cNvSpPr/>
          <p:nvPr/>
        </p:nvSpPr>
        <p:spPr>
          <a:xfrm>
            <a:off x="804672" y="5138928"/>
            <a:ext cx="6172200" cy="256032"/>
          </a:xfrm>
          <a:prstGeom prst="rect">
            <a:avLst/>
          </a:prstGeom>
          <a:noFill/>
          <a:ln/>
        </p:spPr>
        <p:txBody>
          <a:bodyPr wrap="square" lIns="0" tIns="0" rIns="0" bIns="0" rtlCol="0" anchor="ctr">
            <a:normAutofit/>
          </a:bodyPr>
          <a:lstStyle/>
          <a:p>
            <a:pPr algn="ctr" indent="0" marL="0">
              <a:buNone/>
            </a:pPr>
            <a:r>
              <a:rPr lang="en-US" sz="860" dirty="0">
                <a:solidFill>
                  <a:srgbClr val="BBB6AC"/>
                </a:solidFill>
                <a:latin typeface="Aptos" pitchFamily="34" charset="0"/>
                <a:ea typeface="Aptos" pitchFamily="34" charset="-122"/>
                <a:cs typeface="Aptos" pitchFamily="34" charset="-120"/>
              </a:rPr>
              <a:t>Because the vectors are normalized, cosine similarity reduces to a fast dot product.</a:t>
            </a:r>
            <a:endParaRPr lang="en-US" sz="860" dirty="0"/>
          </a:p>
        </p:txBody>
      </p:sp>
      <p:sp>
        <p:nvSpPr>
          <p:cNvPr id="32" name="Shape 30"/>
          <p:cNvSpPr/>
          <p:nvPr/>
        </p:nvSpPr>
        <p:spPr>
          <a:xfrm>
            <a:off x="8028432" y="4041648"/>
            <a:ext cx="3419856" cy="1609344"/>
          </a:xfrm>
          <a:prstGeom prst="rect">
            <a:avLst/>
          </a:prstGeom>
          <a:solidFill>
            <a:srgbClr val="F1E4CB"/>
          </a:solidFill>
          <a:ln w="12700">
            <a:solidFill>
              <a:srgbClr val="F1E4CB"/>
            </a:solidFill>
            <a:prstDash val="solid"/>
          </a:ln>
        </p:spPr>
      </p:sp>
      <p:sp>
        <p:nvSpPr>
          <p:cNvPr id="33" name="Text 31"/>
          <p:cNvSpPr/>
          <p:nvPr/>
        </p:nvSpPr>
        <p:spPr>
          <a:xfrm>
            <a:off x="8266176" y="4297680"/>
            <a:ext cx="2926080" cy="237744"/>
          </a:xfrm>
          <a:prstGeom prst="rect">
            <a:avLst/>
          </a:prstGeom>
          <a:noFill/>
          <a:ln/>
        </p:spPr>
        <p:txBody>
          <a:bodyPr wrap="square" lIns="0" tIns="0" rIns="0" bIns="0" rtlCol="0" anchor="ctr">
            <a:normAutofit/>
          </a:bodyPr>
          <a:lstStyle/>
          <a:p>
            <a:pPr algn="l" indent="0" marL="0">
              <a:buNone/>
            </a:pPr>
            <a:r>
              <a:rPr lang="en-US" sz="780" b="1" spc="110" kern="0" dirty="0">
                <a:solidFill>
                  <a:srgbClr val="C58A2B"/>
                </a:solidFill>
                <a:latin typeface="Aptos" pitchFamily="34" charset="0"/>
                <a:ea typeface="Aptos" pitchFamily="34" charset="-122"/>
                <a:cs typeface="Aptos" pitchFamily="34" charset="-120"/>
              </a:rPr>
              <a:t>ESTIMATED RISK REDUCTION (ERR)</a:t>
            </a:r>
            <a:endParaRPr lang="en-US" sz="780" dirty="0"/>
          </a:p>
        </p:txBody>
      </p:sp>
      <p:sp>
        <p:nvSpPr>
          <p:cNvPr id="34" name="Text 32"/>
          <p:cNvSpPr/>
          <p:nvPr/>
        </p:nvSpPr>
        <p:spPr>
          <a:xfrm>
            <a:off x="8266176" y="4663440"/>
            <a:ext cx="2871216" cy="347472"/>
          </a:xfrm>
          <a:prstGeom prst="rect">
            <a:avLst/>
          </a:prstGeom>
          <a:noFill/>
          <a:ln/>
        </p:spPr>
        <p:txBody>
          <a:bodyPr wrap="square" lIns="0" tIns="0" rIns="0" bIns="0" rtlCol="0" anchor="ctr">
            <a:normAutofit/>
          </a:bodyPr>
          <a:lstStyle/>
          <a:p>
            <a:pPr algn="ctr" indent="0" marL="0">
              <a:buNone/>
            </a:pPr>
            <a:r>
              <a:rPr lang="en-US" sz="2100" b="1" dirty="0">
                <a:solidFill>
                  <a:srgbClr val="111111"/>
                </a:solidFill>
                <a:latin typeface="Aptos" pitchFamily="34" charset="0"/>
                <a:ea typeface="Aptos" pitchFamily="34" charset="-122"/>
                <a:cs typeface="Aptos" pitchFamily="34" charset="-120"/>
              </a:rPr>
              <a:t>85  −  30  =  55</a:t>
            </a:r>
            <a:endParaRPr lang="en-US" sz="2100" dirty="0"/>
          </a:p>
        </p:txBody>
      </p:sp>
      <p:sp>
        <p:nvSpPr>
          <p:cNvPr id="35" name="Text 33"/>
          <p:cNvSpPr/>
          <p:nvPr/>
        </p:nvSpPr>
        <p:spPr>
          <a:xfrm>
            <a:off x="8266176" y="5157216"/>
            <a:ext cx="2871216" cy="201168"/>
          </a:xfrm>
          <a:prstGeom prst="rect">
            <a:avLst/>
          </a:prstGeom>
          <a:noFill/>
          <a:ln/>
        </p:spPr>
        <p:txBody>
          <a:bodyPr wrap="square" lIns="0" tIns="0" rIns="0" bIns="0" rtlCol="0" anchor="ctr">
            <a:normAutofit/>
          </a:bodyPr>
          <a:lstStyle/>
          <a:p>
            <a:pPr algn="ctr" indent="0" marL="0">
              <a:buNone/>
            </a:pPr>
            <a:r>
              <a:rPr lang="en-US" sz="860" b="1" dirty="0">
                <a:solidFill>
                  <a:srgbClr val="6D695F"/>
                </a:solidFill>
                <a:latin typeface="Aptos" pitchFamily="34" charset="0"/>
                <a:ea typeface="Aptos" pitchFamily="34" charset="-122"/>
                <a:cs typeface="Aptos" pitchFamily="34" charset="-120"/>
              </a:rPr>
              <a:t>64% lower benchmark risk</a:t>
            </a:r>
            <a:endParaRPr lang="en-US" sz="86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A968C"/>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07  /  NEGOTIATION &amp; REDLINING</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Turn the analysis into a negotiation position.</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The system proposes alternative language instead of stopping at “this clause looks risky.”</a:t>
            </a:r>
            <a:endParaRPr lang="en-US" sz="1150" dirty="0"/>
          </a:p>
        </p:txBody>
      </p:sp>
      <p:sp>
        <p:nvSpPr>
          <p:cNvPr id="5" name="Shape 3"/>
          <p:cNvSpPr/>
          <p:nvPr/>
        </p:nvSpPr>
        <p:spPr>
          <a:xfrm>
            <a:off x="548640" y="1883664"/>
            <a:ext cx="7543800" cy="4069080"/>
          </a:xfrm>
          <a:prstGeom prst="rect">
            <a:avLst/>
          </a:prstGeom>
          <a:solidFill>
            <a:srgbClr val="FFFFFF"/>
          </a:solidFill>
          <a:ln w="12700">
            <a:solidFill>
              <a:srgbClr val="D6D0C5"/>
            </a:solidFill>
            <a:prstDash val="solid"/>
          </a:ln>
        </p:spPr>
      </p:sp>
      <p:sp>
        <p:nvSpPr>
          <p:cNvPr id="6" name="Text 4"/>
          <p:cNvSpPr/>
          <p:nvPr/>
        </p:nvSpPr>
        <p:spPr>
          <a:xfrm>
            <a:off x="804672" y="2066544"/>
            <a:ext cx="1828800" cy="219456"/>
          </a:xfrm>
          <a:prstGeom prst="rect">
            <a:avLst/>
          </a:prstGeom>
          <a:noFill/>
          <a:ln/>
        </p:spPr>
        <p:txBody>
          <a:bodyPr wrap="square" lIns="0" tIns="0" rIns="0" bIns="0" rtlCol="0" anchor="ctr">
            <a:normAutofit/>
          </a:bodyPr>
          <a:lstStyle/>
          <a:p>
            <a:pPr algn="l" indent="0" marL="0">
              <a:buNone/>
            </a:pPr>
            <a:r>
              <a:rPr lang="en-US" sz="800" b="1" spc="110" kern="0" dirty="0">
                <a:solidFill>
                  <a:srgbClr val="C84A45"/>
                </a:solidFill>
                <a:latin typeface="Aptos" pitchFamily="34" charset="0"/>
                <a:ea typeface="Aptos" pitchFamily="34" charset="-122"/>
                <a:cs typeface="Aptos" pitchFamily="34" charset="-120"/>
              </a:rPr>
              <a:t>ORIGINAL</a:t>
            </a:r>
            <a:endParaRPr lang="en-US" sz="800" dirty="0"/>
          </a:p>
        </p:txBody>
      </p:sp>
      <p:sp>
        <p:nvSpPr>
          <p:cNvPr id="7" name="Text 5"/>
          <p:cNvSpPr/>
          <p:nvPr/>
        </p:nvSpPr>
        <p:spPr>
          <a:xfrm>
            <a:off x="4617720" y="2066544"/>
            <a:ext cx="2606040" cy="219456"/>
          </a:xfrm>
          <a:prstGeom prst="rect">
            <a:avLst/>
          </a:prstGeom>
          <a:noFill/>
          <a:ln/>
        </p:spPr>
        <p:txBody>
          <a:bodyPr wrap="square" lIns="0" tIns="0" rIns="0" bIns="0" rtlCol="0" anchor="ctr">
            <a:normAutofit/>
          </a:bodyPr>
          <a:lstStyle/>
          <a:p>
            <a:pPr algn="l" indent="0" marL="0">
              <a:buNone/>
            </a:pPr>
            <a:r>
              <a:rPr lang="en-US" sz="800" b="1" spc="110" kern="0" dirty="0">
                <a:solidFill>
                  <a:srgbClr val="4E7C52"/>
                </a:solidFill>
                <a:latin typeface="Aptos" pitchFamily="34" charset="0"/>
                <a:ea typeface="Aptos" pitchFamily="34" charset="-122"/>
                <a:cs typeface="Aptos" pitchFamily="34" charset="-120"/>
              </a:rPr>
              <a:t>BALANCED COUNTER-PROPOSAL</a:t>
            </a:r>
            <a:endParaRPr lang="en-US" sz="800" dirty="0"/>
          </a:p>
        </p:txBody>
      </p:sp>
      <p:sp>
        <p:nvSpPr>
          <p:cNvPr id="8" name="Shape 6"/>
          <p:cNvSpPr/>
          <p:nvPr/>
        </p:nvSpPr>
        <p:spPr>
          <a:xfrm>
            <a:off x="4087368" y="1993392"/>
            <a:ext cx="0" cy="0"/>
          </a:xfrm>
          <a:prstGeom prst="line">
            <a:avLst/>
          </a:prstGeom>
          <a:noFill/>
          <a:ln w="12700">
            <a:solidFill>
              <a:srgbClr val="D6D0C5"/>
            </a:solidFill>
            <a:prstDash val="solid"/>
          </a:ln>
        </p:spPr>
      </p:sp>
      <p:sp>
        <p:nvSpPr>
          <p:cNvPr id="9" name="Shape 7"/>
          <p:cNvSpPr/>
          <p:nvPr/>
        </p:nvSpPr>
        <p:spPr>
          <a:xfrm>
            <a:off x="4087368" y="1993392"/>
            <a:ext cx="0" cy="3584448"/>
          </a:xfrm>
          <a:prstGeom prst="line">
            <a:avLst/>
          </a:prstGeom>
          <a:noFill/>
          <a:ln w="15240">
            <a:solidFill>
              <a:srgbClr val="D6D0C5"/>
            </a:solidFill>
            <a:prstDash val="solid"/>
          </a:ln>
        </p:spPr>
      </p:sp>
      <p:sp>
        <p:nvSpPr>
          <p:cNvPr id="10" name="Shape 8"/>
          <p:cNvSpPr/>
          <p:nvPr/>
        </p:nvSpPr>
        <p:spPr>
          <a:xfrm>
            <a:off x="804672" y="2532888"/>
            <a:ext cx="2944368" cy="438912"/>
          </a:xfrm>
          <a:prstGeom prst="rect">
            <a:avLst/>
          </a:prstGeom>
          <a:solidFill>
            <a:srgbClr val="F7F4EE"/>
          </a:solidFill>
          <a:ln w="12700">
            <a:solidFill>
              <a:srgbClr val="F7F4EE"/>
            </a:solidFill>
            <a:prstDash val="solid"/>
          </a:ln>
        </p:spPr>
      </p:sp>
      <p:sp>
        <p:nvSpPr>
          <p:cNvPr id="11" name="Text 9"/>
          <p:cNvSpPr/>
          <p:nvPr/>
        </p:nvSpPr>
        <p:spPr>
          <a:xfrm>
            <a:off x="932688" y="2606040"/>
            <a:ext cx="2651760" cy="274320"/>
          </a:xfrm>
          <a:prstGeom prst="rect">
            <a:avLst/>
          </a:prstGeom>
          <a:noFill/>
          <a:ln/>
        </p:spPr>
        <p:txBody>
          <a:bodyPr wrap="square" lIns="0" tIns="0" rIns="0" bIns="0" rtlCol="0" anchor="t">
            <a:normAutofit/>
          </a:bodyPr>
          <a:lstStyle/>
          <a:p>
            <a:pPr algn="l" indent="0" marL="0">
              <a:buNone/>
            </a:pPr>
            <a:r>
              <a:rPr lang="en-US" sz="840" dirty="0">
                <a:solidFill>
                  <a:srgbClr val="6D695F"/>
                </a:solidFill>
                <a:latin typeface="Aptos" pitchFamily="34" charset="0"/>
                <a:ea typeface="Aptos" pitchFamily="34" charset="-122"/>
                <a:cs typeface="Aptos" pitchFamily="34" charset="-120"/>
              </a:rPr>
              <a:t>Vendor shall indemnify Customer for all claims…</a:t>
            </a:r>
            <a:endParaRPr lang="en-US" sz="840" dirty="0"/>
          </a:p>
        </p:txBody>
      </p:sp>
      <p:sp>
        <p:nvSpPr>
          <p:cNvPr id="12" name="Shape 10"/>
          <p:cNvSpPr/>
          <p:nvPr/>
        </p:nvSpPr>
        <p:spPr>
          <a:xfrm>
            <a:off x="804672" y="3172968"/>
            <a:ext cx="2944368" cy="438912"/>
          </a:xfrm>
          <a:prstGeom prst="rect">
            <a:avLst/>
          </a:prstGeom>
          <a:solidFill>
            <a:srgbClr val="F3DAD8"/>
          </a:solidFill>
          <a:ln w="12700">
            <a:solidFill>
              <a:srgbClr val="F3DAD8"/>
            </a:solidFill>
            <a:prstDash val="solid"/>
          </a:ln>
        </p:spPr>
      </p:sp>
      <p:sp>
        <p:nvSpPr>
          <p:cNvPr id="13" name="Text 11"/>
          <p:cNvSpPr/>
          <p:nvPr/>
        </p:nvSpPr>
        <p:spPr>
          <a:xfrm>
            <a:off x="932688" y="3246120"/>
            <a:ext cx="2651760" cy="274320"/>
          </a:xfrm>
          <a:prstGeom prst="rect">
            <a:avLst/>
          </a:prstGeom>
          <a:noFill/>
          <a:ln/>
        </p:spPr>
        <p:txBody>
          <a:bodyPr wrap="square" lIns="0" tIns="0" rIns="0" bIns="0" rtlCol="0" anchor="t">
            <a:normAutofit/>
          </a:bodyPr>
          <a:lstStyle/>
          <a:p>
            <a:pPr algn="l" indent="0" marL="0">
              <a:buNone/>
            </a:pPr>
            <a:r>
              <a:rPr lang="en-US" sz="840" dirty="0">
                <a:solidFill>
                  <a:srgbClr val="C84A45"/>
                </a:solidFill>
                <a:latin typeface="Aptos" pitchFamily="34" charset="0"/>
                <a:ea typeface="Aptos" pitchFamily="34" charset="-122"/>
                <a:cs typeface="Aptos" pitchFamily="34" charset="-120"/>
              </a:rPr>
              <a:t>…without limitation for any direct or indirect loss…</a:t>
            </a:r>
            <a:endParaRPr lang="en-US" sz="840" dirty="0"/>
          </a:p>
        </p:txBody>
      </p:sp>
      <p:sp>
        <p:nvSpPr>
          <p:cNvPr id="14" name="Shape 12"/>
          <p:cNvSpPr/>
          <p:nvPr/>
        </p:nvSpPr>
        <p:spPr>
          <a:xfrm>
            <a:off x="804672" y="3813048"/>
            <a:ext cx="2944368" cy="438912"/>
          </a:xfrm>
          <a:prstGeom prst="rect">
            <a:avLst/>
          </a:prstGeom>
          <a:solidFill>
            <a:srgbClr val="F7F4EE"/>
          </a:solidFill>
          <a:ln w="12700">
            <a:solidFill>
              <a:srgbClr val="F7F4EE"/>
            </a:solidFill>
            <a:prstDash val="solid"/>
          </a:ln>
        </p:spPr>
      </p:sp>
      <p:sp>
        <p:nvSpPr>
          <p:cNvPr id="15" name="Text 13"/>
          <p:cNvSpPr/>
          <p:nvPr/>
        </p:nvSpPr>
        <p:spPr>
          <a:xfrm>
            <a:off x="932688" y="3886200"/>
            <a:ext cx="2651760" cy="274320"/>
          </a:xfrm>
          <a:prstGeom prst="rect">
            <a:avLst/>
          </a:prstGeom>
          <a:noFill/>
          <a:ln/>
        </p:spPr>
        <p:txBody>
          <a:bodyPr wrap="square" lIns="0" tIns="0" rIns="0" bIns="0" rtlCol="0" anchor="t">
            <a:normAutofit/>
          </a:bodyPr>
          <a:lstStyle/>
          <a:p>
            <a:pPr algn="l" indent="0" marL="0">
              <a:buNone/>
            </a:pPr>
            <a:r>
              <a:rPr lang="en-US" sz="840" dirty="0">
                <a:solidFill>
                  <a:srgbClr val="6D695F"/>
                </a:solidFill>
                <a:latin typeface="Aptos" pitchFamily="34" charset="0"/>
                <a:ea typeface="Aptos" pitchFamily="34" charset="-122"/>
                <a:cs typeface="Aptos" pitchFamily="34" charset="-120"/>
              </a:rPr>
              <a:t>Vendor shall also cover third-party claims.</a:t>
            </a:r>
            <a:endParaRPr lang="en-US" sz="840" dirty="0"/>
          </a:p>
        </p:txBody>
      </p:sp>
      <p:sp>
        <p:nvSpPr>
          <p:cNvPr id="16" name="Shape 14"/>
          <p:cNvSpPr/>
          <p:nvPr/>
        </p:nvSpPr>
        <p:spPr>
          <a:xfrm>
            <a:off x="804672" y="4453128"/>
            <a:ext cx="2944368" cy="438912"/>
          </a:xfrm>
          <a:prstGeom prst="rect">
            <a:avLst/>
          </a:prstGeom>
          <a:solidFill>
            <a:srgbClr val="F7F4EE"/>
          </a:solidFill>
          <a:ln w="12700">
            <a:solidFill>
              <a:srgbClr val="F7F4EE"/>
            </a:solidFill>
            <a:prstDash val="solid"/>
          </a:ln>
        </p:spPr>
      </p:sp>
      <p:sp>
        <p:nvSpPr>
          <p:cNvPr id="17" name="Text 15"/>
          <p:cNvSpPr/>
          <p:nvPr/>
        </p:nvSpPr>
        <p:spPr>
          <a:xfrm>
            <a:off x="932688" y="4526280"/>
            <a:ext cx="2651760" cy="274320"/>
          </a:xfrm>
          <a:prstGeom prst="rect">
            <a:avLst/>
          </a:prstGeom>
          <a:noFill/>
          <a:ln/>
        </p:spPr>
        <p:txBody>
          <a:bodyPr wrap="square" lIns="0" tIns="0" rIns="0" bIns="0" rtlCol="0" anchor="t">
            <a:normAutofit/>
          </a:bodyPr>
          <a:lstStyle/>
          <a:p>
            <a:pPr algn="l" indent="0" marL="0">
              <a:buNone/>
            </a:pPr>
            <a:r>
              <a:rPr lang="en-US" sz="840" dirty="0">
                <a:solidFill>
                  <a:srgbClr val="6D695F"/>
                </a:solidFill>
                <a:latin typeface="Aptos" pitchFamily="34" charset="0"/>
                <a:ea typeface="Aptos" pitchFamily="34" charset="-122"/>
                <a:cs typeface="Aptos" pitchFamily="34" charset="-120"/>
              </a:rPr>
              <a:t>No monetary cap applies.</a:t>
            </a:r>
            <a:endParaRPr lang="en-US" sz="840" dirty="0"/>
          </a:p>
        </p:txBody>
      </p:sp>
      <p:sp>
        <p:nvSpPr>
          <p:cNvPr id="18" name="Shape 16"/>
          <p:cNvSpPr/>
          <p:nvPr/>
        </p:nvSpPr>
        <p:spPr>
          <a:xfrm>
            <a:off x="4370832" y="2532888"/>
            <a:ext cx="3419856" cy="438912"/>
          </a:xfrm>
          <a:prstGeom prst="rect">
            <a:avLst/>
          </a:prstGeom>
          <a:solidFill>
            <a:srgbClr val="DFEBD9"/>
          </a:solidFill>
          <a:ln w="12700">
            <a:solidFill>
              <a:srgbClr val="DFEBD9"/>
            </a:solidFill>
            <a:prstDash val="solid"/>
          </a:ln>
        </p:spPr>
      </p:sp>
      <p:sp>
        <p:nvSpPr>
          <p:cNvPr id="19" name="Text 17"/>
          <p:cNvSpPr/>
          <p:nvPr/>
        </p:nvSpPr>
        <p:spPr>
          <a:xfrm>
            <a:off x="4507992" y="2606040"/>
            <a:ext cx="3108960" cy="274320"/>
          </a:xfrm>
          <a:prstGeom prst="rect">
            <a:avLst/>
          </a:prstGeom>
          <a:noFill/>
          <a:ln/>
        </p:spPr>
        <p:txBody>
          <a:bodyPr wrap="square" lIns="0" tIns="0" rIns="0" bIns="0" rtlCol="0" anchor="t">
            <a:normAutofit/>
          </a:bodyPr>
          <a:lstStyle/>
          <a:p>
            <a:pPr algn="l" indent="0" marL="0">
              <a:buNone/>
            </a:pPr>
            <a:r>
              <a:rPr lang="en-US" sz="840" dirty="0">
                <a:solidFill>
                  <a:srgbClr val="4E7C52"/>
                </a:solidFill>
                <a:latin typeface="Aptos" pitchFamily="34" charset="0"/>
                <a:ea typeface="Aptos" pitchFamily="34" charset="-122"/>
                <a:cs typeface="Aptos" pitchFamily="34" charset="-120"/>
              </a:rPr>
              <a:t>Each party shall indemnify the other for third-party claims…</a:t>
            </a:r>
            <a:endParaRPr lang="en-US" sz="840" dirty="0"/>
          </a:p>
        </p:txBody>
      </p:sp>
      <p:sp>
        <p:nvSpPr>
          <p:cNvPr id="20" name="Shape 18"/>
          <p:cNvSpPr/>
          <p:nvPr/>
        </p:nvSpPr>
        <p:spPr>
          <a:xfrm>
            <a:off x="4370832" y="3172968"/>
            <a:ext cx="3419856" cy="438912"/>
          </a:xfrm>
          <a:prstGeom prst="rect">
            <a:avLst/>
          </a:prstGeom>
          <a:solidFill>
            <a:srgbClr val="F7F4EE"/>
          </a:solidFill>
          <a:ln w="12700">
            <a:solidFill>
              <a:srgbClr val="F7F4EE"/>
            </a:solidFill>
            <a:prstDash val="solid"/>
          </a:ln>
        </p:spPr>
      </p:sp>
      <p:sp>
        <p:nvSpPr>
          <p:cNvPr id="21" name="Text 19"/>
          <p:cNvSpPr/>
          <p:nvPr/>
        </p:nvSpPr>
        <p:spPr>
          <a:xfrm>
            <a:off x="4507992" y="3246120"/>
            <a:ext cx="3108960" cy="274320"/>
          </a:xfrm>
          <a:prstGeom prst="rect">
            <a:avLst/>
          </a:prstGeom>
          <a:noFill/>
          <a:ln/>
        </p:spPr>
        <p:txBody>
          <a:bodyPr wrap="square" lIns="0" tIns="0" rIns="0" bIns="0" rtlCol="0" anchor="t">
            <a:normAutofit/>
          </a:bodyPr>
          <a:lstStyle/>
          <a:p>
            <a:pPr algn="l" indent="0" marL="0">
              <a:buNone/>
            </a:pPr>
            <a:r>
              <a:rPr lang="en-US" sz="840" dirty="0">
                <a:solidFill>
                  <a:srgbClr val="262522"/>
                </a:solidFill>
                <a:latin typeface="Aptos" pitchFamily="34" charset="0"/>
                <a:ea typeface="Aptos" pitchFamily="34" charset="-122"/>
                <a:cs typeface="Aptos" pitchFamily="34" charset="-120"/>
              </a:rPr>
              <a:t>…to the extent caused by its breach, negligence or misconduct.</a:t>
            </a:r>
            <a:endParaRPr lang="en-US" sz="840" dirty="0"/>
          </a:p>
        </p:txBody>
      </p:sp>
      <p:sp>
        <p:nvSpPr>
          <p:cNvPr id="22" name="Shape 20"/>
          <p:cNvSpPr/>
          <p:nvPr/>
        </p:nvSpPr>
        <p:spPr>
          <a:xfrm>
            <a:off x="4370832" y="3813048"/>
            <a:ext cx="3419856" cy="438912"/>
          </a:xfrm>
          <a:prstGeom prst="rect">
            <a:avLst/>
          </a:prstGeom>
          <a:solidFill>
            <a:srgbClr val="F7F4EE"/>
          </a:solidFill>
          <a:ln w="12700">
            <a:solidFill>
              <a:srgbClr val="F7F4EE"/>
            </a:solidFill>
            <a:prstDash val="solid"/>
          </a:ln>
        </p:spPr>
      </p:sp>
      <p:sp>
        <p:nvSpPr>
          <p:cNvPr id="23" name="Text 21"/>
          <p:cNvSpPr/>
          <p:nvPr/>
        </p:nvSpPr>
        <p:spPr>
          <a:xfrm>
            <a:off x="4507992" y="3886200"/>
            <a:ext cx="3108960" cy="274320"/>
          </a:xfrm>
          <a:prstGeom prst="rect">
            <a:avLst/>
          </a:prstGeom>
          <a:noFill/>
          <a:ln/>
        </p:spPr>
        <p:txBody>
          <a:bodyPr wrap="square" lIns="0" tIns="0" rIns="0" bIns="0" rtlCol="0" anchor="t">
            <a:normAutofit/>
          </a:bodyPr>
          <a:lstStyle/>
          <a:p>
            <a:pPr algn="l" indent="0" marL="0">
              <a:buNone/>
            </a:pPr>
            <a:r>
              <a:rPr lang="en-US" sz="840" dirty="0">
                <a:solidFill>
                  <a:srgbClr val="262522"/>
                </a:solidFill>
                <a:latin typeface="Aptos" pitchFamily="34" charset="0"/>
                <a:ea typeface="Aptos" pitchFamily="34" charset="-122"/>
                <a:cs typeface="Aptos" pitchFamily="34" charset="-120"/>
              </a:rPr>
              <a:t>Liability will be subject to the agreed cap.</a:t>
            </a:r>
            <a:endParaRPr lang="en-US" sz="840" dirty="0"/>
          </a:p>
        </p:txBody>
      </p:sp>
      <p:sp>
        <p:nvSpPr>
          <p:cNvPr id="24" name="Shape 22"/>
          <p:cNvSpPr/>
          <p:nvPr/>
        </p:nvSpPr>
        <p:spPr>
          <a:xfrm>
            <a:off x="4370832" y="4453128"/>
            <a:ext cx="3419856" cy="438912"/>
          </a:xfrm>
          <a:prstGeom prst="rect">
            <a:avLst/>
          </a:prstGeom>
          <a:solidFill>
            <a:srgbClr val="F7F4EE"/>
          </a:solidFill>
          <a:ln w="12700">
            <a:solidFill>
              <a:srgbClr val="F7F4EE"/>
            </a:solidFill>
            <a:prstDash val="solid"/>
          </a:ln>
        </p:spPr>
      </p:sp>
      <p:sp>
        <p:nvSpPr>
          <p:cNvPr id="25" name="Text 23"/>
          <p:cNvSpPr/>
          <p:nvPr/>
        </p:nvSpPr>
        <p:spPr>
          <a:xfrm>
            <a:off x="4507992" y="4526280"/>
            <a:ext cx="3108960" cy="274320"/>
          </a:xfrm>
          <a:prstGeom prst="rect">
            <a:avLst/>
          </a:prstGeom>
          <a:noFill/>
          <a:ln/>
        </p:spPr>
        <p:txBody>
          <a:bodyPr wrap="square" lIns="0" tIns="0" rIns="0" bIns="0" rtlCol="0" anchor="t">
            <a:normAutofit/>
          </a:bodyPr>
          <a:lstStyle/>
          <a:p>
            <a:pPr algn="l" indent="0" marL="0">
              <a:buNone/>
            </a:pPr>
            <a:r>
              <a:rPr lang="en-US" sz="840" dirty="0">
                <a:solidFill>
                  <a:srgbClr val="262522"/>
                </a:solidFill>
                <a:latin typeface="Aptos" pitchFamily="34" charset="0"/>
                <a:ea typeface="Aptos" pitchFamily="34" charset="-122"/>
                <a:cs typeface="Aptos" pitchFamily="34" charset="-120"/>
              </a:rPr>
              <a:t>Carve-outs remain limited and explicit.</a:t>
            </a:r>
            <a:endParaRPr lang="en-US" sz="840" dirty="0"/>
          </a:p>
        </p:txBody>
      </p:sp>
      <p:sp>
        <p:nvSpPr>
          <p:cNvPr id="26" name="Shape 24"/>
          <p:cNvSpPr/>
          <p:nvPr/>
        </p:nvSpPr>
        <p:spPr>
          <a:xfrm>
            <a:off x="8321040" y="1883664"/>
            <a:ext cx="3127248" cy="4069080"/>
          </a:xfrm>
          <a:prstGeom prst="rect">
            <a:avLst/>
          </a:prstGeom>
          <a:solidFill>
            <a:srgbClr val="111111"/>
          </a:solidFill>
          <a:ln w="12700">
            <a:solidFill>
              <a:srgbClr val="111111"/>
            </a:solidFill>
            <a:prstDash val="solid"/>
          </a:ln>
        </p:spPr>
      </p:sp>
      <p:sp>
        <p:nvSpPr>
          <p:cNvPr id="27" name="Text 25"/>
          <p:cNvSpPr/>
          <p:nvPr/>
        </p:nvSpPr>
        <p:spPr>
          <a:xfrm>
            <a:off x="8586216" y="2112264"/>
            <a:ext cx="2606040" cy="219456"/>
          </a:xfrm>
          <a:prstGeom prst="rect">
            <a:avLst/>
          </a:prstGeom>
          <a:noFill/>
          <a:ln/>
        </p:spPr>
        <p:txBody>
          <a:bodyPr wrap="square" lIns="0" tIns="0" rIns="0" bIns="0" rtlCol="0" anchor="ctr">
            <a:normAutofit/>
          </a:bodyPr>
          <a:lstStyle/>
          <a:p>
            <a:pPr algn="l" indent="0" marL="0">
              <a:buNone/>
            </a:pPr>
            <a:r>
              <a:rPr lang="en-US" sz="810" b="1" spc="120" kern="0" dirty="0">
                <a:solidFill>
                  <a:srgbClr val="A9A59A"/>
                </a:solidFill>
                <a:latin typeface="Aptos" pitchFamily="34" charset="0"/>
                <a:ea typeface="Aptos" pitchFamily="34" charset="-122"/>
                <a:cs typeface="Aptos" pitchFamily="34" charset="-120"/>
              </a:rPr>
              <a:t>NEGOTIATION PLAYBOOK</a:t>
            </a:r>
            <a:endParaRPr lang="en-US" sz="810" dirty="0"/>
          </a:p>
        </p:txBody>
      </p:sp>
      <p:sp>
        <p:nvSpPr>
          <p:cNvPr id="28" name="Text 26"/>
          <p:cNvSpPr/>
          <p:nvPr/>
        </p:nvSpPr>
        <p:spPr>
          <a:xfrm>
            <a:off x="8586216" y="2505456"/>
            <a:ext cx="2423160" cy="640080"/>
          </a:xfrm>
          <a:prstGeom prst="rect">
            <a:avLst/>
          </a:prstGeom>
          <a:noFill/>
          <a:ln/>
        </p:spPr>
        <p:txBody>
          <a:bodyPr wrap="square" lIns="0" tIns="0" rIns="0" bIns="0" rtlCol="0" anchor="t">
            <a:normAutofit/>
          </a:bodyPr>
          <a:lstStyle/>
          <a:p>
            <a:pPr algn="l" indent="0" marL="0">
              <a:buNone/>
            </a:pPr>
            <a:r>
              <a:rPr lang="en-US" sz="1600" i="1" dirty="0">
                <a:solidFill>
                  <a:srgbClr val="FFFFFF"/>
                </a:solidFill>
                <a:latin typeface="Georgia" pitchFamily="34" charset="0"/>
                <a:ea typeface="Georgia" pitchFamily="34" charset="-122"/>
                <a:cs typeface="Georgia" pitchFamily="34" charset="-120"/>
              </a:rPr>
              <a:t>Choose the posture</a:t>
            </a:r>
            <a:endParaRPr lang="en-US" sz="1600" dirty="0"/>
          </a:p>
          <a:p>
            <a:pPr algn="l" indent="0" marL="0">
              <a:buNone/>
            </a:pPr>
            <a:r>
              <a:rPr lang="en-US" sz="1600" i="1" dirty="0">
                <a:solidFill>
                  <a:srgbClr val="FFFFFF"/>
                </a:solidFill>
                <a:latin typeface="Georgia" pitchFamily="34" charset="0"/>
                <a:ea typeface="Georgia" pitchFamily="34" charset="-122"/>
                <a:cs typeface="Georgia" pitchFamily="34" charset="-120"/>
              </a:rPr>
              <a:t>that matches the leverage.</a:t>
            </a:r>
            <a:endParaRPr lang="en-US" sz="1600" dirty="0"/>
          </a:p>
        </p:txBody>
      </p:sp>
      <p:sp>
        <p:nvSpPr>
          <p:cNvPr id="29" name="Shape 27"/>
          <p:cNvSpPr/>
          <p:nvPr/>
        </p:nvSpPr>
        <p:spPr>
          <a:xfrm>
            <a:off x="8586216" y="3401568"/>
            <a:ext cx="2587752" cy="475488"/>
          </a:xfrm>
          <a:prstGeom prst="rect">
            <a:avLst/>
          </a:prstGeom>
          <a:solidFill>
            <a:srgbClr val="F3DAD8"/>
          </a:solidFill>
          <a:ln w="12700">
            <a:solidFill>
              <a:srgbClr val="F3DAD8"/>
            </a:solidFill>
            <a:prstDash val="solid"/>
          </a:ln>
        </p:spPr>
      </p:sp>
      <p:sp>
        <p:nvSpPr>
          <p:cNvPr id="30" name="Text 28"/>
          <p:cNvSpPr/>
          <p:nvPr/>
        </p:nvSpPr>
        <p:spPr>
          <a:xfrm>
            <a:off x="8714232" y="3520440"/>
            <a:ext cx="2322576" cy="201168"/>
          </a:xfrm>
          <a:prstGeom prst="rect">
            <a:avLst/>
          </a:prstGeom>
          <a:noFill/>
          <a:ln/>
        </p:spPr>
        <p:txBody>
          <a:bodyPr wrap="square" lIns="0" tIns="0" rIns="0" bIns="0" rtlCol="0" anchor="ctr">
            <a:normAutofit/>
          </a:bodyPr>
          <a:lstStyle/>
          <a:p>
            <a:pPr algn="ctr" indent="0" marL="0">
              <a:buNone/>
            </a:pPr>
            <a:r>
              <a:rPr lang="en-US" sz="830" b="1" dirty="0">
                <a:solidFill>
                  <a:srgbClr val="C84A45"/>
                </a:solidFill>
                <a:latin typeface="Aptos" pitchFamily="34" charset="0"/>
                <a:ea typeface="Aptos" pitchFamily="34" charset="-122"/>
                <a:cs typeface="Aptos" pitchFamily="34" charset="-120"/>
              </a:rPr>
              <a:t>AGGRESSIVE</a:t>
            </a:r>
            <a:endParaRPr lang="en-US" sz="830" dirty="0"/>
          </a:p>
        </p:txBody>
      </p:sp>
      <p:sp>
        <p:nvSpPr>
          <p:cNvPr id="31" name="Shape 29"/>
          <p:cNvSpPr/>
          <p:nvPr/>
        </p:nvSpPr>
        <p:spPr>
          <a:xfrm>
            <a:off x="8586216" y="4041648"/>
            <a:ext cx="2587752" cy="475488"/>
          </a:xfrm>
          <a:prstGeom prst="rect">
            <a:avLst/>
          </a:prstGeom>
          <a:solidFill>
            <a:srgbClr val="F1E4CB"/>
          </a:solidFill>
          <a:ln w="12700">
            <a:solidFill>
              <a:srgbClr val="F1E4CB"/>
            </a:solidFill>
            <a:prstDash val="solid"/>
          </a:ln>
        </p:spPr>
      </p:sp>
      <p:sp>
        <p:nvSpPr>
          <p:cNvPr id="32" name="Text 30"/>
          <p:cNvSpPr/>
          <p:nvPr/>
        </p:nvSpPr>
        <p:spPr>
          <a:xfrm>
            <a:off x="8714232" y="4160520"/>
            <a:ext cx="2322576" cy="201168"/>
          </a:xfrm>
          <a:prstGeom prst="rect">
            <a:avLst/>
          </a:prstGeom>
          <a:noFill/>
          <a:ln/>
        </p:spPr>
        <p:txBody>
          <a:bodyPr wrap="square" lIns="0" tIns="0" rIns="0" bIns="0" rtlCol="0" anchor="ctr">
            <a:normAutofit/>
          </a:bodyPr>
          <a:lstStyle/>
          <a:p>
            <a:pPr algn="ctr" indent="0" marL="0">
              <a:buNone/>
            </a:pPr>
            <a:r>
              <a:rPr lang="en-US" sz="830" b="1" dirty="0">
                <a:solidFill>
                  <a:srgbClr val="C58A2B"/>
                </a:solidFill>
                <a:latin typeface="Aptos" pitchFamily="34" charset="0"/>
                <a:ea typeface="Aptos" pitchFamily="34" charset="-122"/>
                <a:cs typeface="Aptos" pitchFamily="34" charset="-120"/>
              </a:rPr>
              <a:t>BALANCED</a:t>
            </a:r>
            <a:endParaRPr lang="en-US" sz="830" dirty="0"/>
          </a:p>
        </p:txBody>
      </p:sp>
      <p:sp>
        <p:nvSpPr>
          <p:cNvPr id="33" name="Shape 31"/>
          <p:cNvSpPr/>
          <p:nvPr/>
        </p:nvSpPr>
        <p:spPr>
          <a:xfrm>
            <a:off x="8586216" y="4681728"/>
            <a:ext cx="2587752" cy="475488"/>
          </a:xfrm>
          <a:prstGeom prst="rect">
            <a:avLst/>
          </a:prstGeom>
          <a:solidFill>
            <a:srgbClr val="DFEBD9"/>
          </a:solidFill>
          <a:ln w="12700">
            <a:solidFill>
              <a:srgbClr val="DFEBD9"/>
            </a:solidFill>
            <a:prstDash val="solid"/>
          </a:ln>
        </p:spPr>
      </p:sp>
      <p:sp>
        <p:nvSpPr>
          <p:cNvPr id="34" name="Text 32"/>
          <p:cNvSpPr/>
          <p:nvPr/>
        </p:nvSpPr>
        <p:spPr>
          <a:xfrm>
            <a:off x="8714232" y="4800600"/>
            <a:ext cx="2322576" cy="201168"/>
          </a:xfrm>
          <a:prstGeom prst="rect">
            <a:avLst/>
          </a:prstGeom>
          <a:noFill/>
          <a:ln/>
        </p:spPr>
        <p:txBody>
          <a:bodyPr wrap="square" lIns="0" tIns="0" rIns="0" bIns="0" rtlCol="0" anchor="ctr">
            <a:normAutofit/>
          </a:bodyPr>
          <a:lstStyle/>
          <a:p>
            <a:pPr algn="ctr" indent="0" marL="0">
              <a:buNone/>
            </a:pPr>
            <a:r>
              <a:rPr lang="en-US" sz="830" b="1" dirty="0">
                <a:solidFill>
                  <a:srgbClr val="4E7C52"/>
                </a:solidFill>
                <a:latin typeface="Aptos" pitchFamily="34" charset="0"/>
                <a:ea typeface="Aptos" pitchFamily="34" charset="-122"/>
                <a:cs typeface="Aptos" pitchFamily="34" charset="-120"/>
              </a:rPr>
              <a:t>WALK-AWAY</a:t>
            </a:r>
            <a:endParaRPr lang="en-US" sz="830" dirty="0"/>
          </a:p>
        </p:txBody>
      </p:sp>
      <p:sp>
        <p:nvSpPr>
          <p:cNvPr id="35" name="Text 33"/>
          <p:cNvSpPr/>
          <p:nvPr/>
        </p:nvSpPr>
        <p:spPr>
          <a:xfrm>
            <a:off x="8586216" y="5477256"/>
            <a:ext cx="2578608" cy="310896"/>
          </a:xfrm>
          <a:prstGeom prst="rect">
            <a:avLst/>
          </a:prstGeom>
          <a:noFill/>
          <a:ln/>
        </p:spPr>
        <p:txBody>
          <a:bodyPr wrap="square" lIns="0" tIns="0" rIns="0" bIns="0" rtlCol="0" anchor="t">
            <a:normAutofit/>
          </a:bodyPr>
          <a:lstStyle/>
          <a:p>
            <a:pPr algn="ctr" indent="0" marL="0">
              <a:buNone/>
            </a:pPr>
            <a:r>
              <a:rPr lang="en-US" sz="800" dirty="0">
                <a:solidFill>
                  <a:srgbClr val="B8B3AA"/>
                </a:solidFill>
                <a:latin typeface="Aptos" pitchFamily="34" charset="0"/>
                <a:ea typeface="Aptos" pitchFamily="34" charset="-122"/>
                <a:cs typeface="Aptos" pitchFamily="34" charset="-120"/>
              </a:rPr>
              <a:t>Powered by diff-match-patch + generative reasoning.</a:t>
            </a:r>
            <a:endParaRPr lang="en-US" sz="80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08  /  PLATFORM SCOPE</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A full legal workflow, not a single feature.</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The repository contains dedicated modules across analysis, drafting, governance, verification and collaboration.</a:t>
            </a:r>
            <a:endParaRPr lang="en-US" sz="1150" dirty="0"/>
          </a:p>
        </p:txBody>
      </p:sp>
      <p:sp>
        <p:nvSpPr>
          <p:cNvPr id="5" name="Shape 3"/>
          <p:cNvSpPr/>
          <p:nvPr/>
        </p:nvSpPr>
        <p:spPr>
          <a:xfrm>
            <a:off x="548640" y="1874520"/>
            <a:ext cx="5230368" cy="621792"/>
          </a:xfrm>
          <a:prstGeom prst="rect">
            <a:avLst/>
          </a:prstGeom>
          <a:solidFill>
            <a:srgbClr val="111111"/>
          </a:solidFill>
          <a:ln w="12700">
            <a:solidFill>
              <a:srgbClr val="111111"/>
            </a:solidFill>
            <a:prstDash val="solid"/>
          </a:ln>
        </p:spPr>
      </p:sp>
      <p:sp>
        <p:nvSpPr>
          <p:cNvPr id="6" name="Text 4"/>
          <p:cNvSpPr/>
          <p:nvPr/>
        </p:nvSpPr>
        <p:spPr>
          <a:xfrm>
            <a:off x="676656" y="2029968"/>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A9A59A"/>
                </a:solidFill>
                <a:latin typeface="Aptos" pitchFamily="34" charset="0"/>
                <a:ea typeface="Aptos" pitchFamily="34" charset="-122"/>
                <a:cs typeface="Aptos" pitchFamily="34" charset="-120"/>
              </a:rPr>
              <a:t>01</a:t>
            </a:r>
            <a:endParaRPr lang="en-US" sz="770" dirty="0"/>
          </a:p>
        </p:txBody>
      </p:sp>
      <p:sp>
        <p:nvSpPr>
          <p:cNvPr id="7" name="Text 5"/>
          <p:cNvSpPr/>
          <p:nvPr/>
        </p:nvSpPr>
        <p:spPr>
          <a:xfrm>
            <a:off x="1152144" y="1993392"/>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C58A2B"/>
                </a:solidFill>
                <a:latin typeface="Aptos" pitchFamily="34" charset="0"/>
                <a:ea typeface="Aptos" pitchFamily="34" charset="-122"/>
                <a:cs typeface="Aptos" pitchFamily="34" charset="-120"/>
              </a:rPr>
              <a:t>RISK</a:t>
            </a:r>
            <a:endParaRPr lang="en-US" sz="780" dirty="0"/>
          </a:p>
        </p:txBody>
      </p:sp>
      <p:sp>
        <p:nvSpPr>
          <p:cNvPr id="8" name="Text 6"/>
          <p:cNvSpPr/>
          <p:nvPr/>
        </p:nvSpPr>
        <p:spPr>
          <a:xfrm>
            <a:off x="2103120" y="1975104"/>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AI Contract Analyzer</a:t>
            </a:r>
            <a:endParaRPr lang="en-US" sz="950" dirty="0"/>
          </a:p>
        </p:txBody>
      </p:sp>
      <p:sp>
        <p:nvSpPr>
          <p:cNvPr id="9" name="Text 7"/>
          <p:cNvSpPr/>
          <p:nvPr/>
        </p:nvSpPr>
        <p:spPr>
          <a:xfrm>
            <a:off x="4709160" y="1975104"/>
            <a:ext cx="914400" cy="219456"/>
          </a:xfrm>
          <a:prstGeom prst="rect">
            <a:avLst/>
          </a:prstGeom>
          <a:noFill/>
          <a:ln/>
        </p:spPr>
        <p:txBody>
          <a:bodyPr wrap="square" lIns="0" tIns="0" rIns="0" bIns="0" rtlCol="0" anchor="ctr">
            <a:normAutofit/>
          </a:bodyPr>
          <a:lstStyle/>
          <a:p>
            <a:pPr algn="r" indent="0" marL="0">
              <a:buNone/>
            </a:pPr>
            <a:r>
              <a:rPr lang="en-US" sz="800" dirty="0">
                <a:solidFill>
                  <a:srgbClr val="A9A59A"/>
                </a:solidFill>
                <a:latin typeface="Aptos" pitchFamily="34" charset="0"/>
                <a:ea typeface="Aptos" pitchFamily="34" charset="-122"/>
                <a:cs typeface="Aptos" pitchFamily="34" charset="-120"/>
              </a:rPr>
              <a:t>/analyze</a:t>
            </a:r>
            <a:endParaRPr lang="en-US" sz="800" dirty="0"/>
          </a:p>
        </p:txBody>
      </p:sp>
      <p:sp>
        <p:nvSpPr>
          <p:cNvPr id="10" name="Shape 8"/>
          <p:cNvSpPr/>
          <p:nvPr/>
        </p:nvSpPr>
        <p:spPr>
          <a:xfrm>
            <a:off x="6053328" y="1874520"/>
            <a:ext cx="5230368" cy="621792"/>
          </a:xfrm>
          <a:prstGeom prst="rect">
            <a:avLst/>
          </a:prstGeom>
          <a:solidFill>
            <a:srgbClr val="FFFFFF"/>
          </a:solidFill>
          <a:ln w="12700">
            <a:solidFill>
              <a:srgbClr val="D6D0C5"/>
            </a:solidFill>
            <a:prstDash val="solid"/>
          </a:ln>
        </p:spPr>
      </p:sp>
      <p:sp>
        <p:nvSpPr>
          <p:cNvPr id="11" name="Text 9"/>
          <p:cNvSpPr/>
          <p:nvPr/>
        </p:nvSpPr>
        <p:spPr>
          <a:xfrm>
            <a:off x="6181344" y="2029968"/>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6D695F"/>
                </a:solidFill>
                <a:latin typeface="Aptos" pitchFamily="34" charset="0"/>
                <a:ea typeface="Aptos" pitchFamily="34" charset="-122"/>
                <a:cs typeface="Aptos" pitchFamily="34" charset="-120"/>
              </a:rPr>
              <a:t>02</a:t>
            </a:r>
            <a:endParaRPr lang="en-US" sz="770" dirty="0"/>
          </a:p>
        </p:txBody>
      </p:sp>
      <p:sp>
        <p:nvSpPr>
          <p:cNvPr id="12" name="Text 10"/>
          <p:cNvSpPr/>
          <p:nvPr/>
        </p:nvSpPr>
        <p:spPr>
          <a:xfrm>
            <a:off x="6656832" y="1993392"/>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6D695F"/>
                </a:solidFill>
                <a:latin typeface="Aptos" pitchFamily="34" charset="0"/>
                <a:ea typeface="Aptos" pitchFamily="34" charset="-122"/>
                <a:cs typeface="Aptos" pitchFamily="34" charset="-120"/>
              </a:rPr>
              <a:t>NEGOTIATE</a:t>
            </a:r>
            <a:endParaRPr lang="en-US" sz="780" dirty="0"/>
          </a:p>
        </p:txBody>
      </p:sp>
      <p:sp>
        <p:nvSpPr>
          <p:cNvPr id="13" name="Text 11"/>
          <p:cNvSpPr/>
          <p:nvPr/>
        </p:nvSpPr>
        <p:spPr>
          <a:xfrm>
            <a:off x="7607808" y="1975104"/>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Redlining + Playbooks</a:t>
            </a:r>
            <a:endParaRPr lang="en-US" sz="950" dirty="0"/>
          </a:p>
        </p:txBody>
      </p:sp>
      <p:sp>
        <p:nvSpPr>
          <p:cNvPr id="14" name="Text 12"/>
          <p:cNvSpPr/>
          <p:nvPr/>
        </p:nvSpPr>
        <p:spPr>
          <a:xfrm>
            <a:off x="10213848" y="1975104"/>
            <a:ext cx="914400" cy="219456"/>
          </a:xfrm>
          <a:prstGeom prst="rect">
            <a:avLst/>
          </a:prstGeom>
          <a:noFill/>
          <a:ln/>
        </p:spPr>
        <p:txBody>
          <a:bodyPr wrap="square" lIns="0" tIns="0" rIns="0" bIns="0" rtlCol="0" anchor="ctr">
            <a:normAutofit/>
          </a:bodyPr>
          <a:lstStyle/>
          <a:p>
            <a:pPr algn="r" indent="0" marL="0">
              <a:buNone/>
            </a:pPr>
            <a:r>
              <a:rPr lang="en-US" sz="800" dirty="0">
                <a:solidFill>
                  <a:srgbClr val="6D695F"/>
                </a:solidFill>
                <a:latin typeface="Aptos" pitchFamily="34" charset="0"/>
                <a:ea typeface="Aptos" pitchFamily="34" charset="-122"/>
                <a:cs typeface="Aptos" pitchFamily="34" charset="-120"/>
              </a:rPr>
              <a:t>/negotiate</a:t>
            </a:r>
            <a:endParaRPr lang="en-US" sz="800" dirty="0"/>
          </a:p>
        </p:txBody>
      </p:sp>
      <p:sp>
        <p:nvSpPr>
          <p:cNvPr id="15" name="Shape 13"/>
          <p:cNvSpPr/>
          <p:nvPr/>
        </p:nvSpPr>
        <p:spPr>
          <a:xfrm>
            <a:off x="548640" y="2642616"/>
            <a:ext cx="5230368" cy="621792"/>
          </a:xfrm>
          <a:prstGeom prst="rect">
            <a:avLst/>
          </a:prstGeom>
          <a:solidFill>
            <a:srgbClr val="FFFFFF"/>
          </a:solidFill>
          <a:ln w="12700">
            <a:solidFill>
              <a:srgbClr val="D6D0C5"/>
            </a:solidFill>
            <a:prstDash val="solid"/>
          </a:ln>
        </p:spPr>
      </p:sp>
      <p:sp>
        <p:nvSpPr>
          <p:cNvPr id="16" name="Text 14"/>
          <p:cNvSpPr/>
          <p:nvPr/>
        </p:nvSpPr>
        <p:spPr>
          <a:xfrm>
            <a:off x="676656" y="2798064"/>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6D695F"/>
                </a:solidFill>
                <a:latin typeface="Aptos" pitchFamily="34" charset="0"/>
                <a:ea typeface="Aptos" pitchFamily="34" charset="-122"/>
                <a:cs typeface="Aptos" pitchFamily="34" charset="-120"/>
              </a:rPr>
              <a:t>03</a:t>
            </a:r>
            <a:endParaRPr lang="en-US" sz="770" dirty="0"/>
          </a:p>
        </p:txBody>
      </p:sp>
      <p:sp>
        <p:nvSpPr>
          <p:cNvPr id="17" name="Text 15"/>
          <p:cNvSpPr/>
          <p:nvPr/>
        </p:nvSpPr>
        <p:spPr>
          <a:xfrm>
            <a:off x="1152144" y="2761488"/>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6D695F"/>
                </a:solidFill>
                <a:latin typeface="Aptos" pitchFamily="34" charset="0"/>
                <a:ea typeface="Aptos" pitchFamily="34" charset="-122"/>
                <a:cs typeface="Aptos" pitchFamily="34" charset="-120"/>
              </a:rPr>
              <a:t>CHAT</a:t>
            </a:r>
            <a:endParaRPr lang="en-US" sz="780" dirty="0"/>
          </a:p>
        </p:txBody>
      </p:sp>
      <p:sp>
        <p:nvSpPr>
          <p:cNvPr id="18" name="Text 16"/>
          <p:cNvSpPr/>
          <p:nvPr/>
        </p:nvSpPr>
        <p:spPr>
          <a:xfrm>
            <a:off x="2103120" y="2743200"/>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Document-grounded Legal Chat</a:t>
            </a:r>
            <a:endParaRPr lang="en-US" sz="950" dirty="0"/>
          </a:p>
        </p:txBody>
      </p:sp>
      <p:sp>
        <p:nvSpPr>
          <p:cNvPr id="19" name="Text 17"/>
          <p:cNvSpPr/>
          <p:nvPr/>
        </p:nvSpPr>
        <p:spPr>
          <a:xfrm>
            <a:off x="4709160" y="2743200"/>
            <a:ext cx="914400" cy="219456"/>
          </a:xfrm>
          <a:prstGeom prst="rect">
            <a:avLst/>
          </a:prstGeom>
          <a:noFill/>
          <a:ln/>
        </p:spPr>
        <p:txBody>
          <a:bodyPr wrap="square" lIns="0" tIns="0" rIns="0" bIns="0" rtlCol="0" anchor="ctr">
            <a:normAutofit/>
          </a:bodyPr>
          <a:lstStyle/>
          <a:p>
            <a:pPr algn="r" indent="0" marL="0">
              <a:buNone/>
            </a:pPr>
            <a:r>
              <a:rPr lang="en-US" sz="800" dirty="0">
                <a:solidFill>
                  <a:srgbClr val="6D695F"/>
                </a:solidFill>
                <a:latin typeface="Aptos" pitchFamily="34" charset="0"/>
                <a:ea typeface="Aptos" pitchFamily="34" charset="-122"/>
                <a:cs typeface="Aptos" pitchFamily="34" charset="-120"/>
              </a:rPr>
              <a:t>/chat</a:t>
            </a:r>
            <a:endParaRPr lang="en-US" sz="800" dirty="0"/>
          </a:p>
        </p:txBody>
      </p:sp>
      <p:sp>
        <p:nvSpPr>
          <p:cNvPr id="20" name="Shape 18"/>
          <p:cNvSpPr/>
          <p:nvPr/>
        </p:nvSpPr>
        <p:spPr>
          <a:xfrm>
            <a:off x="6053328" y="2642616"/>
            <a:ext cx="5230368" cy="621792"/>
          </a:xfrm>
          <a:prstGeom prst="rect">
            <a:avLst/>
          </a:prstGeom>
          <a:solidFill>
            <a:srgbClr val="FFFFFF"/>
          </a:solidFill>
          <a:ln w="12700">
            <a:solidFill>
              <a:srgbClr val="D6D0C5"/>
            </a:solidFill>
            <a:prstDash val="solid"/>
          </a:ln>
        </p:spPr>
      </p:sp>
      <p:sp>
        <p:nvSpPr>
          <p:cNvPr id="21" name="Text 19"/>
          <p:cNvSpPr/>
          <p:nvPr/>
        </p:nvSpPr>
        <p:spPr>
          <a:xfrm>
            <a:off x="6181344" y="2798064"/>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6D695F"/>
                </a:solidFill>
                <a:latin typeface="Aptos" pitchFamily="34" charset="0"/>
                <a:ea typeface="Aptos" pitchFamily="34" charset="-122"/>
                <a:cs typeface="Aptos" pitchFamily="34" charset="-120"/>
              </a:rPr>
              <a:t>04</a:t>
            </a:r>
            <a:endParaRPr lang="en-US" sz="770" dirty="0"/>
          </a:p>
        </p:txBody>
      </p:sp>
      <p:sp>
        <p:nvSpPr>
          <p:cNvPr id="22" name="Text 20"/>
          <p:cNvSpPr/>
          <p:nvPr/>
        </p:nvSpPr>
        <p:spPr>
          <a:xfrm>
            <a:off x="6656832" y="2761488"/>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6D695F"/>
                </a:solidFill>
                <a:latin typeface="Aptos" pitchFamily="34" charset="0"/>
                <a:ea typeface="Aptos" pitchFamily="34" charset="-122"/>
                <a:cs typeface="Aptos" pitchFamily="34" charset="-120"/>
              </a:rPr>
              <a:t>COMPARE</a:t>
            </a:r>
            <a:endParaRPr lang="en-US" sz="780" dirty="0"/>
          </a:p>
        </p:txBody>
      </p:sp>
      <p:sp>
        <p:nvSpPr>
          <p:cNvPr id="23" name="Text 21"/>
          <p:cNvSpPr/>
          <p:nvPr/>
        </p:nvSpPr>
        <p:spPr>
          <a:xfrm>
            <a:off x="7607808" y="2743200"/>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Version / semantic delta</a:t>
            </a:r>
            <a:endParaRPr lang="en-US" sz="950" dirty="0"/>
          </a:p>
        </p:txBody>
      </p:sp>
      <p:sp>
        <p:nvSpPr>
          <p:cNvPr id="24" name="Text 22"/>
          <p:cNvSpPr/>
          <p:nvPr/>
        </p:nvSpPr>
        <p:spPr>
          <a:xfrm>
            <a:off x="10213848" y="2743200"/>
            <a:ext cx="914400" cy="219456"/>
          </a:xfrm>
          <a:prstGeom prst="rect">
            <a:avLst/>
          </a:prstGeom>
          <a:noFill/>
          <a:ln/>
        </p:spPr>
        <p:txBody>
          <a:bodyPr wrap="square" lIns="0" tIns="0" rIns="0" bIns="0" rtlCol="0" anchor="ctr">
            <a:normAutofit/>
          </a:bodyPr>
          <a:lstStyle/>
          <a:p>
            <a:pPr algn="r" indent="0" marL="0">
              <a:buNone/>
            </a:pPr>
            <a:r>
              <a:rPr lang="en-US" sz="800" dirty="0">
                <a:solidFill>
                  <a:srgbClr val="6D695F"/>
                </a:solidFill>
                <a:latin typeface="Aptos" pitchFamily="34" charset="0"/>
                <a:ea typeface="Aptos" pitchFamily="34" charset="-122"/>
                <a:cs typeface="Aptos" pitchFamily="34" charset="-120"/>
              </a:rPr>
              <a:t>/compare</a:t>
            </a:r>
            <a:endParaRPr lang="en-US" sz="800" dirty="0"/>
          </a:p>
        </p:txBody>
      </p:sp>
      <p:sp>
        <p:nvSpPr>
          <p:cNvPr id="25" name="Shape 23"/>
          <p:cNvSpPr/>
          <p:nvPr/>
        </p:nvSpPr>
        <p:spPr>
          <a:xfrm>
            <a:off x="548640" y="3410712"/>
            <a:ext cx="5230368" cy="621792"/>
          </a:xfrm>
          <a:prstGeom prst="rect">
            <a:avLst/>
          </a:prstGeom>
          <a:solidFill>
            <a:srgbClr val="FFFFFF"/>
          </a:solidFill>
          <a:ln w="12700">
            <a:solidFill>
              <a:srgbClr val="D6D0C5"/>
            </a:solidFill>
            <a:prstDash val="solid"/>
          </a:ln>
        </p:spPr>
      </p:sp>
      <p:sp>
        <p:nvSpPr>
          <p:cNvPr id="26" name="Text 24"/>
          <p:cNvSpPr/>
          <p:nvPr/>
        </p:nvSpPr>
        <p:spPr>
          <a:xfrm>
            <a:off x="676656" y="3566160"/>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6D695F"/>
                </a:solidFill>
                <a:latin typeface="Aptos" pitchFamily="34" charset="0"/>
                <a:ea typeface="Aptos" pitchFamily="34" charset="-122"/>
                <a:cs typeface="Aptos" pitchFamily="34" charset="-120"/>
              </a:rPr>
              <a:t>05</a:t>
            </a:r>
            <a:endParaRPr lang="en-US" sz="770" dirty="0"/>
          </a:p>
        </p:txBody>
      </p:sp>
      <p:sp>
        <p:nvSpPr>
          <p:cNvPr id="27" name="Text 25"/>
          <p:cNvSpPr/>
          <p:nvPr/>
        </p:nvSpPr>
        <p:spPr>
          <a:xfrm>
            <a:off x="1152144" y="3529584"/>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6D695F"/>
                </a:solidFill>
                <a:latin typeface="Aptos" pitchFamily="34" charset="0"/>
                <a:ea typeface="Aptos" pitchFamily="34" charset="-122"/>
                <a:cs typeface="Aptos" pitchFamily="34" charset="-120"/>
              </a:rPr>
              <a:t>TEMPLATES</a:t>
            </a:r>
            <a:endParaRPr lang="en-US" sz="780" dirty="0"/>
          </a:p>
        </p:txBody>
      </p:sp>
      <p:sp>
        <p:nvSpPr>
          <p:cNvPr id="28" name="Text 26"/>
          <p:cNvSpPr/>
          <p:nvPr/>
        </p:nvSpPr>
        <p:spPr>
          <a:xfrm>
            <a:off x="2103120" y="3511296"/>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Smart Template Builder</a:t>
            </a:r>
            <a:endParaRPr lang="en-US" sz="950" dirty="0"/>
          </a:p>
        </p:txBody>
      </p:sp>
      <p:sp>
        <p:nvSpPr>
          <p:cNvPr id="29" name="Text 27"/>
          <p:cNvSpPr/>
          <p:nvPr/>
        </p:nvSpPr>
        <p:spPr>
          <a:xfrm>
            <a:off x="4709160" y="3511296"/>
            <a:ext cx="914400" cy="219456"/>
          </a:xfrm>
          <a:prstGeom prst="rect">
            <a:avLst/>
          </a:prstGeom>
          <a:noFill/>
          <a:ln/>
        </p:spPr>
        <p:txBody>
          <a:bodyPr wrap="square" lIns="0" tIns="0" rIns="0" bIns="0" rtlCol="0" anchor="ctr">
            <a:normAutofit/>
          </a:bodyPr>
          <a:lstStyle/>
          <a:p>
            <a:pPr algn="r" indent="0" marL="0">
              <a:buNone/>
            </a:pPr>
            <a:r>
              <a:rPr lang="en-US" sz="800" dirty="0">
                <a:solidFill>
                  <a:srgbClr val="6D695F"/>
                </a:solidFill>
                <a:latin typeface="Aptos" pitchFamily="34" charset="0"/>
                <a:ea typeface="Aptos" pitchFamily="34" charset="-122"/>
                <a:cs typeface="Aptos" pitchFamily="34" charset="-120"/>
              </a:rPr>
              <a:t>/template-builder</a:t>
            </a:r>
            <a:endParaRPr lang="en-US" sz="800" dirty="0"/>
          </a:p>
        </p:txBody>
      </p:sp>
      <p:sp>
        <p:nvSpPr>
          <p:cNvPr id="30" name="Shape 28"/>
          <p:cNvSpPr/>
          <p:nvPr/>
        </p:nvSpPr>
        <p:spPr>
          <a:xfrm>
            <a:off x="6053328" y="3410712"/>
            <a:ext cx="5230368" cy="621792"/>
          </a:xfrm>
          <a:prstGeom prst="rect">
            <a:avLst/>
          </a:prstGeom>
          <a:solidFill>
            <a:srgbClr val="FFFFFF"/>
          </a:solidFill>
          <a:ln w="12700">
            <a:solidFill>
              <a:srgbClr val="D6D0C5"/>
            </a:solidFill>
            <a:prstDash val="solid"/>
          </a:ln>
        </p:spPr>
      </p:sp>
      <p:sp>
        <p:nvSpPr>
          <p:cNvPr id="31" name="Text 29"/>
          <p:cNvSpPr/>
          <p:nvPr/>
        </p:nvSpPr>
        <p:spPr>
          <a:xfrm>
            <a:off x="6181344" y="3566160"/>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6D695F"/>
                </a:solidFill>
                <a:latin typeface="Aptos" pitchFamily="34" charset="0"/>
                <a:ea typeface="Aptos" pitchFamily="34" charset="-122"/>
                <a:cs typeface="Aptos" pitchFamily="34" charset="-120"/>
              </a:rPr>
              <a:t>06</a:t>
            </a:r>
            <a:endParaRPr lang="en-US" sz="770" dirty="0"/>
          </a:p>
        </p:txBody>
      </p:sp>
      <p:sp>
        <p:nvSpPr>
          <p:cNvPr id="32" name="Text 30"/>
          <p:cNvSpPr/>
          <p:nvPr/>
        </p:nvSpPr>
        <p:spPr>
          <a:xfrm>
            <a:off x="6656832" y="3529584"/>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6D695F"/>
                </a:solidFill>
                <a:latin typeface="Aptos" pitchFamily="34" charset="0"/>
                <a:ea typeface="Aptos" pitchFamily="34" charset="-122"/>
                <a:cs typeface="Aptos" pitchFamily="34" charset="-120"/>
              </a:rPr>
              <a:t>COMPLIANCE</a:t>
            </a:r>
            <a:endParaRPr lang="en-US" sz="780" dirty="0"/>
          </a:p>
        </p:txBody>
      </p:sp>
      <p:sp>
        <p:nvSpPr>
          <p:cNvPr id="33" name="Text 31"/>
          <p:cNvSpPr/>
          <p:nvPr/>
        </p:nvSpPr>
        <p:spPr>
          <a:xfrm>
            <a:off x="7607808" y="3511296"/>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GDPR / CCPA / HIPAA / SOC 2</a:t>
            </a:r>
            <a:endParaRPr lang="en-US" sz="950" dirty="0"/>
          </a:p>
        </p:txBody>
      </p:sp>
      <p:sp>
        <p:nvSpPr>
          <p:cNvPr id="34" name="Text 32"/>
          <p:cNvSpPr/>
          <p:nvPr/>
        </p:nvSpPr>
        <p:spPr>
          <a:xfrm>
            <a:off x="10213848" y="3511296"/>
            <a:ext cx="914400" cy="219456"/>
          </a:xfrm>
          <a:prstGeom prst="rect">
            <a:avLst/>
          </a:prstGeom>
          <a:noFill/>
          <a:ln/>
        </p:spPr>
        <p:txBody>
          <a:bodyPr wrap="square" lIns="0" tIns="0" rIns="0" bIns="0" rtlCol="0" anchor="ctr">
            <a:normAutofit/>
          </a:bodyPr>
          <a:lstStyle/>
          <a:p>
            <a:pPr algn="r" indent="0" marL="0">
              <a:buNone/>
            </a:pPr>
            <a:r>
              <a:rPr lang="en-US" sz="800" dirty="0">
                <a:solidFill>
                  <a:srgbClr val="6D695F"/>
                </a:solidFill>
                <a:latin typeface="Aptos" pitchFamily="34" charset="0"/>
                <a:ea typeface="Aptos" pitchFamily="34" charset="-122"/>
                <a:cs typeface="Aptos" pitchFamily="34" charset="-120"/>
              </a:rPr>
              <a:t>/compliance</a:t>
            </a:r>
            <a:endParaRPr lang="en-US" sz="800" dirty="0"/>
          </a:p>
        </p:txBody>
      </p:sp>
      <p:sp>
        <p:nvSpPr>
          <p:cNvPr id="35" name="Shape 33"/>
          <p:cNvSpPr/>
          <p:nvPr/>
        </p:nvSpPr>
        <p:spPr>
          <a:xfrm>
            <a:off x="548640" y="4178808"/>
            <a:ext cx="5230368" cy="621792"/>
          </a:xfrm>
          <a:prstGeom prst="rect">
            <a:avLst/>
          </a:prstGeom>
          <a:solidFill>
            <a:srgbClr val="FFFFFF"/>
          </a:solidFill>
          <a:ln w="12700">
            <a:solidFill>
              <a:srgbClr val="D6D0C5"/>
            </a:solidFill>
            <a:prstDash val="solid"/>
          </a:ln>
        </p:spPr>
      </p:sp>
      <p:sp>
        <p:nvSpPr>
          <p:cNvPr id="36" name="Text 34"/>
          <p:cNvSpPr/>
          <p:nvPr/>
        </p:nvSpPr>
        <p:spPr>
          <a:xfrm>
            <a:off x="676656" y="4334256"/>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6D695F"/>
                </a:solidFill>
                <a:latin typeface="Aptos" pitchFamily="34" charset="0"/>
                <a:ea typeface="Aptos" pitchFamily="34" charset="-122"/>
                <a:cs typeface="Aptos" pitchFamily="34" charset="-120"/>
              </a:rPr>
              <a:t>07</a:t>
            </a:r>
            <a:endParaRPr lang="en-US" sz="770" dirty="0"/>
          </a:p>
        </p:txBody>
      </p:sp>
      <p:sp>
        <p:nvSpPr>
          <p:cNvPr id="37" name="Text 35"/>
          <p:cNvSpPr/>
          <p:nvPr/>
        </p:nvSpPr>
        <p:spPr>
          <a:xfrm>
            <a:off x="1152144" y="4297680"/>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6D695F"/>
                </a:solidFill>
                <a:latin typeface="Aptos" pitchFamily="34" charset="0"/>
                <a:ea typeface="Aptos" pitchFamily="34" charset="-122"/>
                <a:cs typeface="Aptos" pitchFamily="34" charset="-120"/>
              </a:rPr>
              <a:t>OBLIGATIONS</a:t>
            </a:r>
            <a:endParaRPr lang="en-US" sz="780" dirty="0"/>
          </a:p>
        </p:txBody>
      </p:sp>
      <p:sp>
        <p:nvSpPr>
          <p:cNvPr id="38" name="Text 36"/>
          <p:cNvSpPr/>
          <p:nvPr/>
        </p:nvSpPr>
        <p:spPr>
          <a:xfrm>
            <a:off x="2103120" y="4279392"/>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Renewals + deadline tracking</a:t>
            </a:r>
            <a:endParaRPr lang="en-US" sz="950" dirty="0"/>
          </a:p>
        </p:txBody>
      </p:sp>
      <p:sp>
        <p:nvSpPr>
          <p:cNvPr id="39" name="Text 37"/>
          <p:cNvSpPr/>
          <p:nvPr/>
        </p:nvSpPr>
        <p:spPr>
          <a:xfrm>
            <a:off x="4709160" y="4279392"/>
            <a:ext cx="914400" cy="219456"/>
          </a:xfrm>
          <a:prstGeom prst="rect">
            <a:avLst/>
          </a:prstGeom>
          <a:noFill/>
          <a:ln/>
        </p:spPr>
        <p:txBody>
          <a:bodyPr wrap="square" lIns="0" tIns="0" rIns="0" bIns="0" rtlCol="0" anchor="ctr">
            <a:normAutofit/>
          </a:bodyPr>
          <a:lstStyle/>
          <a:p>
            <a:pPr algn="r" indent="0" marL="0">
              <a:buNone/>
            </a:pPr>
            <a:r>
              <a:rPr lang="en-US" sz="800" dirty="0">
                <a:solidFill>
                  <a:srgbClr val="6D695F"/>
                </a:solidFill>
                <a:latin typeface="Aptos" pitchFamily="34" charset="0"/>
                <a:ea typeface="Aptos" pitchFamily="34" charset="-122"/>
                <a:cs typeface="Aptos" pitchFamily="34" charset="-120"/>
              </a:rPr>
              <a:t>/obligations</a:t>
            </a:r>
            <a:endParaRPr lang="en-US" sz="800" dirty="0"/>
          </a:p>
        </p:txBody>
      </p:sp>
      <p:sp>
        <p:nvSpPr>
          <p:cNvPr id="40" name="Shape 38"/>
          <p:cNvSpPr/>
          <p:nvPr/>
        </p:nvSpPr>
        <p:spPr>
          <a:xfrm>
            <a:off x="6053328" y="4178808"/>
            <a:ext cx="5230368" cy="621792"/>
          </a:xfrm>
          <a:prstGeom prst="rect">
            <a:avLst/>
          </a:prstGeom>
          <a:solidFill>
            <a:srgbClr val="FFFFFF"/>
          </a:solidFill>
          <a:ln w="12700">
            <a:solidFill>
              <a:srgbClr val="D6D0C5"/>
            </a:solidFill>
            <a:prstDash val="solid"/>
          </a:ln>
        </p:spPr>
      </p:sp>
      <p:sp>
        <p:nvSpPr>
          <p:cNvPr id="41" name="Text 39"/>
          <p:cNvSpPr/>
          <p:nvPr/>
        </p:nvSpPr>
        <p:spPr>
          <a:xfrm>
            <a:off x="6181344" y="4334256"/>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6D695F"/>
                </a:solidFill>
                <a:latin typeface="Aptos" pitchFamily="34" charset="0"/>
                <a:ea typeface="Aptos" pitchFamily="34" charset="-122"/>
                <a:cs typeface="Aptos" pitchFamily="34" charset="-120"/>
              </a:rPr>
              <a:t>08</a:t>
            </a:r>
            <a:endParaRPr lang="en-US" sz="770" dirty="0"/>
          </a:p>
        </p:txBody>
      </p:sp>
      <p:sp>
        <p:nvSpPr>
          <p:cNvPr id="42" name="Text 40"/>
          <p:cNvSpPr/>
          <p:nvPr/>
        </p:nvSpPr>
        <p:spPr>
          <a:xfrm>
            <a:off x="6656832" y="4297680"/>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6D695F"/>
                </a:solidFill>
                <a:latin typeface="Aptos" pitchFamily="34" charset="0"/>
                <a:ea typeface="Aptos" pitchFamily="34" charset="-122"/>
                <a:cs typeface="Aptos" pitchFamily="34" charset="-120"/>
              </a:rPr>
              <a:t>VERIFY</a:t>
            </a:r>
            <a:endParaRPr lang="en-US" sz="780" dirty="0"/>
          </a:p>
        </p:txBody>
      </p:sp>
      <p:sp>
        <p:nvSpPr>
          <p:cNvPr id="43" name="Text 41"/>
          <p:cNvSpPr/>
          <p:nvPr/>
        </p:nvSpPr>
        <p:spPr>
          <a:xfrm>
            <a:off x="7607808" y="4279392"/>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E-signature + SHA-256</a:t>
            </a:r>
            <a:endParaRPr lang="en-US" sz="950" dirty="0"/>
          </a:p>
        </p:txBody>
      </p:sp>
      <p:sp>
        <p:nvSpPr>
          <p:cNvPr id="44" name="Text 42"/>
          <p:cNvSpPr/>
          <p:nvPr/>
        </p:nvSpPr>
        <p:spPr>
          <a:xfrm>
            <a:off x="10213848" y="4279392"/>
            <a:ext cx="914400" cy="219456"/>
          </a:xfrm>
          <a:prstGeom prst="rect">
            <a:avLst/>
          </a:prstGeom>
          <a:noFill/>
          <a:ln/>
        </p:spPr>
        <p:txBody>
          <a:bodyPr wrap="square" lIns="0" tIns="0" rIns="0" bIns="0" rtlCol="0" anchor="ctr">
            <a:normAutofit/>
          </a:bodyPr>
          <a:lstStyle/>
          <a:p>
            <a:pPr algn="r" indent="0" marL="0">
              <a:buNone/>
            </a:pPr>
            <a:r>
              <a:rPr lang="en-US" sz="800" dirty="0">
                <a:solidFill>
                  <a:srgbClr val="6D695F"/>
                </a:solidFill>
                <a:latin typeface="Aptos" pitchFamily="34" charset="0"/>
                <a:ea typeface="Aptos" pitchFamily="34" charset="-122"/>
                <a:cs typeface="Aptos" pitchFamily="34" charset="-120"/>
              </a:rPr>
              <a:t>/esignature</a:t>
            </a:r>
            <a:endParaRPr lang="en-US" sz="800" dirty="0"/>
          </a:p>
        </p:txBody>
      </p:sp>
      <p:sp>
        <p:nvSpPr>
          <p:cNvPr id="45" name="Shape 43"/>
          <p:cNvSpPr/>
          <p:nvPr/>
        </p:nvSpPr>
        <p:spPr>
          <a:xfrm>
            <a:off x="548640" y="4946904"/>
            <a:ext cx="5230368" cy="621792"/>
          </a:xfrm>
          <a:prstGeom prst="rect">
            <a:avLst/>
          </a:prstGeom>
          <a:solidFill>
            <a:srgbClr val="FFFFFF"/>
          </a:solidFill>
          <a:ln w="12700">
            <a:solidFill>
              <a:srgbClr val="D6D0C5"/>
            </a:solidFill>
            <a:prstDash val="solid"/>
          </a:ln>
        </p:spPr>
      </p:sp>
      <p:sp>
        <p:nvSpPr>
          <p:cNvPr id="46" name="Text 44"/>
          <p:cNvSpPr/>
          <p:nvPr/>
        </p:nvSpPr>
        <p:spPr>
          <a:xfrm>
            <a:off x="676656" y="5102352"/>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6D695F"/>
                </a:solidFill>
                <a:latin typeface="Aptos" pitchFamily="34" charset="0"/>
                <a:ea typeface="Aptos" pitchFamily="34" charset="-122"/>
                <a:cs typeface="Aptos" pitchFamily="34" charset="-120"/>
              </a:rPr>
              <a:t>09</a:t>
            </a:r>
            <a:endParaRPr lang="en-US" sz="770" dirty="0"/>
          </a:p>
        </p:txBody>
      </p:sp>
      <p:sp>
        <p:nvSpPr>
          <p:cNvPr id="47" name="Text 45"/>
          <p:cNvSpPr/>
          <p:nvPr/>
        </p:nvSpPr>
        <p:spPr>
          <a:xfrm>
            <a:off x="1152144" y="5065776"/>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6D695F"/>
                </a:solidFill>
                <a:latin typeface="Aptos" pitchFamily="34" charset="0"/>
                <a:ea typeface="Aptos" pitchFamily="34" charset="-122"/>
                <a:cs typeface="Aptos" pitchFamily="34" charset="-120"/>
              </a:rPr>
              <a:t>PRIVACY</a:t>
            </a:r>
            <a:endParaRPr lang="en-US" sz="780" dirty="0"/>
          </a:p>
        </p:txBody>
      </p:sp>
      <p:sp>
        <p:nvSpPr>
          <p:cNvPr id="48" name="Text 46"/>
          <p:cNvSpPr/>
          <p:nvPr/>
        </p:nvSpPr>
        <p:spPr>
          <a:xfrm>
            <a:off x="2103120" y="5047488"/>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Client-side PDF toolbox</a:t>
            </a:r>
            <a:endParaRPr lang="en-US" sz="950" dirty="0"/>
          </a:p>
        </p:txBody>
      </p:sp>
      <p:sp>
        <p:nvSpPr>
          <p:cNvPr id="49" name="Text 47"/>
          <p:cNvSpPr/>
          <p:nvPr/>
        </p:nvSpPr>
        <p:spPr>
          <a:xfrm>
            <a:off x="4709160" y="5047488"/>
            <a:ext cx="914400" cy="219456"/>
          </a:xfrm>
          <a:prstGeom prst="rect">
            <a:avLst/>
          </a:prstGeom>
          <a:noFill/>
          <a:ln/>
        </p:spPr>
        <p:txBody>
          <a:bodyPr wrap="square" lIns="0" tIns="0" rIns="0" bIns="0" rtlCol="0" anchor="ctr">
            <a:normAutofit/>
          </a:bodyPr>
          <a:lstStyle/>
          <a:p>
            <a:pPr algn="r" indent="0" marL="0">
              <a:buNone/>
            </a:pPr>
            <a:r>
              <a:rPr lang="en-US" sz="800" dirty="0">
                <a:solidFill>
                  <a:srgbClr val="6D695F"/>
                </a:solidFill>
                <a:latin typeface="Aptos" pitchFamily="34" charset="0"/>
                <a:ea typeface="Aptos" pitchFamily="34" charset="-122"/>
                <a:cs typeface="Aptos" pitchFamily="34" charset="-120"/>
              </a:rPr>
              <a:t>/tools</a:t>
            </a:r>
            <a:endParaRPr lang="en-US" sz="800" dirty="0"/>
          </a:p>
        </p:txBody>
      </p:sp>
      <p:sp>
        <p:nvSpPr>
          <p:cNvPr id="50" name="Shape 48"/>
          <p:cNvSpPr/>
          <p:nvPr/>
        </p:nvSpPr>
        <p:spPr>
          <a:xfrm>
            <a:off x="6053328" y="4946904"/>
            <a:ext cx="5230368" cy="621792"/>
          </a:xfrm>
          <a:prstGeom prst="rect">
            <a:avLst/>
          </a:prstGeom>
          <a:solidFill>
            <a:srgbClr val="FFFFFF"/>
          </a:solidFill>
          <a:ln w="12700">
            <a:solidFill>
              <a:srgbClr val="D6D0C5"/>
            </a:solidFill>
            <a:prstDash val="solid"/>
          </a:ln>
        </p:spPr>
      </p:sp>
      <p:sp>
        <p:nvSpPr>
          <p:cNvPr id="51" name="Text 49"/>
          <p:cNvSpPr/>
          <p:nvPr/>
        </p:nvSpPr>
        <p:spPr>
          <a:xfrm>
            <a:off x="6181344" y="5102352"/>
            <a:ext cx="310896" cy="164592"/>
          </a:xfrm>
          <a:prstGeom prst="rect">
            <a:avLst/>
          </a:prstGeom>
          <a:noFill/>
          <a:ln/>
        </p:spPr>
        <p:txBody>
          <a:bodyPr wrap="square" lIns="0" tIns="0" rIns="0" bIns="0" rtlCol="0" anchor="ctr">
            <a:normAutofit/>
          </a:bodyPr>
          <a:lstStyle/>
          <a:p>
            <a:pPr algn="l" indent="0" marL="0">
              <a:buNone/>
            </a:pPr>
            <a:r>
              <a:rPr lang="en-US" sz="770" b="1" spc="110" kern="0" dirty="0">
                <a:solidFill>
                  <a:srgbClr val="6D695F"/>
                </a:solidFill>
                <a:latin typeface="Aptos" pitchFamily="34" charset="0"/>
                <a:ea typeface="Aptos" pitchFamily="34" charset="-122"/>
                <a:cs typeface="Aptos" pitchFamily="34" charset="-120"/>
              </a:rPr>
              <a:t>10</a:t>
            </a:r>
            <a:endParaRPr lang="en-US" sz="770" dirty="0"/>
          </a:p>
        </p:txBody>
      </p:sp>
      <p:sp>
        <p:nvSpPr>
          <p:cNvPr id="52" name="Text 50"/>
          <p:cNvSpPr/>
          <p:nvPr/>
        </p:nvSpPr>
        <p:spPr>
          <a:xfrm>
            <a:off x="6656832" y="5065776"/>
            <a:ext cx="88696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6D695F"/>
                </a:solidFill>
                <a:latin typeface="Aptos" pitchFamily="34" charset="0"/>
                <a:ea typeface="Aptos" pitchFamily="34" charset="-122"/>
                <a:cs typeface="Aptos" pitchFamily="34" charset="-120"/>
              </a:rPr>
              <a:t>COLLAB</a:t>
            </a:r>
            <a:endParaRPr lang="en-US" sz="780" dirty="0"/>
          </a:p>
        </p:txBody>
      </p:sp>
      <p:sp>
        <p:nvSpPr>
          <p:cNvPr id="53" name="Text 51"/>
          <p:cNvSpPr/>
          <p:nvPr/>
        </p:nvSpPr>
        <p:spPr>
          <a:xfrm>
            <a:off x="7607808" y="5047488"/>
            <a:ext cx="2423160" cy="219456"/>
          </a:xfrm>
          <a:prstGeom prst="rect">
            <a:avLst/>
          </a:prstGeom>
          <a:noFill/>
          <a:ln/>
        </p:spPr>
        <p:txBody>
          <a:bodyPr wrap="square" lIns="0" tIns="0" rIns="0" bIns="0" rtlCol="0" anchor="ctr">
            <a:normAutofit/>
          </a:bodyPr>
          <a:lstStyle/>
          <a:p>
            <a:pPr algn="l" indent="0" marL="0">
              <a:buNone/>
            </a:pPr>
            <a:r>
              <a:rPr lang="en-US" sz="950" b="1" dirty="0">
                <a:solidFill>
                  <a:srgbClr val="111111"/>
                </a:solidFill>
                <a:latin typeface="Aptos" pitchFamily="34" charset="0"/>
                <a:ea typeface="Aptos" pitchFamily="34" charset="-122"/>
                <a:cs typeface="Aptos" pitchFamily="34" charset="-120"/>
              </a:rPr>
              <a:t>Teams + secure share links</a:t>
            </a:r>
            <a:endParaRPr lang="en-US" sz="950" dirty="0"/>
          </a:p>
        </p:txBody>
      </p:sp>
      <p:sp>
        <p:nvSpPr>
          <p:cNvPr id="54" name="Text 52"/>
          <p:cNvSpPr/>
          <p:nvPr/>
        </p:nvSpPr>
        <p:spPr>
          <a:xfrm>
            <a:off x="10213848" y="5047488"/>
            <a:ext cx="914400" cy="219456"/>
          </a:xfrm>
          <a:prstGeom prst="rect">
            <a:avLst/>
          </a:prstGeom>
          <a:noFill/>
          <a:ln/>
        </p:spPr>
        <p:txBody>
          <a:bodyPr wrap="square" lIns="0" tIns="0" rIns="0" bIns="0" rtlCol="0" anchor="ctr">
            <a:normAutofit/>
          </a:bodyPr>
          <a:lstStyle/>
          <a:p>
            <a:pPr algn="r" indent="0" marL="0">
              <a:buNone/>
            </a:pPr>
            <a:r>
              <a:rPr lang="en-US" sz="800" dirty="0">
                <a:solidFill>
                  <a:srgbClr val="6D695F"/>
                </a:solidFill>
                <a:latin typeface="Aptos" pitchFamily="34" charset="0"/>
                <a:ea typeface="Aptos" pitchFamily="34" charset="-122"/>
                <a:cs typeface="Aptos" pitchFamily="34" charset="-120"/>
              </a:rPr>
              <a:t>/team</a:t>
            </a:r>
            <a:endParaRPr lang="en-US" sz="800" dirty="0"/>
          </a:p>
        </p:txBody>
      </p:sp>
      <p:sp>
        <p:nvSpPr>
          <p:cNvPr id="55" name="Shape 53"/>
          <p:cNvSpPr/>
          <p:nvPr/>
        </p:nvSpPr>
        <p:spPr>
          <a:xfrm>
            <a:off x="548640" y="5843016"/>
            <a:ext cx="10954512" cy="420624"/>
          </a:xfrm>
          <a:prstGeom prst="rect">
            <a:avLst/>
          </a:prstGeom>
          <a:solidFill>
            <a:srgbClr val="F1E4CB"/>
          </a:solidFill>
          <a:ln w="12700">
            <a:solidFill>
              <a:srgbClr val="F1E4CB"/>
            </a:solidFill>
            <a:prstDash val="solid"/>
          </a:ln>
        </p:spPr>
      </p:sp>
      <p:sp>
        <p:nvSpPr>
          <p:cNvPr id="56" name="Text 54"/>
          <p:cNvSpPr/>
          <p:nvPr/>
        </p:nvSpPr>
        <p:spPr>
          <a:xfrm>
            <a:off x="731520" y="5943600"/>
            <a:ext cx="411480" cy="164592"/>
          </a:xfrm>
          <a:prstGeom prst="rect">
            <a:avLst/>
          </a:prstGeom>
          <a:noFill/>
          <a:ln/>
        </p:spPr>
        <p:txBody>
          <a:bodyPr wrap="square" lIns="0" tIns="0" rIns="0" bIns="0" rtlCol="0" anchor="ctr">
            <a:normAutofit/>
          </a:bodyPr>
          <a:lstStyle/>
          <a:p>
            <a:pPr algn="l" indent="0" marL="0">
              <a:buNone/>
            </a:pPr>
            <a:r>
              <a:rPr lang="en-US" sz="780" b="1" spc="130" kern="0" dirty="0">
                <a:solidFill>
                  <a:srgbClr val="C58A2B"/>
                </a:solidFill>
                <a:latin typeface="Aptos" pitchFamily="34" charset="0"/>
                <a:ea typeface="Aptos" pitchFamily="34" charset="-122"/>
                <a:cs typeface="Aptos" pitchFamily="34" charset="-120"/>
              </a:rPr>
              <a:t>PLUS</a:t>
            </a:r>
            <a:endParaRPr lang="en-US" sz="780" dirty="0"/>
          </a:p>
        </p:txBody>
      </p:sp>
      <p:sp>
        <p:nvSpPr>
          <p:cNvPr id="57" name="Text 55"/>
          <p:cNvSpPr/>
          <p:nvPr/>
        </p:nvSpPr>
        <p:spPr>
          <a:xfrm>
            <a:off x="1307592" y="5925312"/>
            <a:ext cx="9829800" cy="201168"/>
          </a:xfrm>
          <a:prstGeom prst="rect">
            <a:avLst/>
          </a:prstGeom>
          <a:noFill/>
          <a:ln/>
        </p:spPr>
        <p:txBody>
          <a:bodyPr wrap="square" lIns="0" tIns="0" rIns="0" bIns="0" rtlCol="0" anchor="ctr">
            <a:normAutofit/>
          </a:bodyPr>
          <a:lstStyle/>
          <a:p>
            <a:pPr algn="l" indent="0" marL="0">
              <a:buNone/>
            </a:pPr>
            <a:r>
              <a:rPr lang="en-US" sz="920" b="1" dirty="0">
                <a:solidFill>
                  <a:srgbClr val="111111"/>
                </a:solidFill>
                <a:latin typeface="Aptos" pitchFamily="34" charset="0"/>
                <a:ea typeface="Aptos" pitchFamily="34" charset="-122"/>
                <a:cs typeface="Aptos" pitchFamily="34" charset="-120"/>
              </a:rPr>
              <a:t>Chrome extension • multi-language analysis • voice assistant • lawyer marketplace • research portal</a:t>
            </a:r>
            <a:endParaRPr lang="en-US" sz="92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A9A59A"/>
                </a:solidFill>
                <a:latin typeface="Aptos" pitchFamily="34" charset="0"/>
                <a:ea typeface="Aptos" pitchFamily="34" charset="-122"/>
                <a:cs typeface="Aptos" pitchFamily="34" charset="-120"/>
              </a:rPr>
              <a:t>09  /  SYSTEM ARCHITECTURE</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pitchFamily="34" charset="0"/>
                <a:ea typeface="Aptos" pitchFamily="34" charset="-122"/>
                <a:cs typeface="Aptos" pitchFamily="34" charset="-120"/>
              </a:rPr>
              <a:t>A layered architecture keeps concerns separated.</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C4C0B7"/>
                </a:solidFill>
                <a:latin typeface="Aptos" pitchFamily="34" charset="0"/>
                <a:ea typeface="Aptos" pitchFamily="34" charset="-122"/>
                <a:cs typeface="Aptos" pitchFamily="34" charset="-120"/>
              </a:rPr>
              <a:t>Next.js 16 + React 19 sit at the edge of the user experience; serverless routes orchestrate parsing, ML, AI and persistence.</a:t>
            </a:r>
            <a:endParaRPr lang="en-US" sz="1150" dirty="0"/>
          </a:p>
        </p:txBody>
      </p:sp>
      <p:sp>
        <p:nvSpPr>
          <p:cNvPr id="5" name="Shape 3"/>
          <p:cNvSpPr/>
          <p:nvPr/>
        </p:nvSpPr>
        <p:spPr>
          <a:xfrm>
            <a:off x="548640" y="1856232"/>
            <a:ext cx="6656832" cy="749808"/>
          </a:xfrm>
          <a:prstGeom prst="rect">
            <a:avLst/>
          </a:prstGeom>
          <a:solidFill>
            <a:srgbClr val="1A1A18"/>
          </a:solidFill>
          <a:ln w="12700">
            <a:solidFill>
              <a:srgbClr val="383633"/>
            </a:solidFill>
            <a:prstDash val="solid"/>
          </a:ln>
        </p:spPr>
      </p:sp>
      <p:sp>
        <p:nvSpPr>
          <p:cNvPr id="6" name="Text 4"/>
          <p:cNvSpPr/>
          <p:nvPr/>
        </p:nvSpPr>
        <p:spPr>
          <a:xfrm>
            <a:off x="768096" y="2002536"/>
            <a:ext cx="1572768" cy="164592"/>
          </a:xfrm>
          <a:prstGeom prst="rect">
            <a:avLst/>
          </a:prstGeom>
          <a:noFill/>
          <a:ln/>
        </p:spPr>
        <p:txBody>
          <a:bodyPr wrap="square" lIns="0" tIns="0" rIns="0" bIns="0" rtlCol="0" anchor="ctr">
            <a:normAutofit/>
          </a:bodyPr>
          <a:lstStyle/>
          <a:p>
            <a:pPr algn="l" indent="0" marL="0">
              <a:buNone/>
            </a:pPr>
            <a:r>
              <a:rPr lang="en-US" sz="780" b="1" spc="120" kern="0" dirty="0">
                <a:solidFill>
                  <a:srgbClr val="C58A2B"/>
                </a:solidFill>
                <a:latin typeface="Aptos" pitchFamily="34" charset="0"/>
                <a:ea typeface="Aptos" pitchFamily="34" charset="-122"/>
                <a:cs typeface="Aptos" pitchFamily="34" charset="-120"/>
              </a:rPr>
              <a:t>CLIENT LAYER</a:t>
            </a:r>
            <a:endParaRPr lang="en-US" sz="780" dirty="0"/>
          </a:p>
        </p:txBody>
      </p:sp>
      <p:sp>
        <p:nvSpPr>
          <p:cNvPr id="7" name="Text 5"/>
          <p:cNvSpPr/>
          <p:nvPr/>
        </p:nvSpPr>
        <p:spPr>
          <a:xfrm>
            <a:off x="2240280" y="1975104"/>
            <a:ext cx="4617720" cy="329184"/>
          </a:xfrm>
          <a:prstGeom prst="rect">
            <a:avLst/>
          </a:prstGeom>
          <a:noFill/>
          <a:ln/>
        </p:spPr>
        <p:txBody>
          <a:bodyPr wrap="square" lIns="0" tIns="0" rIns="0" bIns="0" rtlCol="0" anchor="t">
            <a:normAutofit/>
          </a:bodyPr>
          <a:lstStyle/>
          <a:p>
            <a:pPr algn="l" indent="0" marL="0">
              <a:buNone/>
            </a:pPr>
            <a:r>
              <a:rPr lang="en-US" sz="940" b="1" dirty="0">
                <a:solidFill>
                  <a:srgbClr val="FFFFFF"/>
                </a:solidFill>
                <a:latin typeface="Aptos" pitchFamily="34" charset="0"/>
                <a:ea typeface="Aptos" pitchFamily="34" charset="-122"/>
                <a:cs typeface="Aptos" pitchFamily="34" charset="-120"/>
              </a:rPr>
              <a:t>Next.js 16 • React 19 • Tailwind CSS 4 • Chrome Extension • Client-side PDF engine</a:t>
            </a:r>
            <a:endParaRPr lang="en-US" sz="940" dirty="0"/>
          </a:p>
        </p:txBody>
      </p:sp>
      <p:sp>
        <p:nvSpPr>
          <p:cNvPr id="8" name="Shape 6"/>
          <p:cNvSpPr/>
          <p:nvPr/>
        </p:nvSpPr>
        <p:spPr>
          <a:xfrm>
            <a:off x="3758184" y="2688336"/>
            <a:ext cx="82296" cy="82296"/>
          </a:xfrm>
          <a:prstGeom prst="ellipse">
            <a:avLst/>
          </a:prstGeom>
          <a:solidFill>
            <a:srgbClr val="5C5953"/>
          </a:solidFill>
          <a:ln w="12700">
            <a:solidFill>
              <a:srgbClr val="5C5953"/>
            </a:solidFill>
            <a:prstDash val="solid"/>
          </a:ln>
        </p:spPr>
      </p:sp>
      <p:sp>
        <p:nvSpPr>
          <p:cNvPr id="9" name="Shape 7"/>
          <p:cNvSpPr/>
          <p:nvPr/>
        </p:nvSpPr>
        <p:spPr>
          <a:xfrm>
            <a:off x="548640" y="2724912"/>
            <a:ext cx="6656832" cy="749808"/>
          </a:xfrm>
          <a:prstGeom prst="rect">
            <a:avLst/>
          </a:prstGeom>
          <a:solidFill>
            <a:srgbClr val="191918"/>
          </a:solidFill>
          <a:ln w="12700">
            <a:solidFill>
              <a:srgbClr val="383633"/>
            </a:solidFill>
            <a:prstDash val="solid"/>
          </a:ln>
        </p:spPr>
      </p:sp>
      <p:sp>
        <p:nvSpPr>
          <p:cNvPr id="10" name="Text 8"/>
          <p:cNvSpPr/>
          <p:nvPr/>
        </p:nvSpPr>
        <p:spPr>
          <a:xfrm>
            <a:off x="768096" y="2871216"/>
            <a:ext cx="1572768" cy="164592"/>
          </a:xfrm>
          <a:prstGeom prst="rect">
            <a:avLst/>
          </a:prstGeom>
          <a:noFill/>
          <a:ln/>
        </p:spPr>
        <p:txBody>
          <a:bodyPr wrap="square" lIns="0" tIns="0" rIns="0" bIns="0" rtlCol="0" anchor="ctr">
            <a:normAutofit/>
          </a:bodyPr>
          <a:lstStyle/>
          <a:p>
            <a:pPr algn="l" indent="0" marL="0">
              <a:buNone/>
            </a:pPr>
            <a:r>
              <a:rPr lang="en-US" sz="780" b="1" spc="120" kern="0" dirty="0">
                <a:solidFill>
                  <a:srgbClr val="5E6E86"/>
                </a:solidFill>
                <a:latin typeface="Aptos" pitchFamily="34" charset="0"/>
                <a:ea typeface="Aptos" pitchFamily="34" charset="-122"/>
                <a:cs typeface="Aptos" pitchFamily="34" charset="-120"/>
              </a:rPr>
              <a:t>APPLICATION LAYER</a:t>
            </a:r>
            <a:endParaRPr lang="en-US" sz="780" dirty="0"/>
          </a:p>
        </p:txBody>
      </p:sp>
      <p:sp>
        <p:nvSpPr>
          <p:cNvPr id="11" name="Text 9"/>
          <p:cNvSpPr/>
          <p:nvPr/>
        </p:nvSpPr>
        <p:spPr>
          <a:xfrm>
            <a:off x="2240280" y="2843784"/>
            <a:ext cx="4617720" cy="329184"/>
          </a:xfrm>
          <a:prstGeom prst="rect">
            <a:avLst/>
          </a:prstGeom>
          <a:noFill/>
          <a:ln/>
        </p:spPr>
        <p:txBody>
          <a:bodyPr wrap="square" lIns="0" tIns="0" rIns="0" bIns="0" rtlCol="0" anchor="t">
            <a:normAutofit/>
          </a:bodyPr>
          <a:lstStyle/>
          <a:p>
            <a:pPr algn="l" indent="0" marL="0">
              <a:buNone/>
            </a:pPr>
            <a:r>
              <a:rPr lang="en-US" sz="940" b="1" dirty="0">
                <a:solidFill>
                  <a:srgbClr val="FFFFFF"/>
                </a:solidFill>
                <a:latin typeface="Aptos" pitchFamily="34" charset="0"/>
                <a:ea typeface="Aptos" pitchFamily="34" charset="-122"/>
                <a:cs typeface="Aptos" pitchFamily="34" charset="-120"/>
              </a:rPr>
              <a:t>Route handlers • document parser • auth guards • export services</a:t>
            </a:r>
            <a:endParaRPr lang="en-US" sz="940" dirty="0"/>
          </a:p>
        </p:txBody>
      </p:sp>
      <p:sp>
        <p:nvSpPr>
          <p:cNvPr id="12" name="Shape 10"/>
          <p:cNvSpPr/>
          <p:nvPr/>
        </p:nvSpPr>
        <p:spPr>
          <a:xfrm>
            <a:off x="3758184" y="3557016"/>
            <a:ext cx="82296" cy="82296"/>
          </a:xfrm>
          <a:prstGeom prst="ellipse">
            <a:avLst/>
          </a:prstGeom>
          <a:solidFill>
            <a:srgbClr val="5C5953"/>
          </a:solidFill>
          <a:ln w="12700">
            <a:solidFill>
              <a:srgbClr val="5C5953"/>
            </a:solidFill>
            <a:prstDash val="solid"/>
          </a:ln>
        </p:spPr>
      </p:sp>
      <p:sp>
        <p:nvSpPr>
          <p:cNvPr id="13" name="Shape 11"/>
          <p:cNvSpPr/>
          <p:nvPr/>
        </p:nvSpPr>
        <p:spPr>
          <a:xfrm>
            <a:off x="548640" y="3593592"/>
            <a:ext cx="6656832" cy="749808"/>
          </a:xfrm>
          <a:prstGeom prst="rect">
            <a:avLst/>
          </a:prstGeom>
          <a:solidFill>
            <a:srgbClr val="181817"/>
          </a:solidFill>
          <a:ln w="12700">
            <a:solidFill>
              <a:srgbClr val="383633"/>
            </a:solidFill>
            <a:prstDash val="solid"/>
          </a:ln>
        </p:spPr>
      </p:sp>
      <p:sp>
        <p:nvSpPr>
          <p:cNvPr id="14" name="Text 12"/>
          <p:cNvSpPr/>
          <p:nvPr/>
        </p:nvSpPr>
        <p:spPr>
          <a:xfrm>
            <a:off x="768096" y="3739896"/>
            <a:ext cx="1572768" cy="164592"/>
          </a:xfrm>
          <a:prstGeom prst="rect">
            <a:avLst/>
          </a:prstGeom>
          <a:noFill/>
          <a:ln/>
        </p:spPr>
        <p:txBody>
          <a:bodyPr wrap="square" lIns="0" tIns="0" rIns="0" bIns="0" rtlCol="0" anchor="ctr">
            <a:normAutofit/>
          </a:bodyPr>
          <a:lstStyle/>
          <a:p>
            <a:pPr algn="l" indent="0" marL="0">
              <a:buNone/>
            </a:pPr>
            <a:r>
              <a:rPr lang="en-US" sz="780" b="1" spc="120" kern="0" dirty="0">
                <a:solidFill>
                  <a:srgbClr val="C84A45"/>
                </a:solidFill>
                <a:latin typeface="Aptos" pitchFamily="34" charset="0"/>
                <a:ea typeface="Aptos" pitchFamily="34" charset="-122"/>
                <a:cs typeface="Aptos" pitchFamily="34" charset="-120"/>
              </a:rPr>
              <a:t>INTELLIGENCE LAYER</a:t>
            </a:r>
            <a:endParaRPr lang="en-US" sz="780" dirty="0"/>
          </a:p>
        </p:txBody>
      </p:sp>
      <p:sp>
        <p:nvSpPr>
          <p:cNvPr id="15" name="Text 13"/>
          <p:cNvSpPr/>
          <p:nvPr/>
        </p:nvSpPr>
        <p:spPr>
          <a:xfrm>
            <a:off x="2240280" y="3712464"/>
            <a:ext cx="4617720" cy="329184"/>
          </a:xfrm>
          <a:prstGeom prst="rect">
            <a:avLst/>
          </a:prstGeom>
          <a:noFill/>
          <a:ln/>
        </p:spPr>
        <p:txBody>
          <a:bodyPr wrap="square" lIns="0" tIns="0" rIns="0" bIns="0" rtlCol="0" anchor="t">
            <a:normAutofit/>
          </a:bodyPr>
          <a:lstStyle/>
          <a:p>
            <a:pPr algn="l" indent="0" marL="0">
              <a:buNone/>
            </a:pPr>
            <a:r>
              <a:rPr lang="en-US" sz="940" b="1" dirty="0">
                <a:solidFill>
                  <a:srgbClr val="FFFFFF"/>
                </a:solidFill>
                <a:latin typeface="Aptos" pitchFamily="34" charset="0"/>
                <a:ea typeface="Aptos" pitchFamily="34" charset="-122"/>
                <a:cs typeface="Aptos" pitchFamily="34" charset="-120"/>
              </a:rPr>
              <a:t>ONNX Transformers + LEDGAR precedents  |  NVIDIA NIM + Gemini fallback</a:t>
            </a:r>
            <a:endParaRPr lang="en-US" sz="940" dirty="0"/>
          </a:p>
        </p:txBody>
      </p:sp>
      <p:sp>
        <p:nvSpPr>
          <p:cNvPr id="16" name="Shape 14"/>
          <p:cNvSpPr/>
          <p:nvPr/>
        </p:nvSpPr>
        <p:spPr>
          <a:xfrm>
            <a:off x="3758184" y="4425696"/>
            <a:ext cx="82296" cy="82296"/>
          </a:xfrm>
          <a:prstGeom prst="ellipse">
            <a:avLst/>
          </a:prstGeom>
          <a:solidFill>
            <a:srgbClr val="5C5953"/>
          </a:solidFill>
          <a:ln w="12700">
            <a:solidFill>
              <a:srgbClr val="5C5953"/>
            </a:solidFill>
            <a:prstDash val="solid"/>
          </a:ln>
        </p:spPr>
      </p:sp>
      <p:sp>
        <p:nvSpPr>
          <p:cNvPr id="17" name="Shape 15"/>
          <p:cNvSpPr/>
          <p:nvPr/>
        </p:nvSpPr>
        <p:spPr>
          <a:xfrm>
            <a:off x="548640" y="4462272"/>
            <a:ext cx="6656832" cy="749808"/>
          </a:xfrm>
          <a:prstGeom prst="rect">
            <a:avLst/>
          </a:prstGeom>
          <a:solidFill>
            <a:srgbClr val="171716"/>
          </a:solidFill>
          <a:ln w="12700">
            <a:solidFill>
              <a:srgbClr val="383633"/>
            </a:solidFill>
            <a:prstDash val="solid"/>
          </a:ln>
        </p:spPr>
      </p:sp>
      <p:sp>
        <p:nvSpPr>
          <p:cNvPr id="18" name="Text 16"/>
          <p:cNvSpPr/>
          <p:nvPr/>
        </p:nvSpPr>
        <p:spPr>
          <a:xfrm>
            <a:off x="768096" y="4608576"/>
            <a:ext cx="1572768" cy="164592"/>
          </a:xfrm>
          <a:prstGeom prst="rect">
            <a:avLst/>
          </a:prstGeom>
          <a:noFill/>
          <a:ln/>
        </p:spPr>
        <p:txBody>
          <a:bodyPr wrap="square" lIns="0" tIns="0" rIns="0" bIns="0" rtlCol="0" anchor="ctr">
            <a:normAutofit/>
          </a:bodyPr>
          <a:lstStyle/>
          <a:p>
            <a:pPr algn="l" indent="0" marL="0">
              <a:buNone/>
            </a:pPr>
            <a:r>
              <a:rPr lang="en-US" sz="780" b="1" spc="120" kern="0" dirty="0">
                <a:solidFill>
                  <a:srgbClr val="4E7C52"/>
                </a:solidFill>
                <a:latin typeface="Aptos" pitchFamily="34" charset="0"/>
                <a:ea typeface="Aptos" pitchFamily="34" charset="-122"/>
                <a:cs typeface="Aptos" pitchFamily="34" charset="-120"/>
              </a:rPr>
              <a:t>PERSISTENCE LAYER</a:t>
            </a:r>
            <a:endParaRPr lang="en-US" sz="780" dirty="0"/>
          </a:p>
        </p:txBody>
      </p:sp>
      <p:sp>
        <p:nvSpPr>
          <p:cNvPr id="19" name="Text 17"/>
          <p:cNvSpPr/>
          <p:nvPr/>
        </p:nvSpPr>
        <p:spPr>
          <a:xfrm>
            <a:off x="2240280" y="4581144"/>
            <a:ext cx="4617720" cy="329184"/>
          </a:xfrm>
          <a:prstGeom prst="rect">
            <a:avLst/>
          </a:prstGeom>
          <a:noFill/>
          <a:ln/>
        </p:spPr>
        <p:txBody>
          <a:bodyPr wrap="square" lIns="0" tIns="0" rIns="0" bIns="0" rtlCol="0" anchor="t">
            <a:normAutofit/>
          </a:bodyPr>
          <a:lstStyle/>
          <a:p>
            <a:pPr algn="l" indent="0" marL="0">
              <a:buNone/>
            </a:pPr>
            <a:r>
              <a:rPr lang="en-US" sz="940" b="1" dirty="0">
                <a:solidFill>
                  <a:srgbClr val="FFFFFF"/>
                </a:solidFill>
                <a:latin typeface="Aptos" pitchFamily="34" charset="0"/>
                <a:ea typeface="Aptos" pitchFamily="34" charset="-122"/>
                <a:cs typeface="Aptos" pitchFamily="34" charset="-120"/>
              </a:rPr>
              <a:t>PostgreSQL / Prisma • Supabase Storage • audit logs • workflow state</a:t>
            </a:r>
            <a:endParaRPr lang="en-US" sz="940" dirty="0"/>
          </a:p>
        </p:txBody>
      </p:sp>
      <p:sp>
        <p:nvSpPr>
          <p:cNvPr id="20" name="Shape 18"/>
          <p:cNvSpPr/>
          <p:nvPr/>
        </p:nvSpPr>
        <p:spPr>
          <a:xfrm>
            <a:off x="7479792" y="1856232"/>
            <a:ext cx="3968496" cy="3355848"/>
          </a:xfrm>
          <a:prstGeom prst="rect">
            <a:avLst/>
          </a:prstGeom>
          <a:solidFill>
            <a:srgbClr val="141413"/>
          </a:solidFill>
          <a:ln w="12700">
            <a:solidFill>
              <a:srgbClr val="383633"/>
            </a:solidFill>
            <a:prstDash val="solid"/>
          </a:ln>
        </p:spPr>
      </p:sp>
      <p:sp>
        <p:nvSpPr>
          <p:cNvPr id="21" name="Text 19"/>
          <p:cNvSpPr/>
          <p:nvPr/>
        </p:nvSpPr>
        <p:spPr>
          <a:xfrm>
            <a:off x="7763256" y="2084832"/>
            <a:ext cx="2606040" cy="201168"/>
          </a:xfrm>
          <a:prstGeom prst="rect">
            <a:avLst/>
          </a:prstGeom>
          <a:noFill/>
          <a:ln/>
        </p:spPr>
        <p:txBody>
          <a:bodyPr wrap="square" lIns="0" tIns="0" rIns="0" bIns="0" rtlCol="0" anchor="ctr">
            <a:normAutofit/>
          </a:bodyPr>
          <a:lstStyle/>
          <a:p>
            <a:pPr algn="l" indent="0" marL="0">
              <a:buNone/>
            </a:pPr>
            <a:r>
              <a:rPr lang="en-US" sz="800" b="1" spc="140" kern="0" dirty="0">
                <a:solidFill>
                  <a:srgbClr val="A9A59A"/>
                </a:solidFill>
                <a:latin typeface="Aptos" pitchFamily="34" charset="0"/>
                <a:ea typeface="Aptos" pitchFamily="34" charset="-122"/>
                <a:cs typeface="Aptos" pitchFamily="34" charset="-120"/>
              </a:rPr>
              <a:t>REQUEST LIFECYCLE</a:t>
            </a:r>
            <a:endParaRPr lang="en-US" sz="800" dirty="0"/>
          </a:p>
        </p:txBody>
      </p:sp>
      <p:sp>
        <p:nvSpPr>
          <p:cNvPr id="22" name="Shape 20"/>
          <p:cNvSpPr/>
          <p:nvPr/>
        </p:nvSpPr>
        <p:spPr>
          <a:xfrm>
            <a:off x="7763256" y="2560320"/>
            <a:ext cx="329184" cy="329184"/>
          </a:xfrm>
          <a:prstGeom prst="ellipse">
            <a:avLst/>
          </a:prstGeom>
          <a:solidFill>
            <a:srgbClr val="2D2B28"/>
          </a:solidFill>
          <a:ln w="12700">
            <a:solidFill>
              <a:srgbClr val="4A4742"/>
            </a:solidFill>
            <a:prstDash val="solid"/>
          </a:ln>
        </p:spPr>
      </p:sp>
      <p:sp>
        <p:nvSpPr>
          <p:cNvPr id="23" name="Text 21"/>
          <p:cNvSpPr/>
          <p:nvPr/>
        </p:nvSpPr>
        <p:spPr>
          <a:xfrm>
            <a:off x="7763256" y="2642616"/>
            <a:ext cx="329184" cy="128016"/>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01</a:t>
            </a:r>
            <a:endParaRPr lang="en-US" sz="680" dirty="0"/>
          </a:p>
        </p:txBody>
      </p:sp>
      <p:sp>
        <p:nvSpPr>
          <p:cNvPr id="24" name="Text 22"/>
          <p:cNvSpPr/>
          <p:nvPr/>
        </p:nvSpPr>
        <p:spPr>
          <a:xfrm>
            <a:off x="8247888" y="2596896"/>
            <a:ext cx="2670048" cy="201168"/>
          </a:xfrm>
          <a:prstGeom prst="rect">
            <a:avLst/>
          </a:prstGeom>
          <a:noFill/>
          <a:ln/>
        </p:spPr>
        <p:txBody>
          <a:bodyPr wrap="square" lIns="0" tIns="0" rIns="0" bIns="0" rtlCol="0" anchor="ctr">
            <a:normAutofit/>
          </a:bodyPr>
          <a:lstStyle/>
          <a:p>
            <a:pPr algn="l" indent="0" marL="0">
              <a:buNone/>
            </a:pPr>
            <a:r>
              <a:rPr lang="en-US" sz="920" dirty="0">
                <a:solidFill>
                  <a:srgbClr val="D0CCC4"/>
                </a:solidFill>
                <a:latin typeface="Aptos" pitchFamily="34" charset="0"/>
                <a:ea typeface="Aptos" pitchFamily="34" charset="-122"/>
                <a:cs typeface="Aptos" pitchFamily="34" charset="-120"/>
              </a:rPr>
              <a:t>Upload</a:t>
            </a:r>
            <a:endParaRPr lang="en-US" sz="920" dirty="0"/>
          </a:p>
        </p:txBody>
      </p:sp>
      <p:sp>
        <p:nvSpPr>
          <p:cNvPr id="25" name="Shape 23"/>
          <p:cNvSpPr/>
          <p:nvPr/>
        </p:nvSpPr>
        <p:spPr>
          <a:xfrm>
            <a:off x="7927848" y="2898648"/>
            <a:ext cx="0" cy="0"/>
          </a:xfrm>
          <a:prstGeom prst="line">
            <a:avLst/>
          </a:prstGeom>
          <a:noFill/>
          <a:ln w="10160">
            <a:solidFill>
              <a:srgbClr val="514D47"/>
            </a:solidFill>
            <a:prstDash val="solid"/>
          </a:ln>
        </p:spPr>
      </p:sp>
      <p:sp>
        <p:nvSpPr>
          <p:cNvPr id="26" name="Shape 24"/>
          <p:cNvSpPr/>
          <p:nvPr/>
        </p:nvSpPr>
        <p:spPr>
          <a:xfrm>
            <a:off x="7763256" y="3017520"/>
            <a:ext cx="329184" cy="329184"/>
          </a:xfrm>
          <a:prstGeom prst="ellipse">
            <a:avLst/>
          </a:prstGeom>
          <a:solidFill>
            <a:srgbClr val="2D2B28"/>
          </a:solidFill>
          <a:ln w="12700">
            <a:solidFill>
              <a:srgbClr val="4A4742"/>
            </a:solidFill>
            <a:prstDash val="solid"/>
          </a:ln>
        </p:spPr>
      </p:sp>
      <p:sp>
        <p:nvSpPr>
          <p:cNvPr id="27" name="Text 25"/>
          <p:cNvSpPr/>
          <p:nvPr/>
        </p:nvSpPr>
        <p:spPr>
          <a:xfrm>
            <a:off x="7763256" y="3099816"/>
            <a:ext cx="329184" cy="128016"/>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02</a:t>
            </a:r>
            <a:endParaRPr lang="en-US" sz="680" dirty="0"/>
          </a:p>
        </p:txBody>
      </p:sp>
      <p:sp>
        <p:nvSpPr>
          <p:cNvPr id="28" name="Text 26"/>
          <p:cNvSpPr/>
          <p:nvPr/>
        </p:nvSpPr>
        <p:spPr>
          <a:xfrm>
            <a:off x="8247888" y="3054096"/>
            <a:ext cx="2670048" cy="201168"/>
          </a:xfrm>
          <a:prstGeom prst="rect">
            <a:avLst/>
          </a:prstGeom>
          <a:noFill/>
          <a:ln/>
        </p:spPr>
        <p:txBody>
          <a:bodyPr wrap="square" lIns="0" tIns="0" rIns="0" bIns="0" rtlCol="0" anchor="ctr">
            <a:normAutofit/>
          </a:bodyPr>
          <a:lstStyle/>
          <a:p>
            <a:pPr algn="l" indent="0" marL="0">
              <a:buNone/>
            </a:pPr>
            <a:r>
              <a:rPr lang="en-US" sz="920" dirty="0">
                <a:solidFill>
                  <a:srgbClr val="D0CCC4"/>
                </a:solidFill>
                <a:latin typeface="Aptos" pitchFamily="34" charset="0"/>
                <a:ea typeface="Aptos" pitchFamily="34" charset="-122"/>
                <a:cs typeface="Aptos" pitchFamily="34" charset="-120"/>
              </a:rPr>
              <a:t>Parse</a:t>
            </a:r>
            <a:endParaRPr lang="en-US" sz="920" dirty="0"/>
          </a:p>
        </p:txBody>
      </p:sp>
      <p:sp>
        <p:nvSpPr>
          <p:cNvPr id="29" name="Shape 27"/>
          <p:cNvSpPr/>
          <p:nvPr/>
        </p:nvSpPr>
        <p:spPr>
          <a:xfrm>
            <a:off x="7927848" y="3355848"/>
            <a:ext cx="0" cy="0"/>
          </a:xfrm>
          <a:prstGeom prst="line">
            <a:avLst/>
          </a:prstGeom>
          <a:noFill/>
          <a:ln w="10160">
            <a:solidFill>
              <a:srgbClr val="514D47"/>
            </a:solidFill>
            <a:prstDash val="solid"/>
          </a:ln>
        </p:spPr>
      </p:sp>
      <p:sp>
        <p:nvSpPr>
          <p:cNvPr id="30" name="Shape 28"/>
          <p:cNvSpPr/>
          <p:nvPr/>
        </p:nvSpPr>
        <p:spPr>
          <a:xfrm>
            <a:off x="7763256" y="3474720"/>
            <a:ext cx="329184" cy="329184"/>
          </a:xfrm>
          <a:prstGeom prst="ellipse">
            <a:avLst/>
          </a:prstGeom>
          <a:solidFill>
            <a:srgbClr val="C58A2B"/>
          </a:solidFill>
          <a:ln w="12700">
            <a:solidFill>
              <a:srgbClr val="C58A2B"/>
            </a:solidFill>
            <a:prstDash val="solid"/>
          </a:ln>
        </p:spPr>
      </p:sp>
      <p:sp>
        <p:nvSpPr>
          <p:cNvPr id="31" name="Text 29"/>
          <p:cNvSpPr/>
          <p:nvPr/>
        </p:nvSpPr>
        <p:spPr>
          <a:xfrm>
            <a:off x="7763256" y="3557016"/>
            <a:ext cx="329184" cy="128016"/>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03</a:t>
            </a:r>
            <a:endParaRPr lang="en-US" sz="680" dirty="0"/>
          </a:p>
        </p:txBody>
      </p:sp>
      <p:sp>
        <p:nvSpPr>
          <p:cNvPr id="32" name="Text 30"/>
          <p:cNvSpPr/>
          <p:nvPr/>
        </p:nvSpPr>
        <p:spPr>
          <a:xfrm>
            <a:off x="8247888" y="3511296"/>
            <a:ext cx="2670048" cy="201168"/>
          </a:xfrm>
          <a:prstGeom prst="rect">
            <a:avLst/>
          </a:prstGeom>
          <a:noFill/>
          <a:ln/>
        </p:spPr>
        <p:txBody>
          <a:bodyPr wrap="square" lIns="0" tIns="0" rIns="0" bIns="0" rtlCol="0" anchor="ctr">
            <a:normAutofit/>
          </a:bodyPr>
          <a:lstStyle/>
          <a:p>
            <a:pPr algn="l" indent="0" marL="0">
              <a:buNone/>
            </a:pPr>
            <a:r>
              <a:rPr lang="en-US" sz="920" b="1" dirty="0">
                <a:solidFill>
                  <a:srgbClr val="FFFFFF"/>
                </a:solidFill>
                <a:latin typeface="Aptos" pitchFamily="34" charset="0"/>
                <a:ea typeface="Aptos" pitchFamily="34" charset="-122"/>
                <a:cs typeface="Aptos" pitchFamily="34" charset="-120"/>
              </a:rPr>
              <a:t>Parallel ML + LLM</a:t>
            </a:r>
            <a:endParaRPr lang="en-US" sz="920" dirty="0"/>
          </a:p>
        </p:txBody>
      </p:sp>
      <p:sp>
        <p:nvSpPr>
          <p:cNvPr id="33" name="Shape 31"/>
          <p:cNvSpPr/>
          <p:nvPr/>
        </p:nvSpPr>
        <p:spPr>
          <a:xfrm>
            <a:off x="7927848" y="3813048"/>
            <a:ext cx="0" cy="0"/>
          </a:xfrm>
          <a:prstGeom prst="line">
            <a:avLst/>
          </a:prstGeom>
          <a:noFill/>
          <a:ln w="10160">
            <a:solidFill>
              <a:srgbClr val="514D47"/>
            </a:solidFill>
            <a:prstDash val="solid"/>
          </a:ln>
        </p:spPr>
      </p:sp>
      <p:sp>
        <p:nvSpPr>
          <p:cNvPr id="34" name="Shape 32"/>
          <p:cNvSpPr/>
          <p:nvPr/>
        </p:nvSpPr>
        <p:spPr>
          <a:xfrm>
            <a:off x="7763256" y="3931920"/>
            <a:ext cx="329184" cy="329184"/>
          </a:xfrm>
          <a:prstGeom prst="ellipse">
            <a:avLst/>
          </a:prstGeom>
          <a:solidFill>
            <a:srgbClr val="2D2B28"/>
          </a:solidFill>
          <a:ln w="12700">
            <a:solidFill>
              <a:srgbClr val="4A4742"/>
            </a:solidFill>
            <a:prstDash val="solid"/>
          </a:ln>
        </p:spPr>
      </p:sp>
      <p:sp>
        <p:nvSpPr>
          <p:cNvPr id="35" name="Text 33"/>
          <p:cNvSpPr/>
          <p:nvPr/>
        </p:nvSpPr>
        <p:spPr>
          <a:xfrm>
            <a:off x="7763256" y="4014216"/>
            <a:ext cx="329184" cy="128016"/>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04</a:t>
            </a:r>
            <a:endParaRPr lang="en-US" sz="680" dirty="0"/>
          </a:p>
        </p:txBody>
      </p:sp>
      <p:sp>
        <p:nvSpPr>
          <p:cNvPr id="36" name="Text 34"/>
          <p:cNvSpPr/>
          <p:nvPr/>
        </p:nvSpPr>
        <p:spPr>
          <a:xfrm>
            <a:off x="8247888" y="3968496"/>
            <a:ext cx="2670048" cy="201168"/>
          </a:xfrm>
          <a:prstGeom prst="rect">
            <a:avLst/>
          </a:prstGeom>
          <a:noFill/>
          <a:ln/>
        </p:spPr>
        <p:txBody>
          <a:bodyPr wrap="square" lIns="0" tIns="0" rIns="0" bIns="0" rtlCol="0" anchor="ctr">
            <a:normAutofit/>
          </a:bodyPr>
          <a:lstStyle/>
          <a:p>
            <a:pPr algn="l" indent="0" marL="0">
              <a:buNone/>
            </a:pPr>
            <a:r>
              <a:rPr lang="en-US" sz="920" dirty="0">
                <a:solidFill>
                  <a:srgbClr val="D0CCC4"/>
                </a:solidFill>
                <a:latin typeface="Aptos" pitchFamily="34" charset="0"/>
                <a:ea typeface="Aptos" pitchFamily="34" charset="-122"/>
                <a:cs typeface="Aptos" pitchFamily="34" charset="-120"/>
              </a:rPr>
              <a:t>Merge JSON</a:t>
            </a:r>
            <a:endParaRPr lang="en-US" sz="920" dirty="0"/>
          </a:p>
        </p:txBody>
      </p:sp>
      <p:sp>
        <p:nvSpPr>
          <p:cNvPr id="37" name="Shape 35"/>
          <p:cNvSpPr/>
          <p:nvPr/>
        </p:nvSpPr>
        <p:spPr>
          <a:xfrm>
            <a:off x="7927848" y="4270248"/>
            <a:ext cx="0" cy="0"/>
          </a:xfrm>
          <a:prstGeom prst="line">
            <a:avLst/>
          </a:prstGeom>
          <a:noFill/>
          <a:ln w="10160">
            <a:solidFill>
              <a:srgbClr val="514D47"/>
            </a:solidFill>
            <a:prstDash val="solid"/>
          </a:ln>
        </p:spPr>
      </p:sp>
      <p:sp>
        <p:nvSpPr>
          <p:cNvPr id="38" name="Shape 36"/>
          <p:cNvSpPr/>
          <p:nvPr/>
        </p:nvSpPr>
        <p:spPr>
          <a:xfrm>
            <a:off x="7763256" y="4389120"/>
            <a:ext cx="329184" cy="329184"/>
          </a:xfrm>
          <a:prstGeom prst="ellipse">
            <a:avLst/>
          </a:prstGeom>
          <a:solidFill>
            <a:srgbClr val="2D2B28"/>
          </a:solidFill>
          <a:ln w="12700">
            <a:solidFill>
              <a:srgbClr val="4A4742"/>
            </a:solidFill>
            <a:prstDash val="solid"/>
          </a:ln>
        </p:spPr>
      </p:sp>
      <p:sp>
        <p:nvSpPr>
          <p:cNvPr id="39" name="Text 37"/>
          <p:cNvSpPr/>
          <p:nvPr/>
        </p:nvSpPr>
        <p:spPr>
          <a:xfrm>
            <a:off x="7763256" y="4471416"/>
            <a:ext cx="329184" cy="128016"/>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05</a:t>
            </a:r>
            <a:endParaRPr lang="en-US" sz="680" dirty="0"/>
          </a:p>
        </p:txBody>
      </p:sp>
      <p:sp>
        <p:nvSpPr>
          <p:cNvPr id="40" name="Text 38"/>
          <p:cNvSpPr/>
          <p:nvPr/>
        </p:nvSpPr>
        <p:spPr>
          <a:xfrm>
            <a:off x="8247888" y="4425696"/>
            <a:ext cx="2670048" cy="201168"/>
          </a:xfrm>
          <a:prstGeom prst="rect">
            <a:avLst/>
          </a:prstGeom>
          <a:noFill/>
          <a:ln/>
        </p:spPr>
        <p:txBody>
          <a:bodyPr wrap="square" lIns="0" tIns="0" rIns="0" bIns="0" rtlCol="0" anchor="ctr">
            <a:normAutofit/>
          </a:bodyPr>
          <a:lstStyle/>
          <a:p>
            <a:pPr algn="l" indent="0" marL="0">
              <a:buNone/>
            </a:pPr>
            <a:r>
              <a:rPr lang="en-US" sz="920" dirty="0">
                <a:solidFill>
                  <a:srgbClr val="D0CCC4"/>
                </a:solidFill>
                <a:latin typeface="Aptos" pitchFamily="34" charset="0"/>
                <a:ea typeface="Aptos" pitchFamily="34" charset="-122"/>
                <a:cs typeface="Aptos" pitchFamily="34" charset="-120"/>
              </a:rPr>
              <a:t>Persist / respond</a:t>
            </a:r>
            <a:endParaRPr lang="en-US" sz="920" dirty="0"/>
          </a:p>
        </p:txBody>
      </p:sp>
      <p:sp>
        <p:nvSpPr>
          <p:cNvPr id="41" name="Shape 39"/>
          <p:cNvSpPr/>
          <p:nvPr/>
        </p:nvSpPr>
        <p:spPr>
          <a:xfrm>
            <a:off x="7479792" y="5413248"/>
            <a:ext cx="3968496" cy="557784"/>
          </a:xfrm>
          <a:prstGeom prst="rect">
            <a:avLst/>
          </a:prstGeom>
          <a:solidFill>
            <a:srgbClr val="C58A2B"/>
          </a:solidFill>
          <a:ln w="12700">
            <a:solidFill>
              <a:srgbClr val="C58A2B"/>
            </a:solidFill>
            <a:prstDash val="solid"/>
          </a:ln>
        </p:spPr>
      </p:sp>
      <p:sp>
        <p:nvSpPr>
          <p:cNvPr id="42" name="Text 40"/>
          <p:cNvSpPr/>
          <p:nvPr/>
        </p:nvSpPr>
        <p:spPr>
          <a:xfrm>
            <a:off x="7680960" y="5559552"/>
            <a:ext cx="3566160" cy="201168"/>
          </a:xfrm>
          <a:prstGeom prst="rect">
            <a:avLst/>
          </a:prstGeom>
          <a:noFill/>
          <a:ln/>
        </p:spPr>
        <p:txBody>
          <a:bodyPr wrap="square" lIns="0" tIns="0" rIns="0" bIns="0" rtlCol="0" anchor="ctr">
            <a:normAutofit/>
          </a:bodyPr>
          <a:lstStyle/>
          <a:p>
            <a:pPr algn="ctr" indent="0" marL="0">
              <a:buNone/>
            </a:pPr>
            <a:r>
              <a:rPr lang="en-US" sz="930" b="1" dirty="0">
                <a:solidFill>
                  <a:srgbClr val="111111"/>
                </a:solidFill>
                <a:latin typeface="Aptos" pitchFamily="34" charset="0"/>
                <a:ea typeface="Aptos" pitchFamily="34" charset="-122"/>
                <a:cs typeface="Aptos" pitchFamily="34" charset="-120"/>
              </a:rPr>
              <a:t>SEPARATION = SPEED + CONTROL</a:t>
            </a:r>
            <a:endParaRPr lang="en-US" sz="93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A968C"/>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10  /  SECURITY &amp; PRIVACY</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Privacy is part of the architecture, not a footer note.</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Several controls are intentionally designed around minimizing unnecessary exposure of contract content.</a:t>
            </a:r>
            <a:endParaRPr lang="en-US" sz="1150" dirty="0"/>
          </a:p>
        </p:txBody>
      </p:sp>
      <p:sp>
        <p:nvSpPr>
          <p:cNvPr id="5" name="Shape 3"/>
          <p:cNvSpPr/>
          <p:nvPr/>
        </p:nvSpPr>
        <p:spPr>
          <a:xfrm>
            <a:off x="548640" y="1865376"/>
            <a:ext cx="5230368" cy="1481328"/>
          </a:xfrm>
          <a:prstGeom prst="rect">
            <a:avLst/>
          </a:prstGeom>
          <a:solidFill>
            <a:srgbClr val="FFFFFF"/>
          </a:solidFill>
          <a:ln w="12700">
            <a:solidFill>
              <a:srgbClr val="D6D0C5"/>
            </a:solidFill>
            <a:prstDash val="solid"/>
          </a:ln>
        </p:spPr>
      </p:sp>
      <p:sp>
        <p:nvSpPr>
          <p:cNvPr id="6" name="Shape 4"/>
          <p:cNvSpPr/>
          <p:nvPr/>
        </p:nvSpPr>
        <p:spPr>
          <a:xfrm>
            <a:off x="713232" y="2029968"/>
            <a:ext cx="438912" cy="274320"/>
          </a:xfrm>
          <a:prstGeom prst="roundRect">
            <a:avLst>
              <a:gd name="adj" fmla="val 20000"/>
            </a:avLst>
          </a:prstGeom>
          <a:solidFill>
            <a:srgbClr val="C58A2B"/>
          </a:solidFill>
          <a:ln w="10160">
            <a:solidFill>
              <a:srgbClr val="C58A2B"/>
            </a:solidFill>
            <a:prstDash val="solid"/>
          </a:ln>
        </p:spPr>
      </p:sp>
      <p:sp>
        <p:nvSpPr>
          <p:cNvPr id="7" name="Text 5"/>
          <p:cNvSpPr/>
          <p:nvPr/>
        </p:nvSpPr>
        <p:spPr>
          <a:xfrm>
            <a:off x="713232" y="2039112"/>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01</a:t>
            </a:r>
            <a:endParaRPr lang="en-US" sz="850" dirty="0"/>
          </a:p>
        </p:txBody>
      </p:sp>
      <p:sp>
        <p:nvSpPr>
          <p:cNvPr id="8" name="Text 6"/>
          <p:cNvSpPr/>
          <p:nvPr/>
        </p:nvSpPr>
        <p:spPr>
          <a:xfrm>
            <a:off x="1298448" y="2029968"/>
            <a:ext cx="4114800" cy="219456"/>
          </a:xfrm>
          <a:prstGeom prst="rect">
            <a:avLst/>
          </a:prstGeom>
          <a:noFill/>
          <a:ln/>
        </p:spPr>
        <p:txBody>
          <a:bodyPr wrap="square" lIns="0" tIns="0" rIns="0" bIns="0" rtlCol="0" anchor="ctr">
            <a:normAutofit/>
          </a:bodyPr>
          <a:lstStyle/>
          <a:p>
            <a:pPr algn="l" indent="0" marL="0">
              <a:buNone/>
            </a:pPr>
            <a:r>
              <a:rPr lang="en-US" sz="910" b="1" spc="60" kern="0" dirty="0">
                <a:solidFill>
                  <a:srgbClr val="111111"/>
                </a:solidFill>
                <a:latin typeface="Aptos" pitchFamily="34" charset="0"/>
                <a:ea typeface="Aptos" pitchFamily="34" charset="-122"/>
                <a:cs typeface="Aptos" pitchFamily="34" charset="-120"/>
              </a:rPr>
              <a:t>TRANSIENT PROCESSING</a:t>
            </a:r>
            <a:endParaRPr lang="en-US" sz="910" dirty="0"/>
          </a:p>
        </p:txBody>
      </p:sp>
      <p:sp>
        <p:nvSpPr>
          <p:cNvPr id="9" name="Text 7"/>
          <p:cNvSpPr/>
          <p:nvPr/>
        </p:nvSpPr>
        <p:spPr>
          <a:xfrm>
            <a:off x="713232" y="2468880"/>
            <a:ext cx="4773168" cy="603504"/>
          </a:xfrm>
          <a:prstGeom prst="rect">
            <a:avLst/>
          </a:prstGeom>
          <a:noFill/>
          <a:ln/>
        </p:spPr>
        <p:txBody>
          <a:bodyPr wrap="square" lIns="0" tIns="0" rIns="0" bIns="0" rtlCol="0" anchor="t">
            <a:normAutofit/>
          </a:bodyPr>
          <a:lstStyle/>
          <a:p>
            <a:pPr algn="l" indent="0" marL="0">
              <a:buNone/>
            </a:pPr>
            <a:r>
              <a:rPr lang="en-US" sz="930" dirty="0">
                <a:solidFill>
                  <a:srgbClr val="6D695F"/>
                </a:solidFill>
                <a:latin typeface="Aptos" pitchFamily="34" charset="0"/>
                <a:ea typeface="Aptos" pitchFamily="34" charset="-122"/>
                <a:cs typeface="Aptos" pitchFamily="34" charset="-120"/>
              </a:rPr>
              <a:t>Contract text is processed in memory by default and is not permanently retained unless the user saves it.</a:t>
            </a:r>
            <a:endParaRPr lang="en-US" sz="930" dirty="0"/>
          </a:p>
        </p:txBody>
      </p:sp>
      <p:sp>
        <p:nvSpPr>
          <p:cNvPr id="10" name="Shape 8"/>
          <p:cNvSpPr/>
          <p:nvPr/>
        </p:nvSpPr>
        <p:spPr>
          <a:xfrm>
            <a:off x="6053328" y="1865376"/>
            <a:ext cx="5230368" cy="1481328"/>
          </a:xfrm>
          <a:prstGeom prst="rect">
            <a:avLst/>
          </a:prstGeom>
          <a:solidFill>
            <a:srgbClr val="FFFFFF"/>
          </a:solidFill>
          <a:ln w="12700">
            <a:solidFill>
              <a:srgbClr val="D6D0C5"/>
            </a:solidFill>
            <a:prstDash val="solid"/>
          </a:ln>
        </p:spPr>
      </p:sp>
      <p:sp>
        <p:nvSpPr>
          <p:cNvPr id="11" name="Shape 9"/>
          <p:cNvSpPr/>
          <p:nvPr/>
        </p:nvSpPr>
        <p:spPr>
          <a:xfrm>
            <a:off x="6217920" y="2029968"/>
            <a:ext cx="438912" cy="274320"/>
          </a:xfrm>
          <a:prstGeom prst="roundRect">
            <a:avLst>
              <a:gd name="adj" fmla="val 20000"/>
            </a:avLst>
          </a:prstGeom>
          <a:solidFill>
            <a:srgbClr val="5E6E86"/>
          </a:solidFill>
          <a:ln w="10160">
            <a:solidFill>
              <a:srgbClr val="5E6E86"/>
            </a:solidFill>
            <a:prstDash val="solid"/>
          </a:ln>
        </p:spPr>
      </p:sp>
      <p:sp>
        <p:nvSpPr>
          <p:cNvPr id="12" name="Text 10"/>
          <p:cNvSpPr/>
          <p:nvPr/>
        </p:nvSpPr>
        <p:spPr>
          <a:xfrm>
            <a:off x="6217920" y="2039112"/>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02</a:t>
            </a:r>
            <a:endParaRPr lang="en-US" sz="850" dirty="0"/>
          </a:p>
        </p:txBody>
      </p:sp>
      <p:sp>
        <p:nvSpPr>
          <p:cNvPr id="13" name="Text 11"/>
          <p:cNvSpPr/>
          <p:nvPr/>
        </p:nvSpPr>
        <p:spPr>
          <a:xfrm>
            <a:off x="6803136" y="2029968"/>
            <a:ext cx="4114800" cy="219456"/>
          </a:xfrm>
          <a:prstGeom prst="rect">
            <a:avLst/>
          </a:prstGeom>
          <a:noFill/>
          <a:ln/>
        </p:spPr>
        <p:txBody>
          <a:bodyPr wrap="square" lIns="0" tIns="0" rIns="0" bIns="0" rtlCol="0" anchor="ctr">
            <a:normAutofit/>
          </a:bodyPr>
          <a:lstStyle/>
          <a:p>
            <a:pPr algn="l" indent="0" marL="0">
              <a:buNone/>
            </a:pPr>
            <a:r>
              <a:rPr lang="en-US" sz="910" b="1" spc="60" kern="0" dirty="0">
                <a:solidFill>
                  <a:srgbClr val="111111"/>
                </a:solidFill>
                <a:latin typeface="Aptos" pitchFamily="34" charset="0"/>
                <a:ea typeface="Aptos" pitchFamily="34" charset="-122"/>
                <a:cs typeface="Aptos" pitchFamily="34" charset="-120"/>
              </a:rPr>
              <a:t>SECRET ISOLATION</a:t>
            </a:r>
            <a:endParaRPr lang="en-US" sz="910" dirty="0"/>
          </a:p>
        </p:txBody>
      </p:sp>
      <p:sp>
        <p:nvSpPr>
          <p:cNvPr id="14" name="Text 12"/>
          <p:cNvSpPr/>
          <p:nvPr/>
        </p:nvSpPr>
        <p:spPr>
          <a:xfrm>
            <a:off x="6217920" y="2468880"/>
            <a:ext cx="4773168" cy="603504"/>
          </a:xfrm>
          <a:prstGeom prst="rect">
            <a:avLst/>
          </a:prstGeom>
          <a:noFill/>
          <a:ln/>
        </p:spPr>
        <p:txBody>
          <a:bodyPr wrap="square" lIns="0" tIns="0" rIns="0" bIns="0" rtlCol="0" anchor="t">
            <a:normAutofit/>
          </a:bodyPr>
          <a:lstStyle/>
          <a:p>
            <a:pPr algn="l" indent="0" marL="0">
              <a:buNone/>
            </a:pPr>
            <a:r>
              <a:rPr lang="en-US" sz="930" dirty="0">
                <a:solidFill>
                  <a:srgbClr val="6D695F"/>
                </a:solidFill>
                <a:latin typeface="Aptos" pitchFamily="34" charset="0"/>
                <a:ea typeface="Aptos" pitchFamily="34" charset="-122"/>
                <a:cs typeface="Aptos" pitchFamily="34" charset="-120"/>
              </a:rPr>
              <a:t>NVIDIA, Google and Supabase service secrets remain server-side; third-party calls go through protected route handlers.</a:t>
            </a:r>
            <a:endParaRPr lang="en-US" sz="930" dirty="0"/>
          </a:p>
        </p:txBody>
      </p:sp>
      <p:sp>
        <p:nvSpPr>
          <p:cNvPr id="15" name="Shape 13"/>
          <p:cNvSpPr/>
          <p:nvPr/>
        </p:nvSpPr>
        <p:spPr>
          <a:xfrm>
            <a:off x="548640" y="3621024"/>
            <a:ext cx="5230368" cy="1481328"/>
          </a:xfrm>
          <a:prstGeom prst="rect">
            <a:avLst/>
          </a:prstGeom>
          <a:solidFill>
            <a:srgbClr val="FFFFFF"/>
          </a:solidFill>
          <a:ln w="12700">
            <a:solidFill>
              <a:srgbClr val="D6D0C5"/>
            </a:solidFill>
            <a:prstDash val="solid"/>
          </a:ln>
        </p:spPr>
      </p:sp>
      <p:sp>
        <p:nvSpPr>
          <p:cNvPr id="16" name="Shape 14"/>
          <p:cNvSpPr/>
          <p:nvPr/>
        </p:nvSpPr>
        <p:spPr>
          <a:xfrm>
            <a:off x="713232" y="3785616"/>
            <a:ext cx="438912" cy="274320"/>
          </a:xfrm>
          <a:prstGeom prst="roundRect">
            <a:avLst>
              <a:gd name="adj" fmla="val 20000"/>
            </a:avLst>
          </a:prstGeom>
          <a:solidFill>
            <a:srgbClr val="4E7C52"/>
          </a:solidFill>
          <a:ln w="10160">
            <a:solidFill>
              <a:srgbClr val="4E7C52"/>
            </a:solidFill>
            <a:prstDash val="solid"/>
          </a:ln>
        </p:spPr>
      </p:sp>
      <p:sp>
        <p:nvSpPr>
          <p:cNvPr id="17" name="Text 15"/>
          <p:cNvSpPr/>
          <p:nvPr/>
        </p:nvSpPr>
        <p:spPr>
          <a:xfrm>
            <a:off x="713232" y="3794760"/>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03</a:t>
            </a:r>
            <a:endParaRPr lang="en-US" sz="850" dirty="0"/>
          </a:p>
        </p:txBody>
      </p:sp>
      <p:sp>
        <p:nvSpPr>
          <p:cNvPr id="18" name="Text 16"/>
          <p:cNvSpPr/>
          <p:nvPr/>
        </p:nvSpPr>
        <p:spPr>
          <a:xfrm>
            <a:off x="1298448" y="3785616"/>
            <a:ext cx="4114800" cy="219456"/>
          </a:xfrm>
          <a:prstGeom prst="rect">
            <a:avLst/>
          </a:prstGeom>
          <a:noFill/>
          <a:ln/>
        </p:spPr>
        <p:txBody>
          <a:bodyPr wrap="square" lIns="0" tIns="0" rIns="0" bIns="0" rtlCol="0" anchor="ctr">
            <a:normAutofit/>
          </a:bodyPr>
          <a:lstStyle/>
          <a:p>
            <a:pPr algn="l" indent="0" marL="0">
              <a:buNone/>
            </a:pPr>
            <a:r>
              <a:rPr lang="en-US" sz="910" b="1" spc="60" kern="0" dirty="0">
                <a:solidFill>
                  <a:srgbClr val="111111"/>
                </a:solidFill>
                <a:latin typeface="Aptos" pitchFamily="34" charset="0"/>
                <a:ea typeface="Aptos" pitchFamily="34" charset="-122"/>
                <a:cs typeface="Aptos" pitchFamily="34" charset="-120"/>
              </a:rPr>
              <a:t>CLIENT-SIDE PDF</a:t>
            </a:r>
            <a:endParaRPr lang="en-US" sz="910" dirty="0"/>
          </a:p>
        </p:txBody>
      </p:sp>
      <p:sp>
        <p:nvSpPr>
          <p:cNvPr id="19" name="Text 17"/>
          <p:cNvSpPr/>
          <p:nvPr/>
        </p:nvSpPr>
        <p:spPr>
          <a:xfrm>
            <a:off x="713232" y="4224528"/>
            <a:ext cx="4773168" cy="603504"/>
          </a:xfrm>
          <a:prstGeom prst="rect">
            <a:avLst/>
          </a:prstGeom>
          <a:noFill/>
          <a:ln/>
        </p:spPr>
        <p:txBody>
          <a:bodyPr wrap="square" lIns="0" tIns="0" rIns="0" bIns="0" rtlCol="0" anchor="t">
            <a:normAutofit/>
          </a:bodyPr>
          <a:lstStyle/>
          <a:p>
            <a:pPr algn="l" indent="0" marL="0">
              <a:buNone/>
            </a:pPr>
            <a:r>
              <a:rPr lang="en-US" sz="930" dirty="0">
                <a:solidFill>
                  <a:srgbClr val="6D695F"/>
                </a:solidFill>
                <a:latin typeface="Aptos" pitchFamily="34" charset="0"/>
                <a:ea typeface="Aptos" pitchFamily="34" charset="-122"/>
                <a:cs typeface="Aptos" pitchFamily="34" charset="-120"/>
              </a:rPr>
              <a:t>Merge, split, rotate and image conversion can execute locally in the browser via pdf-lib / Canvas.</a:t>
            </a:r>
            <a:endParaRPr lang="en-US" sz="930" dirty="0"/>
          </a:p>
        </p:txBody>
      </p:sp>
      <p:sp>
        <p:nvSpPr>
          <p:cNvPr id="20" name="Shape 18"/>
          <p:cNvSpPr/>
          <p:nvPr/>
        </p:nvSpPr>
        <p:spPr>
          <a:xfrm>
            <a:off x="6053328" y="3621024"/>
            <a:ext cx="5230368" cy="1481328"/>
          </a:xfrm>
          <a:prstGeom prst="rect">
            <a:avLst/>
          </a:prstGeom>
          <a:solidFill>
            <a:srgbClr val="FFFFFF"/>
          </a:solidFill>
          <a:ln w="12700">
            <a:solidFill>
              <a:srgbClr val="D6D0C5"/>
            </a:solidFill>
            <a:prstDash val="solid"/>
          </a:ln>
        </p:spPr>
      </p:sp>
      <p:sp>
        <p:nvSpPr>
          <p:cNvPr id="21" name="Shape 19"/>
          <p:cNvSpPr/>
          <p:nvPr/>
        </p:nvSpPr>
        <p:spPr>
          <a:xfrm>
            <a:off x="6217920" y="3785616"/>
            <a:ext cx="438912" cy="274320"/>
          </a:xfrm>
          <a:prstGeom prst="roundRect">
            <a:avLst>
              <a:gd name="adj" fmla="val 20000"/>
            </a:avLst>
          </a:prstGeom>
          <a:solidFill>
            <a:srgbClr val="C84A45"/>
          </a:solidFill>
          <a:ln w="10160">
            <a:solidFill>
              <a:srgbClr val="C84A45"/>
            </a:solidFill>
            <a:prstDash val="solid"/>
          </a:ln>
        </p:spPr>
      </p:sp>
      <p:sp>
        <p:nvSpPr>
          <p:cNvPr id="22" name="Text 20"/>
          <p:cNvSpPr/>
          <p:nvPr/>
        </p:nvSpPr>
        <p:spPr>
          <a:xfrm>
            <a:off x="6217920" y="3794760"/>
            <a:ext cx="438912" cy="22860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04</a:t>
            </a:r>
            <a:endParaRPr lang="en-US" sz="850" dirty="0"/>
          </a:p>
        </p:txBody>
      </p:sp>
      <p:sp>
        <p:nvSpPr>
          <p:cNvPr id="23" name="Text 21"/>
          <p:cNvSpPr/>
          <p:nvPr/>
        </p:nvSpPr>
        <p:spPr>
          <a:xfrm>
            <a:off x="6803136" y="3785616"/>
            <a:ext cx="4114800" cy="219456"/>
          </a:xfrm>
          <a:prstGeom prst="rect">
            <a:avLst/>
          </a:prstGeom>
          <a:noFill/>
          <a:ln/>
        </p:spPr>
        <p:txBody>
          <a:bodyPr wrap="square" lIns="0" tIns="0" rIns="0" bIns="0" rtlCol="0" anchor="ctr">
            <a:normAutofit/>
          </a:bodyPr>
          <a:lstStyle/>
          <a:p>
            <a:pPr algn="l" indent="0" marL="0">
              <a:buNone/>
            </a:pPr>
            <a:r>
              <a:rPr lang="en-US" sz="910" b="1" spc="60" kern="0" dirty="0">
                <a:solidFill>
                  <a:srgbClr val="111111"/>
                </a:solidFill>
                <a:latin typeface="Aptos" pitchFamily="34" charset="0"/>
                <a:ea typeface="Aptos" pitchFamily="34" charset="-122"/>
                <a:cs typeface="Aptos" pitchFamily="34" charset="-120"/>
              </a:rPr>
              <a:t>CRYPTOGRAPHIC INTEGRITY</a:t>
            </a:r>
            <a:endParaRPr lang="en-US" sz="910" dirty="0"/>
          </a:p>
        </p:txBody>
      </p:sp>
      <p:sp>
        <p:nvSpPr>
          <p:cNvPr id="24" name="Text 22"/>
          <p:cNvSpPr/>
          <p:nvPr/>
        </p:nvSpPr>
        <p:spPr>
          <a:xfrm>
            <a:off x="6217920" y="4224528"/>
            <a:ext cx="4773168" cy="603504"/>
          </a:xfrm>
          <a:prstGeom prst="rect">
            <a:avLst/>
          </a:prstGeom>
          <a:noFill/>
          <a:ln/>
        </p:spPr>
        <p:txBody>
          <a:bodyPr wrap="square" lIns="0" tIns="0" rIns="0" bIns="0" rtlCol="0" anchor="t">
            <a:normAutofit/>
          </a:bodyPr>
          <a:lstStyle/>
          <a:p>
            <a:pPr algn="l" indent="0" marL="0">
              <a:buNone/>
            </a:pPr>
            <a:r>
              <a:rPr lang="en-US" sz="930" dirty="0">
                <a:solidFill>
                  <a:srgbClr val="6D695F"/>
                </a:solidFill>
                <a:latin typeface="Aptos" pitchFamily="34" charset="0"/>
                <a:ea typeface="Aptos" pitchFamily="34" charset="-122"/>
                <a:cs typeface="Aptos" pitchFamily="34" charset="-120"/>
              </a:rPr>
              <a:t>Executed documents are fingerprinted with SHA-256 so altered copies can be detected during verification.</a:t>
            </a:r>
            <a:endParaRPr lang="en-US" sz="930" dirty="0"/>
          </a:p>
        </p:txBody>
      </p:sp>
      <p:sp>
        <p:nvSpPr>
          <p:cNvPr id="25" name="Shape 23"/>
          <p:cNvSpPr/>
          <p:nvPr/>
        </p:nvSpPr>
        <p:spPr>
          <a:xfrm>
            <a:off x="548640" y="5559552"/>
            <a:ext cx="10954512" cy="566928"/>
          </a:xfrm>
          <a:prstGeom prst="rect">
            <a:avLst/>
          </a:prstGeom>
          <a:solidFill>
            <a:srgbClr val="111111"/>
          </a:solidFill>
          <a:ln w="12700">
            <a:solidFill>
              <a:srgbClr val="111111"/>
            </a:solidFill>
            <a:prstDash val="solid"/>
          </a:ln>
        </p:spPr>
      </p:sp>
      <p:sp>
        <p:nvSpPr>
          <p:cNvPr id="26" name="Text 24"/>
          <p:cNvSpPr/>
          <p:nvPr/>
        </p:nvSpPr>
        <p:spPr>
          <a:xfrm>
            <a:off x="749808" y="5696712"/>
            <a:ext cx="10561320"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Security posture: minimize data movement → isolate secrets → preserve integrity → keep the workflow auditable.</a:t>
            </a:r>
            <a:endParaRPr lang="en-US" sz="105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11  /  TECHNOLOGY STACK</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Each technology maps to a concrete system responsibility.</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The stack is deliberately modern but the architecture remains modular.</a:t>
            </a:r>
            <a:endParaRPr lang="en-US" sz="1150" dirty="0"/>
          </a:p>
        </p:txBody>
      </p:sp>
      <p:sp>
        <p:nvSpPr>
          <p:cNvPr id="5" name="Shape 3"/>
          <p:cNvSpPr/>
          <p:nvPr/>
        </p:nvSpPr>
        <p:spPr>
          <a:xfrm>
            <a:off x="548640" y="1865376"/>
            <a:ext cx="3401568" cy="1481328"/>
          </a:xfrm>
          <a:prstGeom prst="rect">
            <a:avLst/>
          </a:prstGeom>
          <a:solidFill>
            <a:srgbClr val="FFFFFF"/>
          </a:solidFill>
          <a:ln w="12700">
            <a:solidFill>
              <a:srgbClr val="D6D0C5"/>
            </a:solidFill>
            <a:prstDash val="solid"/>
          </a:ln>
        </p:spPr>
      </p:sp>
      <p:sp>
        <p:nvSpPr>
          <p:cNvPr id="6" name="Shape 4"/>
          <p:cNvSpPr/>
          <p:nvPr/>
        </p:nvSpPr>
        <p:spPr>
          <a:xfrm>
            <a:off x="548640" y="1865376"/>
            <a:ext cx="54864" cy="1481328"/>
          </a:xfrm>
          <a:prstGeom prst="rect">
            <a:avLst/>
          </a:prstGeom>
          <a:solidFill>
            <a:srgbClr val="111111"/>
          </a:solidFill>
          <a:ln w="12700">
            <a:solidFill>
              <a:srgbClr val="111111"/>
            </a:solidFill>
            <a:prstDash val="solid"/>
          </a:ln>
        </p:spPr>
      </p:sp>
      <p:sp>
        <p:nvSpPr>
          <p:cNvPr id="7" name="Text 5"/>
          <p:cNvSpPr/>
          <p:nvPr/>
        </p:nvSpPr>
        <p:spPr>
          <a:xfrm>
            <a:off x="777240" y="2048256"/>
            <a:ext cx="269748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111111"/>
                </a:solidFill>
                <a:latin typeface="Aptos" pitchFamily="34" charset="0"/>
                <a:ea typeface="Aptos" pitchFamily="34" charset="-122"/>
                <a:cs typeface="Aptos" pitchFamily="34" charset="-120"/>
              </a:rPr>
              <a:t>FRONTEND</a:t>
            </a:r>
            <a:endParaRPr lang="en-US" sz="800" dirty="0"/>
          </a:p>
        </p:txBody>
      </p:sp>
      <p:sp>
        <p:nvSpPr>
          <p:cNvPr id="8" name="Text 6"/>
          <p:cNvSpPr/>
          <p:nvPr/>
        </p:nvSpPr>
        <p:spPr>
          <a:xfrm>
            <a:off x="777240" y="2395728"/>
            <a:ext cx="2697480" cy="804672"/>
          </a:xfrm>
          <a:prstGeom prst="rect">
            <a:avLst/>
          </a:prstGeom>
          <a:noFill/>
          <a:ln/>
        </p:spPr>
        <p:txBody>
          <a:bodyPr wrap="square" lIns="0" tIns="0" rIns="0" bIns="0" rtlCol="0" anchor="t">
            <a:normAutofit/>
          </a:bodyPr>
          <a:lstStyle/>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Next.js 16</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React 19</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Tailwind CSS 4</a:t>
            </a:r>
            <a:endParaRPr lang="en-US" sz="1000" dirty="0"/>
          </a:p>
        </p:txBody>
      </p:sp>
      <p:sp>
        <p:nvSpPr>
          <p:cNvPr id="9" name="Shape 7"/>
          <p:cNvSpPr/>
          <p:nvPr/>
        </p:nvSpPr>
        <p:spPr>
          <a:xfrm>
            <a:off x="4224528" y="1865376"/>
            <a:ext cx="3401568" cy="1481328"/>
          </a:xfrm>
          <a:prstGeom prst="rect">
            <a:avLst/>
          </a:prstGeom>
          <a:solidFill>
            <a:srgbClr val="FFFFFF"/>
          </a:solidFill>
          <a:ln w="12700">
            <a:solidFill>
              <a:srgbClr val="D6D0C5"/>
            </a:solidFill>
            <a:prstDash val="solid"/>
          </a:ln>
        </p:spPr>
      </p:sp>
      <p:sp>
        <p:nvSpPr>
          <p:cNvPr id="10" name="Shape 8"/>
          <p:cNvSpPr/>
          <p:nvPr/>
        </p:nvSpPr>
        <p:spPr>
          <a:xfrm>
            <a:off x="4224528" y="1865376"/>
            <a:ext cx="54864" cy="1481328"/>
          </a:xfrm>
          <a:prstGeom prst="rect">
            <a:avLst/>
          </a:prstGeom>
          <a:solidFill>
            <a:srgbClr val="C84A45"/>
          </a:solidFill>
          <a:ln w="12700">
            <a:solidFill>
              <a:srgbClr val="C84A45"/>
            </a:solidFill>
            <a:prstDash val="solid"/>
          </a:ln>
        </p:spPr>
      </p:sp>
      <p:sp>
        <p:nvSpPr>
          <p:cNvPr id="11" name="Text 9"/>
          <p:cNvSpPr/>
          <p:nvPr/>
        </p:nvSpPr>
        <p:spPr>
          <a:xfrm>
            <a:off x="4453128" y="2048256"/>
            <a:ext cx="269748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C84A45"/>
                </a:solidFill>
                <a:latin typeface="Aptos" pitchFamily="34" charset="0"/>
                <a:ea typeface="Aptos" pitchFamily="34" charset="-122"/>
                <a:cs typeface="Aptos" pitchFamily="34" charset="-120"/>
              </a:rPr>
              <a:t>AI / LLM</a:t>
            </a:r>
            <a:endParaRPr lang="en-US" sz="800" dirty="0"/>
          </a:p>
        </p:txBody>
      </p:sp>
      <p:sp>
        <p:nvSpPr>
          <p:cNvPr id="12" name="Text 10"/>
          <p:cNvSpPr/>
          <p:nvPr/>
        </p:nvSpPr>
        <p:spPr>
          <a:xfrm>
            <a:off x="4453128" y="2395728"/>
            <a:ext cx="2697480" cy="804672"/>
          </a:xfrm>
          <a:prstGeom prst="rect">
            <a:avLst/>
          </a:prstGeom>
          <a:noFill/>
          <a:ln/>
        </p:spPr>
        <p:txBody>
          <a:bodyPr wrap="square" lIns="0" tIns="0" rIns="0" bIns="0" rtlCol="0" anchor="t">
            <a:normAutofit/>
          </a:bodyPr>
          <a:lstStyle/>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NVIDIA NIM</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Llama 3.3 70B</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Llama 3.1 8B</a:t>
            </a:r>
            <a:endParaRPr lang="en-US" sz="1000" dirty="0"/>
          </a:p>
        </p:txBody>
      </p:sp>
      <p:sp>
        <p:nvSpPr>
          <p:cNvPr id="13" name="Shape 11"/>
          <p:cNvSpPr/>
          <p:nvPr/>
        </p:nvSpPr>
        <p:spPr>
          <a:xfrm>
            <a:off x="7900416" y="1865376"/>
            <a:ext cx="3401568" cy="1481328"/>
          </a:xfrm>
          <a:prstGeom prst="rect">
            <a:avLst/>
          </a:prstGeom>
          <a:solidFill>
            <a:srgbClr val="FFFFFF"/>
          </a:solidFill>
          <a:ln w="12700">
            <a:solidFill>
              <a:srgbClr val="D6D0C5"/>
            </a:solidFill>
            <a:prstDash val="solid"/>
          </a:ln>
        </p:spPr>
      </p:sp>
      <p:sp>
        <p:nvSpPr>
          <p:cNvPr id="14" name="Shape 12"/>
          <p:cNvSpPr/>
          <p:nvPr/>
        </p:nvSpPr>
        <p:spPr>
          <a:xfrm>
            <a:off x="7900416" y="1865376"/>
            <a:ext cx="54864" cy="1481328"/>
          </a:xfrm>
          <a:prstGeom prst="rect">
            <a:avLst/>
          </a:prstGeom>
          <a:solidFill>
            <a:srgbClr val="5E6E86"/>
          </a:solidFill>
          <a:ln w="12700">
            <a:solidFill>
              <a:srgbClr val="5E6E86"/>
            </a:solidFill>
            <a:prstDash val="solid"/>
          </a:ln>
        </p:spPr>
      </p:sp>
      <p:sp>
        <p:nvSpPr>
          <p:cNvPr id="15" name="Text 13"/>
          <p:cNvSpPr/>
          <p:nvPr/>
        </p:nvSpPr>
        <p:spPr>
          <a:xfrm>
            <a:off x="8129016" y="2048256"/>
            <a:ext cx="269748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5E6E86"/>
                </a:solidFill>
                <a:latin typeface="Aptos" pitchFamily="34" charset="0"/>
                <a:ea typeface="Aptos" pitchFamily="34" charset="-122"/>
                <a:cs typeface="Aptos" pitchFamily="34" charset="-120"/>
              </a:rPr>
              <a:t>EDGE ML</a:t>
            </a:r>
            <a:endParaRPr lang="en-US" sz="800" dirty="0"/>
          </a:p>
        </p:txBody>
      </p:sp>
      <p:sp>
        <p:nvSpPr>
          <p:cNvPr id="16" name="Text 14"/>
          <p:cNvSpPr/>
          <p:nvPr/>
        </p:nvSpPr>
        <p:spPr>
          <a:xfrm>
            <a:off x="8129016" y="2395728"/>
            <a:ext cx="2697480" cy="804672"/>
          </a:xfrm>
          <a:prstGeom prst="rect">
            <a:avLst/>
          </a:prstGeom>
          <a:noFill/>
          <a:ln/>
        </p:spPr>
        <p:txBody>
          <a:bodyPr wrap="square" lIns="0" tIns="0" rIns="0" bIns="0" rtlCol="0" anchor="t">
            <a:normAutofit/>
          </a:bodyPr>
          <a:lstStyle/>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Transformers.js</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ONNX Runtime</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all-MiniLM-L6-v2</a:t>
            </a:r>
            <a:endParaRPr lang="en-US" sz="1000" dirty="0"/>
          </a:p>
        </p:txBody>
      </p:sp>
      <p:sp>
        <p:nvSpPr>
          <p:cNvPr id="17" name="Shape 15"/>
          <p:cNvSpPr/>
          <p:nvPr/>
        </p:nvSpPr>
        <p:spPr>
          <a:xfrm>
            <a:off x="548640" y="3657600"/>
            <a:ext cx="3401568" cy="1481328"/>
          </a:xfrm>
          <a:prstGeom prst="rect">
            <a:avLst/>
          </a:prstGeom>
          <a:solidFill>
            <a:srgbClr val="FFFFFF"/>
          </a:solidFill>
          <a:ln w="12700">
            <a:solidFill>
              <a:srgbClr val="D6D0C5"/>
            </a:solidFill>
            <a:prstDash val="solid"/>
          </a:ln>
        </p:spPr>
      </p:sp>
      <p:sp>
        <p:nvSpPr>
          <p:cNvPr id="18" name="Shape 16"/>
          <p:cNvSpPr/>
          <p:nvPr/>
        </p:nvSpPr>
        <p:spPr>
          <a:xfrm>
            <a:off x="548640" y="3657600"/>
            <a:ext cx="54864" cy="1481328"/>
          </a:xfrm>
          <a:prstGeom prst="rect">
            <a:avLst/>
          </a:prstGeom>
          <a:solidFill>
            <a:srgbClr val="C58A2B"/>
          </a:solidFill>
          <a:ln w="12700">
            <a:solidFill>
              <a:srgbClr val="C58A2B"/>
            </a:solidFill>
            <a:prstDash val="solid"/>
          </a:ln>
        </p:spPr>
      </p:sp>
      <p:sp>
        <p:nvSpPr>
          <p:cNvPr id="19" name="Text 17"/>
          <p:cNvSpPr/>
          <p:nvPr/>
        </p:nvSpPr>
        <p:spPr>
          <a:xfrm>
            <a:off x="777240" y="3840480"/>
            <a:ext cx="269748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C58A2B"/>
                </a:solidFill>
                <a:latin typeface="Aptos" pitchFamily="34" charset="0"/>
                <a:ea typeface="Aptos" pitchFamily="34" charset="-122"/>
                <a:cs typeface="Aptos" pitchFamily="34" charset="-120"/>
              </a:rPr>
              <a:t>DOCUMENTS</a:t>
            </a:r>
            <a:endParaRPr lang="en-US" sz="800" dirty="0"/>
          </a:p>
        </p:txBody>
      </p:sp>
      <p:sp>
        <p:nvSpPr>
          <p:cNvPr id="20" name="Text 18"/>
          <p:cNvSpPr/>
          <p:nvPr/>
        </p:nvSpPr>
        <p:spPr>
          <a:xfrm>
            <a:off x="777240" y="4187952"/>
            <a:ext cx="2697480" cy="804672"/>
          </a:xfrm>
          <a:prstGeom prst="rect">
            <a:avLst/>
          </a:prstGeom>
          <a:noFill/>
          <a:ln/>
        </p:spPr>
        <p:txBody>
          <a:bodyPr wrap="square" lIns="0" tIns="0" rIns="0" bIns="0" rtlCol="0" anchor="t">
            <a:normAutofit/>
          </a:bodyPr>
          <a:lstStyle/>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pdf-lib</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pdf-parse</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mammoth</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docx</a:t>
            </a:r>
            <a:endParaRPr lang="en-US" sz="1000" dirty="0"/>
          </a:p>
        </p:txBody>
      </p:sp>
      <p:sp>
        <p:nvSpPr>
          <p:cNvPr id="21" name="Shape 19"/>
          <p:cNvSpPr/>
          <p:nvPr/>
        </p:nvSpPr>
        <p:spPr>
          <a:xfrm>
            <a:off x="4224528" y="3657600"/>
            <a:ext cx="3401568" cy="1481328"/>
          </a:xfrm>
          <a:prstGeom prst="rect">
            <a:avLst/>
          </a:prstGeom>
          <a:solidFill>
            <a:srgbClr val="FFFFFF"/>
          </a:solidFill>
          <a:ln w="12700">
            <a:solidFill>
              <a:srgbClr val="D6D0C5"/>
            </a:solidFill>
            <a:prstDash val="solid"/>
          </a:ln>
        </p:spPr>
      </p:sp>
      <p:sp>
        <p:nvSpPr>
          <p:cNvPr id="22" name="Shape 20"/>
          <p:cNvSpPr/>
          <p:nvPr/>
        </p:nvSpPr>
        <p:spPr>
          <a:xfrm>
            <a:off x="4224528" y="3657600"/>
            <a:ext cx="54864" cy="1481328"/>
          </a:xfrm>
          <a:prstGeom prst="rect">
            <a:avLst/>
          </a:prstGeom>
          <a:solidFill>
            <a:srgbClr val="4E7C52"/>
          </a:solidFill>
          <a:ln w="12700">
            <a:solidFill>
              <a:srgbClr val="4E7C52"/>
            </a:solidFill>
            <a:prstDash val="solid"/>
          </a:ln>
        </p:spPr>
      </p:sp>
      <p:sp>
        <p:nvSpPr>
          <p:cNvPr id="23" name="Text 21"/>
          <p:cNvSpPr/>
          <p:nvPr/>
        </p:nvSpPr>
        <p:spPr>
          <a:xfrm>
            <a:off x="4453128" y="3840480"/>
            <a:ext cx="269748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4E7C52"/>
                </a:solidFill>
                <a:latin typeface="Aptos" pitchFamily="34" charset="0"/>
                <a:ea typeface="Aptos" pitchFamily="34" charset="-122"/>
                <a:cs typeface="Aptos" pitchFamily="34" charset="-120"/>
              </a:rPr>
              <a:t>DATA</a:t>
            </a:r>
            <a:endParaRPr lang="en-US" sz="800" dirty="0"/>
          </a:p>
        </p:txBody>
      </p:sp>
      <p:sp>
        <p:nvSpPr>
          <p:cNvPr id="24" name="Text 22"/>
          <p:cNvSpPr/>
          <p:nvPr/>
        </p:nvSpPr>
        <p:spPr>
          <a:xfrm>
            <a:off x="4453128" y="4187952"/>
            <a:ext cx="2697480" cy="804672"/>
          </a:xfrm>
          <a:prstGeom prst="rect">
            <a:avLst/>
          </a:prstGeom>
          <a:noFill/>
          <a:ln/>
        </p:spPr>
        <p:txBody>
          <a:bodyPr wrap="square" lIns="0" tIns="0" rIns="0" bIns="0" rtlCol="0" anchor="t">
            <a:normAutofit/>
          </a:bodyPr>
          <a:lstStyle/>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Prisma ORM</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PostgreSQL</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Supabase Storage</a:t>
            </a:r>
            <a:endParaRPr lang="en-US" sz="1000" dirty="0"/>
          </a:p>
        </p:txBody>
      </p:sp>
      <p:sp>
        <p:nvSpPr>
          <p:cNvPr id="25" name="Shape 23"/>
          <p:cNvSpPr/>
          <p:nvPr/>
        </p:nvSpPr>
        <p:spPr>
          <a:xfrm>
            <a:off x="7900416" y="3657600"/>
            <a:ext cx="3401568" cy="1481328"/>
          </a:xfrm>
          <a:prstGeom prst="rect">
            <a:avLst/>
          </a:prstGeom>
          <a:solidFill>
            <a:srgbClr val="FFFFFF"/>
          </a:solidFill>
          <a:ln w="12700">
            <a:solidFill>
              <a:srgbClr val="D6D0C5"/>
            </a:solidFill>
            <a:prstDash val="solid"/>
          </a:ln>
        </p:spPr>
      </p:sp>
      <p:sp>
        <p:nvSpPr>
          <p:cNvPr id="26" name="Shape 24"/>
          <p:cNvSpPr/>
          <p:nvPr/>
        </p:nvSpPr>
        <p:spPr>
          <a:xfrm>
            <a:off x="7900416" y="3657600"/>
            <a:ext cx="54864" cy="1481328"/>
          </a:xfrm>
          <a:prstGeom prst="rect">
            <a:avLst/>
          </a:prstGeom>
          <a:solidFill>
            <a:srgbClr val="111111"/>
          </a:solidFill>
          <a:ln w="12700">
            <a:solidFill>
              <a:srgbClr val="111111"/>
            </a:solidFill>
            <a:prstDash val="solid"/>
          </a:ln>
        </p:spPr>
      </p:sp>
      <p:sp>
        <p:nvSpPr>
          <p:cNvPr id="27" name="Text 25"/>
          <p:cNvSpPr/>
          <p:nvPr/>
        </p:nvSpPr>
        <p:spPr>
          <a:xfrm>
            <a:off x="8129016" y="3840480"/>
            <a:ext cx="269748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111111"/>
                </a:solidFill>
                <a:latin typeface="Aptos" pitchFamily="34" charset="0"/>
                <a:ea typeface="Aptos" pitchFamily="34" charset="-122"/>
                <a:cs typeface="Aptos" pitchFamily="34" charset="-120"/>
              </a:rPr>
              <a:t>APP TOOLING</a:t>
            </a:r>
            <a:endParaRPr lang="en-US" sz="800" dirty="0"/>
          </a:p>
        </p:txBody>
      </p:sp>
      <p:sp>
        <p:nvSpPr>
          <p:cNvPr id="28" name="Text 26"/>
          <p:cNvSpPr/>
          <p:nvPr/>
        </p:nvSpPr>
        <p:spPr>
          <a:xfrm>
            <a:off x="8129016" y="4187952"/>
            <a:ext cx="2697480" cy="804672"/>
          </a:xfrm>
          <a:prstGeom prst="rect">
            <a:avLst/>
          </a:prstGeom>
          <a:noFill/>
          <a:ln/>
        </p:spPr>
        <p:txBody>
          <a:bodyPr wrap="square" lIns="0" tIns="0" rIns="0" bIns="0" rtlCol="0" anchor="t">
            <a:normAutofit/>
          </a:bodyPr>
          <a:lstStyle/>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TypeScript 5</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Recharts</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Lucide React</a:t>
            </a:r>
            <a:endParaRPr lang="en-US" sz="1000" dirty="0"/>
          </a:p>
          <a:p>
            <a:pPr algn="l" indent="0" marL="0">
              <a:lnSpc>
                <a:spcPct val="100000"/>
              </a:lnSpc>
              <a:buNone/>
            </a:pPr>
            <a:r>
              <a:rPr lang="en-US" sz="1000" b="1" dirty="0">
                <a:solidFill>
                  <a:srgbClr val="111111"/>
                </a:solidFill>
                <a:latin typeface="Aptos" pitchFamily="34" charset="0"/>
                <a:ea typeface="Aptos" pitchFamily="34" charset="-122"/>
                <a:cs typeface="Aptos" pitchFamily="34" charset="-120"/>
              </a:rPr>
              <a:t>diff-match-patch</a:t>
            </a:r>
            <a:endParaRPr lang="en-US" sz="1000" dirty="0"/>
          </a:p>
        </p:txBody>
      </p:sp>
      <p:sp>
        <p:nvSpPr>
          <p:cNvPr id="29" name="Text 27"/>
          <p:cNvSpPr/>
          <p:nvPr/>
        </p:nvSpPr>
        <p:spPr>
          <a:xfrm>
            <a:off x="548640" y="5742432"/>
            <a:ext cx="1965960" cy="201168"/>
          </a:xfrm>
          <a:prstGeom prst="rect">
            <a:avLst/>
          </a:prstGeom>
          <a:noFill/>
          <a:ln/>
        </p:spPr>
        <p:txBody>
          <a:bodyPr wrap="square" lIns="0" tIns="0" rIns="0" bIns="0" rtlCol="0" anchor="ctr">
            <a:normAutofit/>
          </a:bodyPr>
          <a:lstStyle/>
          <a:p>
            <a:pPr algn="l" indent="0" marL="0">
              <a:buNone/>
            </a:pPr>
            <a:r>
              <a:rPr lang="en-US" sz="820" b="1" spc="120" kern="0" dirty="0">
                <a:solidFill>
                  <a:srgbClr val="6D695F"/>
                </a:solidFill>
                <a:latin typeface="Aptos" pitchFamily="34" charset="0"/>
                <a:ea typeface="Aptos" pitchFamily="34" charset="-122"/>
                <a:cs typeface="Aptos" pitchFamily="34" charset="-120"/>
              </a:rPr>
              <a:t>Why this matters academically:</a:t>
            </a:r>
            <a:endParaRPr lang="en-US" sz="820" dirty="0"/>
          </a:p>
        </p:txBody>
      </p:sp>
      <p:sp>
        <p:nvSpPr>
          <p:cNvPr id="30" name="Text 28"/>
          <p:cNvSpPr/>
          <p:nvPr/>
        </p:nvSpPr>
        <p:spPr>
          <a:xfrm>
            <a:off x="2560320" y="5669280"/>
            <a:ext cx="8823960" cy="365760"/>
          </a:xfrm>
          <a:prstGeom prst="rect">
            <a:avLst/>
          </a:prstGeom>
          <a:noFill/>
          <a:ln/>
        </p:spPr>
        <p:txBody>
          <a:bodyPr wrap="square" lIns="0" tIns="0" rIns="0" bIns="0" rtlCol="0" anchor="t">
            <a:normAutofit/>
          </a:bodyPr>
          <a:lstStyle/>
          <a:p>
            <a:pPr algn="l" indent="0" marL="0">
              <a:buNone/>
            </a:pPr>
            <a:r>
              <a:rPr lang="en-US" sz="1250" i="1" dirty="0">
                <a:solidFill>
                  <a:srgbClr val="111111"/>
                </a:solidFill>
                <a:latin typeface="Georgia" pitchFamily="34" charset="0"/>
                <a:ea typeface="Georgia" pitchFamily="34" charset="-122"/>
                <a:cs typeface="Georgia" pitchFamily="34" charset="-120"/>
              </a:rPr>
              <a:t>the project demonstrates full-stack engineering, applied NLP, inference orchestration, document processing, data modeling and security-aware UX in one integrated system.</a:t>
            </a:r>
            <a:endParaRPr lang="en-US" sz="125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A9A59A"/>
                </a:solidFill>
                <a:latin typeface="Aptos" pitchFamily="34" charset="0"/>
                <a:ea typeface="Aptos" pitchFamily="34" charset="-122"/>
                <a:cs typeface="Aptos" pitchFamily="34" charset="-120"/>
              </a:rPr>
              <a:t>12  /  ENGINEERING HIGHLIGHTS</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pitchFamily="34" charset="0"/>
                <a:ea typeface="Aptos" pitchFamily="34" charset="-122"/>
                <a:cs typeface="Aptos" pitchFamily="34" charset="-120"/>
              </a:rPr>
              <a:t>The engineering story is speed, modularity and control.</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C4C0B7"/>
                </a:solidFill>
                <a:latin typeface="Aptos" pitchFamily="34" charset="0"/>
                <a:ea typeface="Aptos" pitchFamily="34" charset="-122"/>
                <a:cs typeface="Aptos" pitchFamily="34" charset="-120"/>
              </a:rPr>
              <a:t>Project documentation identifies several concrete implementation targets and architectural choices.</a:t>
            </a:r>
            <a:endParaRPr lang="en-US" sz="1150" dirty="0"/>
          </a:p>
        </p:txBody>
      </p:sp>
      <p:sp>
        <p:nvSpPr>
          <p:cNvPr id="5" name="Shape 3"/>
          <p:cNvSpPr/>
          <p:nvPr/>
        </p:nvSpPr>
        <p:spPr>
          <a:xfrm>
            <a:off x="548640" y="1865376"/>
            <a:ext cx="2514600" cy="1005840"/>
          </a:xfrm>
          <a:prstGeom prst="rect">
            <a:avLst/>
          </a:prstGeom>
          <a:solidFill>
            <a:srgbClr val="1A1A18"/>
          </a:solidFill>
          <a:ln w="12700">
            <a:solidFill>
              <a:srgbClr val="1A1A18"/>
            </a:solidFill>
            <a:prstDash val="solid"/>
          </a:ln>
        </p:spPr>
      </p:sp>
      <p:sp>
        <p:nvSpPr>
          <p:cNvPr id="6" name="Text 4"/>
          <p:cNvSpPr/>
          <p:nvPr/>
        </p:nvSpPr>
        <p:spPr>
          <a:xfrm>
            <a:off x="676656" y="1975104"/>
            <a:ext cx="2258568" cy="384048"/>
          </a:xfrm>
          <a:prstGeom prst="rect">
            <a:avLst/>
          </a:prstGeom>
          <a:noFill/>
          <a:ln/>
        </p:spPr>
        <p:txBody>
          <a:bodyPr wrap="square" lIns="0" tIns="0" rIns="0" bIns="0" rtlCol="0" anchor="ctr">
            <a:normAutofit/>
          </a:bodyPr>
          <a:lstStyle/>
          <a:p>
            <a:pPr algn="l" indent="0" marL="0">
              <a:buNone/>
            </a:pPr>
            <a:r>
              <a:rPr lang="en-US" sz="2400" b="1" dirty="0">
                <a:solidFill>
                  <a:srgbClr val="C58A2B"/>
                </a:solidFill>
                <a:latin typeface="Aptos" pitchFamily="34" charset="0"/>
                <a:ea typeface="Aptos" pitchFamily="34" charset="-122"/>
                <a:cs typeface="Aptos" pitchFamily="34" charset="-120"/>
              </a:rPr>
              <a:t>&lt;150 ms</a:t>
            </a:r>
            <a:endParaRPr lang="en-US" sz="2400" dirty="0"/>
          </a:p>
        </p:txBody>
      </p:sp>
      <p:sp>
        <p:nvSpPr>
          <p:cNvPr id="7" name="Text 5"/>
          <p:cNvSpPr/>
          <p:nvPr/>
        </p:nvSpPr>
        <p:spPr>
          <a:xfrm>
            <a:off x="676656" y="2423160"/>
            <a:ext cx="2258568" cy="256032"/>
          </a:xfrm>
          <a:prstGeom prst="rect">
            <a:avLst/>
          </a:prstGeom>
          <a:noFill/>
          <a:ln/>
        </p:spPr>
        <p:txBody>
          <a:bodyPr wrap="square" lIns="0" tIns="0" rIns="0" bIns="0" rtlCol="0" anchor="ctr">
            <a:normAutofit/>
          </a:bodyPr>
          <a:lstStyle/>
          <a:p>
            <a:pPr algn="l" indent="0" marL="0">
              <a:buNone/>
            </a:pPr>
            <a:r>
              <a:rPr lang="en-US" sz="850" dirty="0">
                <a:solidFill>
                  <a:srgbClr val="D2CFC7"/>
                </a:solidFill>
                <a:latin typeface="Aptos" pitchFamily="34" charset="0"/>
                <a:ea typeface="Aptos" pitchFamily="34" charset="-122"/>
                <a:cs typeface="Aptos" pitchFamily="34" charset="-120"/>
              </a:rPr>
              <a:t>Targeted local retrieval latency</a:t>
            </a:r>
            <a:endParaRPr lang="en-US" sz="850" dirty="0"/>
          </a:p>
        </p:txBody>
      </p:sp>
      <p:sp>
        <p:nvSpPr>
          <p:cNvPr id="8" name="Shape 6"/>
          <p:cNvSpPr/>
          <p:nvPr/>
        </p:nvSpPr>
        <p:spPr>
          <a:xfrm>
            <a:off x="3255264" y="1865376"/>
            <a:ext cx="2514600" cy="1005840"/>
          </a:xfrm>
          <a:prstGeom prst="rect">
            <a:avLst/>
          </a:prstGeom>
          <a:solidFill>
            <a:srgbClr val="1A1A18"/>
          </a:solidFill>
          <a:ln w="12700">
            <a:solidFill>
              <a:srgbClr val="1A1A18"/>
            </a:solidFill>
            <a:prstDash val="solid"/>
          </a:ln>
        </p:spPr>
      </p:sp>
      <p:sp>
        <p:nvSpPr>
          <p:cNvPr id="9" name="Text 7"/>
          <p:cNvSpPr/>
          <p:nvPr/>
        </p:nvSpPr>
        <p:spPr>
          <a:xfrm>
            <a:off x="3383280" y="1975104"/>
            <a:ext cx="2258568" cy="384048"/>
          </a:xfrm>
          <a:prstGeom prst="rect">
            <a:avLst/>
          </a:prstGeom>
          <a:noFill/>
          <a:ln/>
        </p:spPr>
        <p:txBody>
          <a:bodyPr wrap="square" lIns="0" tIns="0" rIns="0" bIns="0" rtlCol="0" anchor="ctr">
            <a:normAutofit/>
          </a:bodyPr>
          <a:lstStyle/>
          <a:p>
            <a:pPr algn="l" indent="0" marL="0">
              <a:buNone/>
            </a:pPr>
            <a:r>
              <a:rPr lang="en-US" sz="2400" b="1" dirty="0">
                <a:solidFill>
                  <a:srgbClr val="5E6E86"/>
                </a:solidFill>
                <a:latin typeface="Aptos" pitchFamily="34" charset="0"/>
                <a:ea typeface="Aptos" pitchFamily="34" charset="-122"/>
                <a:cs typeface="Aptos" pitchFamily="34" charset="-120"/>
              </a:rPr>
              <a:t>384-D</a:t>
            </a:r>
            <a:endParaRPr lang="en-US" sz="2400" dirty="0"/>
          </a:p>
        </p:txBody>
      </p:sp>
      <p:sp>
        <p:nvSpPr>
          <p:cNvPr id="10" name="Text 8"/>
          <p:cNvSpPr/>
          <p:nvPr/>
        </p:nvSpPr>
        <p:spPr>
          <a:xfrm>
            <a:off x="3383280" y="2423160"/>
            <a:ext cx="2258568" cy="256032"/>
          </a:xfrm>
          <a:prstGeom prst="rect">
            <a:avLst/>
          </a:prstGeom>
          <a:noFill/>
          <a:ln/>
        </p:spPr>
        <p:txBody>
          <a:bodyPr wrap="square" lIns="0" tIns="0" rIns="0" bIns="0" rtlCol="0" anchor="ctr">
            <a:normAutofit/>
          </a:bodyPr>
          <a:lstStyle/>
          <a:p>
            <a:pPr algn="l" indent="0" marL="0">
              <a:buNone/>
            </a:pPr>
            <a:r>
              <a:rPr lang="en-US" sz="850" dirty="0">
                <a:solidFill>
                  <a:srgbClr val="D2CFC7"/>
                </a:solidFill>
                <a:latin typeface="Aptos" pitchFamily="34" charset="0"/>
                <a:ea typeface="Aptos" pitchFamily="34" charset="-122"/>
                <a:cs typeface="Aptos" pitchFamily="34" charset="-120"/>
              </a:rPr>
              <a:t>Embedding representation</a:t>
            </a:r>
            <a:endParaRPr lang="en-US" sz="850" dirty="0"/>
          </a:p>
        </p:txBody>
      </p:sp>
      <p:sp>
        <p:nvSpPr>
          <p:cNvPr id="11" name="Shape 9"/>
          <p:cNvSpPr/>
          <p:nvPr/>
        </p:nvSpPr>
        <p:spPr>
          <a:xfrm>
            <a:off x="5961888" y="1865376"/>
            <a:ext cx="2514600" cy="1005840"/>
          </a:xfrm>
          <a:prstGeom prst="rect">
            <a:avLst/>
          </a:prstGeom>
          <a:solidFill>
            <a:srgbClr val="1A1A18"/>
          </a:solidFill>
          <a:ln w="12700">
            <a:solidFill>
              <a:srgbClr val="1A1A18"/>
            </a:solidFill>
            <a:prstDash val="solid"/>
          </a:ln>
        </p:spPr>
      </p:sp>
      <p:sp>
        <p:nvSpPr>
          <p:cNvPr id="12" name="Text 10"/>
          <p:cNvSpPr/>
          <p:nvPr/>
        </p:nvSpPr>
        <p:spPr>
          <a:xfrm>
            <a:off x="6089904" y="1975104"/>
            <a:ext cx="2258568" cy="384048"/>
          </a:xfrm>
          <a:prstGeom prst="rect">
            <a:avLst/>
          </a:prstGeom>
          <a:noFill/>
          <a:ln/>
        </p:spPr>
        <p:txBody>
          <a:bodyPr wrap="square" lIns="0" tIns="0" rIns="0" bIns="0" rtlCol="0" anchor="ctr">
            <a:normAutofit/>
          </a:bodyPr>
          <a:lstStyle/>
          <a:p>
            <a:pPr algn="l" indent="0" marL="0">
              <a:buNone/>
            </a:pPr>
            <a:r>
              <a:rPr lang="en-US" sz="2400" b="1" dirty="0">
                <a:solidFill>
                  <a:srgbClr val="4E7C52"/>
                </a:solidFill>
                <a:latin typeface="Aptos" pitchFamily="34" charset="0"/>
                <a:ea typeface="Aptos" pitchFamily="34" charset="-122"/>
                <a:cs typeface="Aptos" pitchFamily="34" charset="-120"/>
              </a:rPr>
              <a:t>10 MB</a:t>
            </a:r>
            <a:endParaRPr lang="en-US" sz="2400" dirty="0"/>
          </a:p>
        </p:txBody>
      </p:sp>
      <p:sp>
        <p:nvSpPr>
          <p:cNvPr id="13" name="Text 11"/>
          <p:cNvSpPr/>
          <p:nvPr/>
        </p:nvSpPr>
        <p:spPr>
          <a:xfrm>
            <a:off x="6089904" y="2423160"/>
            <a:ext cx="2258568" cy="256032"/>
          </a:xfrm>
          <a:prstGeom prst="rect">
            <a:avLst/>
          </a:prstGeom>
          <a:noFill/>
          <a:ln/>
        </p:spPr>
        <p:txBody>
          <a:bodyPr wrap="square" lIns="0" tIns="0" rIns="0" bIns="0" rtlCol="0" anchor="ctr">
            <a:normAutofit/>
          </a:bodyPr>
          <a:lstStyle/>
          <a:p>
            <a:pPr algn="l" indent="0" marL="0">
              <a:buNone/>
            </a:pPr>
            <a:r>
              <a:rPr lang="en-US" sz="850" dirty="0">
                <a:solidFill>
                  <a:srgbClr val="D2CFC7"/>
                </a:solidFill>
                <a:latin typeface="Aptos" pitchFamily="34" charset="0"/>
                <a:ea typeface="Aptos" pitchFamily="34" charset="-122"/>
                <a:cs typeface="Aptos" pitchFamily="34" charset="-120"/>
              </a:rPr>
              <a:t>Default upload bound</a:t>
            </a:r>
            <a:endParaRPr lang="en-US" sz="850" dirty="0"/>
          </a:p>
        </p:txBody>
      </p:sp>
      <p:sp>
        <p:nvSpPr>
          <p:cNvPr id="14" name="Shape 12"/>
          <p:cNvSpPr/>
          <p:nvPr/>
        </p:nvSpPr>
        <p:spPr>
          <a:xfrm>
            <a:off x="8668512" y="1865376"/>
            <a:ext cx="2761488" cy="1005840"/>
          </a:xfrm>
          <a:prstGeom prst="rect">
            <a:avLst/>
          </a:prstGeom>
          <a:solidFill>
            <a:srgbClr val="1A1A18"/>
          </a:solidFill>
          <a:ln w="12700">
            <a:solidFill>
              <a:srgbClr val="1A1A18"/>
            </a:solidFill>
            <a:prstDash val="solid"/>
          </a:ln>
        </p:spPr>
      </p:sp>
      <p:sp>
        <p:nvSpPr>
          <p:cNvPr id="15" name="Text 13"/>
          <p:cNvSpPr/>
          <p:nvPr/>
        </p:nvSpPr>
        <p:spPr>
          <a:xfrm>
            <a:off x="8796528" y="1975104"/>
            <a:ext cx="2505456" cy="384048"/>
          </a:xfrm>
          <a:prstGeom prst="rect">
            <a:avLst/>
          </a:prstGeom>
          <a:noFill/>
          <a:ln/>
        </p:spPr>
        <p:txBody>
          <a:bodyPr wrap="square" lIns="0" tIns="0" rIns="0" bIns="0" rtlCol="0" anchor="ctr">
            <a:normAutofit/>
          </a:bodyPr>
          <a:lstStyle/>
          <a:p>
            <a:pPr algn="l" indent="0" marL="0">
              <a:buNone/>
            </a:pPr>
            <a:r>
              <a:rPr lang="en-US" sz="2400" b="1" dirty="0">
                <a:solidFill>
                  <a:srgbClr val="C84A45"/>
                </a:solidFill>
                <a:latin typeface="Aptos" pitchFamily="34" charset="0"/>
                <a:ea typeface="Aptos" pitchFamily="34" charset="-122"/>
                <a:cs typeface="Aptos" pitchFamily="34" charset="-120"/>
              </a:rPr>
              <a:t>32</a:t>
            </a:r>
            <a:endParaRPr lang="en-US" sz="2400" dirty="0"/>
          </a:p>
        </p:txBody>
      </p:sp>
      <p:sp>
        <p:nvSpPr>
          <p:cNvPr id="16" name="Text 14"/>
          <p:cNvSpPr/>
          <p:nvPr/>
        </p:nvSpPr>
        <p:spPr>
          <a:xfrm>
            <a:off x="8796528" y="2423160"/>
            <a:ext cx="2505456" cy="256032"/>
          </a:xfrm>
          <a:prstGeom prst="rect">
            <a:avLst/>
          </a:prstGeom>
          <a:noFill/>
          <a:ln/>
        </p:spPr>
        <p:txBody>
          <a:bodyPr wrap="square" lIns="0" tIns="0" rIns="0" bIns="0" rtlCol="0" anchor="ctr">
            <a:normAutofit/>
          </a:bodyPr>
          <a:lstStyle/>
          <a:p>
            <a:pPr algn="l" indent="0" marL="0">
              <a:buNone/>
            </a:pPr>
            <a:r>
              <a:rPr lang="en-US" sz="850" dirty="0">
                <a:solidFill>
                  <a:srgbClr val="D2CFC7"/>
                </a:solidFill>
                <a:latin typeface="Aptos" pitchFamily="34" charset="0"/>
                <a:ea typeface="Aptos" pitchFamily="34" charset="-122"/>
                <a:cs typeface="Aptos" pitchFamily="34" charset="-120"/>
              </a:rPr>
              <a:t>Modular REST API endpoints</a:t>
            </a:r>
            <a:endParaRPr lang="en-US" sz="850" dirty="0"/>
          </a:p>
        </p:txBody>
      </p:sp>
      <p:sp>
        <p:nvSpPr>
          <p:cNvPr id="17" name="Shape 15"/>
          <p:cNvSpPr/>
          <p:nvPr/>
        </p:nvSpPr>
        <p:spPr>
          <a:xfrm>
            <a:off x="548640" y="3355848"/>
            <a:ext cx="2487168" cy="1828800"/>
          </a:xfrm>
          <a:prstGeom prst="rect">
            <a:avLst/>
          </a:prstGeom>
          <a:solidFill>
            <a:srgbClr val="181817"/>
          </a:solidFill>
          <a:ln w="12700">
            <a:solidFill>
              <a:srgbClr val="3A3833"/>
            </a:solidFill>
            <a:prstDash val="solid"/>
          </a:ln>
        </p:spPr>
      </p:sp>
      <p:sp>
        <p:nvSpPr>
          <p:cNvPr id="18" name="Text 16"/>
          <p:cNvSpPr/>
          <p:nvPr/>
        </p:nvSpPr>
        <p:spPr>
          <a:xfrm>
            <a:off x="713232" y="3584448"/>
            <a:ext cx="2139696" cy="320040"/>
          </a:xfrm>
          <a:prstGeom prst="rect">
            <a:avLst/>
          </a:prstGeom>
          <a:noFill/>
          <a:ln/>
        </p:spPr>
        <p:txBody>
          <a:bodyPr wrap="square" lIns="0" tIns="0" rIns="0" bIns="0" rtlCol="0" anchor="ctr">
            <a:normAutofit/>
          </a:bodyPr>
          <a:lstStyle/>
          <a:p>
            <a:pPr algn="l" indent="0" marL="0">
              <a:buNone/>
            </a:pPr>
            <a:r>
              <a:rPr lang="en-US" sz="1020" b="1" dirty="0">
                <a:solidFill>
                  <a:srgbClr val="FFFFFF"/>
                </a:solidFill>
                <a:latin typeface="Aptos" pitchFamily="34" charset="0"/>
                <a:ea typeface="Aptos" pitchFamily="34" charset="-122"/>
                <a:cs typeface="Aptos" pitchFamily="34" charset="-120"/>
              </a:rPr>
              <a:t>Type-safe contracts</a:t>
            </a:r>
            <a:endParaRPr lang="en-US" sz="1020" dirty="0"/>
          </a:p>
        </p:txBody>
      </p:sp>
      <p:sp>
        <p:nvSpPr>
          <p:cNvPr id="19" name="Text 17"/>
          <p:cNvSpPr/>
          <p:nvPr/>
        </p:nvSpPr>
        <p:spPr>
          <a:xfrm>
            <a:off x="713232" y="4087368"/>
            <a:ext cx="2139696" cy="804672"/>
          </a:xfrm>
          <a:prstGeom prst="rect">
            <a:avLst/>
          </a:prstGeom>
          <a:noFill/>
          <a:ln/>
        </p:spPr>
        <p:txBody>
          <a:bodyPr wrap="square" lIns="0" tIns="0" rIns="0" bIns="0" rtlCol="0" anchor="t">
            <a:normAutofit/>
          </a:bodyPr>
          <a:lstStyle/>
          <a:p>
            <a:pPr algn="l" indent="0" marL="0">
              <a:buNone/>
            </a:pPr>
            <a:r>
              <a:rPr lang="en-US" sz="860" dirty="0">
                <a:solidFill>
                  <a:srgbClr val="BDB8AE"/>
                </a:solidFill>
                <a:latin typeface="Aptos" pitchFamily="34" charset="0"/>
                <a:ea typeface="Aptos" pitchFamily="34" charset="-122"/>
                <a:cs typeface="Aptos" pitchFamily="34" charset="-120"/>
              </a:rPr>
              <a:t>TypeScript interfaces + strict JSON parsing protect UI / API boundaries.</a:t>
            </a:r>
            <a:endParaRPr lang="en-US" sz="860" dirty="0"/>
          </a:p>
        </p:txBody>
      </p:sp>
      <p:sp>
        <p:nvSpPr>
          <p:cNvPr id="20" name="Shape 18"/>
          <p:cNvSpPr/>
          <p:nvPr/>
        </p:nvSpPr>
        <p:spPr>
          <a:xfrm>
            <a:off x="3291840" y="3355848"/>
            <a:ext cx="2487168" cy="1828800"/>
          </a:xfrm>
          <a:prstGeom prst="rect">
            <a:avLst/>
          </a:prstGeom>
          <a:solidFill>
            <a:srgbClr val="181817"/>
          </a:solidFill>
          <a:ln w="12700">
            <a:solidFill>
              <a:srgbClr val="3A3833"/>
            </a:solidFill>
            <a:prstDash val="solid"/>
          </a:ln>
        </p:spPr>
      </p:sp>
      <p:sp>
        <p:nvSpPr>
          <p:cNvPr id="21" name="Text 19"/>
          <p:cNvSpPr/>
          <p:nvPr/>
        </p:nvSpPr>
        <p:spPr>
          <a:xfrm>
            <a:off x="3456432" y="3584448"/>
            <a:ext cx="2139696" cy="320040"/>
          </a:xfrm>
          <a:prstGeom prst="rect">
            <a:avLst/>
          </a:prstGeom>
          <a:noFill/>
          <a:ln/>
        </p:spPr>
        <p:txBody>
          <a:bodyPr wrap="square" lIns="0" tIns="0" rIns="0" bIns="0" rtlCol="0" anchor="ctr">
            <a:normAutofit/>
          </a:bodyPr>
          <a:lstStyle/>
          <a:p>
            <a:pPr algn="l" indent="0" marL="0">
              <a:buNone/>
            </a:pPr>
            <a:r>
              <a:rPr lang="en-US" sz="1020" b="1" dirty="0">
                <a:solidFill>
                  <a:srgbClr val="FFFFFF"/>
                </a:solidFill>
                <a:latin typeface="Aptos" pitchFamily="34" charset="0"/>
                <a:ea typeface="Aptos" pitchFamily="34" charset="-122"/>
                <a:cs typeface="Aptos" pitchFamily="34" charset="-120"/>
              </a:rPr>
              <a:t>Resilient inference</a:t>
            </a:r>
            <a:endParaRPr lang="en-US" sz="1020" dirty="0"/>
          </a:p>
        </p:txBody>
      </p:sp>
      <p:sp>
        <p:nvSpPr>
          <p:cNvPr id="22" name="Text 20"/>
          <p:cNvSpPr/>
          <p:nvPr/>
        </p:nvSpPr>
        <p:spPr>
          <a:xfrm>
            <a:off x="3456432" y="4087368"/>
            <a:ext cx="2139696" cy="804672"/>
          </a:xfrm>
          <a:prstGeom prst="rect">
            <a:avLst/>
          </a:prstGeom>
          <a:noFill/>
          <a:ln/>
        </p:spPr>
        <p:txBody>
          <a:bodyPr wrap="square" lIns="0" tIns="0" rIns="0" bIns="0" rtlCol="0" anchor="t">
            <a:normAutofit/>
          </a:bodyPr>
          <a:lstStyle/>
          <a:p>
            <a:pPr algn="l" indent="0" marL="0">
              <a:buNone/>
            </a:pPr>
            <a:r>
              <a:rPr lang="en-US" sz="860" dirty="0">
                <a:solidFill>
                  <a:srgbClr val="BDB8AE"/>
                </a:solidFill>
                <a:latin typeface="Aptos" pitchFamily="34" charset="0"/>
                <a:ea typeface="Aptos" pitchFamily="34" charset="-122"/>
                <a:cs typeface="Aptos" pitchFamily="34" charset="-120"/>
              </a:rPr>
              <a:t>Exponential backoff for rate limits and service failures, plus provider fallback.</a:t>
            </a:r>
            <a:endParaRPr lang="en-US" sz="860" dirty="0"/>
          </a:p>
        </p:txBody>
      </p:sp>
      <p:sp>
        <p:nvSpPr>
          <p:cNvPr id="23" name="Shape 21"/>
          <p:cNvSpPr/>
          <p:nvPr/>
        </p:nvSpPr>
        <p:spPr>
          <a:xfrm>
            <a:off x="6035040" y="3355848"/>
            <a:ext cx="2487168" cy="1828800"/>
          </a:xfrm>
          <a:prstGeom prst="rect">
            <a:avLst/>
          </a:prstGeom>
          <a:solidFill>
            <a:srgbClr val="181817"/>
          </a:solidFill>
          <a:ln w="12700">
            <a:solidFill>
              <a:srgbClr val="3A3833"/>
            </a:solidFill>
            <a:prstDash val="solid"/>
          </a:ln>
        </p:spPr>
      </p:sp>
      <p:sp>
        <p:nvSpPr>
          <p:cNvPr id="24" name="Text 22"/>
          <p:cNvSpPr/>
          <p:nvPr/>
        </p:nvSpPr>
        <p:spPr>
          <a:xfrm>
            <a:off x="6199632" y="3584448"/>
            <a:ext cx="2139696" cy="320040"/>
          </a:xfrm>
          <a:prstGeom prst="rect">
            <a:avLst/>
          </a:prstGeom>
          <a:noFill/>
          <a:ln/>
        </p:spPr>
        <p:txBody>
          <a:bodyPr wrap="square" lIns="0" tIns="0" rIns="0" bIns="0" rtlCol="0" anchor="ctr">
            <a:normAutofit/>
          </a:bodyPr>
          <a:lstStyle/>
          <a:p>
            <a:pPr algn="l" indent="0" marL="0">
              <a:buNone/>
            </a:pPr>
            <a:r>
              <a:rPr lang="en-US" sz="1020" b="1" dirty="0">
                <a:solidFill>
                  <a:srgbClr val="FFFFFF"/>
                </a:solidFill>
                <a:latin typeface="Aptos" pitchFamily="34" charset="0"/>
                <a:ea typeface="Aptos" pitchFamily="34" charset="-122"/>
                <a:cs typeface="Aptos" pitchFamily="34" charset="-120"/>
              </a:rPr>
              <a:t>Bounded caching</a:t>
            </a:r>
            <a:endParaRPr lang="en-US" sz="1020" dirty="0"/>
          </a:p>
        </p:txBody>
      </p:sp>
      <p:sp>
        <p:nvSpPr>
          <p:cNvPr id="25" name="Text 23"/>
          <p:cNvSpPr/>
          <p:nvPr/>
        </p:nvSpPr>
        <p:spPr>
          <a:xfrm>
            <a:off x="6199632" y="4087368"/>
            <a:ext cx="2139696" cy="804672"/>
          </a:xfrm>
          <a:prstGeom prst="rect">
            <a:avLst/>
          </a:prstGeom>
          <a:noFill/>
          <a:ln/>
        </p:spPr>
        <p:txBody>
          <a:bodyPr wrap="square" lIns="0" tIns="0" rIns="0" bIns="0" rtlCol="0" anchor="t">
            <a:normAutofit/>
          </a:bodyPr>
          <a:lstStyle/>
          <a:p>
            <a:pPr algn="l" indent="0" marL="0">
              <a:buNone/>
            </a:pPr>
            <a:r>
              <a:rPr lang="en-US" sz="860" dirty="0">
                <a:solidFill>
                  <a:srgbClr val="BDB8AE"/>
                </a:solidFill>
                <a:latin typeface="Aptos" pitchFamily="34" charset="0"/>
                <a:ea typeface="Aptos" pitchFamily="34" charset="-122"/>
                <a:cs typeface="Aptos" pitchFamily="34" charset="-120"/>
              </a:rPr>
              <a:t>FIFO query cache reduces repeated embedding / retrieval work.</a:t>
            </a:r>
            <a:endParaRPr lang="en-US" sz="860" dirty="0"/>
          </a:p>
        </p:txBody>
      </p:sp>
      <p:sp>
        <p:nvSpPr>
          <p:cNvPr id="26" name="Shape 24"/>
          <p:cNvSpPr/>
          <p:nvPr/>
        </p:nvSpPr>
        <p:spPr>
          <a:xfrm>
            <a:off x="8778240" y="3355848"/>
            <a:ext cx="2487168" cy="1828800"/>
          </a:xfrm>
          <a:prstGeom prst="rect">
            <a:avLst/>
          </a:prstGeom>
          <a:solidFill>
            <a:srgbClr val="181817"/>
          </a:solidFill>
          <a:ln w="12700">
            <a:solidFill>
              <a:srgbClr val="3A3833"/>
            </a:solidFill>
            <a:prstDash val="solid"/>
          </a:ln>
        </p:spPr>
      </p:sp>
      <p:sp>
        <p:nvSpPr>
          <p:cNvPr id="27" name="Text 25"/>
          <p:cNvSpPr/>
          <p:nvPr/>
        </p:nvSpPr>
        <p:spPr>
          <a:xfrm>
            <a:off x="8942832" y="3584448"/>
            <a:ext cx="2139696" cy="320040"/>
          </a:xfrm>
          <a:prstGeom prst="rect">
            <a:avLst/>
          </a:prstGeom>
          <a:noFill/>
          <a:ln/>
        </p:spPr>
        <p:txBody>
          <a:bodyPr wrap="square" lIns="0" tIns="0" rIns="0" bIns="0" rtlCol="0" anchor="ctr">
            <a:normAutofit/>
          </a:bodyPr>
          <a:lstStyle/>
          <a:p>
            <a:pPr algn="l" indent="0" marL="0">
              <a:buNone/>
            </a:pPr>
            <a:r>
              <a:rPr lang="en-US" sz="1020" b="1" dirty="0">
                <a:solidFill>
                  <a:srgbClr val="FFFFFF"/>
                </a:solidFill>
                <a:latin typeface="Aptos" pitchFamily="34" charset="0"/>
                <a:ea typeface="Aptos" pitchFamily="34" charset="-122"/>
                <a:cs typeface="Aptos" pitchFamily="34" charset="-120"/>
              </a:rPr>
              <a:t>Modular delivery</a:t>
            </a:r>
            <a:endParaRPr lang="en-US" sz="1020" dirty="0"/>
          </a:p>
        </p:txBody>
      </p:sp>
      <p:sp>
        <p:nvSpPr>
          <p:cNvPr id="28" name="Text 26"/>
          <p:cNvSpPr/>
          <p:nvPr/>
        </p:nvSpPr>
        <p:spPr>
          <a:xfrm>
            <a:off x="8942832" y="4087368"/>
            <a:ext cx="2139696" cy="804672"/>
          </a:xfrm>
          <a:prstGeom prst="rect">
            <a:avLst/>
          </a:prstGeom>
          <a:noFill/>
          <a:ln/>
        </p:spPr>
        <p:txBody>
          <a:bodyPr wrap="square" lIns="0" tIns="0" rIns="0" bIns="0" rtlCol="0" anchor="t">
            <a:normAutofit/>
          </a:bodyPr>
          <a:lstStyle/>
          <a:p>
            <a:pPr algn="l" indent="0" marL="0">
              <a:buNone/>
            </a:pPr>
            <a:r>
              <a:rPr lang="en-US" sz="860" dirty="0">
                <a:solidFill>
                  <a:srgbClr val="BDB8AE"/>
                </a:solidFill>
                <a:latin typeface="Aptos" pitchFamily="34" charset="0"/>
                <a:ea typeface="Aptos" pitchFamily="34" charset="-122"/>
                <a:cs typeface="Aptos" pitchFamily="34" charset="-120"/>
              </a:rPr>
              <a:t>Feature areas are separated into routes, components, engines and services.</a:t>
            </a:r>
            <a:endParaRPr lang="en-US" sz="860" dirty="0"/>
          </a:p>
        </p:txBody>
      </p:sp>
      <p:sp>
        <p:nvSpPr>
          <p:cNvPr id="29" name="Text 27"/>
          <p:cNvSpPr/>
          <p:nvPr/>
        </p:nvSpPr>
        <p:spPr>
          <a:xfrm>
            <a:off x="548640" y="5678424"/>
            <a:ext cx="10844784" cy="292608"/>
          </a:xfrm>
          <a:prstGeom prst="rect">
            <a:avLst/>
          </a:prstGeom>
          <a:noFill/>
          <a:ln/>
        </p:spPr>
        <p:txBody>
          <a:bodyPr wrap="square" lIns="0" tIns="0" rIns="0" bIns="0" rtlCol="0" anchor="ctr">
            <a:normAutofit/>
          </a:bodyPr>
          <a:lstStyle/>
          <a:p>
            <a:pPr algn="ctr" indent="0" marL="0">
              <a:buNone/>
            </a:pPr>
            <a:r>
              <a:rPr lang="en-US" sz="1500" i="1" dirty="0">
                <a:solidFill>
                  <a:srgbClr val="D8D3C8"/>
                </a:solidFill>
                <a:latin typeface="Georgia" pitchFamily="34" charset="0"/>
                <a:ea typeface="Georgia" pitchFamily="34" charset="-122"/>
                <a:cs typeface="Georgia" pitchFamily="34" charset="-120"/>
              </a:rPr>
              <a:t>The result: a project that can be evaluated as both a product and a systems-engineering exercise.</a:t>
            </a:r>
            <a:endParaRPr lang="en-US" sz="150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A968C"/>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13  /  LIVE DEMO SCRIPT</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A 4-minute demo that tells the whole story.</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Use one deliberately risky sample contract and show how each module adds value.</a:t>
            </a:r>
            <a:endParaRPr lang="en-US" sz="1150" dirty="0"/>
          </a:p>
        </p:txBody>
      </p:sp>
      <p:sp>
        <p:nvSpPr>
          <p:cNvPr id="5" name="Shape 3"/>
          <p:cNvSpPr/>
          <p:nvPr/>
        </p:nvSpPr>
        <p:spPr>
          <a:xfrm>
            <a:off x="548640" y="1874520"/>
            <a:ext cx="10881360" cy="713232"/>
          </a:xfrm>
          <a:prstGeom prst="rect">
            <a:avLst/>
          </a:prstGeom>
          <a:solidFill>
            <a:srgbClr val="111111"/>
          </a:solidFill>
          <a:ln w="12700">
            <a:solidFill>
              <a:srgbClr val="111111"/>
            </a:solidFill>
            <a:prstDash val="solid"/>
          </a:ln>
        </p:spPr>
      </p:sp>
      <p:sp>
        <p:nvSpPr>
          <p:cNvPr id="6" name="Text 4"/>
          <p:cNvSpPr/>
          <p:nvPr/>
        </p:nvSpPr>
        <p:spPr>
          <a:xfrm>
            <a:off x="749808" y="2039112"/>
            <a:ext cx="320040" cy="182880"/>
          </a:xfrm>
          <a:prstGeom prst="rect">
            <a:avLst/>
          </a:prstGeom>
          <a:noFill/>
          <a:ln/>
        </p:spPr>
        <p:txBody>
          <a:bodyPr wrap="square" lIns="0" tIns="0" rIns="0" bIns="0" rtlCol="0" anchor="ctr">
            <a:normAutofit/>
          </a:bodyPr>
          <a:lstStyle/>
          <a:p>
            <a:pPr algn="l" indent="0" marL="0">
              <a:buNone/>
            </a:pPr>
            <a:r>
              <a:rPr lang="en-US" sz="830" b="1" spc="110" kern="0" dirty="0">
                <a:solidFill>
                  <a:srgbClr val="A9A59A"/>
                </a:solidFill>
                <a:latin typeface="Aptos" pitchFamily="34" charset="0"/>
                <a:ea typeface="Aptos" pitchFamily="34" charset="-122"/>
                <a:cs typeface="Aptos" pitchFamily="34" charset="-120"/>
              </a:rPr>
              <a:t>01</a:t>
            </a:r>
            <a:endParaRPr lang="en-US" sz="830" dirty="0"/>
          </a:p>
        </p:txBody>
      </p:sp>
      <p:sp>
        <p:nvSpPr>
          <p:cNvPr id="7" name="Text 5"/>
          <p:cNvSpPr/>
          <p:nvPr/>
        </p:nvSpPr>
        <p:spPr>
          <a:xfrm>
            <a:off x="1298448" y="2020824"/>
            <a:ext cx="1097280" cy="182880"/>
          </a:xfrm>
          <a:prstGeom prst="rect">
            <a:avLst/>
          </a:prstGeom>
          <a:noFill/>
          <a:ln/>
        </p:spPr>
        <p:txBody>
          <a:bodyPr wrap="square" lIns="0" tIns="0" rIns="0" bIns="0" rtlCol="0" anchor="ctr">
            <a:normAutofit/>
          </a:bodyPr>
          <a:lstStyle/>
          <a:p>
            <a:pPr algn="l" indent="0" marL="0">
              <a:buNone/>
            </a:pPr>
            <a:r>
              <a:rPr lang="en-US" sz="840" b="1" spc="110" kern="0" dirty="0">
                <a:solidFill>
                  <a:srgbClr val="C58A2B"/>
                </a:solidFill>
                <a:latin typeface="Aptos" pitchFamily="34" charset="0"/>
                <a:ea typeface="Aptos" pitchFamily="34" charset="-122"/>
                <a:cs typeface="Aptos" pitchFamily="34" charset="-120"/>
              </a:rPr>
              <a:t>ANALYZE</a:t>
            </a:r>
            <a:endParaRPr lang="en-US" sz="840" dirty="0"/>
          </a:p>
        </p:txBody>
      </p:sp>
      <p:sp>
        <p:nvSpPr>
          <p:cNvPr id="8" name="Text 6"/>
          <p:cNvSpPr/>
          <p:nvPr/>
        </p:nvSpPr>
        <p:spPr>
          <a:xfrm>
            <a:off x="2450592" y="1984248"/>
            <a:ext cx="2697480" cy="274320"/>
          </a:xfrm>
          <a:prstGeom prst="rect">
            <a:avLst/>
          </a:prstGeom>
          <a:noFill/>
          <a:ln/>
        </p:spPr>
        <p:txBody>
          <a:bodyPr wrap="square" lIns="0" tIns="0" rIns="0" bIns="0" rtlCol="0" anchor="ctr">
            <a:normAutofit/>
          </a:bodyPr>
          <a:lstStyle/>
          <a:p>
            <a:pPr algn="l" indent="0" marL="0">
              <a:buNone/>
            </a:pPr>
            <a:r>
              <a:rPr lang="en-US" sz="1040" b="1" dirty="0">
                <a:solidFill>
                  <a:srgbClr val="FFFFFF"/>
                </a:solidFill>
                <a:latin typeface="Aptos" pitchFamily="34" charset="0"/>
                <a:ea typeface="Aptos" pitchFamily="34" charset="-122"/>
                <a:cs typeface="Aptos" pitchFamily="34" charset="-120"/>
              </a:rPr>
              <a:t>Upload sample contract</a:t>
            </a:r>
            <a:endParaRPr lang="en-US" sz="1040" dirty="0"/>
          </a:p>
        </p:txBody>
      </p:sp>
      <p:sp>
        <p:nvSpPr>
          <p:cNvPr id="9" name="Text 7"/>
          <p:cNvSpPr/>
          <p:nvPr/>
        </p:nvSpPr>
        <p:spPr>
          <a:xfrm>
            <a:off x="5321808" y="1984248"/>
            <a:ext cx="5623560" cy="320040"/>
          </a:xfrm>
          <a:prstGeom prst="rect">
            <a:avLst/>
          </a:prstGeom>
          <a:noFill/>
          <a:ln/>
        </p:spPr>
        <p:txBody>
          <a:bodyPr wrap="square" lIns="0" tIns="0" rIns="0" bIns="0" rtlCol="0" anchor="t">
            <a:normAutofit/>
          </a:bodyPr>
          <a:lstStyle/>
          <a:p>
            <a:pPr algn="l" indent="0" marL="0">
              <a:buNone/>
            </a:pPr>
            <a:r>
              <a:rPr lang="en-US" sz="890" dirty="0">
                <a:solidFill>
                  <a:srgbClr val="D0CCC4"/>
                </a:solidFill>
                <a:latin typeface="Aptos" pitchFamily="34" charset="0"/>
                <a:ea typeface="Aptos" pitchFamily="34" charset="-122"/>
                <a:cs typeface="Aptos" pitchFamily="34" charset="-120"/>
              </a:rPr>
              <a:t>Show overall risk, red flags and one concrete clause.</a:t>
            </a:r>
            <a:endParaRPr lang="en-US" sz="890" dirty="0"/>
          </a:p>
        </p:txBody>
      </p:sp>
      <p:sp>
        <p:nvSpPr>
          <p:cNvPr id="10" name="Shape 8"/>
          <p:cNvSpPr/>
          <p:nvPr/>
        </p:nvSpPr>
        <p:spPr>
          <a:xfrm>
            <a:off x="548640" y="2788920"/>
            <a:ext cx="10881360" cy="713232"/>
          </a:xfrm>
          <a:prstGeom prst="rect">
            <a:avLst/>
          </a:prstGeom>
          <a:solidFill>
            <a:srgbClr val="FFFFFF"/>
          </a:solidFill>
          <a:ln w="12700">
            <a:solidFill>
              <a:srgbClr val="D6D0C5"/>
            </a:solidFill>
            <a:prstDash val="solid"/>
          </a:ln>
        </p:spPr>
      </p:sp>
      <p:sp>
        <p:nvSpPr>
          <p:cNvPr id="11" name="Text 9"/>
          <p:cNvSpPr/>
          <p:nvPr/>
        </p:nvSpPr>
        <p:spPr>
          <a:xfrm>
            <a:off x="749808" y="2953512"/>
            <a:ext cx="320040" cy="182880"/>
          </a:xfrm>
          <a:prstGeom prst="rect">
            <a:avLst/>
          </a:prstGeom>
          <a:noFill/>
          <a:ln/>
        </p:spPr>
        <p:txBody>
          <a:bodyPr wrap="square" lIns="0" tIns="0" rIns="0" bIns="0" rtlCol="0" anchor="ctr">
            <a:normAutofit/>
          </a:bodyPr>
          <a:lstStyle/>
          <a:p>
            <a:pPr algn="l" indent="0" marL="0">
              <a:buNone/>
            </a:pPr>
            <a:r>
              <a:rPr lang="en-US" sz="830" b="1" spc="110" kern="0" dirty="0">
                <a:solidFill>
                  <a:srgbClr val="6D695F"/>
                </a:solidFill>
                <a:latin typeface="Aptos" pitchFamily="34" charset="0"/>
                <a:ea typeface="Aptos" pitchFamily="34" charset="-122"/>
                <a:cs typeface="Aptos" pitchFamily="34" charset="-120"/>
              </a:rPr>
              <a:t>02</a:t>
            </a:r>
            <a:endParaRPr lang="en-US" sz="830" dirty="0"/>
          </a:p>
        </p:txBody>
      </p:sp>
      <p:sp>
        <p:nvSpPr>
          <p:cNvPr id="12" name="Text 10"/>
          <p:cNvSpPr/>
          <p:nvPr/>
        </p:nvSpPr>
        <p:spPr>
          <a:xfrm>
            <a:off x="1298448" y="2935224"/>
            <a:ext cx="1097280" cy="182880"/>
          </a:xfrm>
          <a:prstGeom prst="rect">
            <a:avLst/>
          </a:prstGeom>
          <a:noFill/>
          <a:ln/>
        </p:spPr>
        <p:txBody>
          <a:bodyPr wrap="square" lIns="0" tIns="0" rIns="0" bIns="0" rtlCol="0" anchor="ctr">
            <a:normAutofit/>
          </a:bodyPr>
          <a:lstStyle/>
          <a:p>
            <a:pPr algn="l" indent="0" marL="0">
              <a:buNone/>
            </a:pPr>
            <a:r>
              <a:rPr lang="en-US" sz="840" b="1" spc="110" kern="0" dirty="0">
                <a:solidFill>
                  <a:srgbClr val="6D695F"/>
                </a:solidFill>
                <a:latin typeface="Aptos" pitchFamily="34" charset="0"/>
                <a:ea typeface="Aptos" pitchFamily="34" charset="-122"/>
                <a:cs typeface="Aptos" pitchFamily="34" charset="-120"/>
              </a:rPr>
              <a:t>BENCHMARK</a:t>
            </a:r>
            <a:endParaRPr lang="en-US" sz="840" dirty="0"/>
          </a:p>
        </p:txBody>
      </p:sp>
      <p:sp>
        <p:nvSpPr>
          <p:cNvPr id="13" name="Text 11"/>
          <p:cNvSpPr/>
          <p:nvPr/>
        </p:nvSpPr>
        <p:spPr>
          <a:xfrm>
            <a:off x="2450592" y="2898648"/>
            <a:ext cx="2697480" cy="274320"/>
          </a:xfrm>
          <a:prstGeom prst="rect">
            <a:avLst/>
          </a:prstGeom>
          <a:noFill/>
          <a:ln/>
        </p:spPr>
        <p:txBody>
          <a:bodyPr wrap="square" lIns="0" tIns="0" rIns="0" bIns="0" rtlCol="0" anchor="ctr">
            <a:normAutofit/>
          </a:bodyPr>
          <a:lstStyle/>
          <a:p>
            <a:pPr algn="l" indent="0" marL="0">
              <a:buNone/>
            </a:pPr>
            <a:r>
              <a:rPr lang="en-US" sz="1040" b="1" dirty="0">
                <a:solidFill>
                  <a:srgbClr val="111111"/>
                </a:solidFill>
                <a:latin typeface="Aptos" pitchFamily="34" charset="0"/>
                <a:ea typeface="Aptos" pitchFamily="34" charset="-122"/>
                <a:cs typeface="Aptos" pitchFamily="34" charset="-120"/>
              </a:rPr>
              <a:t>Open semantic match / risk context</a:t>
            </a:r>
            <a:endParaRPr lang="en-US" sz="1040" dirty="0"/>
          </a:p>
        </p:txBody>
      </p:sp>
      <p:sp>
        <p:nvSpPr>
          <p:cNvPr id="14" name="Text 12"/>
          <p:cNvSpPr/>
          <p:nvPr/>
        </p:nvSpPr>
        <p:spPr>
          <a:xfrm>
            <a:off x="5321808" y="2898648"/>
            <a:ext cx="5623560" cy="320040"/>
          </a:xfrm>
          <a:prstGeom prst="rect">
            <a:avLst/>
          </a:prstGeom>
          <a:noFill/>
          <a:ln/>
        </p:spPr>
        <p:txBody>
          <a:bodyPr wrap="square" lIns="0" tIns="0" rIns="0" bIns="0" rtlCol="0" anchor="t">
            <a:normAutofit/>
          </a:bodyPr>
          <a:lstStyle/>
          <a:p>
            <a:pPr algn="l" indent="0" marL="0">
              <a:buNone/>
            </a:pPr>
            <a:r>
              <a:rPr lang="en-US" sz="890" dirty="0">
                <a:solidFill>
                  <a:srgbClr val="6D695F"/>
                </a:solidFill>
                <a:latin typeface="Aptos" pitchFamily="34" charset="0"/>
                <a:ea typeface="Aptos" pitchFamily="34" charset="-122"/>
                <a:cs typeface="Aptos" pitchFamily="34" charset="-120"/>
              </a:rPr>
              <a:t>Show similarity, category benchmark and ERR.</a:t>
            </a:r>
            <a:endParaRPr lang="en-US" sz="890" dirty="0"/>
          </a:p>
        </p:txBody>
      </p:sp>
      <p:sp>
        <p:nvSpPr>
          <p:cNvPr id="15" name="Shape 13"/>
          <p:cNvSpPr/>
          <p:nvPr/>
        </p:nvSpPr>
        <p:spPr>
          <a:xfrm>
            <a:off x="548640" y="3703320"/>
            <a:ext cx="10881360" cy="713232"/>
          </a:xfrm>
          <a:prstGeom prst="rect">
            <a:avLst/>
          </a:prstGeom>
          <a:solidFill>
            <a:srgbClr val="FFFFFF"/>
          </a:solidFill>
          <a:ln w="12700">
            <a:solidFill>
              <a:srgbClr val="D6D0C5"/>
            </a:solidFill>
            <a:prstDash val="solid"/>
          </a:ln>
        </p:spPr>
      </p:sp>
      <p:sp>
        <p:nvSpPr>
          <p:cNvPr id="16" name="Text 14"/>
          <p:cNvSpPr/>
          <p:nvPr/>
        </p:nvSpPr>
        <p:spPr>
          <a:xfrm>
            <a:off x="749808" y="3867912"/>
            <a:ext cx="320040" cy="182880"/>
          </a:xfrm>
          <a:prstGeom prst="rect">
            <a:avLst/>
          </a:prstGeom>
          <a:noFill/>
          <a:ln/>
        </p:spPr>
        <p:txBody>
          <a:bodyPr wrap="square" lIns="0" tIns="0" rIns="0" bIns="0" rtlCol="0" anchor="ctr">
            <a:normAutofit/>
          </a:bodyPr>
          <a:lstStyle/>
          <a:p>
            <a:pPr algn="l" indent="0" marL="0">
              <a:buNone/>
            </a:pPr>
            <a:r>
              <a:rPr lang="en-US" sz="830" b="1" spc="110" kern="0" dirty="0">
                <a:solidFill>
                  <a:srgbClr val="6D695F"/>
                </a:solidFill>
                <a:latin typeface="Aptos" pitchFamily="34" charset="0"/>
                <a:ea typeface="Aptos" pitchFamily="34" charset="-122"/>
                <a:cs typeface="Aptos" pitchFamily="34" charset="-120"/>
              </a:rPr>
              <a:t>03</a:t>
            </a:r>
            <a:endParaRPr lang="en-US" sz="830" dirty="0"/>
          </a:p>
        </p:txBody>
      </p:sp>
      <p:sp>
        <p:nvSpPr>
          <p:cNvPr id="17" name="Text 15"/>
          <p:cNvSpPr/>
          <p:nvPr/>
        </p:nvSpPr>
        <p:spPr>
          <a:xfrm>
            <a:off x="1298448" y="3849624"/>
            <a:ext cx="1097280" cy="182880"/>
          </a:xfrm>
          <a:prstGeom prst="rect">
            <a:avLst/>
          </a:prstGeom>
          <a:noFill/>
          <a:ln/>
        </p:spPr>
        <p:txBody>
          <a:bodyPr wrap="square" lIns="0" tIns="0" rIns="0" bIns="0" rtlCol="0" anchor="ctr">
            <a:normAutofit/>
          </a:bodyPr>
          <a:lstStyle/>
          <a:p>
            <a:pPr algn="l" indent="0" marL="0">
              <a:buNone/>
            </a:pPr>
            <a:r>
              <a:rPr lang="en-US" sz="840" b="1" spc="110" kern="0" dirty="0">
                <a:solidFill>
                  <a:srgbClr val="6D695F"/>
                </a:solidFill>
                <a:latin typeface="Aptos" pitchFamily="34" charset="0"/>
                <a:ea typeface="Aptos" pitchFamily="34" charset="-122"/>
                <a:cs typeface="Aptos" pitchFamily="34" charset="-120"/>
              </a:rPr>
              <a:t>NEGOTIATE</a:t>
            </a:r>
            <a:endParaRPr lang="en-US" sz="840" dirty="0"/>
          </a:p>
        </p:txBody>
      </p:sp>
      <p:sp>
        <p:nvSpPr>
          <p:cNvPr id="18" name="Text 16"/>
          <p:cNvSpPr/>
          <p:nvPr/>
        </p:nvSpPr>
        <p:spPr>
          <a:xfrm>
            <a:off x="2450592" y="3813048"/>
            <a:ext cx="2697480" cy="274320"/>
          </a:xfrm>
          <a:prstGeom prst="rect">
            <a:avLst/>
          </a:prstGeom>
          <a:noFill/>
          <a:ln/>
        </p:spPr>
        <p:txBody>
          <a:bodyPr wrap="square" lIns="0" tIns="0" rIns="0" bIns="0" rtlCol="0" anchor="ctr">
            <a:normAutofit/>
          </a:bodyPr>
          <a:lstStyle/>
          <a:p>
            <a:pPr algn="l" indent="0" marL="0">
              <a:buNone/>
            </a:pPr>
            <a:r>
              <a:rPr lang="en-US" sz="1040" b="1" dirty="0">
                <a:solidFill>
                  <a:srgbClr val="111111"/>
                </a:solidFill>
                <a:latin typeface="Aptos" pitchFamily="34" charset="0"/>
                <a:ea typeface="Aptos" pitchFamily="34" charset="-122"/>
                <a:cs typeface="Aptos" pitchFamily="34" charset="-120"/>
              </a:rPr>
              <a:t>Open the redline view</a:t>
            </a:r>
            <a:endParaRPr lang="en-US" sz="1040" dirty="0"/>
          </a:p>
        </p:txBody>
      </p:sp>
      <p:sp>
        <p:nvSpPr>
          <p:cNvPr id="19" name="Text 17"/>
          <p:cNvSpPr/>
          <p:nvPr/>
        </p:nvSpPr>
        <p:spPr>
          <a:xfrm>
            <a:off x="5321808" y="3813048"/>
            <a:ext cx="5623560" cy="320040"/>
          </a:xfrm>
          <a:prstGeom prst="rect">
            <a:avLst/>
          </a:prstGeom>
          <a:noFill/>
          <a:ln/>
        </p:spPr>
        <p:txBody>
          <a:bodyPr wrap="square" lIns="0" tIns="0" rIns="0" bIns="0" rtlCol="0" anchor="t">
            <a:normAutofit/>
          </a:bodyPr>
          <a:lstStyle/>
          <a:p>
            <a:pPr algn="l" indent="0" marL="0">
              <a:buNone/>
            </a:pPr>
            <a:r>
              <a:rPr lang="en-US" sz="890" dirty="0">
                <a:solidFill>
                  <a:srgbClr val="6D695F"/>
                </a:solidFill>
                <a:latin typeface="Aptos" pitchFamily="34" charset="0"/>
                <a:ea typeface="Aptos" pitchFamily="34" charset="-122"/>
                <a:cs typeface="Aptos" pitchFamily="34" charset="-120"/>
              </a:rPr>
              <a:t>Switch between Aggressive, Balanced and Walk-Away.</a:t>
            </a:r>
            <a:endParaRPr lang="en-US" sz="890" dirty="0"/>
          </a:p>
        </p:txBody>
      </p:sp>
      <p:sp>
        <p:nvSpPr>
          <p:cNvPr id="20" name="Shape 18"/>
          <p:cNvSpPr/>
          <p:nvPr/>
        </p:nvSpPr>
        <p:spPr>
          <a:xfrm>
            <a:off x="548640" y="4617720"/>
            <a:ext cx="10881360" cy="713232"/>
          </a:xfrm>
          <a:prstGeom prst="rect">
            <a:avLst/>
          </a:prstGeom>
          <a:solidFill>
            <a:srgbClr val="FFFFFF"/>
          </a:solidFill>
          <a:ln w="12700">
            <a:solidFill>
              <a:srgbClr val="D6D0C5"/>
            </a:solidFill>
            <a:prstDash val="solid"/>
          </a:ln>
        </p:spPr>
      </p:sp>
      <p:sp>
        <p:nvSpPr>
          <p:cNvPr id="21" name="Text 19"/>
          <p:cNvSpPr/>
          <p:nvPr/>
        </p:nvSpPr>
        <p:spPr>
          <a:xfrm>
            <a:off x="749808" y="4782312"/>
            <a:ext cx="320040" cy="182880"/>
          </a:xfrm>
          <a:prstGeom prst="rect">
            <a:avLst/>
          </a:prstGeom>
          <a:noFill/>
          <a:ln/>
        </p:spPr>
        <p:txBody>
          <a:bodyPr wrap="square" lIns="0" tIns="0" rIns="0" bIns="0" rtlCol="0" anchor="ctr">
            <a:normAutofit/>
          </a:bodyPr>
          <a:lstStyle/>
          <a:p>
            <a:pPr algn="l" indent="0" marL="0">
              <a:buNone/>
            </a:pPr>
            <a:r>
              <a:rPr lang="en-US" sz="830" b="1" spc="110" kern="0" dirty="0">
                <a:solidFill>
                  <a:srgbClr val="6D695F"/>
                </a:solidFill>
                <a:latin typeface="Aptos" pitchFamily="34" charset="0"/>
                <a:ea typeface="Aptos" pitchFamily="34" charset="-122"/>
                <a:cs typeface="Aptos" pitchFamily="34" charset="-120"/>
              </a:rPr>
              <a:t>04</a:t>
            </a:r>
            <a:endParaRPr lang="en-US" sz="830" dirty="0"/>
          </a:p>
        </p:txBody>
      </p:sp>
      <p:sp>
        <p:nvSpPr>
          <p:cNvPr id="22" name="Text 20"/>
          <p:cNvSpPr/>
          <p:nvPr/>
        </p:nvSpPr>
        <p:spPr>
          <a:xfrm>
            <a:off x="1298448" y="4764024"/>
            <a:ext cx="1097280" cy="182880"/>
          </a:xfrm>
          <a:prstGeom prst="rect">
            <a:avLst/>
          </a:prstGeom>
          <a:noFill/>
          <a:ln/>
        </p:spPr>
        <p:txBody>
          <a:bodyPr wrap="square" lIns="0" tIns="0" rIns="0" bIns="0" rtlCol="0" anchor="ctr">
            <a:normAutofit/>
          </a:bodyPr>
          <a:lstStyle/>
          <a:p>
            <a:pPr algn="l" indent="0" marL="0">
              <a:buNone/>
            </a:pPr>
            <a:r>
              <a:rPr lang="en-US" sz="840" b="1" spc="110" kern="0" dirty="0">
                <a:solidFill>
                  <a:srgbClr val="6D695F"/>
                </a:solidFill>
                <a:latin typeface="Aptos" pitchFamily="34" charset="0"/>
                <a:ea typeface="Aptos" pitchFamily="34" charset="-122"/>
                <a:cs typeface="Aptos" pitchFamily="34" charset="-120"/>
              </a:rPr>
              <a:t>CONTROL</a:t>
            </a:r>
            <a:endParaRPr lang="en-US" sz="840" dirty="0"/>
          </a:p>
        </p:txBody>
      </p:sp>
      <p:sp>
        <p:nvSpPr>
          <p:cNvPr id="23" name="Text 21"/>
          <p:cNvSpPr/>
          <p:nvPr/>
        </p:nvSpPr>
        <p:spPr>
          <a:xfrm>
            <a:off x="2450592" y="4727448"/>
            <a:ext cx="2697480" cy="274320"/>
          </a:xfrm>
          <a:prstGeom prst="rect">
            <a:avLst/>
          </a:prstGeom>
          <a:noFill/>
          <a:ln/>
        </p:spPr>
        <p:txBody>
          <a:bodyPr wrap="square" lIns="0" tIns="0" rIns="0" bIns="0" rtlCol="0" anchor="ctr">
            <a:normAutofit/>
          </a:bodyPr>
          <a:lstStyle/>
          <a:p>
            <a:pPr algn="l" indent="0" marL="0">
              <a:buNone/>
            </a:pPr>
            <a:r>
              <a:rPr lang="en-US" sz="1040" b="1" dirty="0">
                <a:solidFill>
                  <a:srgbClr val="111111"/>
                </a:solidFill>
                <a:latin typeface="Aptos" pitchFamily="34" charset="0"/>
                <a:ea typeface="Aptos" pitchFamily="34" charset="-122"/>
                <a:cs typeface="Aptos" pitchFamily="34" charset="-120"/>
              </a:rPr>
              <a:t>Finish with signature + lifecycle</a:t>
            </a:r>
            <a:endParaRPr lang="en-US" sz="1040" dirty="0"/>
          </a:p>
        </p:txBody>
      </p:sp>
      <p:sp>
        <p:nvSpPr>
          <p:cNvPr id="24" name="Text 22"/>
          <p:cNvSpPr/>
          <p:nvPr/>
        </p:nvSpPr>
        <p:spPr>
          <a:xfrm>
            <a:off x="5321808" y="4727448"/>
            <a:ext cx="5623560" cy="320040"/>
          </a:xfrm>
          <a:prstGeom prst="rect">
            <a:avLst/>
          </a:prstGeom>
          <a:noFill/>
          <a:ln/>
        </p:spPr>
        <p:txBody>
          <a:bodyPr wrap="square" lIns="0" tIns="0" rIns="0" bIns="0" rtlCol="0" anchor="t">
            <a:normAutofit/>
          </a:bodyPr>
          <a:lstStyle/>
          <a:p>
            <a:pPr algn="l" indent="0" marL="0">
              <a:buNone/>
            </a:pPr>
            <a:r>
              <a:rPr lang="en-US" sz="890" dirty="0">
                <a:solidFill>
                  <a:srgbClr val="6D695F"/>
                </a:solidFill>
                <a:latin typeface="Aptos" pitchFamily="34" charset="0"/>
                <a:ea typeface="Aptos" pitchFamily="34" charset="-122"/>
                <a:cs typeface="Aptos" pitchFamily="34" charset="-120"/>
              </a:rPr>
              <a:t>Show SHA-256 fingerprint, obligations and renewal logic.</a:t>
            </a:r>
            <a:endParaRPr lang="en-US" sz="890" dirty="0"/>
          </a:p>
        </p:txBody>
      </p:sp>
      <p:sp>
        <p:nvSpPr>
          <p:cNvPr id="25" name="Shape 23"/>
          <p:cNvSpPr/>
          <p:nvPr/>
        </p:nvSpPr>
        <p:spPr>
          <a:xfrm>
            <a:off x="548640" y="5742432"/>
            <a:ext cx="10881360" cy="402336"/>
          </a:xfrm>
          <a:prstGeom prst="rect">
            <a:avLst/>
          </a:prstGeom>
          <a:solidFill>
            <a:srgbClr val="F1E4CB"/>
          </a:solidFill>
          <a:ln w="12700">
            <a:solidFill>
              <a:srgbClr val="F1E4CB"/>
            </a:solidFill>
            <a:prstDash val="solid"/>
          </a:ln>
        </p:spPr>
      </p:sp>
      <p:sp>
        <p:nvSpPr>
          <p:cNvPr id="26" name="Text 24"/>
          <p:cNvSpPr/>
          <p:nvPr/>
        </p:nvSpPr>
        <p:spPr>
          <a:xfrm>
            <a:off x="749808" y="5833872"/>
            <a:ext cx="10469880" cy="182880"/>
          </a:xfrm>
          <a:prstGeom prst="rect">
            <a:avLst/>
          </a:prstGeom>
          <a:noFill/>
          <a:ln/>
        </p:spPr>
        <p:txBody>
          <a:bodyPr wrap="square" lIns="0" tIns="0" rIns="0" bIns="0" rtlCol="0" anchor="ctr">
            <a:normAutofit/>
          </a:bodyPr>
          <a:lstStyle/>
          <a:p>
            <a:pPr algn="ctr" indent="0" marL="0">
              <a:buNone/>
            </a:pPr>
            <a:r>
              <a:rPr lang="en-US" sz="980" b="1" dirty="0">
                <a:solidFill>
                  <a:srgbClr val="111111"/>
                </a:solidFill>
                <a:latin typeface="Aptos" pitchFamily="34" charset="0"/>
                <a:ea typeface="Aptos" pitchFamily="34" charset="-122"/>
                <a:cs typeface="Aptos" pitchFamily="34" charset="-120"/>
              </a:rPr>
              <a:t>Demo rule: never explain a feature before showing the user outcome it creates.</a:t>
            </a:r>
            <a:endParaRPr lang="en-US" sz="98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14  /  FUTURE SCOPE</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The next step is from intelligent assistance to intelligent execution.</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Roadmap items extend the same architecture into deeper automation and broader legal coverage.</a:t>
            </a:r>
            <a:endParaRPr lang="en-US" sz="1150" dirty="0"/>
          </a:p>
        </p:txBody>
      </p:sp>
      <p:sp>
        <p:nvSpPr>
          <p:cNvPr id="5" name="Text 3"/>
          <p:cNvSpPr/>
          <p:nvPr/>
        </p:nvSpPr>
        <p:spPr>
          <a:xfrm>
            <a:off x="585216" y="2039112"/>
            <a:ext cx="347472" cy="201168"/>
          </a:xfrm>
          <a:prstGeom prst="rect">
            <a:avLst/>
          </a:prstGeom>
          <a:noFill/>
          <a:ln/>
        </p:spPr>
        <p:txBody>
          <a:bodyPr wrap="square" lIns="0" tIns="0" rIns="0" bIns="0" rtlCol="0" anchor="ctr">
            <a:normAutofit/>
          </a:bodyPr>
          <a:lstStyle/>
          <a:p>
            <a:pPr algn="l" indent="0" marL="0">
              <a:buNone/>
            </a:pPr>
            <a:r>
              <a:rPr lang="en-US" sz="820" b="1" spc="110" kern="0" dirty="0">
                <a:solidFill>
                  <a:srgbClr val="C58A2B"/>
                </a:solidFill>
                <a:latin typeface="Aptos" pitchFamily="34" charset="0"/>
                <a:ea typeface="Aptos" pitchFamily="34" charset="-122"/>
                <a:cs typeface="Aptos" pitchFamily="34" charset="-120"/>
              </a:rPr>
              <a:t>01</a:t>
            </a:r>
            <a:endParaRPr lang="en-US" sz="820" dirty="0"/>
          </a:p>
        </p:txBody>
      </p:sp>
      <p:sp>
        <p:nvSpPr>
          <p:cNvPr id="6" name="Shape 4"/>
          <p:cNvSpPr/>
          <p:nvPr/>
        </p:nvSpPr>
        <p:spPr>
          <a:xfrm>
            <a:off x="1170432" y="2322576"/>
            <a:ext cx="438912" cy="0"/>
          </a:xfrm>
          <a:prstGeom prst="line">
            <a:avLst/>
          </a:prstGeom>
          <a:noFill/>
          <a:ln w="15240">
            <a:solidFill>
              <a:srgbClr val="3A3936"/>
            </a:solidFill>
            <a:prstDash val="solid"/>
          </a:ln>
        </p:spPr>
      </p:sp>
      <p:sp>
        <p:nvSpPr>
          <p:cNvPr id="7" name="Text 5"/>
          <p:cNvSpPr/>
          <p:nvPr/>
        </p:nvSpPr>
        <p:spPr>
          <a:xfrm>
            <a:off x="1755648" y="1947672"/>
            <a:ext cx="2468880" cy="219456"/>
          </a:xfrm>
          <a:prstGeom prst="rect">
            <a:avLst/>
          </a:prstGeom>
          <a:noFill/>
          <a:ln/>
        </p:spPr>
        <p:txBody>
          <a:bodyPr wrap="square" lIns="0" tIns="0" rIns="0" bIns="0" rtlCol="0" anchor="ctr">
            <a:normAutofit/>
          </a:bodyPr>
          <a:lstStyle/>
          <a:p>
            <a:pPr algn="l" indent="0" marL="0">
              <a:buNone/>
            </a:pPr>
            <a:r>
              <a:rPr lang="en-US" sz="940" b="1" dirty="0">
                <a:solidFill>
                  <a:srgbClr val="111111"/>
                </a:solidFill>
                <a:latin typeface="Aptos" pitchFamily="34" charset="0"/>
                <a:ea typeface="Aptos" pitchFamily="34" charset="-122"/>
                <a:cs typeface="Aptos" pitchFamily="34" charset="-120"/>
              </a:rPr>
              <a:t>MULTI-AGENT NEGOTIATION</a:t>
            </a:r>
            <a:endParaRPr lang="en-US" sz="940" dirty="0"/>
          </a:p>
        </p:txBody>
      </p:sp>
      <p:sp>
        <p:nvSpPr>
          <p:cNvPr id="8" name="Text 6"/>
          <p:cNvSpPr/>
          <p:nvPr/>
        </p:nvSpPr>
        <p:spPr>
          <a:xfrm>
            <a:off x="4370832" y="1947672"/>
            <a:ext cx="5321808" cy="420624"/>
          </a:xfrm>
          <a:prstGeom prst="rect">
            <a:avLst/>
          </a:prstGeom>
          <a:noFill/>
          <a:ln/>
        </p:spPr>
        <p:txBody>
          <a:bodyPr wrap="square" lIns="0" tIns="0" rIns="0" bIns="0" rtlCol="0" anchor="t">
            <a:normAutofit/>
          </a:bodyPr>
          <a:lstStyle/>
          <a:p>
            <a:pPr algn="l" indent="0" marL="0">
              <a:buNone/>
            </a:pPr>
            <a:r>
              <a:rPr lang="en-US" sz="890" dirty="0">
                <a:solidFill>
                  <a:srgbClr val="6D695F"/>
                </a:solidFill>
                <a:latin typeface="Aptos" pitchFamily="34" charset="0"/>
                <a:ea typeface="Aptos" pitchFamily="34" charset="-122"/>
                <a:cs typeface="Aptos" pitchFamily="34" charset="-120"/>
              </a:rPr>
              <a:t>Simulate both sides of a deal and search for stronger compromise positions.</a:t>
            </a:r>
            <a:endParaRPr lang="en-US" sz="890" dirty="0"/>
          </a:p>
        </p:txBody>
      </p:sp>
      <p:sp>
        <p:nvSpPr>
          <p:cNvPr id="9" name="Text 7"/>
          <p:cNvSpPr/>
          <p:nvPr/>
        </p:nvSpPr>
        <p:spPr>
          <a:xfrm>
            <a:off x="585216" y="2944368"/>
            <a:ext cx="347472" cy="201168"/>
          </a:xfrm>
          <a:prstGeom prst="rect">
            <a:avLst/>
          </a:prstGeom>
          <a:noFill/>
          <a:ln/>
        </p:spPr>
        <p:txBody>
          <a:bodyPr wrap="square" lIns="0" tIns="0" rIns="0" bIns="0" rtlCol="0" anchor="ctr">
            <a:normAutofit/>
          </a:bodyPr>
          <a:lstStyle/>
          <a:p>
            <a:pPr algn="l" indent="0" marL="0">
              <a:buNone/>
            </a:pPr>
            <a:r>
              <a:rPr lang="en-US" sz="820" b="1" spc="110" kern="0" dirty="0">
                <a:solidFill>
                  <a:srgbClr val="C58A2B"/>
                </a:solidFill>
                <a:latin typeface="Aptos" pitchFamily="34" charset="0"/>
                <a:ea typeface="Aptos" pitchFamily="34" charset="-122"/>
                <a:cs typeface="Aptos" pitchFamily="34" charset="-120"/>
              </a:rPr>
              <a:t>02</a:t>
            </a:r>
            <a:endParaRPr lang="en-US" sz="820" dirty="0"/>
          </a:p>
        </p:txBody>
      </p:sp>
      <p:sp>
        <p:nvSpPr>
          <p:cNvPr id="10" name="Shape 8"/>
          <p:cNvSpPr/>
          <p:nvPr/>
        </p:nvSpPr>
        <p:spPr>
          <a:xfrm>
            <a:off x="1170432" y="3227832"/>
            <a:ext cx="438912" cy="0"/>
          </a:xfrm>
          <a:prstGeom prst="line">
            <a:avLst/>
          </a:prstGeom>
          <a:noFill/>
          <a:ln w="15240">
            <a:solidFill>
              <a:srgbClr val="3A3936"/>
            </a:solidFill>
            <a:prstDash val="solid"/>
          </a:ln>
        </p:spPr>
      </p:sp>
      <p:sp>
        <p:nvSpPr>
          <p:cNvPr id="11" name="Text 9"/>
          <p:cNvSpPr/>
          <p:nvPr/>
        </p:nvSpPr>
        <p:spPr>
          <a:xfrm>
            <a:off x="1755648" y="2852928"/>
            <a:ext cx="2468880" cy="219456"/>
          </a:xfrm>
          <a:prstGeom prst="rect">
            <a:avLst/>
          </a:prstGeom>
          <a:noFill/>
          <a:ln/>
        </p:spPr>
        <p:txBody>
          <a:bodyPr wrap="square" lIns="0" tIns="0" rIns="0" bIns="0" rtlCol="0" anchor="ctr">
            <a:normAutofit/>
          </a:bodyPr>
          <a:lstStyle/>
          <a:p>
            <a:pPr algn="l" indent="0" marL="0">
              <a:buNone/>
            </a:pPr>
            <a:r>
              <a:rPr lang="en-US" sz="940" b="1" dirty="0">
                <a:solidFill>
                  <a:srgbClr val="111111"/>
                </a:solidFill>
                <a:latin typeface="Aptos" pitchFamily="34" charset="0"/>
                <a:ea typeface="Aptos" pitchFamily="34" charset="-122"/>
                <a:cs typeface="Aptos" pitchFamily="34" charset="-120"/>
              </a:rPr>
              <a:t>JURISDICTION MODULES</a:t>
            </a:r>
            <a:endParaRPr lang="en-US" sz="940" dirty="0"/>
          </a:p>
        </p:txBody>
      </p:sp>
      <p:sp>
        <p:nvSpPr>
          <p:cNvPr id="12" name="Text 10"/>
          <p:cNvSpPr/>
          <p:nvPr/>
        </p:nvSpPr>
        <p:spPr>
          <a:xfrm>
            <a:off x="4370832" y="2852928"/>
            <a:ext cx="5321808" cy="420624"/>
          </a:xfrm>
          <a:prstGeom prst="rect">
            <a:avLst/>
          </a:prstGeom>
          <a:noFill/>
          <a:ln/>
        </p:spPr>
        <p:txBody>
          <a:bodyPr wrap="square" lIns="0" tIns="0" rIns="0" bIns="0" rtlCol="0" anchor="t">
            <a:normAutofit/>
          </a:bodyPr>
          <a:lstStyle/>
          <a:p>
            <a:pPr algn="l" indent="0" marL="0">
              <a:buNone/>
            </a:pPr>
            <a:r>
              <a:rPr lang="en-US" sz="890" dirty="0">
                <a:solidFill>
                  <a:srgbClr val="6D695F"/>
                </a:solidFill>
                <a:latin typeface="Aptos" pitchFamily="34" charset="0"/>
                <a:ea typeface="Aptos" pitchFamily="34" charset="-122"/>
                <a:cs typeface="Aptos" pitchFamily="34" charset="-120"/>
              </a:rPr>
              <a:t>Expand from framework checks to jurisdiction-specific statutory reasoning.</a:t>
            </a:r>
            <a:endParaRPr lang="en-US" sz="890" dirty="0"/>
          </a:p>
        </p:txBody>
      </p:sp>
      <p:sp>
        <p:nvSpPr>
          <p:cNvPr id="13" name="Text 11"/>
          <p:cNvSpPr/>
          <p:nvPr/>
        </p:nvSpPr>
        <p:spPr>
          <a:xfrm>
            <a:off x="585216" y="3849624"/>
            <a:ext cx="347472" cy="201168"/>
          </a:xfrm>
          <a:prstGeom prst="rect">
            <a:avLst/>
          </a:prstGeom>
          <a:noFill/>
          <a:ln/>
        </p:spPr>
        <p:txBody>
          <a:bodyPr wrap="square" lIns="0" tIns="0" rIns="0" bIns="0" rtlCol="0" anchor="ctr">
            <a:normAutofit/>
          </a:bodyPr>
          <a:lstStyle/>
          <a:p>
            <a:pPr algn="l" indent="0" marL="0">
              <a:buNone/>
            </a:pPr>
            <a:r>
              <a:rPr lang="en-US" sz="820" b="1" spc="110" kern="0" dirty="0">
                <a:solidFill>
                  <a:srgbClr val="C58A2B"/>
                </a:solidFill>
                <a:latin typeface="Aptos" pitchFamily="34" charset="0"/>
                <a:ea typeface="Aptos" pitchFamily="34" charset="-122"/>
                <a:cs typeface="Aptos" pitchFamily="34" charset="-120"/>
              </a:rPr>
              <a:t>03</a:t>
            </a:r>
            <a:endParaRPr lang="en-US" sz="820" dirty="0"/>
          </a:p>
        </p:txBody>
      </p:sp>
      <p:sp>
        <p:nvSpPr>
          <p:cNvPr id="14" name="Shape 12"/>
          <p:cNvSpPr/>
          <p:nvPr/>
        </p:nvSpPr>
        <p:spPr>
          <a:xfrm>
            <a:off x="1170432" y="4133088"/>
            <a:ext cx="438912" cy="0"/>
          </a:xfrm>
          <a:prstGeom prst="line">
            <a:avLst/>
          </a:prstGeom>
          <a:noFill/>
          <a:ln w="15240">
            <a:solidFill>
              <a:srgbClr val="3A3936"/>
            </a:solidFill>
            <a:prstDash val="solid"/>
          </a:ln>
        </p:spPr>
      </p:sp>
      <p:sp>
        <p:nvSpPr>
          <p:cNvPr id="15" name="Text 13"/>
          <p:cNvSpPr/>
          <p:nvPr/>
        </p:nvSpPr>
        <p:spPr>
          <a:xfrm>
            <a:off x="1755648" y="3758184"/>
            <a:ext cx="2468880" cy="219456"/>
          </a:xfrm>
          <a:prstGeom prst="rect">
            <a:avLst/>
          </a:prstGeom>
          <a:noFill/>
          <a:ln/>
        </p:spPr>
        <p:txBody>
          <a:bodyPr wrap="square" lIns="0" tIns="0" rIns="0" bIns="0" rtlCol="0" anchor="ctr">
            <a:normAutofit/>
          </a:bodyPr>
          <a:lstStyle/>
          <a:p>
            <a:pPr algn="l" indent="0" marL="0">
              <a:buNone/>
            </a:pPr>
            <a:r>
              <a:rPr lang="en-US" sz="940" b="1" dirty="0">
                <a:solidFill>
                  <a:srgbClr val="111111"/>
                </a:solidFill>
                <a:latin typeface="Aptos" pitchFamily="34" charset="0"/>
                <a:ea typeface="Aptos" pitchFamily="34" charset="-122"/>
                <a:cs typeface="Aptos" pitchFamily="34" charset="-120"/>
              </a:rPr>
              <a:t>ENTERPRISE CONNECTORS</a:t>
            </a:r>
            <a:endParaRPr lang="en-US" sz="940" dirty="0"/>
          </a:p>
        </p:txBody>
      </p:sp>
      <p:sp>
        <p:nvSpPr>
          <p:cNvPr id="16" name="Text 14"/>
          <p:cNvSpPr/>
          <p:nvPr/>
        </p:nvSpPr>
        <p:spPr>
          <a:xfrm>
            <a:off x="4370832" y="3758184"/>
            <a:ext cx="5321808" cy="420624"/>
          </a:xfrm>
          <a:prstGeom prst="rect">
            <a:avLst/>
          </a:prstGeom>
          <a:noFill/>
          <a:ln/>
        </p:spPr>
        <p:txBody>
          <a:bodyPr wrap="square" lIns="0" tIns="0" rIns="0" bIns="0" rtlCol="0" anchor="t">
            <a:normAutofit/>
          </a:bodyPr>
          <a:lstStyle/>
          <a:p>
            <a:pPr algn="l" indent="0" marL="0">
              <a:buNone/>
            </a:pPr>
            <a:r>
              <a:rPr lang="en-US" sz="890" dirty="0">
                <a:solidFill>
                  <a:srgbClr val="6D695F"/>
                </a:solidFill>
                <a:latin typeface="Aptos" pitchFamily="34" charset="0"/>
                <a:ea typeface="Aptos" pitchFamily="34" charset="-122"/>
                <a:cs typeface="Aptos" pitchFamily="34" charset="-120"/>
              </a:rPr>
              <a:t>Connect contract intelligence to Salesforce, DocuSign, Slack and Workspace workflows.</a:t>
            </a:r>
            <a:endParaRPr lang="en-US" sz="890" dirty="0"/>
          </a:p>
        </p:txBody>
      </p:sp>
      <p:sp>
        <p:nvSpPr>
          <p:cNvPr id="17" name="Text 15"/>
          <p:cNvSpPr/>
          <p:nvPr/>
        </p:nvSpPr>
        <p:spPr>
          <a:xfrm>
            <a:off x="585216" y="4754880"/>
            <a:ext cx="347472" cy="201168"/>
          </a:xfrm>
          <a:prstGeom prst="rect">
            <a:avLst/>
          </a:prstGeom>
          <a:noFill/>
          <a:ln/>
        </p:spPr>
        <p:txBody>
          <a:bodyPr wrap="square" lIns="0" tIns="0" rIns="0" bIns="0" rtlCol="0" anchor="ctr">
            <a:normAutofit/>
          </a:bodyPr>
          <a:lstStyle/>
          <a:p>
            <a:pPr algn="l" indent="0" marL="0">
              <a:buNone/>
            </a:pPr>
            <a:r>
              <a:rPr lang="en-US" sz="820" b="1" spc="110" kern="0" dirty="0">
                <a:solidFill>
                  <a:srgbClr val="C58A2B"/>
                </a:solidFill>
                <a:latin typeface="Aptos" pitchFamily="34" charset="0"/>
                <a:ea typeface="Aptos" pitchFamily="34" charset="-122"/>
                <a:cs typeface="Aptos" pitchFamily="34" charset="-120"/>
              </a:rPr>
              <a:t>04</a:t>
            </a:r>
            <a:endParaRPr lang="en-US" sz="820" dirty="0"/>
          </a:p>
        </p:txBody>
      </p:sp>
      <p:sp>
        <p:nvSpPr>
          <p:cNvPr id="18" name="Shape 16"/>
          <p:cNvSpPr/>
          <p:nvPr/>
        </p:nvSpPr>
        <p:spPr>
          <a:xfrm>
            <a:off x="1170432" y="5038344"/>
            <a:ext cx="438912" cy="0"/>
          </a:xfrm>
          <a:prstGeom prst="line">
            <a:avLst/>
          </a:prstGeom>
          <a:noFill/>
          <a:ln w="15240">
            <a:solidFill>
              <a:srgbClr val="3A3936"/>
            </a:solidFill>
            <a:prstDash val="solid"/>
          </a:ln>
        </p:spPr>
      </p:sp>
      <p:sp>
        <p:nvSpPr>
          <p:cNvPr id="19" name="Text 17"/>
          <p:cNvSpPr/>
          <p:nvPr/>
        </p:nvSpPr>
        <p:spPr>
          <a:xfrm>
            <a:off x="1755648" y="4663440"/>
            <a:ext cx="2468880" cy="219456"/>
          </a:xfrm>
          <a:prstGeom prst="rect">
            <a:avLst/>
          </a:prstGeom>
          <a:noFill/>
          <a:ln/>
        </p:spPr>
        <p:txBody>
          <a:bodyPr wrap="square" lIns="0" tIns="0" rIns="0" bIns="0" rtlCol="0" anchor="ctr">
            <a:normAutofit/>
          </a:bodyPr>
          <a:lstStyle/>
          <a:p>
            <a:pPr algn="l" indent="0" marL="0">
              <a:buNone/>
            </a:pPr>
            <a:r>
              <a:rPr lang="en-US" sz="940" b="1" dirty="0">
                <a:solidFill>
                  <a:srgbClr val="111111"/>
                </a:solidFill>
                <a:latin typeface="Aptos" pitchFamily="34" charset="0"/>
                <a:ea typeface="Aptos" pitchFamily="34" charset="-122"/>
                <a:cs typeface="Aptos" pitchFamily="34" charset="-120"/>
              </a:rPr>
              <a:t>MOBILE CAPTURE</a:t>
            </a:r>
            <a:endParaRPr lang="en-US" sz="940" dirty="0"/>
          </a:p>
        </p:txBody>
      </p:sp>
      <p:sp>
        <p:nvSpPr>
          <p:cNvPr id="20" name="Text 18"/>
          <p:cNvSpPr/>
          <p:nvPr/>
        </p:nvSpPr>
        <p:spPr>
          <a:xfrm>
            <a:off x="4370832" y="4663440"/>
            <a:ext cx="5321808" cy="420624"/>
          </a:xfrm>
          <a:prstGeom prst="rect">
            <a:avLst/>
          </a:prstGeom>
          <a:noFill/>
          <a:ln/>
        </p:spPr>
        <p:txBody>
          <a:bodyPr wrap="square" lIns="0" tIns="0" rIns="0" bIns="0" rtlCol="0" anchor="t">
            <a:normAutofit/>
          </a:bodyPr>
          <a:lstStyle/>
          <a:p>
            <a:pPr algn="l" indent="0" marL="0">
              <a:buNone/>
            </a:pPr>
            <a:r>
              <a:rPr lang="en-US" sz="890" dirty="0">
                <a:solidFill>
                  <a:srgbClr val="6D695F"/>
                </a:solidFill>
                <a:latin typeface="Aptos" pitchFamily="34" charset="0"/>
                <a:ea typeface="Aptos" pitchFamily="34" charset="-122"/>
                <a:cs typeface="Aptos" pitchFamily="34" charset="-120"/>
              </a:rPr>
              <a:t>Scan physical contracts with camera + OCR and push them into the same analysis loop.</a:t>
            </a:r>
            <a:endParaRPr lang="en-US" sz="890" dirty="0"/>
          </a:p>
        </p:txBody>
      </p:sp>
      <p:sp>
        <p:nvSpPr>
          <p:cNvPr id="21" name="Shape 19"/>
          <p:cNvSpPr/>
          <p:nvPr/>
        </p:nvSpPr>
        <p:spPr>
          <a:xfrm>
            <a:off x="9930384" y="1883664"/>
            <a:ext cx="1517904" cy="3968496"/>
          </a:xfrm>
          <a:prstGeom prst="rect">
            <a:avLst/>
          </a:prstGeom>
          <a:solidFill>
            <a:srgbClr val="111111"/>
          </a:solidFill>
          <a:ln w="12700">
            <a:solidFill>
              <a:srgbClr val="111111"/>
            </a:solidFill>
            <a:prstDash val="solid"/>
          </a:ln>
        </p:spPr>
      </p:sp>
      <p:sp>
        <p:nvSpPr>
          <p:cNvPr id="22" name="Text 20"/>
          <p:cNvSpPr/>
          <p:nvPr/>
        </p:nvSpPr>
        <p:spPr>
          <a:xfrm>
            <a:off x="10140696" y="2212848"/>
            <a:ext cx="1078992" cy="530352"/>
          </a:xfrm>
          <a:prstGeom prst="rect">
            <a:avLst/>
          </a:prstGeom>
          <a:noFill/>
          <a:ln/>
        </p:spPr>
        <p:txBody>
          <a:bodyPr wrap="square" lIns="0" tIns="0" rIns="0" bIns="0" rtlCol="0" anchor="ctr">
            <a:normAutofit/>
          </a:bodyPr>
          <a:lstStyle/>
          <a:p>
            <a:pPr algn="ctr" indent="0" marL="0">
              <a:buNone/>
            </a:pPr>
            <a:r>
              <a:rPr lang="en-US" sz="1000" b="1" spc="120" kern="0" dirty="0">
                <a:solidFill>
                  <a:srgbClr val="C58A2B"/>
                </a:solidFill>
                <a:latin typeface="Aptos" pitchFamily="34" charset="0"/>
                <a:ea typeface="Aptos" pitchFamily="34" charset="-122"/>
                <a:cs typeface="Aptos" pitchFamily="34" charset="-120"/>
              </a:rPr>
              <a:t>NORTH</a:t>
            </a:r>
            <a:endParaRPr lang="en-US" sz="1000" dirty="0"/>
          </a:p>
          <a:p>
            <a:pPr algn="ctr" indent="0" marL="0">
              <a:buNone/>
            </a:pPr>
            <a:r>
              <a:rPr lang="en-US" sz="1000" b="1" spc="120" kern="0" dirty="0">
                <a:solidFill>
                  <a:srgbClr val="C58A2B"/>
                </a:solidFill>
                <a:latin typeface="Aptos" pitchFamily="34" charset="0"/>
                <a:ea typeface="Aptos" pitchFamily="34" charset="-122"/>
                <a:cs typeface="Aptos" pitchFamily="34" charset="-120"/>
              </a:rPr>
              <a:t>STAR</a:t>
            </a:r>
            <a:endParaRPr lang="en-US" sz="1000" dirty="0"/>
          </a:p>
        </p:txBody>
      </p:sp>
      <p:sp>
        <p:nvSpPr>
          <p:cNvPr id="23" name="Text 21"/>
          <p:cNvSpPr/>
          <p:nvPr/>
        </p:nvSpPr>
        <p:spPr>
          <a:xfrm>
            <a:off x="10104120" y="3044952"/>
            <a:ext cx="1170432" cy="1408176"/>
          </a:xfrm>
          <a:prstGeom prst="rect">
            <a:avLst/>
          </a:prstGeom>
          <a:noFill/>
          <a:ln/>
        </p:spPr>
        <p:txBody>
          <a:bodyPr wrap="square" lIns="0" tIns="0" rIns="0" bIns="0" rtlCol="0" anchor="t">
            <a:normAutofit/>
          </a:bodyPr>
          <a:lstStyle/>
          <a:p>
            <a:pPr algn="ctr" indent="0" marL="0">
              <a:buNone/>
            </a:pPr>
            <a:r>
              <a:rPr lang="en-US" sz="1600" i="1" dirty="0">
                <a:solidFill>
                  <a:srgbClr val="FFFFFF"/>
                </a:solidFill>
                <a:latin typeface="Georgia" pitchFamily="34" charset="0"/>
                <a:ea typeface="Georgia" pitchFamily="34" charset="-122"/>
                <a:cs typeface="Georgia" pitchFamily="34" charset="-120"/>
              </a:rPr>
              <a:t>Make contract intelligence</a:t>
            </a:r>
            <a:endParaRPr lang="en-US" sz="1600" dirty="0"/>
          </a:p>
          <a:p>
            <a:pPr algn="ctr" indent="0" marL="0">
              <a:buNone/>
            </a:pPr>
            <a:r>
              <a:rPr lang="en-US" sz="1600" i="1" dirty="0">
                <a:solidFill>
                  <a:srgbClr val="FFFFFF"/>
                </a:solidFill>
                <a:latin typeface="Georgia" pitchFamily="34" charset="0"/>
                <a:ea typeface="Georgia" pitchFamily="34" charset="-122"/>
                <a:cs typeface="Georgia" pitchFamily="34" charset="-120"/>
              </a:rPr>
              <a:t>usable at the moment</a:t>
            </a:r>
            <a:endParaRPr lang="en-US" sz="1600" dirty="0"/>
          </a:p>
          <a:p>
            <a:pPr algn="ctr" indent="0" marL="0">
              <a:buNone/>
            </a:pPr>
            <a:r>
              <a:rPr lang="en-US" sz="1600" i="1" dirty="0">
                <a:solidFill>
                  <a:srgbClr val="FFFFFF"/>
                </a:solidFill>
                <a:latin typeface="Georgia" pitchFamily="34" charset="0"/>
                <a:ea typeface="Georgia" pitchFamily="34" charset="-122"/>
                <a:cs typeface="Georgia" pitchFamily="34" charset="-120"/>
              </a:rPr>
              <a:t>of decision.</a:t>
            </a:r>
            <a:endParaRPr lang="en-US" sz="1600" dirty="0"/>
          </a:p>
        </p:txBody>
      </p:sp>
      <p:sp>
        <p:nvSpPr>
          <p:cNvPr id="24" name="Shape 22"/>
          <p:cNvSpPr/>
          <p:nvPr/>
        </p:nvSpPr>
        <p:spPr>
          <a:xfrm>
            <a:off x="10085832" y="4782312"/>
            <a:ext cx="1188720" cy="310896"/>
          </a:xfrm>
          <a:prstGeom prst="roundRect">
            <a:avLst>
              <a:gd name="adj" fmla="val 23529"/>
            </a:avLst>
          </a:prstGeom>
          <a:solidFill>
            <a:srgbClr val="F1E4CB"/>
          </a:solidFill>
          <a:ln w="10160">
            <a:solidFill>
              <a:srgbClr val="F1E4CB"/>
            </a:solidFill>
            <a:prstDash val="solid"/>
          </a:ln>
        </p:spPr>
      </p:sp>
      <p:sp>
        <p:nvSpPr>
          <p:cNvPr id="25" name="Text 23"/>
          <p:cNvSpPr/>
          <p:nvPr/>
        </p:nvSpPr>
        <p:spPr>
          <a:xfrm>
            <a:off x="10085832" y="4791456"/>
            <a:ext cx="1188720" cy="274320"/>
          </a:xfrm>
          <a:prstGeom prst="rect">
            <a:avLst/>
          </a:prstGeom>
          <a:noFill/>
          <a:ln/>
        </p:spPr>
        <p:txBody>
          <a:bodyPr wrap="square" lIns="0" tIns="0" rIns="0" bIns="0" rtlCol="0" anchor="ctr">
            <a:normAutofit/>
          </a:bodyPr>
          <a:lstStyle/>
          <a:p>
            <a:pPr algn="ctr" indent="0" marL="0">
              <a:buNone/>
            </a:pPr>
            <a:r>
              <a:rPr lang="en-US" sz="850" b="1" dirty="0">
                <a:solidFill>
                  <a:srgbClr val="111111"/>
                </a:solidFill>
                <a:latin typeface="Aptos" pitchFamily="34" charset="0"/>
                <a:ea typeface="Aptos" pitchFamily="34" charset="-122"/>
                <a:cs typeface="Aptos" pitchFamily="34" charset="-120"/>
              </a:rPr>
              <a:t>UNDERSTAND</a:t>
            </a:r>
            <a:endParaRPr lang="en-US" sz="850" dirty="0"/>
          </a:p>
        </p:txBody>
      </p:sp>
      <p:sp>
        <p:nvSpPr>
          <p:cNvPr id="26" name="Shape 24"/>
          <p:cNvSpPr/>
          <p:nvPr/>
        </p:nvSpPr>
        <p:spPr>
          <a:xfrm>
            <a:off x="10085832" y="5166360"/>
            <a:ext cx="1188720" cy="310896"/>
          </a:xfrm>
          <a:prstGeom prst="roundRect">
            <a:avLst>
              <a:gd name="adj" fmla="val 23529"/>
            </a:avLst>
          </a:prstGeom>
          <a:solidFill>
            <a:srgbClr val="DFEBD9"/>
          </a:solidFill>
          <a:ln w="10160">
            <a:solidFill>
              <a:srgbClr val="DFEBD9"/>
            </a:solidFill>
            <a:prstDash val="solid"/>
          </a:ln>
        </p:spPr>
      </p:sp>
      <p:sp>
        <p:nvSpPr>
          <p:cNvPr id="27" name="Text 25"/>
          <p:cNvSpPr/>
          <p:nvPr/>
        </p:nvSpPr>
        <p:spPr>
          <a:xfrm>
            <a:off x="10085832" y="5175504"/>
            <a:ext cx="1188720" cy="274320"/>
          </a:xfrm>
          <a:prstGeom prst="rect">
            <a:avLst/>
          </a:prstGeom>
          <a:noFill/>
          <a:ln/>
        </p:spPr>
        <p:txBody>
          <a:bodyPr wrap="square" lIns="0" tIns="0" rIns="0" bIns="0" rtlCol="0" anchor="ctr">
            <a:normAutofit/>
          </a:bodyPr>
          <a:lstStyle/>
          <a:p>
            <a:pPr algn="ctr" indent="0" marL="0">
              <a:buNone/>
            </a:pPr>
            <a:r>
              <a:rPr lang="en-US" sz="850" b="1" dirty="0">
                <a:solidFill>
                  <a:srgbClr val="111111"/>
                </a:solidFill>
                <a:latin typeface="Aptos" pitchFamily="34" charset="0"/>
                <a:ea typeface="Aptos" pitchFamily="34" charset="-122"/>
                <a:cs typeface="Aptos" pitchFamily="34" charset="-120"/>
              </a:rPr>
              <a:t>ACT</a:t>
            </a:r>
            <a:endParaRPr lang="en-US" sz="850" dirty="0"/>
          </a:p>
        </p:txBody>
      </p:sp>
      <p:sp>
        <p:nvSpPr>
          <p:cNvPr id="28" name="Text 26"/>
          <p:cNvSpPr/>
          <p:nvPr/>
        </p:nvSpPr>
        <p:spPr>
          <a:xfrm>
            <a:off x="585216" y="5870448"/>
            <a:ext cx="8961120" cy="256032"/>
          </a:xfrm>
          <a:prstGeom prst="rect">
            <a:avLst/>
          </a:prstGeom>
          <a:noFill/>
          <a:ln/>
        </p:spPr>
        <p:txBody>
          <a:bodyPr wrap="square" lIns="0" tIns="0" rIns="0" bIns="0" rtlCol="0" anchor="ctr">
            <a:normAutofit/>
          </a:bodyPr>
          <a:lstStyle/>
          <a:p>
            <a:pPr algn="l" indent="0" marL="0">
              <a:buNone/>
            </a:pPr>
            <a:r>
              <a:rPr lang="en-US" sz="1420" i="1" dirty="0">
                <a:solidFill>
                  <a:srgbClr val="6D695F"/>
                </a:solidFill>
                <a:latin typeface="Georgia" pitchFamily="34" charset="0"/>
                <a:ea typeface="Georgia" pitchFamily="34" charset="-122"/>
                <a:cs typeface="Georgia" pitchFamily="34" charset="-120"/>
              </a:rPr>
              <a:t>The product direction is not “more AI.” It is better decision control.</a:t>
            </a:r>
            <a:endParaRPr lang="en-US" sz="142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A9A59A"/>
                </a:solidFill>
                <a:latin typeface="Aptos" pitchFamily="34" charset="0"/>
                <a:ea typeface="Aptos" pitchFamily="34" charset="-122"/>
                <a:cs typeface="Aptos" pitchFamily="34" charset="-120"/>
              </a:rPr>
              <a:t>15  /  CONCLUSION</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Aptos" pitchFamily="34" charset="0"/>
                <a:ea typeface="Aptos" pitchFamily="34" charset="-122"/>
                <a:cs typeface="Aptos" pitchFamily="34" charset="-120"/>
              </a:rPr>
              <a:t>BeforeYouSign closes the gap between reading and deciding.</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C4C0B7"/>
                </a:solidFill>
                <a:latin typeface="Aptos" pitchFamily="34" charset="0"/>
                <a:ea typeface="Aptos" pitchFamily="34" charset="-122"/>
                <a:cs typeface="Aptos" pitchFamily="34" charset="-120"/>
              </a:rPr>
              <a:t>The value is not the score alone. It is the chain of evidence and action that follows it.</a:t>
            </a:r>
            <a:endParaRPr lang="en-US" sz="1150" dirty="0"/>
          </a:p>
        </p:txBody>
      </p:sp>
      <p:sp>
        <p:nvSpPr>
          <p:cNvPr id="5" name="Shape 3"/>
          <p:cNvSpPr/>
          <p:nvPr/>
        </p:nvSpPr>
        <p:spPr>
          <a:xfrm>
            <a:off x="548640" y="1938528"/>
            <a:ext cx="7571232" cy="603504"/>
          </a:xfrm>
          <a:prstGeom prst="rect">
            <a:avLst/>
          </a:prstGeom>
          <a:solidFill>
            <a:srgbClr val="1A1A18"/>
          </a:solidFill>
          <a:ln w="12700">
            <a:solidFill>
              <a:srgbClr val="3A3833"/>
            </a:solidFill>
            <a:prstDash val="solid"/>
          </a:ln>
        </p:spPr>
      </p:sp>
      <p:sp>
        <p:nvSpPr>
          <p:cNvPr id="6" name="Text 4"/>
          <p:cNvSpPr/>
          <p:nvPr/>
        </p:nvSpPr>
        <p:spPr>
          <a:xfrm>
            <a:off x="768096" y="2084832"/>
            <a:ext cx="1133856" cy="182880"/>
          </a:xfrm>
          <a:prstGeom prst="rect">
            <a:avLst/>
          </a:prstGeom>
          <a:noFill/>
          <a:ln/>
        </p:spPr>
        <p:txBody>
          <a:bodyPr wrap="square" lIns="0" tIns="0" rIns="0" bIns="0" rtlCol="0" anchor="ctr">
            <a:normAutofit/>
          </a:bodyPr>
          <a:lstStyle/>
          <a:p>
            <a:pPr algn="l" indent="0" marL="0">
              <a:buNone/>
            </a:pPr>
            <a:r>
              <a:rPr lang="en-US" sz="820" b="1" spc="110" kern="0" dirty="0">
                <a:solidFill>
                  <a:srgbClr val="C58A2B"/>
                </a:solidFill>
                <a:latin typeface="Aptos" pitchFamily="34" charset="0"/>
                <a:ea typeface="Aptos" pitchFamily="34" charset="-122"/>
                <a:cs typeface="Aptos" pitchFamily="34" charset="-120"/>
              </a:rPr>
              <a:t>ASYMMETRY</a:t>
            </a:r>
            <a:endParaRPr lang="en-US" sz="820" dirty="0"/>
          </a:p>
        </p:txBody>
      </p:sp>
      <p:sp>
        <p:nvSpPr>
          <p:cNvPr id="7" name="Text 5"/>
          <p:cNvSpPr/>
          <p:nvPr/>
        </p:nvSpPr>
        <p:spPr>
          <a:xfrm>
            <a:off x="1920240" y="2039112"/>
            <a:ext cx="5852160" cy="274320"/>
          </a:xfrm>
          <a:prstGeom prst="rect">
            <a:avLst/>
          </a:prstGeom>
          <a:noFill/>
          <a:ln/>
        </p:spPr>
        <p:txBody>
          <a:bodyPr wrap="square" lIns="0" tIns="0" rIns="0" bIns="0" rtlCol="0" anchor="t">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Complex legal text becomes visible, structured and explainable.</a:t>
            </a:r>
            <a:endParaRPr lang="en-US" sz="970" dirty="0"/>
          </a:p>
        </p:txBody>
      </p:sp>
      <p:sp>
        <p:nvSpPr>
          <p:cNvPr id="8" name="Shape 6"/>
          <p:cNvSpPr/>
          <p:nvPr/>
        </p:nvSpPr>
        <p:spPr>
          <a:xfrm>
            <a:off x="548640" y="2779776"/>
            <a:ext cx="7571232" cy="603504"/>
          </a:xfrm>
          <a:prstGeom prst="rect">
            <a:avLst/>
          </a:prstGeom>
          <a:solidFill>
            <a:srgbClr val="171716"/>
          </a:solidFill>
          <a:ln w="12700">
            <a:solidFill>
              <a:srgbClr val="3A3833"/>
            </a:solidFill>
            <a:prstDash val="solid"/>
          </a:ln>
        </p:spPr>
      </p:sp>
      <p:sp>
        <p:nvSpPr>
          <p:cNvPr id="9" name="Text 7"/>
          <p:cNvSpPr/>
          <p:nvPr/>
        </p:nvSpPr>
        <p:spPr>
          <a:xfrm>
            <a:off x="768096" y="2926080"/>
            <a:ext cx="1133856" cy="182880"/>
          </a:xfrm>
          <a:prstGeom prst="rect">
            <a:avLst/>
          </a:prstGeom>
          <a:noFill/>
          <a:ln/>
        </p:spPr>
        <p:txBody>
          <a:bodyPr wrap="square" lIns="0" tIns="0" rIns="0" bIns="0" rtlCol="0" anchor="ctr">
            <a:normAutofit/>
          </a:bodyPr>
          <a:lstStyle/>
          <a:p>
            <a:pPr algn="l" indent="0" marL="0">
              <a:buNone/>
            </a:pPr>
            <a:r>
              <a:rPr lang="en-US" sz="820" b="1" spc="110" kern="0" dirty="0">
                <a:solidFill>
                  <a:srgbClr val="5E6E86"/>
                </a:solidFill>
                <a:latin typeface="Aptos" pitchFamily="34" charset="0"/>
                <a:ea typeface="Aptos" pitchFamily="34" charset="-122"/>
                <a:cs typeface="Aptos" pitchFamily="34" charset="-120"/>
              </a:rPr>
              <a:t>EVIDENCE</a:t>
            </a:r>
            <a:endParaRPr lang="en-US" sz="820" dirty="0"/>
          </a:p>
        </p:txBody>
      </p:sp>
      <p:sp>
        <p:nvSpPr>
          <p:cNvPr id="10" name="Text 8"/>
          <p:cNvSpPr/>
          <p:nvPr/>
        </p:nvSpPr>
        <p:spPr>
          <a:xfrm>
            <a:off x="1920240" y="2880360"/>
            <a:ext cx="5852160" cy="274320"/>
          </a:xfrm>
          <a:prstGeom prst="rect">
            <a:avLst/>
          </a:prstGeom>
          <a:noFill/>
          <a:ln/>
        </p:spPr>
        <p:txBody>
          <a:bodyPr wrap="square" lIns="0" tIns="0" rIns="0" bIns="0" rtlCol="0" anchor="t">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Semantic precedent retrieval adds an empirical benchmark layer.</a:t>
            </a:r>
            <a:endParaRPr lang="en-US" sz="970" dirty="0"/>
          </a:p>
        </p:txBody>
      </p:sp>
      <p:sp>
        <p:nvSpPr>
          <p:cNvPr id="11" name="Shape 9"/>
          <p:cNvSpPr/>
          <p:nvPr/>
        </p:nvSpPr>
        <p:spPr>
          <a:xfrm>
            <a:off x="548640" y="3621024"/>
            <a:ext cx="7571232" cy="603504"/>
          </a:xfrm>
          <a:prstGeom prst="rect">
            <a:avLst/>
          </a:prstGeom>
          <a:solidFill>
            <a:srgbClr val="171716"/>
          </a:solidFill>
          <a:ln w="12700">
            <a:solidFill>
              <a:srgbClr val="3A3833"/>
            </a:solidFill>
            <a:prstDash val="solid"/>
          </a:ln>
        </p:spPr>
      </p:sp>
      <p:sp>
        <p:nvSpPr>
          <p:cNvPr id="12" name="Text 10"/>
          <p:cNvSpPr/>
          <p:nvPr/>
        </p:nvSpPr>
        <p:spPr>
          <a:xfrm>
            <a:off x="768096" y="3767328"/>
            <a:ext cx="1133856" cy="182880"/>
          </a:xfrm>
          <a:prstGeom prst="rect">
            <a:avLst/>
          </a:prstGeom>
          <a:noFill/>
          <a:ln/>
        </p:spPr>
        <p:txBody>
          <a:bodyPr wrap="square" lIns="0" tIns="0" rIns="0" bIns="0" rtlCol="0" anchor="ctr">
            <a:normAutofit/>
          </a:bodyPr>
          <a:lstStyle/>
          <a:p>
            <a:pPr algn="l" indent="0" marL="0">
              <a:buNone/>
            </a:pPr>
            <a:r>
              <a:rPr lang="en-US" sz="820" b="1" spc="110" kern="0" dirty="0">
                <a:solidFill>
                  <a:srgbClr val="C84A45"/>
                </a:solidFill>
                <a:latin typeface="Aptos" pitchFamily="34" charset="0"/>
                <a:ea typeface="Aptos" pitchFamily="34" charset="-122"/>
                <a:cs typeface="Aptos" pitchFamily="34" charset="-120"/>
              </a:rPr>
              <a:t>ACTION</a:t>
            </a:r>
            <a:endParaRPr lang="en-US" sz="820" dirty="0"/>
          </a:p>
        </p:txBody>
      </p:sp>
      <p:sp>
        <p:nvSpPr>
          <p:cNvPr id="13" name="Text 11"/>
          <p:cNvSpPr/>
          <p:nvPr/>
        </p:nvSpPr>
        <p:spPr>
          <a:xfrm>
            <a:off x="1920240" y="3721608"/>
            <a:ext cx="5852160" cy="274320"/>
          </a:xfrm>
          <a:prstGeom prst="rect">
            <a:avLst/>
          </a:prstGeom>
          <a:noFill/>
          <a:ln/>
        </p:spPr>
        <p:txBody>
          <a:bodyPr wrap="square" lIns="0" tIns="0" rIns="0" bIns="0" rtlCol="0" anchor="t">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Redlines, playbooks, templates and workflows turn insight into decisions.</a:t>
            </a:r>
            <a:endParaRPr lang="en-US" sz="970" dirty="0"/>
          </a:p>
        </p:txBody>
      </p:sp>
      <p:sp>
        <p:nvSpPr>
          <p:cNvPr id="14" name="Shape 12"/>
          <p:cNvSpPr/>
          <p:nvPr/>
        </p:nvSpPr>
        <p:spPr>
          <a:xfrm>
            <a:off x="548640" y="4462272"/>
            <a:ext cx="7571232" cy="603504"/>
          </a:xfrm>
          <a:prstGeom prst="rect">
            <a:avLst/>
          </a:prstGeom>
          <a:solidFill>
            <a:srgbClr val="171716"/>
          </a:solidFill>
          <a:ln w="12700">
            <a:solidFill>
              <a:srgbClr val="3A3833"/>
            </a:solidFill>
            <a:prstDash val="solid"/>
          </a:ln>
        </p:spPr>
      </p:sp>
      <p:sp>
        <p:nvSpPr>
          <p:cNvPr id="15" name="Text 13"/>
          <p:cNvSpPr/>
          <p:nvPr/>
        </p:nvSpPr>
        <p:spPr>
          <a:xfrm>
            <a:off x="768096" y="4608576"/>
            <a:ext cx="1133856" cy="182880"/>
          </a:xfrm>
          <a:prstGeom prst="rect">
            <a:avLst/>
          </a:prstGeom>
          <a:noFill/>
          <a:ln/>
        </p:spPr>
        <p:txBody>
          <a:bodyPr wrap="square" lIns="0" tIns="0" rIns="0" bIns="0" rtlCol="0" anchor="ctr">
            <a:normAutofit/>
          </a:bodyPr>
          <a:lstStyle/>
          <a:p>
            <a:pPr algn="l" indent="0" marL="0">
              <a:buNone/>
            </a:pPr>
            <a:r>
              <a:rPr lang="en-US" sz="820" b="1" spc="110" kern="0" dirty="0">
                <a:solidFill>
                  <a:srgbClr val="4E7C52"/>
                </a:solidFill>
                <a:latin typeface="Aptos" pitchFamily="34" charset="0"/>
                <a:ea typeface="Aptos" pitchFamily="34" charset="-122"/>
                <a:cs typeface="Aptos" pitchFamily="34" charset="-120"/>
              </a:rPr>
              <a:t>CONTROL</a:t>
            </a:r>
            <a:endParaRPr lang="en-US" sz="820" dirty="0"/>
          </a:p>
        </p:txBody>
      </p:sp>
      <p:sp>
        <p:nvSpPr>
          <p:cNvPr id="16" name="Text 14"/>
          <p:cNvSpPr/>
          <p:nvPr/>
        </p:nvSpPr>
        <p:spPr>
          <a:xfrm>
            <a:off x="1920240" y="4562856"/>
            <a:ext cx="5852160" cy="274320"/>
          </a:xfrm>
          <a:prstGeom prst="rect">
            <a:avLst/>
          </a:prstGeom>
          <a:noFill/>
          <a:ln/>
        </p:spPr>
        <p:txBody>
          <a:bodyPr wrap="square" lIns="0" tIns="0" rIns="0" bIns="0" rtlCol="0" anchor="t">
            <a:normAutofit/>
          </a:bodyPr>
          <a:lstStyle/>
          <a:p>
            <a:pPr algn="l" indent="0" marL="0">
              <a:buNone/>
            </a:pPr>
            <a:r>
              <a:rPr lang="en-US" sz="970" b="1" dirty="0">
                <a:solidFill>
                  <a:srgbClr val="FFFFFF"/>
                </a:solidFill>
                <a:latin typeface="Aptos" pitchFamily="34" charset="0"/>
                <a:ea typeface="Aptos" pitchFamily="34" charset="-122"/>
                <a:cs typeface="Aptos" pitchFamily="34" charset="-120"/>
              </a:rPr>
              <a:t>Lifecycle tracking, privacy-aware tooling and hashing extend value after signing.</a:t>
            </a:r>
            <a:endParaRPr lang="en-US" sz="970" dirty="0"/>
          </a:p>
        </p:txBody>
      </p:sp>
      <p:sp>
        <p:nvSpPr>
          <p:cNvPr id="17" name="Text 15"/>
          <p:cNvSpPr/>
          <p:nvPr/>
        </p:nvSpPr>
        <p:spPr>
          <a:xfrm>
            <a:off x="8549640" y="2176272"/>
            <a:ext cx="2496312" cy="1133856"/>
          </a:xfrm>
          <a:prstGeom prst="rect">
            <a:avLst/>
          </a:prstGeom>
          <a:noFill/>
          <a:ln/>
        </p:spPr>
        <p:txBody>
          <a:bodyPr wrap="square" lIns="0" tIns="0" rIns="0" bIns="0" rtlCol="0" anchor="ctr">
            <a:normAutofit/>
          </a:bodyPr>
          <a:lstStyle/>
          <a:p>
            <a:pPr algn="ctr" indent="0" marL="0">
              <a:buNone/>
            </a:pPr>
            <a:r>
              <a:rPr lang="en-US" sz="2000" i="1" dirty="0">
                <a:solidFill>
                  <a:srgbClr val="FFFFFF"/>
                </a:solidFill>
                <a:latin typeface="Georgia" pitchFamily="34" charset="0"/>
                <a:ea typeface="Georgia" pitchFamily="34" charset="-122"/>
                <a:cs typeface="Georgia" pitchFamily="34" charset="-120"/>
              </a:rPr>
              <a:t>“Before you sign, understand what you are actually agreeing to.”</a:t>
            </a:r>
            <a:endParaRPr lang="en-US" sz="2000" dirty="0"/>
          </a:p>
        </p:txBody>
      </p:sp>
      <p:sp>
        <p:nvSpPr>
          <p:cNvPr id="18" name="Shape 16"/>
          <p:cNvSpPr/>
          <p:nvPr/>
        </p:nvSpPr>
        <p:spPr>
          <a:xfrm>
            <a:off x="8942832" y="3566160"/>
            <a:ext cx="1719072" cy="0"/>
          </a:xfrm>
          <a:prstGeom prst="line">
            <a:avLst/>
          </a:prstGeom>
          <a:noFill/>
          <a:ln w="12700">
            <a:solidFill>
              <a:srgbClr val="5A5650"/>
            </a:solidFill>
            <a:prstDash val="solid"/>
          </a:ln>
        </p:spPr>
      </p:sp>
      <p:sp>
        <p:nvSpPr>
          <p:cNvPr id="19" name="Text 17"/>
          <p:cNvSpPr/>
          <p:nvPr/>
        </p:nvSpPr>
        <p:spPr>
          <a:xfrm>
            <a:off x="8641080" y="3767328"/>
            <a:ext cx="2267712" cy="201168"/>
          </a:xfrm>
          <a:prstGeom prst="rect">
            <a:avLst/>
          </a:prstGeom>
          <a:noFill/>
          <a:ln/>
        </p:spPr>
        <p:txBody>
          <a:bodyPr wrap="square" lIns="0" tIns="0" rIns="0" bIns="0" rtlCol="0" anchor="ctr">
            <a:normAutofit/>
          </a:bodyPr>
          <a:lstStyle/>
          <a:p>
            <a:pPr algn="ctr" indent="0" marL="0">
              <a:buNone/>
            </a:pPr>
            <a:r>
              <a:rPr lang="en-US" sz="780" b="1" spc="140" kern="0" dirty="0">
                <a:solidFill>
                  <a:srgbClr val="A9A59A"/>
                </a:solidFill>
                <a:latin typeface="Aptos" pitchFamily="34" charset="0"/>
                <a:ea typeface="Aptos" pitchFamily="34" charset="-122"/>
                <a:cs typeface="Aptos" pitchFamily="34" charset="-120"/>
              </a:rPr>
              <a:t>AI CONTRACT INTELLIGENCE</a:t>
            </a:r>
            <a:endParaRPr lang="en-US" sz="780" dirty="0"/>
          </a:p>
        </p:txBody>
      </p:sp>
      <p:sp>
        <p:nvSpPr>
          <p:cNvPr id="20" name="Text 18"/>
          <p:cNvSpPr/>
          <p:nvPr/>
        </p:nvSpPr>
        <p:spPr>
          <a:xfrm>
            <a:off x="8641080" y="4636008"/>
            <a:ext cx="2267712" cy="493776"/>
          </a:xfrm>
          <a:prstGeom prst="rect">
            <a:avLst/>
          </a:prstGeom>
          <a:noFill/>
          <a:ln/>
        </p:spPr>
        <p:txBody>
          <a:bodyPr wrap="square" lIns="0" tIns="0" rIns="0" bIns="0" rtlCol="0" anchor="ctr">
            <a:normAutofit/>
          </a:bodyPr>
          <a:lstStyle/>
          <a:p>
            <a:pPr algn="ctr" indent="0" marL="0">
              <a:buNone/>
            </a:pPr>
            <a:r>
              <a:rPr lang="en-US" sz="2200" b="1" dirty="0">
                <a:solidFill>
                  <a:srgbClr val="C58A2B"/>
                </a:solidFill>
                <a:latin typeface="Aptos" pitchFamily="34" charset="0"/>
                <a:ea typeface="Aptos" pitchFamily="34" charset="-122"/>
                <a:cs typeface="Aptos" pitchFamily="34" charset="-120"/>
              </a:rPr>
              <a:t>Thank you.</a:t>
            </a:r>
            <a:endParaRPr lang="en-US" sz="2200" dirty="0"/>
          </a:p>
        </p:txBody>
      </p:sp>
      <p:sp>
        <p:nvSpPr>
          <p:cNvPr id="21" name="Shape 19"/>
          <p:cNvSpPr/>
          <p:nvPr/>
        </p:nvSpPr>
        <p:spPr>
          <a:xfrm>
            <a:off x="8375904" y="5358384"/>
            <a:ext cx="2779776" cy="310896"/>
          </a:xfrm>
          <a:prstGeom prst="roundRect">
            <a:avLst>
              <a:gd name="adj" fmla="val 23529"/>
            </a:avLst>
          </a:prstGeom>
          <a:solidFill>
            <a:srgbClr val="2A2926"/>
          </a:solidFill>
          <a:ln w="10160">
            <a:solidFill>
              <a:srgbClr val="45423E"/>
            </a:solidFill>
            <a:prstDash val="solid"/>
          </a:ln>
        </p:spPr>
      </p:sp>
      <p:sp>
        <p:nvSpPr>
          <p:cNvPr id="22" name="Text 20"/>
          <p:cNvSpPr/>
          <p:nvPr/>
        </p:nvSpPr>
        <p:spPr>
          <a:xfrm>
            <a:off x="8375904" y="5367528"/>
            <a:ext cx="2779776" cy="274320"/>
          </a:xfrm>
          <a:prstGeom prst="rect">
            <a:avLst/>
          </a:prstGeom>
          <a:noFill/>
          <a:ln/>
        </p:spPr>
        <p:txBody>
          <a:bodyPr wrap="square" lIns="0" tIns="0" rIns="0" bIns="0" rtlCol="0" anchor="ctr">
            <a:normAutofit/>
          </a:bodyPr>
          <a:lstStyle/>
          <a:p>
            <a:pPr algn="ctr" indent="0" marL="0">
              <a:buNone/>
            </a:pPr>
            <a:r>
              <a:rPr lang="en-US" sz="850" b="1" dirty="0">
                <a:solidFill>
                  <a:srgbClr val="E6E0D5"/>
                </a:solidFill>
                <a:latin typeface="Aptos" pitchFamily="34" charset="0"/>
                <a:ea typeface="Aptos" pitchFamily="34" charset="-122"/>
                <a:cs typeface="Aptos" pitchFamily="34" charset="-120"/>
              </a:rPr>
              <a:t>beforeyousign.vercel.app</a:t>
            </a:r>
            <a:endParaRPr lang="en-US" sz="85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A968C"/>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92608"/>
            <a:ext cx="4389120" cy="256032"/>
          </a:xfrm>
          <a:prstGeom prst="rect">
            <a:avLst/>
          </a:prstGeom>
          <a:noFill/>
          <a:ln/>
        </p:spPr>
        <p:txBody>
          <a:bodyPr wrap="square" lIns="0" tIns="0" rIns="0" bIns="0" rtlCol="0" anchor="ctr">
            <a:normAutofit/>
          </a:bodyPr>
          <a:lstStyle/>
          <a:p>
            <a:pPr algn="l" indent="0" marL="0">
              <a:buNone/>
            </a:pPr>
            <a:r>
              <a:rPr lang="en-US" sz="850" b="1" spc="150" kern="0" dirty="0">
                <a:solidFill>
                  <a:srgbClr val="6D695F"/>
                </a:solidFill>
                <a:latin typeface="Aptos" pitchFamily="34" charset="0"/>
                <a:ea typeface="Aptos" pitchFamily="34" charset="-122"/>
                <a:cs typeface="Aptos" pitchFamily="34" charset="-120"/>
              </a:rPr>
              <a:t>16  /  REFERENCES</a:t>
            </a:r>
            <a:endParaRPr lang="en-US" sz="850" dirty="0"/>
          </a:p>
        </p:txBody>
      </p:sp>
      <p:sp>
        <p:nvSpPr>
          <p:cNvPr id="3" name="Text 1"/>
          <p:cNvSpPr/>
          <p:nvPr/>
        </p:nvSpPr>
        <p:spPr>
          <a:xfrm>
            <a:off x="548640" y="612648"/>
            <a:ext cx="10241280" cy="566928"/>
          </a:xfrm>
          <a:prstGeom prst="rect">
            <a:avLst/>
          </a:prstGeom>
          <a:noFill/>
          <a:ln/>
        </p:spPr>
        <p:txBody>
          <a:bodyPr wrap="square" lIns="0" tIns="0" rIns="0" bIns="0" rtlCol="0" anchor="ctr">
            <a:normAutofit/>
          </a:bodyPr>
          <a:lstStyle/>
          <a:p>
            <a:pPr algn="l" indent="0" marL="0">
              <a:buNone/>
            </a:pPr>
            <a:r>
              <a:rPr lang="en-US" sz="2700" b="1" dirty="0">
                <a:solidFill>
                  <a:srgbClr val="111111"/>
                </a:solidFill>
                <a:latin typeface="Aptos" pitchFamily="34" charset="0"/>
                <a:ea typeface="Aptos" pitchFamily="34" charset="-122"/>
                <a:cs typeface="Aptos" pitchFamily="34" charset="-120"/>
              </a:rPr>
              <a:t>Project sources &amp; technical references</a:t>
            </a:r>
            <a:endParaRPr lang="en-US" sz="2700" dirty="0"/>
          </a:p>
        </p:txBody>
      </p:sp>
      <p:sp>
        <p:nvSpPr>
          <p:cNvPr id="4" name="Text 2"/>
          <p:cNvSpPr/>
          <p:nvPr/>
        </p:nvSpPr>
        <p:spPr>
          <a:xfrm>
            <a:off x="548640" y="1216152"/>
            <a:ext cx="9966960" cy="384048"/>
          </a:xfrm>
          <a:prstGeom prst="rect">
            <a:avLst/>
          </a:prstGeom>
          <a:noFill/>
          <a:ln/>
        </p:spPr>
        <p:txBody>
          <a:bodyPr wrap="square" lIns="0" tIns="0" rIns="0" bIns="0" rtlCol="0" anchor="t">
            <a:normAutofit/>
          </a:bodyPr>
          <a:lstStyle/>
          <a:p>
            <a:pPr algn="l" indent="0" marL="0">
              <a:buNone/>
            </a:pPr>
            <a:r>
              <a:rPr lang="en-US" sz="1150" dirty="0">
                <a:solidFill>
                  <a:srgbClr val="6D695F"/>
                </a:solidFill>
                <a:latin typeface="Aptos" pitchFamily="34" charset="0"/>
                <a:ea typeface="Aptos" pitchFamily="34" charset="-122"/>
                <a:cs typeface="Aptos" pitchFamily="34" charset="-120"/>
              </a:rPr>
              <a:t>Included for academic traceability and viva / evaluation discussion.</a:t>
            </a:r>
            <a:endParaRPr lang="en-US" sz="1150" dirty="0"/>
          </a:p>
        </p:txBody>
      </p:sp>
      <p:sp>
        <p:nvSpPr>
          <p:cNvPr id="5" name="Text 3"/>
          <p:cNvSpPr/>
          <p:nvPr/>
        </p:nvSpPr>
        <p:spPr>
          <a:xfrm>
            <a:off x="603504" y="1938528"/>
            <a:ext cx="365760" cy="164592"/>
          </a:xfrm>
          <a:prstGeom prst="rect">
            <a:avLst/>
          </a:prstGeom>
          <a:noFill/>
          <a:ln/>
        </p:spPr>
        <p:txBody>
          <a:bodyPr wrap="square" lIns="0" tIns="0" rIns="0" bIns="0" rtlCol="0" anchor="ctr">
            <a:normAutofit/>
          </a:bodyPr>
          <a:lstStyle/>
          <a:p>
            <a:pPr algn="l" indent="0" marL="0">
              <a:buNone/>
            </a:pPr>
            <a:r>
              <a:rPr lang="en-US" sz="780" b="1" spc="110" kern="0" dirty="0">
                <a:solidFill>
                  <a:srgbClr val="C58A2B"/>
                </a:solidFill>
                <a:latin typeface="Aptos" pitchFamily="34" charset="0"/>
                <a:ea typeface="Aptos" pitchFamily="34" charset="-122"/>
                <a:cs typeface="Aptos" pitchFamily="34" charset="-120"/>
              </a:rPr>
              <a:t>01</a:t>
            </a:r>
            <a:endParaRPr lang="en-US" sz="780" dirty="0"/>
          </a:p>
        </p:txBody>
      </p:sp>
      <p:sp>
        <p:nvSpPr>
          <p:cNvPr id="6" name="Text 4"/>
          <p:cNvSpPr/>
          <p:nvPr/>
        </p:nvSpPr>
        <p:spPr>
          <a:xfrm>
            <a:off x="1188720" y="1901952"/>
            <a:ext cx="1965960" cy="201168"/>
          </a:xfrm>
          <a:prstGeom prst="rect">
            <a:avLst/>
          </a:prstGeom>
          <a:noFill/>
          <a:ln/>
        </p:spPr>
        <p:txBody>
          <a:bodyPr wrap="square" lIns="0" tIns="0" rIns="0" bIns="0" rtlCol="0" anchor="ctr">
            <a:normAutofit/>
          </a:bodyPr>
          <a:lstStyle/>
          <a:p>
            <a:pPr algn="l" indent="0" marL="0">
              <a:buNone/>
            </a:pPr>
            <a:r>
              <a:rPr lang="en-US" sz="920" b="1" dirty="0">
                <a:solidFill>
                  <a:srgbClr val="111111"/>
                </a:solidFill>
                <a:latin typeface="Aptos" pitchFamily="34" charset="0"/>
                <a:ea typeface="Aptos" pitchFamily="34" charset="-122"/>
                <a:cs typeface="Aptos" pitchFamily="34" charset="-120"/>
              </a:rPr>
              <a:t>Project documentation</a:t>
            </a:r>
            <a:endParaRPr lang="en-US" sz="920" dirty="0"/>
          </a:p>
        </p:txBody>
      </p:sp>
      <p:sp>
        <p:nvSpPr>
          <p:cNvPr id="7" name="Text 5"/>
          <p:cNvSpPr/>
          <p:nvPr/>
        </p:nvSpPr>
        <p:spPr>
          <a:xfrm>
            <a:off x="3154680" y="1901952"/>
            <a:ext cx="7973568" cy="365760"/>
          </a:xfrm>
          <a:prstGeom prst="rect">
            <a:avLst/>
          </a:prstGeom>
          <a:noFill/>
          <a:ln/>
        </p:spPr>
        <p:txBody>
          <a:bodyPr wrap="square" lIns="0" tIns="0" rIns="0" bIns="0" rtlCol="0" anchor="t">
            <a:normAutofit/>
          </a:bodyPr>
          <a:lstStyle/>
          <a:p>
            <a:pPr algn="l" indent="0" marL="0">
              <a:buNone/>
            </a:pPr>
            <a:r>
              <a:rPr lang="en-US" sz="880" dirty="0">
                <a:solidFill>
                  <a:srgbClr val="6D695F"/>
                </a:solidFill>
                <a:latin typeface="Aptos" pitchFamily="34" charset="0"/>
                <a:ea typeface="Aptos" pitchFamily="34" charset="-122"/>
                <a:cs typeface="Aptos" pitchFamily="34" charset="-120"/>
              </a:rPr>
              <a:t>BeforeYouSign — docs/presentation.md, docs/architecture.md, docs/features.md, docs/ml-engine.md</a:t>
            </a:r>
            <a:endParaRPr lang="en-US" sz="880" dirty="0"/>
          </a:p>
        </p:txBody>
      </p:sp>
      <p:sp>
        <p:nvSpPr>
          <p:cNvPr id="8" name="Shape 6"/>
          <p:cNvSpPr/>
          <p:nvPr/>
        </p:nvSpPr>
        <p:spPr>
          <a:xfrm>
            <a:off x="1188720" y="2395728"/>
            <a:ext cx="9985248" cy="0"/>
          </a:xfrm>
          <a:prstGeom prst="line">
            <a:avLst/>
          </a:prstGeom>
          <a:noFill/>
          <a:ln w="10160">
            <a:solidFill>
              <a:srgbClr val="D6D0C5"/>
            </a:solidFill>
            <a:prstDash val="solid"/>
          </a:ln>
        </p:spPr>
      </p:sp>
      <p:sp>
        <p:nvSpPr>
          <p:cNvPr id="9" name="Text 7"/>
          <p:cNvSpPr/>
          <p:nvPr/>
        </p:nvSpPr>
        <p:spPr>
          <a:xfrm>
            <a:off x="603504" y="2615184"/>
            <a:ext cx="365760" cy="164592"/>
          </a:xfrm>
          <a:prstGeom prst="rect">
            <a:avLst/>
          </a:prstGeom>
          <a:noFill/>
          <a:ln/>
        </p:spPr>
        <p:txBody>
          <a:bodyPr wrap="square" lIns="0" tIns="0" rIns="0" bIns="0" rtlCol="0" anchor="ctr">
            <a:normAutofit/>
          </a:bodyPr>
          <a:lstStyle/>
          <a:p>
            <a:pPr algn="l" indent="0" marL="0">
              <a:buNone/>
            </a:pPr>
            <a:r>
              <a:rPr lang="en-US" sz="780" b="1" spc="110" kern="0" dirty="0">
                <a:solidFill>
                  <a:srgbClr val="C58A2B"/>
                </a:solidFill>
                <a:latin typeface="Aptos" pitchFamily="34" charset="0"/>
                <a:ea typeface="Aptos" pitchFamily="34" charset="-122"/>
                <a:cs typeface="Aptos" pitchFamily="34" charset="-120"/>
              </a:rPr>
              <a:t>02</a:t>
            </a:r>
            <a:endParaRPr lang="en-US" sz="780" dirty="0"/>
          </a:p>
        </p:txBody>
      </p:sp>
      <p:sp>
        <p:nvSpPr>
          <p:cNvPr id="10" name="Text 8"/>
          <p:cNvSpPr/>
          <p:nvPr/>
        </p:nvSpPr>
        <p:spPr>
          <a:xfrm>
            <a:off x="1188720" y="2578608"/>
            <a:ext cx="1965960" cy="201168"/>
          </a:xfrm>
          <a:prstGeom prst="rect">
            <a:avLst/>
          </a:prstGeom>
          <a:noFill/>
          <a:ln/>
        </p:spPr>
        <p:txBody>
          <a:bodyPr wrap="square" lIns="0" tIns="0" rIns="0" bIns="0" rtlCol="0" anchor="ctr">
            <a:normAutofit/>
          </a:bodyPr>
          <a:lstStyle/>
          <a:p>
            <a:pPr algn="l" indent="0" marL="0">
              <a:buNone/>
            </a:pPr>
            <a:r>
              <a:rPr lang="en-US" sz="920" b="1" dirty="0">
                <a:solidFill>
                  <a:srgbClr val="111111"/>
                </a:solidFill>
                <a:latin typeface="Aptos" pitchFamily="34" charset="0"/>
                <a:ea typeface="Aptos" pitchFamily="34" charset="-122"/>
                <a:cs typeface="Aptos" pitchFamily="34" charset="-120"/>
              </a:rPr>
              <a:t>Live application</a:t>
            </a:r>
            <a:endParaRPr lang="en-US" sz="920" dirty="0"/>
          </a:p>
        </p:txBody>
      </p:sp>
      <p:sp>
        <p:nvSpPr>
          <p:cNvPr id="11" name="Text 9"/>
          <p:cNvSpPr/>
          <p:nvPr/>
        </p:nvSpPr>
        <p:spPr>
          <a:xfrm>
            <a:off x="3154680" y="2578608"/>
            <a:ext cx="7973568" cy="365760"/>
          </a:xfrm>
          <a:prstGeom prst="rect">
            <a:avLst/>
          </a:prstGeom>
          <a:noFill/>
          <a:ln/>
        </p:spPr>
        <p:txBody>
          <a:bodyPr wrap="square" lIns="0" tIns="0" rIns="0" bIns="0" rtlCol="0" anchor="t">
            <a:normAutofit/>
          </a:bodyPr>
          <a:lstStyle/>
          <a:p>
            <a:pPr algn="l" indent="0" marL="0">
              <a:buNone/>
            </a:pPr>
            <a:r>
              <a:rPr lang="en-US" sz="880" dirty="0">
                <a:solidFill>
                  <a:srgbClr val="6D695F"/>
                </a:solidFill>
                <a:latin typeface="Aptos" pitchFamily="34" charset="0"/>
                <a:ea typeface="Aptos" pitchFamily="34" charset="-122"/>
                <a:cs typeface="Aptos" pitchFamily="34" charset="-120"/>
              </a:rPr>
              <a:t>https://beforeyousign.vercel.app/</a:t>
            </a:r>
            <a:endParaRPr lang="en-US" sz="880" dirty="0"/>
          </a:p>
        </p:txBody>
      </p:sp>
      <p:sp>
        <p:nvSpPr>
          <p:cNvPr id="12" name="Shape 10"/>
          <p:cNvSpPr/>
          <p:nvPr/>
        </p:nvSpPr>
        <p:spPr>
          <a:xfrm>
            <a:off x="1188720" y="3072384"/>
            <a:ext cx="9985248" cy="0"/>
          </a:xfrm>
          <a:prstGeom prst="line">
            <a:avLst/>
          </a:prstGeom>
          <a:noFill/>
          <a:ln w="10160">
            <a:solidFill>
              <a:srgbClr val="D6D0C5"/>
            </a:solidFill>
            <a:prstDash val="solid"/>
          </a:ln>
        </p:spPr>
      </p:sp>
      <p:sp>
        <p:nvSpPr>
          <p:cNvPr id="13" name="Text 11"/>
          <p:cNvSpPr/>
          <p:nvPr/>
        </p:nvSpPr>
        <p:spPr>
          <a:xfrm>
            <a:off x="603504" y="3291840"/>
            <a:ext cx="365760" cy="164592"/>
          </a:xfrm>
          <a:prstGeom prst="rect">
            <a:avLst/>
          </a:prstGeom>
          <a:noFill/>
          <a:ln/>
        </p:spPr>
        <p:txBody>
          <a:bodyPr wrap="square" lIns="0" tIns="0" rIns="0" bIns="0" rtlCol="0" anchor="ctr">
            <a:normAutofit/>
          </a:bodyPr>
          <a:lstStyle/>
          <a:p>
            <a:pPr algn="l" indent="0" marL="0">
              <a:buNone/>
            </a:pPr>
            <a:r>
              <a:rPr lang="en-US" sz="780" b="1" spc="110" kern="0" dirty="0">
                <a:solidFill>
                  <a:srgbClr val="C58A2B"/>
                </a:solidFill>
                <a:latin typeface="Aptos" pitchFamily="34" charset="0"/>
                <a:ea typeface="Aptos" pitchFamily="34" charset="-122"/>
                <a:cs typeface="Aptos" pitchFamily="34" charset="-120"/>
              </a:rPr>
              <a:t>03</a:t>
            </a:r>
            <a:endParaRPr lang="en-US" sz="780" dirty="0"/>
          </a:p>
        </p:txBody>
      </p:sp>
      <p:sp>
        <p:nvSpPr>
          <p:cNvPr id="14" name="Text 12"/>
          <p:cNvSpPr/>
          <p:nvPr/>
        </p:nvSpPr>
        <p:spPr>
          <a:xfrm>
            <a:off x="1188720" y="3255264"/>
            <a:ext cx="1965960" cy="201168"/>
          </a:xfrm>
          <a:prstGeom prst="rect">
            <a:avLst/>
          </a:prstGeom>
          <a:noFill/>
          <a:ln/>
        </p:spPr>
        <p:txBody>
          <a:bodyPr wrap="square" lIns="0" tIns="0" rIns="0" bIns="0" rtlCol="0" anchor="ctr">
            <a:normAutofit/>
          </a:bodyPr>
          <a:lstStyle/>
          <a:p>
            <a:pPr algn="l" indent="0" marL="0">
              <a:buNone/>
            </a:pPr>
            <a:r>
              <a:rPr lang="en-US" sz="920" b="1" dirty="0">
                <a:solidFill>
                  <a:srgbClr val="111111"/>
                </a:solidFill>
                <a:latin typeface="Aptos" pitchFamily="34" charset="0"/>
                <a:ea typeface="Aptos" pitchFamily="34" charset="-122"/>
                <a:cs typeface="Aptos" pitchFamily="34" charset="-120"/>
              </a:rPr>
              <a:t>Repository</a:t>
            </a:r>
            <a:endParaRPr lang="en-US" sz="920" dirty="0"/>
          </a:p>
        </p:txBody>
      </p:sp>
      <p:sp>
        <p:nvSpPr>
          <p:cNvPr id="15" name="Text 13"/>
          <p:cNvSpPr/>
          <p:nvPr/>
        </p:nvSpPr>
        <p:spPr>
          <a:xfrm>
            <a:off x="3154680" y="3255264"/>
            <a:ext cx="7973568" cy="365760"/>
          </a:xfrm>
          <a:prstGeom prst="rect">
            <a:avLst/>
          </a:prstGeom>
          <a:noFill/>
          <a:ln/>
        </p:spPr>
        <p:txBody>
          <a:bodyPr wrap="square" lIns="0" tIns="0" rIns="0" bIns="0" rtlCol="0" anchor="t">
            <a:normAutofit/>
          </a:bodyPr>
          <a:lstStyle/>
          <a:p>
            <a:pPr algn="l" indent="0" marL="0">
              <a:buNone/>
            </a:pPr>
            <a:r>
              <a:rPr lang="en-US" sz="880" dirty="0">
                <a:solidFill>
                  <a:srgbClr val="6D695F"/>
                </a:solidFill>
                <a:latin typeface="Aptos" pitchFamily="34" charset="0"/>
                <a:ea typeface="Aptos" pitchFamily="34" charset="-122"/>
                <a:cs typeface="Aptos" pitchFamily="34" charset="-120"/>
              </a:rPr>
              <a:t>Source code supplied with this presentation: application routes, components, libraries, Prisma schema and tests.</a:t>
            </a:r>
            <a:endParaRPr lang="en-US" sz="880" dirty="0"/>
          </a:p>
        </p:txBody>
      </p:sp>
      <p:sp>
        <p:nvSpPr>
          <p:cNvPr id="16" name="Shape 14"/>
          <p:cNvSpPr/>
          <p:nvPr/>
        </p:nvSpPr>
        <p:spPr>
          <a:xfrm>
            <a:off x="1188720" y="3749040"/>
            <a:ext cx="9985248" cy="0"/>
          </a:xfrm>
          <a:prstGeom prst="line">
            <a:avLst/>
          </a:prstGeom>
          <a:noFill/>
          <a:ln w="10160">
            <a:solidFill>
              <a:srgbClr val="D6D0C5"/>
            </a:solidFill>
            <a:prstDash val="solid"/>
          </a:ln>
        </p:spPr>
      </p:sp>
      <p:sp>
        <p:nvSpPr>
          <p:cNvPr id="17" name="Text 15"/>
          <p:cNvSpPr/>
          <p:nvPr/>
        </p:nvSpPr>
        <p:spPr>
          <a:xfrm>
            <a:off x="603504" y="3968496"/>
            <a:ext cx="365760" cy="164592"/>
          </a:xfrm>
          <a:prstGeom prst="rect">
            <a:avLst/>
          </a:prstGeom>
          <a:noFill/>
          <a:ln/>
        </p:spPr>
        <p:txBody>
          <a:bodyPr wrap="square" lIns="0" tIns="0" rIns="0" bIns="0" rtlCol="0" anchor="ctr">
            <a:normAutofit/>
          </a:bodyPr>
          <a:lstStyle/>
          <a:p>
            <a:pPr algn="l" indent="0" marL="0">
              <a:buNone/>
            </a:pPr>
            <a:r>
              <a:rPr lang="en-US" sz="780" b="1" spc="110" kern="0" dirty="0">
                <a:solidFill>
                  <a:srgbClr val="C58A2B"/>
                </a:solidFill>
                <a:latin typeface="Aptos" pitchFamily="34" charset="0"/>
                <a:ea typeface="Aptos" pitchFamily="34" charset="-122"/>
                <a:cs typeface="Aptos" pitchFamily="34" charset="-120"/>
              </a:rPr>
              <a:t>04</a:t>
            </a:r>
            <a:endParaRPr lang="en-US" sz="780" dirty="0"/>
          </a:p>
        </p:txBody>
      </p:sp>
      <p:sp>
        <p:nvSpPr>
          <p:cNvPr id="18" name="Text 16"/>
          <p:cNvSpPr/>
          <p:nvPr/>
        </p:nvSpPr>
        <p:spPr>
          <a:xfrm>
            <a:off x="1188720" y="3931920"/>
            <a:ext cx="1965960" cy="201168"/>
          </a:xfrm>
          <a:prstGeom prst="rect">
            <a:avLst/>
          </a:prstGeom>
          <a:noFill/>
          <a:ln/>
        </p:spPr>
        <p:txBody>
          <a:bodyPr wrap="square" lIns="0" tIns="0" rIns="0" bIns="0" rtlCol="0" anchor="ctr">
            <a:normAutofit/>
          </a:bodyPr>
          <a:lstStyle/>
          <a:p>
            <a:pPr algn="l" indent="0" marL="0">
              <a:buNone/>
            </a:pPr>
            <a:r>
              <a:rPr lang="en-US" sz="920" b="1" dirty="0">
                <a:solidFill>
                  <a:srgbClr val="111111"/>
                </a:solidFill>
                <a:latin typeface="Aptos" pitchFamily="34" charset="0"/>
                <a:ea typeface="Aptos" pitchFamily="34" charset="-122"/>
                <a:cs typeface="Aptos" pitchFamily="34" charset="-120"/>
              </a:rPr>
              <a:t>Core ML approach</a:t>
            </a:r>
            <a:endParaRPr lang="en-US" sz="920" dirty="0"/>
          </a:p>
        </p:txBody>
      </p:sp>
      <p:sp>
        <p:nvSpPr>
          <p:cNvPr id="19" name="Text 17"/>
          <p:cNvSpPr/>
          <p:nvPr/>
        </p:nvSpPr>
        <p:spPr>
          <a:xfrm>
            <a:off x="3154680" y="3931920"/>
            <a:ext cx="7973568" cy="365760"/>
          </a:xfrm>
          <a:prstGeom prst="rect">
            <a:avLst/>
          </a:prstGeom>
          <a:noFill/>
          <a:ln/>
        </p:spPr>
        <p:txBody>
          <a:bodyPr wrap="square" lIns="0" tIns="0" rIns="0" bIns="0" rtlCol="0" anchor="t">
            <a:normAutofit/>
          </a:bodyPr>
          <a:lstStyle/>
          <a:p>
            <a:pPr algn="l" indent="0" marL="0">
              <a:buNone/>
            </a:pPr>
            <a:r>
              <a:rPr lang="en-US" sz="880" dirty="0">
                <a:solidFill>
                  <a:srgbClr val="6D695F"/>
                </a:solidFill>
                <a:latin typeface="Aptos" pitchFamily="34" charset="0"/>
                <a:ea typeface="Aptos" pitchFamily="34" charset="-122"/>
                <a:cs typeface="Aptos" pitchFamily="34" charset="-120"/>
              </a:rPr>
              <a:t>Xenova/all-MiniLM-L6-v2 embeddings + Transformers.js / ONNX + cosine similarity retrieval.</a:t>
            </a:r>
            <a:endParaRPr lang="en-US" sz="880" dirty="0"/>
          </a:p>
        </p:txBody>
      </p:sp>
      <p:sp>
        <p:nvSpPr>
          <p:cNvPr id="20" name="Shape 18"/>
          <p:cNvSpPr/>
          <p:nvPr/>
        </p:nvSpPr>
        <p:spPr>
          <a:xfrm>
            <a:off x="1188720" y="4425696"/>
            <a:ext cx="9985248" cy="0"/>
          </a:xfrm>
          <a:prstGeom prst="line">
            <a:avLst/>
          </a:prstGeom>
          <a:noFill/>
          <a:ln w="10160">
            <a:solidFill>
              <a:srgbClr val="D6D0C5"/>
            </a:solidFill>
            <a:prstDash val="solid"/>
          </a:ln>
        </p:spPr>
      </p:sp>
      <p:sp>
        <p:nvSpPr>
          <p:cNvPr id="21" name="Text 19"/>
          <p:cNvSpPr/>
          <p:nvPr/>
        </p:nvSpPr>
        <p:spPr>
          <a:xfrm>
            <a:off x="603504" y="4645152"/>
            <a:ext cx="365760" cy="164592"/>
          </a:xfrm>
          <a:prstGeom prst="rect">
            <a:avLst/>
          </a:prstGeom>
          <a:noFill/>
          <a:ln/>
        </p:spPr>
        <p:txBody>
          <a:bodyPr wrap="square" lIns="0" tIns="0" rIns="0" bIns="0" rtlCol="0" anchor="ctr">
            <a:normAutofit/>
          </a:bodyPr>
          <a:lstStyle/>
          <a:p>
            <a:pPr algn="l" indent="0" marL="0">
              <a:buNone/>
            </a:pPr>
            <a:r>
              <a:rPr lang="en-US" sz="780" b="1" spc="110" kern="0" dirty="0">
                <a:solidFill>
                  <a:srgbClr val="C58A2B"/>
                </a:solidFill>
                <a:latin typeface="Aptos" pitchFamily="34" charset="0"/>
                <a:ea typeface="Aptos" pitchFamily="34" charset="-122"/>
                <a:cs typeface="Aptos" pitchFamily="34" charset="-120"/>
              </a:rPr>
              <a:t>05</a:t>
            </a:r>
            <a:endParaRPr lang="en-US" sz="780" dirty="0"/>
          </a:p>
        </p:txBody>
      </p:sp>
      <p:sp>
        <p:nvSpPr>
          <p:cNvPr id="22" name="Text 20"/>
          <p:cNvSpPr/>
          <p:nvPr/>
        </p:nvSpPr>
        <p:spPr>
          <a:xfrm>
            <a:off x="1188720" y="4608576"/>
            <a:ext cx="1965960" cy="201168"/>
          </a:xfrm>
          <a:prstGeom prst="rect">
            <a:avLst/>
          </a:prstGeom>
          <a:noFill/>
          <a:ln/>
        </p:spPr>
        <p:txBody>
          <a:bodyPr wrap="square" lIns="0" tIns="0" rIns="0" bIns="0" rtlCol="0" anchor="ctr">
            <a:normAutofit/>
          </a:bodyPr>
          <a:lstStyle/>
          <a:p>
            <a:pPr algn="l" indent="0" marL="0">
              <a:buNone/>
            </a:pPr>
            <a:r>
              <a:rPr lang="en-US" sz="920" b="1" dirty="0">
                <a:solidFill>
                  <a:srgbClr val="111111"/>
                </a:solidFill>
                <a:latin typeface="Aptos" pitchFamily="34" charset="0"/>
                <a:ea typeface="Aptos" pitchFamily="34" charset="-122"/>
                <a:cs typeface="Aptos" pitchFamily="34" charset="-120"/>
              </a:rPr>
              <a:t>Precedent corpus</a:t>
            </a:r>
            <a:endParaRPr lang="en-US" sz="920" dirty="0"/>
          </a:p>
        </p:txBody>
      </p:sp>
      <p:sp>
        <p:nvSpPr>
          <p:cNvPr id="23" name="Text 21"/>
          <p:cNvSpPr/>
          <p:nvPr/>
        </p:nvSpPr>
        <p:spPr>
          <a:xfrm>
            <a:off x="3154680" y="4608576"/>
            <a:ext cx="7973568" cy="365760"/>
          </a:xfrm>
          <a:prstGeom prst="rect">
            <a:avLst/>
          </a:prstGeom>
          <a:noFill/>
          <a:ln/>
        </p:spPr>
        <p:txBody>
          <a:bodyPr wrap="square" lIns="0" tIns="0" rIns="0" bIns="0" rtlCol="0" anchor="t">
            <a:normAutofit/>
          </a:bodyPr>
          <a:lstStyle/>
          <a:p>
            <a:pPr algn="l" indent="0" marL="0">
              <a:buNone/>
            </a:pPr>
            <a:r>
              <a:rPr lang="en-US" sz="880" dirty="0">
                <a:solidFill>
                  <a:srgbClr val="6D695F"/>
                </a:solidFill>
                <a:latin typeface="Aptos" pitchFamily="34" charset="0"/>
                <a:ea typeface="Aptos" pitchFamily="34" charset="-122"/>
                <a:cs typeface="Aptos" pitchFamily="34" charset="-120"/>
              </a:rPr>
              <a:t>LEDGAR / SEC-filed contract clauses used for semantic benchmarking in the project.</a:t>
            </a:r>
            <a:endParaRPr lang="en-US" sz="880" dirty="0"/>
          </a:p>
        </p:txBody>
      </p:sp>
      <p:sp>
        <p:nvSpPr>
          <p:cNvPr id="24" name="Shape 22"/>
          <p:cNvSpPr/>
          <p:nvPr/>
        </p:nvSpPr>
        <p:spPr>
          <a:xfrm>
            <a:off x="1188720" y="5102352"/>
            <a:ext cx="9985248" cy="0"/>
          </a:xfrm>
          <a:prstGeom prst="line">
            <a:avLst/>
          </a:prstGeom>
          <a:noFill/>
          <a:ln w="10160">
            <a:solidFill>
              <a:srgbClr val="D6D0C5"/>
            </a:solidFill>
            <a:prstDash val="solid"/>
          </a:ln>
        </p:spPr>
      </p:sp>
      <p:sp>
        <p:nvSpPr>
          <p:cNvPr id="25" name="Text 23"/>
          <p:cNvSpPr/>
          <p:nvPr/>
        </p:nvSpPr>
        <p:spPr>
          <a:xfrm>
            <a:off x="603504" y="5321808"/>
            <a:ext cx="365760" cy="164592"/>
          </a:xfrm>
          <a:prstGeom prst="rect">
            <a:avLst/>
          </a:prstGeom>
          <a:noFill/>
          <a:ln/>
        </p:spPr>
        <p:txBody>
          <a:bodyPr wrap="square" lIns="0" tIns="0" rIns="0" bIns="0" rtlCol="0" anchor="ctr">
            <a:normAutofit/>
          </a:bodyPr>
          <a:lstStyle/>
          <a:p>
            <a:pPr algn="l" indent="0" marL="0">
              <a:buNone/>
            </a:pPr>
            <a:r>
              <a:rPr lang="en-US" sz="780" b="1" spc="110" kern="0" dirty="0">
                <a:solidFill>
                  <a:srgbClr val="C58A2B"/>
                </a:solidFill>
                <a:latin typeface="Aptos" pitchFamily="34" charset="0"/>
                <a:ea typeface="Aptos" pitchFamily="34" charset="-122"/>
                <a:cs typeface="Aptos" pitchFamily="34" charset="-120"/>
              </a:rPr>
              <a:t>06</a:t>
            </a:r>
            <a:endParaRPr lang="en-US" sz="780" dirty="0"/>
          </a:p>
        </p:txBody>
      </p:sp>
      <p:sp>
        <p:nvSpPr>
          <p:cNvPr id="26" name="Text 24"/>
          <p:cNvSpPr/>
          <p:nvPr/>
        </p:nvSpPr>
        <p:spPr>
          <a:xfrm>
            <a:off x="1188720" y="5285232"/>
            <a:ext cx="1965960" cy="201168"/>
          </a:xfrm>
          <a:prstGeom prst="rect">
            <a:avLst/>
          </a:prstGeom>
          <a:noFill/>
          <a:ln/>
        </p:spPr>
        <p:txBody>
          <a:bodyPr wrap="square" lIns="0" tIns="0" rIns="0" bIns="0" rtlCol="0" anchor="ctr">
            <a:normAutofit/>
          </a:bodyPr>
          <a:lstStyle/>
          <a:p>
            <a:pPr algn="l" indent="0" marL="0">
              <a:buNone/>
            </a:pPr>
            <a:r>
              <a:rPr lang="en-US" sz="920" b="1" dirty="0">
                <a:solidFill>
                  <a:srgbClr val="111111"/>
                </a:solidFill>
                <a:latin typeface="Aptos" pitchFamily="34" charset="0"/>
                <a:ea typeface="Aptos" pitchFamily="34" charset="-122"/>
                <a:cs typeface="Aptos" pitchFamily="34" charset="-120"/>
              </a:rPr>
              <a:t>Document stack</a:t>
            </a:r>
            <a:endParaRPr lang="en-US" sz="920" dirty="0"/>
          </a:p>
        </p:txBody>
      </p:sp>
      <p:sp>
        <p:nvSpPr>
          <p:cNvPr id="27" name="Text 25"/>
          <p:cNvSpPr/>
          <p:nvPr/>
        </p:nvSpPr>
        <p:spPr>
          <a:xfrm>
            <a:off x="3154680" y="5285232"/>
            <a:ext cx="7973568" cy="365760"/>
          </a:xfrm>
          <a:prstGeom prst="rect">
            <a:avLst/>
          </a:prstGeom>
          <a:noFill/>
          <a:ln/>
        </p:spPr>
        <p:txBody>
          <a:bodyPr wrap="square" lIns="0" tIns="0" rIns="0" bIns="0" rtlCol="0" anchor="t">
            <a:normAutofit/>
          </a:bodyPr>
          <a:lstStyle/>
          <a:p>
            <a:pPr algn="l" indent="0" marL="0">
              <a:buNone/>
            </a:pPr>
            <a:r>
              <a:rPr lang="en-US" sz="880" dirty="0">
                <a:solidFill>
                  <a:srgbClr val="6D695F"/>
                </a:solidFill>
                <a:latin typeface="Aptos" pitchFamily="34" charset="0"/>
                <a:ea typeface="Aptos" pitchFamily="34" charset="-122"/>
                <a:cs typeface="Aptos" pitchFamily="34" charset="-120"/>
              </a:rPr>
              <a:t>pdf-lib, pdf-parse, mammoth, docx, diff-match-patch.</a:t>
            </a:r>
            <a:endParaRPr lang="en-US" sz="880" dirty="0"/>
          </a:p>
        </p:txBody>
      </p:sp>
      <p:sp>
        <p:nvSpPr>
          <p:cNvPr id="28" name="Shape 26"/>
          <p:cNvSpPr/>
          <p:nvPr/>
        </p:nvSpPr>
        <p:spPr>
          <a:xfrm>
            <a:off x="1188720" y="5779008"/>
            <a:ext cx="9985248" cy="0"/>
          </a:xfrm>
          <a:prstGeom prst="line">
            <a:avLst/>
          </a:prstGeom>
          <a:noFill/>
          <a:ln w="10160">
            <a:solidFill>
              <a:srgbClr val="D6D0C5"/>
            </a:solidFill>
            <a:prstDash val="solid"/>
          </a:ln>
        </p:spPr>
      </p:sp>
      <p:sp>
        <p:nvSpPr>
          <p:cNvPr id="29" name="Text 27"/>
          <p:cNvSpPr/>
          <p:nvPr/>
        </p:nvSpPr>
        <p:spPr>
          <a:xfrm>
            <a:off x="603504" y="6035040"/>
            <a:ext cx="10424160" cy="320040"/>
          </a:xfrm>
          <a:prstGeom prst="rect">
            <a:avLst/>
          </a:prstGeom>
          <a:noFill/>
          <a:ln/>
        </p:spPr>
        <p:txBody>
          <a:bodyPr wrap="square" lIns="0" tIns="0" rIns="0" bIns="0" rtlCol="0" anchor="ctr">
            <a:normAutofit/>
          </a:bodyPr>
          <a:lstStyle/>
          <a:p>
            <a:pPr algn="ctr" indent="0" marL="0">
              <a:buNone/>
            </a:pPr>
            <a:r>
              <a:rPr lang="en-US" sz="820" i="1" dirty="0">
                <a:solidFill>
                  <a:srgbClr val="6D695F"/>
                </a:solidFill>
                <a:latin typeface="Aptos" pitchFamily="34" charset="0"/>
                <a:ea typeface="Aptos" pitchFamily="34" charset="-122"/>
                <a:cs typeface="Aptos" pitchFamily="34" charset="-120"/>
              </a:rPr>
              <a:t>Note: Metrics and capability descriptions in this deck reflect the supplied project documentation and are presented as implementation claims / targets unless independently benchmarked.</a:t>
            </a:r>
            <a:endParaRPr lang="en-US" sz="820" dirty="0"/>
          </a:p>
        </p:txBody>
      </p:sp>
      <p:sp>
        <p:nvSpPr>
          <p:cNvPr id="25" name="Slide Number Placeholder 0"/>
          <p:cNvSpPr>
            <a:spLocks noGrp="1"/>
          </p:cNvSpPr>
          <p:nvPr>
            <p:ph type="sldNum" sz="quarter" idx="4294967295"/>
          </p:nvPr>
        </p:nvSpPr>
        <p:spPr>
          <a:xfrm>
            <a:off x="11494008" y="6547104"/>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D695F"/>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Academic Project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BeforeYouSign</dc:title>
  <dc:subject>BeforeYouSign — AI-Powered Contract Intelligence Platform</dc:subject>
  <dc:creator>Srinivas Jangiti</dc:creator>
  <cp:lastModifiedBy>Srinivas Jangiti</cp:lastModifiedBy>
  <cp:revision>1</cp:revision>
  <dcterms:created xsi:type="dcterms:W3CDTF">2026-10-07T18:48:38Z</dcterms:created>
  <dcterms:modified xsi:type="dcterms:W3CDTF">2026-10-07T18:48:38Z</dcterms:modified>
</cp:coreProperties>
</file>