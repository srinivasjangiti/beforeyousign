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d2a1e15-7048-c79c-81ff-865a2fe9fd19}">
          <p14:sldIdLst>
            <p14:sldId id="256"/>
            <p14:sldId id="257"/>
          </p14:sldIdLst>
        </p14:section>
        <p14:section name="Problem &amp; Vision" id="{9abd309e-6081-e19f-00db-ee01fa0aa5c6}">
          <p14:sldIdLst>
            <p14:sldId id="258"/>
            <p14:sldId id="259"/>
            <p14:sldId id="260"/>
            <p14:sldId id="261"/>
          </p14:sldIdLst>
        </p14:section>
        <p14:section name="System &amp; Intelligence" id="{61493074-d7c7-d136-97cb-11aaeea44f0c}">
          <p14:sldIdLst>
            <p14:sldId id="262"/>
            <p14:sldId id="263"/>
            <p14:sldId id="264"/>
            <p14:sldId id="265"/>
            <p14:sldId id="266"/>
            <p14:sldId id="267"/>
            <p14:sldId id="268"/>
            <p14:sldId id="269"/>
            <p14:sldId id="270"/>
          </p14:sldIdLst>
        </p14:section>
        <p14:section name="Product &amp; Impact" id="{c2fa9745-a9d0-27e8-b94d-020654c89279}">
          <p14:sldIdLst>
            <p14:sldId id="271"/>
            <p14:sldId id="272"/>
            <p14:sldId id="273"/>
            <p14:sldId id="274"/>
            <p14:sldId id="275"/>
            <p14:sldId id="276"/>
            <p14:sldId id="277"/>
            <p14:sldId id="278"/>
            <p14:sldId id="279"/>
          </p14:sldIdLst>
        </p14:section>
        <p14:section name="Closing" id="{938b92ec-1641-d262-8643-9bfbb3c7f4ad}">
          <p14:sldIdLst>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4403C"/>
                </a:solidFill>
                <a:latin typeface="+mn-lt"/>
              </a:defRPr>
            </a:pPr>
            <a:r>
              <a:rPr sz="1400" b="0" i="0" u="none" strike="noStrike">
                <a:solidFill>
                  <a:srgbClr val="44403C"/>
                </a:solidFill>
                <a:latin typeface="+mn-lt"/>
              </a:rPr>
              <a:t>Clauses per category (top 8 of 54)</a:t>
            </a:r>
          </a:p>
        </c:rich>
      </c:tx>
      <c:layout/>
      <c:overlay val="0"/>
    </c:title>
    <c:autoTitleDeleted val="0"/>
    <c:plotArea>
      <c:layout/>
      <c:barChart>
        <c:barDir val="bar"/>
        <c:grouping val="clustered"/>
        <c:varyColors val="0"/>
        <c:ser>
          <c:idx val="0"/>
          <c:order val="0"/>
          <c:tx>
            <c:strRef>
              <c:f>Sheet1!$B$1</c:f>
              <c:strCache>
                <c:ptCount val="1"/>
                <c:pt idx="0">
                  <c:v>Clauses</c:v>
                </c:pt>
              </c:strCache>
            </c:strRef>
          </c:tx>
          <c:spPr>
            <a:solidFill>
              <a:srgbClr val="0F766E"/>
            </a:solidFill>
            <a:effectLst/>
          </c:spPr>
          <c:invertIfNegative val="0"/>
          <c:dLbls>
            <c:numFmt formatCode="#,##0" sourceLinked="0"/>
            <c:txPr>
              <a:bodyPr/>
              <a:lstStyle/>
              <a:p>
                <a:pPr>
                  <a:defRPr b="1" i="0" strike="noStrike" sz="1300" u="none">
                    <a:solidFill>
                      <a:srgbClr val="1C1917"/>
                    </a:solidFill>
                    <a:latin typeface="+mn-lt"/>
                  </a:defRPr>
                </a:pPr>
              </a:p>
            </c:txPr>
            <c:showLegendKey val="0"/>
            <c:showVal val="1"/>
            <c:showCatName val="0"/>
            <c:showSerName val="0"/>
            <c:showPercent val="0"/>
            <c:showBubbleSize val="0"/>
            <c:showLeaderLines val="0"/>
          </c:dLbls>
          <c:cat>
            <c:multiLvlStrRef>
              <c:f>Sheet1!$A$2:$A$9</c:f>
              <c:multiLvlStrCache>
                <c:ptCount val="8"/>
                <c:lvl>
                  <c:pt idx="0">
                    <c:v>General Clause</c:v>
                  </c:pt>
                  <c:pt idx="1">
                    <c:v>No Default</c:v>
                  </c:pt>
                  <c:pt idx="2">
                    <c:v>Force Majeure</c:v>
                  </c:pt>
                  <c:pt idx="3">
                    <c:v>Performance</c:v>
                  </c:pt>
                  <c:pt idx="4">
                    <c:v>Non-Solicitation</c:v>
                  </c:pt>
                  <c:pt idx="5">
                    <c:v>Audit</c:v>
                  </c:pt>
                  <c:pt idx="6">
                    <c:v>Assignment</c:v>
                  </c:pt>
                  <c:pt idx="7">
                    <c:v>Term</c:v>
                  </c:pt>
                </c:lvl>
              </c:multiLvlStrCache>
            </c:multiLvlStrRef>
          </c:cat>
          <c:val>
            <c:numRef>
              <c:f>Sheet1!$B$2:$B$9</c:f>
              <c:numCache>
                <c:formatCode>General</c:formatCode>
                <c:ptCount val="8"/>
                <c:pt idx="0">
                  <c:v>91</c:v>
                </c:pt>
                <c:pt idx="1">
                  <c:v>14</c:v>
                </c:pt>
                <c:pt idx="2">
                  <c:v>13</c:v>
                </c:pt>
                <c:pt idx="3">
                  <c:v>10</c:v>
                </c:pt>
                <c:pt idx="4">
                  <c:v>8</c:v>
                </c:pt>
                <c:pt idx="5">
                  <c:v>7</c:v>
                </c:pt>
                <c:pt idx="6">
                  <c:v>5</c:v>
                </c:pt>
                <c:pt idx="7">
                  <c:v>5</c:v>
                </c:pt>
              </c:numCache>
            </c:numRef>
          </c:val>
        </c:ser>
        <c:dLbls>
          <c:numFmt formatCode="#,##0" sourceLinked="0"/>
          <c:txPr>
            <a:bodyPr/>
            <a:lstStyle/>
            <a:p>
              <a:pPr>
                <a:defRPr b="1" i="0" strike="noStrike" sz="1300" u="none">
                  <a:solidFill>
                    <a:srgbClr val="1C191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440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4403C"/>
                </a:solidFill>
                <a:latin typeface="+mn-lt"/>
              </a:defRPr>
            </a:pPr>
            <a:r>
              <a:rPr sz="1400" b="0" i="0" u="none" strike="noStrike">
                <a:solidFill>
                  <a:srgbClr val="44403C"/>
                </a:solidFill>
                <a:latin typeface="+mn-lt"/>
              </a:rPr>
              <a:t>Category-prediction accuracy (leave-one-out, n = 250)</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A8A29E"/>
            </a:solidFill>
            <a:effectLst/>
          </c:spPr>
          <c:invertIfNegative val="0"/>
          <c:dLbls>
            <c:numFmt formatCode="0.0&quot;%&quot;" sourceLinked="0"/>
            <c:txPr>
              <a:bodyPr/>
              <a:lstStyle/>
              <a:p>
                <a:pPr>
                  <a:defRPr b="1" i="0" strike="noStrike" sz="1400" u="none">
                    <a:solidFill>
                      <a:srgbClr val="1C1917"/>
                    </a:solidFill>
                    <a:latin typeface="+mn-lt"/>
                  </a:defRPr>
                </a:pPr>
              </a:p>
            </c:txPr>
            <c:showLegendKey val="0"/>
            <c:showVal val="1"/>
            <c:showCatName val="0"/>
            <c:showSerName val="0"/>
            <c:showPercent val="0"/>
            <c:showBubbleSize val="0"/>
            <c:showLeaderLines val="0"/>
          </c:dLbls>
          <c:dPt>
            <c:idx val="0"/>
            <c:invertIfNegative val="0"/>
            <c:bubble3D val="0"/>
            <c:spPr>
              <a:solidFill>
                <a:srgbClr val="A8A29E"/>
              </a:solidFill>
              <a:effectLst/>
            </c:spPr>
          </c:dPt>
          <c:dPt>
            <c:idx val="1"/>
            <c:invertIfNegative val="0"/>
            <c:bubble3D val="0"/>
            <c:spPr>
              <a:solidFill>
                <a:srgbClr val="78716C"/>
              </a:solidFill>
              <a:effectLst/>
            </c:spPr>
          </c:dPt>
          <c:dPt>
            <c:idx val="2"/>
            <c:invertIfNegative val="0"/>
            <c:bubble3D val="0"/>
            <c:spPr>
              <a:solidFill>
                <a:srgbClr val="0F766E"/>
              </a:solidFill>
              <a:effectLst/>
            </c:spPr>
          </c:dPt>
          <c:cat>
            <c:multiLvlStrRef>
              <c:f>Sheet1!$A$2:$A$4</c:f>
              <c:multiLvlStrCache>
                <c:ptCount val="3"/>
                <c:lvl>
                  <c:pt idx="0">
                    <c:v>Majority-class baseline</c:v>
                  </c:pt>
                  <c:pt idx="1">
                    <c:v>BM25 lexical (k=10)</c:v>
                  </c:pt>
                  <c:pt idx="2">
                    <c:v>MiniLM k-NN (k=3)</c:v>
                  </c:pt>
                </c:lvl>
              </c:multiLvlStrCache>
            </c:multiLvlStrRef>
          </c:cat>
          <c:val>
            <c:numRef>
              <c:f>Sheet1!$B$2:$B$4</c:f>
              <c:numCache>
                <c:formatCode>General</c:formatCode>
                <c:ptCount val="3"/>
                <c:pt idx="0">
                  <c:v>36.4</c:v>
                </c:pt>
                <c:pt idx="1">
                  <c:v>54.8</c:v>
                </c:pt>
                <c:pt idx="2">
                  <c:v>56.8</c:v>
                </c:pt>
              </c:numCache>
            </c:numRef>
          </c:val>
        </c:ser>
        <c:dLbls>
          <c:numFmt formatCode="0.0&quot;%&quot;" sourceLinked="0"/>
          <c:txPr>
            <a:bodyPr/>
            <a:lstStyle/>
            <a:p>
              <a:pPr>
                <a:defRPr b="1" i="0" strike="noStrike" sz="1400" u="none">
                  <a:solidFill>
                    <a:srgbClr val="1C1917"/>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03C"/>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I'm presenting BeforeYouSign, an AI-powered legal platform that helps people understand a contract before they sign it. It was built by our three-member team under the guidance of Prof. Arnika Patel. Over the next slides I'll cover the problem, the system architecture, the machine-learning engine and its evaluation, the product itself, and where it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has three parts. First, the problem we set out to solve. Second, how the system is built, including the machine-learning engine and what our evaluation actually found. Third, the product features, security model, a live demo, honest limitations and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problem and our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asymmetry. One party arrives with a legal team and a forty-page agreement; the other arrives with intuition. Hiring a lawyer for every contract is economically impossible for freelancers, tenants, employees and early-stage founders, so most people sign blind. The result is hidden IP transfers, unlimited liability and auto-renewals nobody noticed. The hourly figure shown is a commonly quoted range for legal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is three things. First, risk detection that automatically finds the clauses that matter. Second, plain-language explanations so the signer knows what they're agreeing to. Third, strategic guidance: concrete counter-proposals and negotiation points. The core analysis is free and needs no account, and results stream in as they are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set five objectives: detect hidden risks, explain clauses in plain English with financial exposure, benchmark against real precedent, generate counter-clauses and playbooks, and keep the whole thing private. The users we have in mind are freelancers, founders, employees and tenants, and also legal or procurement teams who want a faster first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how the system is built and how well the ML engine actually performs.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design. Users reach the system through the web app, the Chrome extension or by uploading a document. The Next.js API layer fans each request out to two independent pipelines. Pipeline A is a deterministic edge machine-learning engine that runs MiniLM embeddings through ONNX inside Node.js and answers in well under a hundred and fifty milliseconds. Pipeline B is a generative tier using Llama models on NVIDIA NIM, with Gemini as a fallback. Results are merged, and a persistence layer built on PostgreSQL, Supabase and SHA-256 hashing handles storage and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LLM-only design has three problems: it is slow and expensive to send fifty-page contracts to a large cloud model repeatedly, it can give different answers to the same question, and it can hallucinate when asked for a market benchmark. So we split the work. The edge ML engine is deterministic and free to run, and gives the benchmark. The generative tier reasons about context, explains, and drafts. Each does only what it is good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Pipeline A works. A clause is embedded with all-MiniLM-L6-v2 into a 384-dimensional vector, using mean pooling and L2 normalisation. Because the vectors are normalised, cosine similarity reduces to a simple dot product against the precomputed vectors of 250 LEDGAR clauses. We take the three nearest neighbours and vote on the category; the confidence is the share of votes. A small FIFO cache of five hundred queries avoids recomputation.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precedent corpus is a curated subset of LEDGAR, a public dataset of contract provisions from SEC filings. Our file holds 250 clauses across 54 categories, and, as the chart shows, it is long-tailed: the generic 'General Clause' category alone holds 91 of them. Each clause carries a benchmark risk score between 15 and 85. One thing we report openly in our paper is that those risk scores are assigned per category rather than derived clause by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I'm most proud of, because it is honest. We evaluated the k-NN category classifier with leave-one-out cross-validation and bootstrap confidence intervals. At k equals three it reaches 56.8 percent accuracy against a 36.4 percent majority-class baseline, a clear improvement. But a simple BM25 lexical baseline reaches 54.8 percent, and McNemar's test says the two are statistically indistinguishable at this sample size. So we do not claim semantic embeddings are better; we say the corpus must be scaled up first. We also found that the risk benchmarks are per category, which limits how continuous our risk estimates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Telling a user 'this clause is risky' isn't enough. ERR, the Estimated Risk Reduction, tells them how much safer a market-standard alternative would be. We retrieve the twenty most similar precedents, discard any that are not less risky, then rank by similarity and risk. In this illustrative example a unilateral indemnity scoring 85 is matched to a mutual indemnity scoring 30, an estimated reduction of 55 points, or about 65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B is the generative tier. The primary model is Llama 3.3 70B for the heavy reasoning: live negotiation, drafting and playbooks. Llama 3.1 8B handles fast tasks such as scoring and clause extraction, and there is a fallback chain to a 70B model and then Google Gemini if a provider is rate-limited. On the reliability side, prompts demand strict JSON typed by shared TypeScript interfaces, the parser strips markdown fences, and requests use exponential backoff on 429 and 503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happens in a single request to /api/analyze. The file is uploaded and its text extracted with pdf-parse or mammoth. Then the two pipelines run in parallel: the ONNX benchmark finds precedents and safer alternatives, while the Llama model produces a structured risk score, red flags and financial exposure. The API merges both into one report. Persistence is optional and only happens for signed-in users who choose to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the product, its security model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goes well beyond a single analyzer. Users can analyse risk, benchmark clauses, draft and redline, chat with their contract, track obligations and renewals, scan for regulatory compliance, sign electronically with a hash fingerprint, run PDF tools entirely in the browser and even book a verified lawyer. In total the app has 48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analyzer ingests PDF, Word or plain text, and returns a zero-to-one-hundred risk score with colour-coded severity: critical, high, medium and low or fair. For each red flag it explains the clause in plain English, estimates worst-case financial exposure, and proposes a safer counter-clause. Reports can be exported as PDF, DOCX, JSON or Markdown, and users can keep asking questions in the document-grounded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Chrome extension brings the analyzer to wherever contracts live: terms of service, sign-up flows, online agreements. It underlines risky clauses with wavy lines coloured by severity, shows a plain-English tooltip with safer wording on hover, and its popup gives an aggregate risk index for the page. It is built on Manifest V3 with a content script and a service worker, and two keyboard shortcuts let you re-analyse or toggle the highlights. The page shown here is an illustrative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Contracts are sensitive, so privacy is built in. Text is processed transiently in memory. The PDF toolkit runs entirely in the browser, so files never leave the device. API keys never reach the client; every third-party call is routed through server-side handlers. And e-signed documents are hashed with SHA-256 so any later tampering is detectable. The platform also carries a clear disclaimer that it provides analysis, not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technology stack. A Next.js 16 and React 19 front end in TypeScript, Llama models through NVIDIA NIM with Gemini as a fallback, Transformers.js with ONNX for local embeddings, a set of PDF and Word libraries for documents, Prisma on PostgreSQL for data, Clerk and NextAuth for authentication, and Playwright, ESLint and Vercel for quality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figures are counted directly from the repository: 48 pages, 32 API endpoints, 53 UI components, 88 library modules, roughly 63 thousand lines of TypeScript across the app, components and lib folders, and 22 database models in the Prisma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demo I'll open the analyzer on the deployed site, upload one of the bundled sample contracts and walk through the result. The repository ships four samples of very different fairness, from an unfair SaaS agreement and an aggressive lease to a predatory employment contract and a balanced freelance agreement, so the risk scoring can be shown on a spread of cases. Then I'll show the redline view and the SHA-256 signing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project has limits and I'd rather state them. The corpus is small, so embedding accuracy is modest and statistically tied with BM25. Risk benchmarks are categorical. Precedents come from US SEC filings. And, like any AI system, outputs can be wrong, so this is a decision aid and not legal advice. The roadmap addresses these directly: scale the corpus, move to per-clause risk scoring, add jurisdiction modules, simulate multi-agent negotiation, connect to enterprise tools and add mobile 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we addressed the legal asymmetry with plain-English risk scores and counter-clauses; we combined deterministic edge ML with a generative LLM instead of relying on either alone; we evaluated our retrieval honestly, including the result that it is tied with BM25; and the whole platform is live and production-ready.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The live application, the source code and my contact details are on screen, and the QR code opens the deployed site. I'm happy to take questions on the architecture, the evaluation 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822960" y="2057400"/>
            <a:ext cx="6583680" cy="137160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1"/>
          <p:cNvSpPr/>
          <p:nvPr>
            <p:ph idx="102" type="body" hasCustomPrompt="1"/>
          </p:nvPr>
        </p:nvSpPr>
        <p:spPr>
          <a:xfrm>
            <a:off x="822960" y="3520440"/>
            <a:ext cx="630936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nvSpPr>
        <p:spPr>
          <a:xfrm>
            <a:off x="6400800" y="-548640"/>
            <a:ext cx="5760720" cy="7863840"/>
          </a:xfrm>
          <a:prstGeom prst="rect">
            <a:avLst/>
          </a:prstGeom>
          <a:noFill/>
          <a:ln/>
        </p:spPr>
        <p:txBody>
          <a:bodyPr wrap="square" lIns="0" tIns="0" rIns="0" bIns="0" rtlCol="0" anchor="ctr"/>
          <a:lstStyle/>
          <a:p>
            <a:pPr algn="ctr" indent="0" marL="0">
              <a:buNone/>
            </a:pPr>
            <a:r>
              <a:rPr lang="en-US" sz="44000" b="1" dirty="0">
                <a:solidFill>
                  <a:schemeClr val="tx2"/>
                </a:solidFill>
              </a:rPr>
              <a:t>§</a:t>
            </a:r>
            <a:endParaRPr lang="en-US" sz="44000" dirty="0"/>
          </a:p>
        </p:txBody>
      </p:sp>
      <p:sp>
        <p:nvSpPr>
          <p:cNvPr id="4" name="Text 2"/>
          <p:cNvSpPr/>
          <p:nvPr>
            <p:ph idx="102" type="title" hasCustomPrompt="1"/>
          </p:nvPr>
        </p:nvSpPr>
        <p:spPr>
          <a:xfrm>
            <a:off x="822960" y="3154680"/>
            <a:ext cx="777240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5" name="Text 2"/>
          <p:cNvSpPr/>
          <p:nvPr>
            <p:ph idx="103" type="body" hasCustomPrompt="1"/>
          </p:nvPr>
        </p:nvSpPr>
        <p:spPr>
          <a:xfrm>
            <a:off x="822960" y="4754880"/>
            <a:ext cx="685800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spTree>
      <p:nvGrpSpPr>
        <p:cNvPr id="1" name=""/>
        <p:cNvGrpSpPr/>
        <p:nvPr/>
      </p:nvGrpSpPr>
      <p:grpSpPr>
        <a:xfrm>
          <a:off x="0" y="0"/>
          <a:ext cx="0" cy="0"/>
          <a:chOff x="0" y="0"/>
          <a:chExt cx="0" cy="0"/>
        </a:xfrm>
      </p:grpSpPr>
      <p:sp>
        <p:nvSpPr>
          <p:cNvPr id="2" name="Text 0"/>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78716C"/>
                </a:solidFill>
              </a:rPr>
              <a:t>BeforeYouSign  ·  Parul University  ·  B.Tech CSE (AI)</a:t>
            </a:r>
            <a:endParaRPr lang="en-US" sz="1000" dirty="0"/>
          </a:p>
        </p:txBody>
      </p:sp>
      <p:sp>
        <p:nvSpPr>
          <p:cNvPr id="3" name="Text 1"/>
          <p:cNvSpPr/>
          <p:nvPr>
            <p:ph idx="101" type="title" hasCustomPrompt="1"/>
          </p:nvPr>
        </p:nvSpPr>
        <p:spPr>
          <a:xfrm>
            <a:off x="640080" y="658368"/>
            <a:ext cx="10911535"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rgbClr val="A8A29E"/>
                </a:solidFill>
              </a:rPr>
              <a:t>BeforeYouSign  ·  Parul University  ·  B.Tech CSE (AI)</a:t>
            </a:r>
            <a:endParaRPr lang="en-US" sz="1000" dirty="0"/>
          </a:p>
        </p:txBody>
      </p:sp>
      <p:sp>
        <p:nvSpPr>
          <p:cNvPr id="4" name="Text 2"/>
          <p:cNvSpPr/>
          <p:nvPr>
            <p:ph idx="102" type="title" hasCustomPrompt="1"/>
          </p:nvPr>
        </p:nvSpPr>
        <p:spPr>
          <a:xfrm>
            <a:off x="640080" y="658368"/>
            <a:ext cx="10911535"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29E"/>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4.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4.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4.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4.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822960" y="1371600"/>
            <a:ext cx="685800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B.TECH PROJECT  ·  COMPUTER SCIENCE &amp; ENGINEERING (AI)</a:t>
            </a:r>
            <a:endParaRPr lang="en-US" sz="1300" dirty="0"/>
          </a:p>
        </p:txBody>
      </p:sp>
      <p:sp>
        <p:nvSpPr>
          <p:cNvPr id="3" name="Text 1"/>
          <p:cNvSpPr/>
          <p:nvPr>
            <p:ph idx="101" type="title" hasCustomPrompt="1"/>
          </p:nvPr>
        </p:nvSpPr>
        <p:spPr>
          <a:xfrm>
            <a:off x="822960" y="2057400"/>
            <a:ext cx="6583680" cy="1371600"/>
          </a:xfrm>
          <a:prstGeom prst="rect">
            <a:avLst/>
          </a:prstGeom>
          <a:noFill/>
          <a:ln/>
        </p:spPr>
        <p:txBody>
          <a:bodyPr wrap="square" lIns="0" tIns="0" rIns="0" bIns="0" rtlCol="0" anchor="t"/>
          <a:lstStyle/>
          <a:p>
            <a:pPr algn="l" indent="0" marL="0">
              <a:buNone/>
            </a:pPr>
            <a:r>
              <a:rPr lang="en-US" sz="6000" b="1" dirty="0">
                <a:solidFill>
                  <a:schemeClr val="bg1"/>
                </a:solidFill>
              </a:rPr>
              <a:t>BeforeYouSign</a:t>
            </a:r>
            <a:endParaRPr lang="en-US" sz="6000" dirty="0"/>
          </a:p>
        </p:txBody>
      </p:sp>
      <p:sp>
        <p:nvSpPr>
          <p:cNvPr id="4" name="Text 1"/>
          <p:cNvSpPr/>
          <p:nvPr>
            <p:ph idx="102" type="body" hasCustomPrompt="1"/>
          </p:nvPr>
        </p:nvSpPr>
        <p:spPr>
          <a:xfrm>
            <a:off x="822960" y="3520440"/>
            <a:ext cx="6309360" cy="1188720"/>
          </a:xfrm>
          <a:prstGeom prst="rect">
            <a:avLst/>
          </a:prstGeom>
          <a:noFill/>
          <a:ln/>
        </p:spPr>
        <p:txBody>
          <a:bodyPr wrap="square" lIns="0" tIns="0" rIns="0" bIns="0" rtlCol="0" anchor="t"/>
          <a:lstStyle/>
          <a:p>
            <a:pPr algn="l" indent="0" marL="0">
              <a:buNone/>
            </a:pPr>
            <a:r>
              <a:rPr lang="en-US" sz="2000" dirty="0">
                <a:solidFill>
                  <a:schemeClr val="bg2"/>
                </a:solidFill>
              </a:rPr>
              <a:t>The Intelligent Legal Operating System: AI contract analysis, semantic risk benchmarking and automated redlining.</a:t>
            </a:r>
            <a:endParaRPr lang="en-US" sz="2000" dirty="0"/>
          </a:p>
        </p:txBody>
      </p:sp>
      <p:sp>
        <p:nvSpPr>
          <p:cNvPr id="5" name="Meta label"/>
          <p:cNvSpPr txBox="1"/>
          <p:nvPr/>
        </p:nvSpPr>
        <p:spPr>
          <a:xfrm>
            <a:off x="822960" y="5029200"/>
            <a:ext cx="1463040" cy="274320"/>
          </a:xfrm>
          <a:prstGeom prst="rect">
            <a:avLst/>
          </a:prstGeom>
          <a:noFill/>
          <a:ln/>
        </p:spPr>
        <p:txBody>
          <a:bodyPr wrap="square" lIns="0" tIns="0" rIns="0" bIns="0" rtlCol="0" anchor="ctr"/>
          <a:lstStyle/>
          <a:p>
            <a:pPr indent="0" marL="0">
              <a:buNone/>
            </a:pPr>
            <a:r>
              <a:rPr lang="en-US" sz="1100" b="1" spc="200" kern="0" dirty="0">
                <a:solidFill>
                  <a:srgbClr val="A8A29E"/>
                </a:solidFill>
              </a:rPr>
              <a:t>PRESENTED BY</a:t>
            </a:r>
            <a:endParaRPr lang="en-US" sz="1100" dirty="0"/>
          </a:p>
        </p:txBody>
      </p:sp>
      <p:sp>
        <p:nvSpPr>
          <p:cNvPr id="6" name="Meta value"/>
          <p:cNvSpPr txBox="1"/>
          <p:nvPr/>
        </p:nvSpPr>
        <p:spPr>
          <a:xfrm>
            <a:off x="2377440" y="5029200"/>
            <a:ext cx="5852160" cy="274320"/>
          </a:xfrm>
          <a:prstGeom prst="rect">
            <a:avLst/>
          </a:prstGeom>
          <a:noFill/>
          <a:ln/>
        </p:spPr>
        <p:txBody>
          <a:bodyPr wrap="square" lIns="0" tIns="0" rIns="0" bIns="0" rtlCol="0" anchor="ctr"/>
          <a:lstStyle/>
          <a:p>
            <a:pPr indent="0" marL="0">
              <a:buNone/>
            </a:pPr>
            <a:r>
              <a:rPr lang="en-US" sz="1500" dirty="0">
                <a:solidFill>
                  <a:schemeClr val="bg1"/>
                </a:solidFill>
              </a:rPr>
              <a:t>Srinivas Jangiti (Team Lead)  ·  Amit Sahani  ·  Vineet Gorule</a:t>
            </a:r>
            <a:endParaRPr lang="en-US" sz="1500" dirty="0"/>
          </a:p>
        </p:txBody>
      </p:sp>
      <p:sp>
        <p:nvSpPr>
          <p:cNvPr id="7" name="Meta label"/>
          <p:cNvSpPr txBox="1"/>
          <p:nvPr/>
        </p:nvSpPr>
        <p:spPr>
          <a:xfrm>
            <a:off x="822960" y="5413248"/>
            <a:ext cx="1463040" cy="274320"/>
          </a:xfrm>
          <a:prstGeom prst="rect">
            <a:avLst/>
          </a:prstGeom>
          <a:noFill/>
          <a:ln/>
        </p:spPr>
        <p:txBody>
          <a:bodyPr wrap="square" lIns="0" tIns="0" rIns="0" bIns="0" rtlCol="0" anchor="ctr"/>
          <a:lstStyle/>
          <a:p>
            <a:pPr indent="0" marL="0">
              <a:buNone/>
            </a:pPr>
            <a:r>
              <a:rPr lang="en-US" sz="1100" b="1" spc="200" kern="0" dirty="0">
                <a:solidFill>
                  <a:srgbClr val="A8A29E"/>
                </a:solidFill>
              </a:rPr>
              <a:t>PROJECT GUIDE</a:t>
            </a:r>
            <a:endParaRPr lang="en-US" sz="1100" dirty="0"/>
          </a:p>
        </p:txBody>
      </p:sp>
      <p:sp>
        <p:nvSpPr>
          <p:cNvPr id="8" name="Meta value"/>
          <p:cNvSpPr txBox="1"/>
          <p:nvPr/>
        </p:nvSpPr>
        <p:spPr>
          <a:xfrm>
            <a:off x="2377440" y="5413248"/>
            <a:ext cx="5852160" cy="274320"/>
          </a:xfrm>
          <a:prstGeom prst="rect">
            <a:avLst/>
          </a:prstGeom>
          <a:noFill/>
          <a:ln/>
        </p:spPr>
        <p:txBody>
          <a:bodyPr wrap="square" lIns="0" tIns="0" rIns="0" bIns="0" rtlCol="0" anchor="ctr"/>
          <a:lstStyle/>
          <a:p>
            <a:pPr indent="0" marL="0">
              <a:buNone/>
            </a:pPr>
            <a:r>
              <a:rPr lang="en-US" sz="1500" dirty="0">
                <a:solidFill>
                  <a:schemeClr val="bg1"/>
                </a:solidFill>
              </a:rPr>
              <a:t>Prof. Arnika Patel</a:t>
            </a:r>
            <a:endParaRPr lang="en-US" sz="1500" dirty="0"/>
          </a:p>
        </p:txBody>
      </p:sp>
      <p:sp>
        <p:nvSpPr>
          <p:cNvPr id="9" name="Meta label"/>
          <p:cNvSpPr txBox="1"/>
          <p:nvPr/>
        </p:nvSpPr>
        <p:spPr>
          <a:xfrm>
            <a:off x="822960" y="5797296"/>
            <a:ext cx="1463040" cy="274320"/>
          </a:xfrm>
          <a:prstGeom prst="rect">
            <a:avLst/>
          </a:prstGeom>
          <a:noFill/>
          <a:ln/>
        </p:spPr>
        <p:txBody>
          <a:bodyPr wrap="square" lIns="0" tIns="0" rIns="0" bIns="0" rtlCol="0" anchor="ctr"/>
          <a:lstStyle/>
          <a:p>
            <a:pPr indent="0" marL="0">
              <a:buNone/>
            </a:pPr>
            <a:r>
              <a:rPr lang="en-US" sz="1100" b="1" spc="200" kern="0" dirty="0">
                <a:solidFill>
                  <a:srgbClr val="A8A29E"/>
                </a:solidFill>
              </a:rPr>
              <a:t>INSTITUTION</a:t>
            </a:r>
            <a:endParaRPr lang="en-US" sz="1100" dirty="0"/>
          </a:p>
        </p:txBody>
      </p:sp>
      <p:sp>
        <p:nvSpPr>
          <p:cNvPr id="10" name="Meta value"/>
          <p:cNvSpPr txBox="1"/>
          <p:nvPr/>
        </p:nvSpPr>
        <p:spPr>
          <a:xfrm>
            <a:off x="2377440" y="5797296"/>
            <a:ext cx="5852160" cy="274320"/>
          </a:xfrm>
          <a:prstGeom prst="rect">
            <a:avLst/>
          </a:prstGeom>
          <a:noFill/>
          <a:ln/>
        </p:spPr>
        <p:txBody>
          <a:bodyPr wrap="square" lIns="0" tIns="0" rIns="0" bIns="0" rtlCol="0" anchor="ctr"/>
          <a:lstStyle/>
          <a:p>
            <a:pPr indent="0" marL="0">
              <a:buNone/>
            </a:pPr>
            <a:r>
              <a:rPr lang="en-US" sz="1500" dirty="0">
                <a:solidFill>
                  <a:schemeClr val="bg1"/>
                </a:solidFill>
              </a:rPr>
              <a:t>Parul University</a:t>
            </a:r>
            <a:endParaRPr lang="en-US" sz="1500" dirty="0"/>
          </a:p>
        </p:txBody>
      </p:sp>
      <p:sp>
        <p:nvSpPr>
          <p:cNvPr id="11" name="Contract paper"/>
          <p:cNvSpPr/>
          <p:nvPr/>
        </p:nvSpPr>
        <p:spPr>
          <a:xfrm>
            <a:off x="8138160" y="777240"/>
            <a:ext cx="3520440" cy="5257800"/>
          </a:xfrm>
          <a:prstGeom prst="roundRect">
            <a:avLst>
              <a:gd name="adj" fmla="val 4156"/>
            </a:avLst>
          </a:prstGeom>
          <a:solidFill>
            <a:schemeClr val="bg1"/>
          </a:solidFill>
          <a:ln/>
          <a:effectLst>
            <a:outerShdw sx="100000" sy="100000" kx="0" ky="0" algn="bl" rotWithShape="0" blurRad="203200" dist="63500" dir="5400000">
              <a:srgbClr val="000000">
                <a:alpha val="28000"/>
              </a:srgbClr>
            </a:outerShdw>
          </a:effectLst>
        </p:spPr>
      </p:sp>
      <p:sp>
        <p:nvSpPr>
          <p:cNvPr id="12" name="Paper heading"/>
          <p:cNvSpPr txBox="1"/>
          <p:nvPr/>
        </p:nvSpPr>
        <p:spPr>
          <a:xfrm>
            <a:off x="8503920" y="1097280"/>
            <a:ext cx="2743200" cy="274320"/>
          </a:xfrm>
          <a:prstGeom prst="rect">
            <a:avLst/>
          </a:prstGeom>
          <a:noFill/>
          <a:ln/>
        </p:spPr>
        <p:txBody>
          <a:bodyPr wrap="square" lIns="0" tIns="0" rIns="0" bIns="0" rtlCol="0" anchor="t"/>
          <a:lstStyle/>
          <a:p>
            <a:pPr indent="0" marL="0">
              <a:buNone/>
            </a:pPr>
            <a:r>
              <a:rPr lang="en-US" sz="1100" b="1" spc="200" kern="0" dirty="0">
                <a:solidFill>
                  <a:srgbClr val="57534E"/>
                </a:solidFill>
              </a:rPr>
              <a:t>SERVICE AGREEMENT</a:t>
            </a:r>
            <a:endParaRPr lang="en-US" sz="1100" dirty="0"/>
          </a:p>
        </p:txBody>
      </p:sp>
      <p:sp>
        <p:nvSpPr>
          <p:cNvPr id="13" name="Text line"/>
          <p:cNvSpPr/>
          <p:nvPr/>
        </p:nvSpPr>
        <p:spPr>
          <a:xfrm>
            <a:off x="8503920" y="1627632"/>
            <a:ext cx="2788920" cy="109728"/>
          </a:xfrm>
          <a:prstGeom prst="roundRect">
            <a:avLst>
              <a:gd name="adj" fmla="val 41667"/>
            </a:avLst>
          </a:prstGeom>
          <a:solidFill>
            <a:srgbClr val="E7E5E4"/>
          </a:solidFill>
          <a:ln/>
        </p:spPr>
      </p:sp>
      <p:sp>
        <p:nvSpPr>
          <p:cNvPr id="14" name="Text line"/>
          <p:cNvSpPr/>
          <p:nvPr/>
        </p:nvSpPr>
        <p:spPr>
          <a:xfrm>
            <a:off x="8503920" y="1956816"/>
            <a:ext cx="2560320" cy="109728"/>
          </a:xfrm>
          <a:prstGeom prst="roundRect">
            <a:avLst>
              <a:gd name="adj" fmla="val 41667"/>
            </a:avLst>
          </a:prstGeom>
          <a:solidFill>
            <a:srgbClr val="E7E5E4"/>
          </a:solidFill>
          <a:ln/>
        </p:spPr>
      </p:sp>
      <p:sp>
        <p:nvSpPr>
          <p:cNvPr id="15" name="Risk highlight"/>
          <p:cNvSpPr/>
          <p:nvPr/>
        </p:nvSpPr>
        <p:spPr>
          <a:xfrm>
            <a:off x="8412480" y="2221992"/>
            <a:ext cx="3063240" cy="256032"/>
          </a:xfrm>
          <a:prstGeom prst="roundRect">
            <a:avLst>
              <a:gd name="adj" fmla="val 21429"/>
            </a:avLst>
          </a:prstGeom>
          <a:solidFill>
            <a:schemeClr val="accent2">
              <a:alpha val="18000"/>
            </a:schemeClr>
          </a:solidFill>
          <a:ln/>
        </p:spPr>
      </p:sp>
      <p:sp>
        <p:nvSpPr>
          <p:cNvPr id="16" name="Risk line"/>
          <p:cNvSpPr/>
          <p:nvPr/>
        </p:nvSpPr>
        <p:spPr>
          <a:xfrm>
            <a:off x="8503920" y="2286000"/>
            <a:ext cx="2788920" cy="109728"/>
          </a:xfrm>
          <a:prstGeom prst="roundRect">
            <a:avLst>
              <a:gd name="adj" fmla="val 41667"/>
            </a:avLst>
          </a:prstGeom>
          <a:solidFill>
            <a:schemeClr val="accent2"/>
          </a:solidFill>
          <a:ln/>
        </p:spPr>
      </p:sp>
      <p:sp>
        <p:nvSpPr>
          <p:cNvPr id="17" name="Text line"/>
          <p:cNvSpPr/>
          <p:nvPr/>
        </p:nvSpPr>
        <p:spPr>
          <a:xfrm>
            <a:off x="8503920" y="2615184"/>
            <a:ext cx="2194560" cy="109728"/>
          </a:xfrm>
          <a:prstGeom prst="roundRect">
            <a:avLst>
              <a:gd name="adj" fmla="val 41667"/>
            </a:avLst>
          </a:prstGeom>
          <a:solidFill>
            <a:srgbClr val="E7E5E4"/>
          </a:solidFill>
          <a:ln/>
        </p:spPr>
      </p:sp>
      <p:sp>
        <p:nvSpPr>
          <p:cNvPr id="18" name="Text line"/>
          <p:cNvSpPr/>
          <p:nvPr/>
        </p:nvSpPr>
        <p:spPr>
          <a:xfrm>
            <a:off x="8503920" y="2944368"/>
            <a:ext cx="2788920" cy="109728"/>
          </a:xfrm>
          <a:prstGeom prst="roundRect">
            <a:avLst>
              <a:gd name="adj" fmla="val 41667"/>
            </a:avLst>
          </a:prstGeom>
          <a:solidFill>
            <a:srgbClr val="E7E5E4"/>
          </a:solidFill>
          <a:ln/>
        </p:spPr>
      </p:sp>
      <p:sp>
        <p:nvSpPr>
          <p:cNvPr id="19" name="Risk highlight"/>
          <p:cNvSpPr/>
          <p:nvPr/>
        </p:nvSpPr>
        <p:spPr>
          <a:xfrm>
            <a:off x="8412480" y="3209544"/>
            <a:ext cx="3063240" cy="256032"/>
          </a:xfrm>
          <a:prstGeom prst="roundRect">
            <a:avLst>
              <a:gd name="adj" fmla="val 21429"/>
            </a:avLst>
          </a:prstGeom>
          <a:solidFill>
            <a:schemeClr val="accent3">
              <a:alpha val="18000"/>
            </a:schemeClr>
          </a:solidFill>
          <a:ln/>
        </p:spPr>
      </p:sp>
      <p:sp>
        <p:nvSpPr>
          <p:cNvPr id="20" name="Risk line"/>
          <p:cNvSpPr/>
          <p:nvPr/>
        </p:nvSpPr>
        <p:spPr>
          <a:xfrm>
            <a:off x="8503920" y="3273552"/>
            <a:ext cx="2468880" cy="109728"/>
          </a:xfrm>
          <a:prstGeom prst="roundRect">
            <a:avLst>
              <a:gd name="adj" fmla="val 41667"/>
            </a:avLst>
          </a:prstGeom>
          <a:solidFill>
            <a:schemeClr val="accent3"/>
          </a:solidFill>
          <a:ln/>
        </p:spPr>
      </p:sp>
      <p:sp>
        <p:nvSpPr>
          <p:cNvPr id="21" name="Text line"/>
          <p:cNvSpPr/>
          <p:nvPr/>
        </p:nvSpPr>
        <p:spPr>
          <a:xfrm>
            <a:off x="8503920" y="3602736"/>
            <a:ext cx="2788920" cy="109728"/>
          </a:xfrm>
          <a:prstGeom prst="roundRect">
            <a:avLst>
              <a:gd name="adj" fmla="val 41667"/>
            </a:avLst>
          </a:prstGeom>
          <a:solidFill>
            <a:srgbClr val="E7E5E4"/>
          </a:solidFill>
          <a:ln/>
        </p:spPr>
      </p:sp>
      <p:sp>
        <p:nvSpPr>
          <p:cNvPr id="22" name="Text line"/>
          <p:cNvSpPr/>
          <p:nvPr/>
        </p:nvSpPr>
        <p:spPr>
          <a:xfrm>
            <a:off x="8503920" y="3931920"/>
            <a:ext cx="2286000" cy="109728"/>
          </a:xfrm>
          <a:prstGeom prst="roundRect">
            <a:avLst>
              <a:gd name="adj" fmla="val 41667"/>
            </a:avLst>
          </a:prstGeom>
          <a:solidFill>
            <a:srgbClr val="E7E5E4"/>
          </a:solidFill>
          <a:ln/>
        </p:spPr>
      </p:sp>
      <p:sp>
        <p:nvSpPr>
          <p:cNvPr id="23" name="Risk highlight"/>
          <p:cNvSpPr/>
          <p:nvPr/>
        </p:nvSpPr>
        <p:spPr>
          <a:xfrm>
            <a:off x="8412480" y="4197096"/>
            <a:ext cx="3063240" cy="256032"/>
          </a:xfrm>
          <a:prstGeom prst="roundRect">
            <a:avLst>
              <a:gd name="adj" fmla="val 21429"/>
            </a:avLst>
          </a:prstGeom>
          <a:solidFill>
            <a:schemeClr val="accent4">
              <a:alpha val="18000"/>
            </a:schemeClr>
          </a:solidFill>
          <a:ln/>
        </p:spPr>
      </p:sp>
      <p:sp>
        <p:nvSpPr>
          <p:cNvPr id="24" name="Risk line"/>
          <p:cNvSpPr/>
          <p:nvPr/>
        </p:nvSpPr>
        <p:spPr>
          <a:xfrm>
            <a:off x="8503920" y="4261104"/>
            <a:ext cx="2788920" cy="109728"/>
          </a:xfrm>
          <a:prstGeom prst="roundRect">
            <a:avLst>
              <a:gd name="adj" fmla="val 41667"/>
            </a:avLst>
          </a:prstGeom>
          <a:solidFill>
            <a:schemeClr val="accent4"/>
          </a:solidFill>
          <a:ln/>
        </p:spPr>
      </p:sp>
      <p:sp>
        <p:nvSpPr>
          <p:cNvPr id="25" name="Text line"/>
          <p:cNvSpPr/>
          <p:nvPr/>
        </p:nvSpPr>
        <p:spPr>
          <a:xfrm>
            <a:off x="8503920" y="4590288"/>
            <a:ext cx="2011680" cy="109728"/>
          </a:xfrm>
          <a:prstGeom prst="roundRect">
            <a:avLst>
              <a:gd name="adj" fmla="val 41667"/>
            </a:avLst>
          </a:prstGeom>
          <a:solidFill>
            <a:srgbClr val="E7E5E4"/>
          </a:solidFill>
          <a:ln/>
        </p:spPr>
      </p:sp>
      <p:sp>
        <p:nvSpPr>
          <p:cNvPr id="26" name="Text line"/>
          <p:cNvSpPr/>
          <p:nvPr/>
        </p:nvSpPr>
        <p:spPr>
          <a:xfrm>
            <a:off x="8503920" y="4919472"/>
            <a:ext cx="2651760" cy="109728"/>
          </a:xfrm>
          <a:prstGeom prst="roundRect">
            <a:avLst>
              <a:gd name="adj" fmla="val 41667"/>
            </a:avLst>
          </a:prstGeom>
          <a:solidFill>
            <a:srgbClr val="E7E5E4"/>
          </a:solidFill>
          <a:ln/>
        </p:spPr>
      </p:sp>
      <p:sp>
        <p:nvSpPr>
          <p:cNvPr id="27" name="Risk score badge"/>
          <p:cNvSpPr/>
          <p:nvPr/>
        </p:nvSpPr>
        <p:spPr>
          <a:xfrm>
            <a:off x="7498080" y="4983480"/>
            <a:ext cx="2697480" cy="1234440"/>
          </a:xfrm>
          <a:prstGeom prst="roundRect">
            <a:avLst>
              <a:gd name="adj" fmla="val 8889"/>
            </a:avLst>
          </a:prstGeom>
          <a:solidFill>
            <a:schemeClr val="tx2"/>
          </a:solidFill>
          <a:ln/>
          <a:effectLst>
            <a:outerShdw sx="100000" sy="100000" kx="0" ky="0" algn="bl" rotWithShape="0" blurRad="203200" dist="63500" dir="5400000">
              <a:srgbClr val="000000">
                <a:alpha val="28000"/>
              </a:srgbClr>
            </a:outerShdw>
          </a:effectLst>
        </p:spPr>
      </p:sp>
      <p:sp>
        <p:nvSpPr>
          <p:cNvPr id="28" name="Badge label"/>
          <p:cNvSpPr txBox="1"/>
          <p:nvPr/>
        </p:nvSpPr>
        <p:spPr>
          <a:xfrm>
            <a:off x="7772400" y="5138928"/>
            <a:ext cx="2103120" cy="228600"/>
          </a:xfrm>
          <a:prstGeom prst="rect">
            <a:avLst/>
          </a:prstGeom>
          <a:noFill/>
          <a:ln/>
        </p:spPr>
        <p:txBody>
          <a:bodyPr wrap="square" lIns="0" tIns="0" rIns="0" bIns="0" rtlCol="0" anchor="t"/>
          <a:lstStyle/>
          <a:p>
            <a:pPr indent="0" marL="0">
              <a:buNone/>
            </a:pPr>
            <a:r>
              <a:rPr lang="en-US" sz="1000" b="1" spc="200" kern="0" dirty="0">
                <a:solidFill>
                  <a:srgbClr val="A8A29E"/>
                </a:solidFill>
              </a:rPr>
              <a:t>RISK SCORE</a:t>
            </a:r>
            <a:endParaRPr lang="en-US" sz="1000" dirty="0"/>
          </a:p>
        </p:txBody>
      </p:sp>
      <p:sp>
        <p:nvSpPr>
          <p:cNvPr id="29" name="Badge score"/>
          <p:cNvSpPr txBox="1"/>
          <p:nvPr/>
        </p:nvSpPr>
        <p:spPr>
          <a:xfrm>
            <a:off x="7772400" y="5376672"/>
            <a:ext cx="1188720" cy="731520"/>
          </a:xfrm>
          <a:prstGeom prst="rect">
            <a:avLst/>
          </a:prstGeom>
          <a:noFill/>
          <a:ln/>
        </p:spPr>
        <p:txBody>
          <a:bodyPr wrap="square" lIns="0" tIns="0" rIns="0" bIns="0" rtlCol="0" anchor="ctr"/>
          <a:lstStyle/>
          <a:p>
            <a:pPr indent="0" marL="0">
              <a:buNone/>
            </a:pPr>
            <a:r>
              <a:rPr lang="en-US" sz="4400" b="1" dirty="0">
                <a:solidFill>
                  <a:schemeClr val="bg1"/>
                </a:solidFill>
                <a:latin typeface="+mj-lt" pitchFamily="34" charset="0"/>
                <a:ea typeface="+mj-lt" pitchFamily="34" charset="-122"/>
                <a:cs typeface="+mj-lt" pitchFamily="34" charset="-120"/>
              </a:rPr>
              <a:t>78</a:t>
            </a:r>
            <a:endParaRPr lang="en-US" sz="4400" dirty="0"/>
          </a:p>
        </p:txBody>
      </p:sp>
      <p:sp>
        <p:nvSpPr>
          <p:cNvPr id="30" name="Pill HIGH"/>
          <p:cNvSpPr/>
          <p:nvPr/>
        </p:nvSpPr>
        <p:spPr>
          <a:xfrm>
            <a:off x="8915400" y="5596128"/>
            <a:ext cx="1005840" cy="310896"/>
          </a:xfrm>
          <a:prstGeom prst="roundRect">
            <a:avLst>
              <a:gd name="adj" fmla="val 50000"/>
            </a:avLst>
          </a:prstGeom>
          <a:solidFill>
            <a:schemeClr val="accent2"/>
          </a:solidFill>
          <a:ln/>
        </p:spPr>
      </p:sp>
      <p:sp>
        <p:nvSpPr>
          <p:cNvPr id="31" name="Pill label HIGH"/>
          <p:cNvSpPr txBox="1"/>
          <p:nvPr/>
        </p:nvSpPr>
        <p:spPr>
          <a:xfrm>
            <a:off x="8915400" y="5596128"/>
            <a:ext cx="1005840" cy="310896"/>
          </a:xfrm>
          <a:prstGeom prst="rect">
            <a:avLst/>
          </a:prstGeom>
          <a:noFill/>
          <a:ln/>
        </p:spPr>
        <p:txBody>
          <a:bodyPr wrap="square" lIns="0" tIns="0" rIns="0" bIns="0" rtlCol="0" anchor="ctr"/>
          <a:lstStyle/>
          <a:p>
            <a:pPr algn="ctr" indent="0" marL="0">
              <a:buNone/>
            </a:pPr>
            <a:r>
              <a:rPr lang="en-US" sz="1100" b="1" spc="100" kern="0" dirty="0">
                <a:solidFill>
                  <a:schemeClr val="bg1"/>
                </a:solidFill>
              </a:rPr>
              <a:t>HIGH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OVERVIEW</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Agenda</a:t>
            </a:r>
            <a:endParaRPr lang="en-US" sz="3600" dirty="0"/>
          </a:p>
        </p:txBody>
      </p:sp>
      <p:sp>
        <p:nvSpPr>
          <p:cNvPr id="4" name="Agenda card 01"/>
          <p:cNvSpPr/>
          <p:nvPr/>
        </p:nvSpPr>
        <p:spPr>
          <a:xfrm>
            <a:off x="640080" y="1645920"/>
            <a:ext cx="3454298" cy="4434840"/>
          </a:xfrm>
          <a:prstGeom prst="roundRect">
            <a:avLst>
              <a:gd name="adj" fmla="val 3177"/>
            </a:avLst>
          </a:prstGeom>
          <a:solidFill>
            <a:schemeClr val="bg2"/>
          </a:solidFill>
          <a:ln/>
        </p:spPr>
      </p:sp>
      <p:sp>
        <p:nvSpPr>
          <p:cNvPr id="5" name="Part number"/>
          <p:cNvSpPr txBox="1"/>
          <p:nvPr/>
        </p:nvSpPr>
        <p:spPr>
          <a:xfrm>
            <a:off x="960120" y="1828800"/>
            <a:ext cx="1371600" cy="731520"/>
          </a:xfrm>
          <a:prstGeom prst="rect">
            <a:avLst/>
          </a:prstGeom>
          <a:noFill/>
          <a:ln/>
        </p:spPr>
        <p:txBody>
          <a:bodyPr wrap="square" lIns="0" tIns="0" rIns="0" bIns="0" rtlCol="0" anchor="t"/>
          <a:lstStyle/>
          <a:p>
            <a:pPr indent="0" marL="0">
              <a:buNone/>
            </a:pPr>
            <a:r>
              <a:rPr lang="en-US" sz="4400" b="1" dirty="0">
                <a:solidFill>
                  <a:schemeClr val="accent1"/>
                </a:solidFill>
                <a:latin typeface="+mj-lt" pitchFamily="34" charset="0"/>
                <a:ea typeface="+mj-lt" pitchFamily="34" charset="-122"/>
                <a:cs typeface="+mj-lt" pitchFamily="34" charset="-120"/>
              </a:rPr>
              <a:t>01</a:t>
            </a:r>
            <a:endParaRPr lang="en-US" sz="4400" dirty="0"/>
          </a:p>
        </p:txBody>
      </p:sp>
      <p:sp>
        <p:nvSpPr>
          <p:cNvPr id="6" name="Part title"/>
          <p:cNvSpPr txBox="1"/>
          <p:nvPr/>
        </p:nvSpPr>
        <p:spPr>
          <a:xfrm>
            <a:off x="960120" y="2697480"/>
            <a:ext cx="2814218" cy="411480"/>
          </a:xfrm>
          <a:prstGeom prst="rect">
            <a:avLst/>
          </a:prstGeom>
          <a:noFill/>
          <a:ln/>
        </p:spPr>
        <p:txBody>
          <a:bodyPr wrap="square" lIns="0" tIns="0" rIns="0" bIns="0" rtlCol="0" anchor="t"/>
          <a:lstStyle/>
          <a:p>
            <a:pPr indent="0" marL="0">
              <a:buNone/>
            </a:pPr>
            <a:r>
              <a:rPr lang="en-US" sz="2000" b="1" dirty="0">
                <a:solidFill>
                  <a:schemeClr val="tx1"/>
                </a:solidFill>
              </a:rPr>
              <a:t>The Problem &amp; Vision</a:t>
            </a:r>
            <a:endParaRPr lang="en-US" sz="2000" dirty="0"/>
          </a:p>
        </p:txBody>
      </p:sp>
      <p:sp>
        <p:nvSpPr>
          <p:cNvPr id="7" name="Part topics"/>
          <p:cNvSpPr txBox="1"/>
          <p:nvPr/>
        </p:nvSpPr>
        <p:spPr>
          <a:xfrm>
            <a:off x="960120" y="3246120"/>
            <a:ext cx="2814218" cy="26974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2"/>
                </a:solidFill>
              </a:rPr>
              <a:t>Systemic asymmetry</a:t>
            </a:r>
            <a:endParaRPr lang="en-US" sz="1400" dirty="0"/>
          </a:p>
          <a:p>
            <a:pPr marL="203200" indent="-203200">
              <a:spcAft>
                <a:spcPts val="500"/>
              </a:spcAft>
              <a:buSzPct val="100000"/>
              <a:buChar char="•"/>
            </a:pPr>
            <a:r>
              <a:rPr lang="en-US" sz="1400" dirty="0">
                <a:solidFill>
                  <a:schemeClr val="tx2"/>
                </a:solidFill>
              </a:rPr>
              <a:t>Our solution</a:t>
            </a:r>
            <a:endParaRPr lang="en-US" sz="1400" dirty="0"/>
          </a:p>
          <a:p>
            <a:pPr marL="203200" indent="-203200">
              <a:spcAft>
                <a:spcPts val="500"/>
              </a:spcAft>
              <a:buSzPct val="100000"/>
              <a:buChar char="•"/>
            </a:pPr>
            <a:r>
              <a:rPr lang="en-US" sz="1400" dirty="0">
                <a:solidFill>
                  <a:schemeClr val="tx2"/>
                </a:solidFill>
              </a:rPr>
              <a:t>Objectives &amp; users</a:t>
            </a:r>
            <a:endParaRPr lang="en-US" sz="1400" dirty="0"/>
          </a:p>
        </p:txBody>
      </p:sp>
      <p:sp>
        <p:nvSpPr>
          <p:cNvPr id="8" name="Agenda card 02"/>
          <p:cNvSpPr/>
          <p:nvPr/>
        </p:nvSpPr>
        <p:spPr>
          <a:xfrm>
            <a:off x="4368698" y="1645920"/>
            <a:ext cx="3454298" cy="4434840"/>
          </a:xfrm>
          <a:prstGeom prst="roundRect">
            <a:avLst>
              <a:gd name="adj" fmla="val 3177"/>
            </a:avLst>
          </a:prstGeom>
          <a:solidFill>
            <a:schemeClr val="bg2"/>
          </a:solidFill>
          <a:ln/>
        </p:spPr>
      </p:sp>
      <p:sp>
        <p:nvSpPr>
          <p:cNvPr id="9" name="Part number"/>
          <p:cNvSpPr txBox="1"/>
          <p:nvPr/>
        </p:nvSpPr>
        <p:spPr>
          <a:xfrm>
            <a:off x="4688738" y="1828800"/>
            <a:ext cx="1371600" cy="731520"/>
          </a:xfrm>
          <a:prstGeom prst="rect">
            <a:avLst/>
          </a:prstGeom>
          <a:noFill/>
          <a:ln/>
        </p:spPr>
        <p:txBody>
          <a:bodyPr wrap="square" lIns="0" tIns="0" rIns="0" bIns="0" rtlCol="0" anchor="t"/>
          <a:lstStyle/>
          <a:p>
            <a:pPr indent="0" marL="0">
              <a:buNone/>
            </a:pPr>
            <a:r>
              <a:rPr lang="en-US" sz="4400" b="1" dirty="0">
                <a:solidFill>
                  <a:schemeClr val="accent1"/>
                </a:solidFill>
                <a:latin typeface="+mj-lt" pitchFamily="34" charset="0"/>
                <a:ea typeface="+mj-lt" pitchFamily="34" charset="-122"/>
                <a:cs typeface="+mj-lt" pitchFamily="34" charset="-120"/>
              </a:rPr>
              <a:t>02</a:t>
            </a:r>
            <a:endParaRPr lang="en-US" sz="4400" dirty="0"/>
          </a:p>
        </p:txBody>
      </p:sp>
      <p:sp>
        <p:nvSpPr>
          <p:cNvPr id="10" name="Part title"/>
          <p:cNvSpPr txBox="1"/>
          <p:nvPr/>
        </p:nvSpPr>
        <p:spPr>
          <a:xfrm>
            <a:off x="4688738" y="2697480"/>
            <a:ext cx="2814218" cy="411480"/>
          </a:xfrm>
          <a:prstGeom prst="rect">
            <a:avLst/>
          </a:prstGeom>
          <a:noFill/>
          <a:ln/>
        </p:spPr>
        <p:txBody>
          <a:bodyPr wrap="square" lIns="0" tIns="0" rIns="0" bIns="0" rtlCol="0" anchor="t"/>
          <a:lstStyle/>
          <a:p>
            <a:pPr indent="0" marL="0">
              <a:buNone/>
            </a:pPr>
            <a:r>
              <a:rPr lang="en-US" sz="2000" b="1" dirty="0">
                <a:solidFill>
                  <a:schemeClr val="tx1"/>
                </a:solidFill>
              </a:rPr>
              <a:t>System &amp; Intelligence</a:t>
            </a:r>
            <a:endParaRPr lang="en-US" sz="2000" dirty="0"/>
          </a:p>
        </p:txBody>
      </p:sp>
      <p:sp>
        <p:nvSpPr>
          <p:cNvPr id="11" name="Part topics"/>
          <p:cNvSpPr txBox="1"/>
          <p:nvPr/>
        </p:nvSpPr>
        <p:spPr>
          <a:xfrm>
            <a:off x="4688738" y="3246120"/>
            <a:ext cx="2814218" cy="26974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2"/>
                </a:solidFill>
              </a:rPr>
              <a:t>Dual-pipeline architecture</a:t>
            </a:r>
            <a:endParaRPr lang="en-US" sz="1400" dirty="0"/>
          </a:p>
          <a:p>
            <a:pPr marL="203200" indent="-203200">
              <a:spcAft>
                <a:spcPts val="500"/>
              </a:spcAft>
              <a:buSzPct val="100000"/>
              <a:buChar char="•"/>
            </a:pPr>
            <a:r>
              <a:rPr lang="en-US" sz="1400" dirty="0">
                <a:solidFill>
                  <a:schemeClr val="tx2"/>
                </a:solidFill>
              </a:rPr>
              <a:t>Edge ML engine &amp; LEDGAR corpus</a:t>
            </a:r>
            <a:endParaRPr lang="en-US" sz="1400" dirty="0"/>
          </a:p>
          <a:p>
            <a:pPr marL="203200" indent="-203200">
              <a:spcAft>
                <a:spcPts val="500"/>
              </a:spcAft>
              <a:buSzPct val="100000"/>
              <a:buChar char="•"/>
            </a:pPr>
            <a:r>
              <a:rPr lang="en-US" sz="1400" dirty="0">
                <a:solidFill>
                  <a:schemeClr val="tx2"/>
                </a:solidFill>
              </a:rPr>
              <a:t>Evaluation results</a:t>
            </a:r>
            <a:endParaRPr lang="en-US" sz="1400" dirty="0"/>
          </a:p>
          <a:p>
            <a:pPr marL="203200" indent="-203200">
              <a:spcAft>
                <a:spcPts val="500"/>
              </a:spcAft>
              <a:buSzPct val="100000"/>
              <a:buChar char="•"/>
            </a:pPr>
            <a:r>
              <a:rPr lang="en-US" sz="1400" dirty="0">
                <a:solidFill>
                  <a:schemeClr val="tx2"/>
                </a:solidFill>
              </a:rPr>
              <a:t>Estimated Risk Reduction</a:t>
            </a:r>
            <a:endParaRPr lang="en-US" sz="1400" dirty="0"/>
          </a:p>
          <a:p>
            <a:pPr marL="203200" indent="-203200">
              <a:spcAft>
                <a:spcPts val="500"/>
              </a:spcAft>
              <a:buSzPct val="100000"/>
              <a:buChar char="•"/>
            </a:pPr>
            <a:r>
              <a:rPr lang="en-US" sz="1400" dirty="0">
                <a:solidFill>
                  <a:schemeClr val="tx2"/>
                </a:solidFill>
              </a:rPr>
              <a:t>Generative tier</a:t>
            </a:r>
            <a:endParaRPr lang="en-US" sz="1400" dirty="0"/>
          </a:p>
          <a:p>
            <a:pPr marL="203200" indent="-203200">
              <a:spcAft>
                <a:spcPts val="500"/>
              </a:spcAft>
              <a:buSzPct val="100000"/>
              <a:buChar char="•"/>
            </a:pPr>
            <a:r>
              <a:rPr lang="en-US" sz="1400" dirty="0">
                <a:solidFill>
                  <a:schemeClr val="tx2"/>
                </a:solidFill>
              </a:rPr>
              <a:t>Request lifecycle</a:t>
            </a:r>
            <a:endParaRPr lang="en-US" sz="1400" dirty="0"/>
          </a:p>
        </p:txBody>
      </p:sp>
      <p:sp>
        <p:nvSpPr>
          <p:cNvPr id="12" name="Agenda card 03"/>
          <p:cNvSpPr/>
          <p:nvPr/>
        </p:nvSpPr>
        <p:spPr>
          <a:xfrm>
            <a:off x="8097317" y="1645920"/>
            <a:ext cx="3454298" cy="4434840"/>
          </a:xfrm>
          <a:prstGeom prst="roundRect">
            <a:avLst>
              <a:gd name="adj" fmla="val 3177"/>
            </a:avLst>
          </a:prstGeom>
          <a:solidFill>
            <a:schemeClr val="bg2"/>
          </a:solidFill>
          <a:ln/>
        </p:spPr>
      </p:sp>
      <p:sp>
        <p:nvSpPr>
          <p:cNvPr id="13" name="Part number"/>
          <p:cNvSpPr txBox="1"/>
          <p:nvPr/>
        </p:nvSpPr>
        <p:spPr>
          <a:xfrm>
            <a:off x="8417357" y="1828800"/>
            <a:ext cx="1371600" cy="731520"/>
          </a:xfrm>
          <a:prstGeom prst="rect">
            <a:avLst/>
          </a:prstGeom>
          <a:noFill/>
          <a:ln/>
        </p:spPr>
        <p:txBody>
          <a:bodyPr wrap="square" lIns="0" tIns="0" rIns="0" bIns="0" rtlCol="0" anchor="t"/>
          <a:lstStyle/>
          <a:p>
            <a:pPr indent="0" marL="0">
              <a:buNone/>
            </a:pPr>
            <a:r>
              <a:rPr lang="en-US" sz="4400" b="1" dirty="0">
                <a:solidFill>
                  <a:schemeClr val="accent1"/>
                </a:solidFill>
                <a:latin typeface="+mj-lt" pitchFamily="34" charset="0"/>
                <a:ea typeface="+mj-lt" pitchFamily="34" charset="-122"/>
                <a:cs typeface="+mj-lt" pitchFamily="34" charset="-120"/>
              </a:rPr>
              <a:t>03</a:t>
            </a:r>
            <a:endParaRPr lang="en-US" sz="4400" dirty="0"/>
          </a:p>
        </p:txBody>
      </p:sp>
      <p:sp>
        <p:nvSpPr>
          <p:cNvPr id="14" name="Part title"/>
          <p:cNvSpPr txBox="1"/>
          <p:nvPr/>
        </p:nvSpPr>
        <p:spPr>
          <a:xfrm>
            <a:off x="8417357" y="2697480"/>
            <a:ext cx="2814218" cy="411480"/>
          </a:xfrm>
          <a:prstGeom prst="rect">
            <a:avLst/>
          </a:prstGeom>
          <a:noFill/>
          <a:ln/>
        </p:spPr>
        <p:txBody>
          <a:bodyPr wrap="square" lIns="0" tIns="0" rIns="0" bIns="0" rtlCol="0" anchor="t"/>
          <a:lstStyle/>
          <a:p>
            <a:pPr indent="0" marL="0">
              <a:buNone/>
            </a:pPr>
            <a:r>
              <a:rPr lang="en-US" sz="2000" b="1" dirty="0">
                <a:solidFill>
                  <a:schemeClr val="tx1"/>
                </a:solidFill>
              </a:rPr>
              <a:t>Product &amp; Impact</a:t>
            </a:r>
            <a:endParaRPr lang="en-US" sz="2000" dirty="0"/>
          </a:p>
        </p:txBody>
      </p:sp>
      <p:sp>
        <p:nvSpPr>
          <p:cNvPr id="15" name="Part topics"/>
          <p:cNvSpPr txBox="1"/>
          <p:nvPr/>
        </p:nvSpPr>
        <p:spPr>
          <a:xfrm>
            <a:off x="8417357" y="3246120"/>
            <a:ext cx="2814218" cy="269748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2"/>
                </a:solidFill>
              </a:rPr>
              <a:t>Feature map</a:t>
            </a:r>
            <a:endParaRPr lang="en-US" sz="1400" dirty="0"/>
          </a:p>
          <a:p>
            <a:pPr marL="203200" indent="-203200">
              <a:spcAft>
                <a:spcPts val="500"/>
              </a:spcAft>
              <a:buSzPct val="100000"/>
              <a:buChar char="•"/>
            </a:pPr>
            <a:r>
              <a:rPr lang="en-US" sz="1400" dirty="0">
                <a:solidFill>
                  <a:schemeClr val="tx2"/>
                </a:solidFill>
              </a:rPr>
              <a:t>Risk analyzer</a:t>
            </a:r>
            <a:endParaRPr lang="en-US" sz="1400" dirty="0"/>
          </a:p>
          <a:p>
            <a:pPr marL="203200" indent="-203200">
              <a:spcAft>
                <a:spcPts val="500"/>
              </a:spcAft>
              <a:buSzPct val="100000"/>
              <a:buChar char="•"/>
            </a:pPr>
            <a:r>
              <a:rPr lang="en-US" sz="1400" dirty="0">
                <a:solidFill>
                  <a:schemeClr val="tx2"/>
                </a:solidFill>
              </a:rPr>
              <a:t>Chrome extension</a:t>
            </a:r>
            <a:endParaRPr lang="en-US" sz="1400" dirty="0"/>
          </a:p>
          <a:p>
            <a:pPr marL="203200" indent="-203200">
              <a:spcAft>
                <a:spcPts val="500"/>
              </a:spcAft>
              <a:buSzPct val="100000"/>
              <a:buChar char="•"/>
            </a:pPr>
            <a:r>
              <a:rPr lang="en-US" sz="1400" dirty="0">
                <a:solidFill>
                  <a:schemeClr val="tx2"/>
                </a:solidFill>
              </a:rPr>
              <a:t>Privacy &amp; security</a:t>
            </a:r>
            <a:endParaRPr lang="en-US" sz="1400" dirty="0"/>
          </a:p>
          <a:p>
            <a:pPr marL="203200" indent="-203200">
              <a:spcAft>
                <a:spcPts val="500"/>
              </a:spcAft>
              <a:buSzPct val="100000"/>
              <a:buChar char="•"/>
            </a:pPr>
            <a:r>
              <a:rPr lang="en-US" sz="1400" dirty="0">
                <a:solidFill>
                  <a:schemeClr val="tx2"/>
                </a:solidFill>
              </a:rPr>
              <a:t>Tech stack &amp; metrics</a:t>
            </a:r>
            <a:endParaRPr lang="en-US" sz="1400" dirty="0"/>
          </a:p>
          <a:p>
            <a:pPr marL="203200" indent="-203200">
              <a:spcAft>
                <a:spcPts val="500"/>
              </a:spcAft>
              <a:buSzPct val="100000"/>
              <a:buChar char="•"/>
            </a:pPr>
            <a:r>
              <a:rPr lang="en-US" sz="1400" dirty="0">
                <a:solidFill>
                  <a:schemeClr val="tx2"/>
                </a:solidFill>
              </a:rPr>
              <a:t>Live demo</a:t>
            </a:r>
            <a:endParaRPr lang="en-US" sz="1400" dirty="0"/>
          </a:p>
          <a:p>
            <a:pPr marL="203200" indent="-203200">
              <a:spcAft>
                <a:spcPts val="500"/>
              </a:spcAft>
              <a:buSzPct val="100000"/>
              <a:buChar char="•"/>
            </a:pPr>
            <a:r>
              <a:rPr lang="en-US" sz="1400" dirty="0">
                <a:solidFill>
                  <a:schemeClr val="tx2"/>
                </a:solidFill>
              </a:rPr>
              <a:t>Limits &amp; roadmap</a:t>
            </a:r>
            <a:endParaRPr lang="en-US" sz="14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number"/>
          <p:cNvSpPr txBox="1"/>
          <p:nvPr/>
        </p:nvSpPr>
        <p:spPr>
          <a:xfrm>
            <a:off x="822960" y="1280160"/>
            <a:ext cx="4572000" cy="1828800"/>
          </a:xfrm>
          <a:prstGeom prst="rect">
            <a:avLst/>
          </a:prstGeom>
          <a:noFill/>
          <a:ln/>
        </p:spPr>
        <p:txBody>
          <a:bodyPr wrap="square" lIns="0" tIns="0" rIns="0" bIns="0" rtlCol="0" anchor="ctr"/>
          <a:lstStyle/>
          <a:p>
            <a:pPr indent="0" marL="0">
              <a:buNone/>
            </a:pPr>
            <a:r>
              <a:rPr lang="en-US" sz="13000" b="1" dirty="0">
                <a:solidFill>
                  <a:schemeClr val="accent1"/>
                </a:solidFill>
                <a:latin typeface="+mj-lt" pitchFamily="34" charset="0"/>
                <a:ea typeface="+mj-lt" pitchFamily="34" charset="-122"/>
                <a:cs typeface="+mj-lt" pitchFamily="34" charset="-120"/>
              </a:rPr>
              <a:t>01</a:t>
            </a:r>
            <a:endParaRPr lang="en-US" sz="13000" dirty="0"/>
          </a:p>
        </p:txBody>
      </p:sp>
      <p:sp>
        <p:nvSpPr>
          <p:cNvPr id="3" name="Text 2"/>
          <p:cNvSpPr/>
          <p:nvPr>
            <p:ph idx="102" type="title" hasCustomPrompt="1"/>
          </p:nvPr>
        </p:nvSpPr>
        <p:spPr>
          <a:xfrm>
            <a:off x="822960" y="3154680"/>
            <a:ext cx="7772400" cy="1463040"/>
          </a:xfrm>
          <a:prstGeom prst="rect">
            <a:avLst/>
          </a:prstGeom>
          <a:noFill/>
          <a:ln/>
        </p:spPr>
        <p:txBody>
          <a:bodyPr wrap="square" lIns="0" tIns="0" rIns="0" bIns="0" rtlCol="0" anchor="t"/>
          <a:lstStyle/>
          <a:p>
            <a:pPr algn="l" indent="0" marL="0">
              <a:buNone/>
            </a:pPr>
            <a:r>
              <a:rPr lang="en-US" sz="4800" b="1" dirty="0">
                <a:solidFill>
                  <a:schemeClr val="bg1"/>
                </a:solidFill>
              </a:rPr>
              <a:t>The Problem &amp; Our Vision</a:t>
            </a:r>
            <a:endParaRPr lang="en-US" sz="4800" dirty="0"/>
          </a:p>
        </p:txBody>
      </p:sp>
      <p:sp>
        <p:nvSpPr>
          <p:cNvPr id="4" name="Text 2"/>
          <p:cNvSpPr/>
          <p:nvPr>
            <p:ph idx="103" type="body" hasCustomPrompt="1"/>
          </p:nvPr>
        </p:nvSpPr>
        <p:spPr>
          <a:xfrm>
            <a:off x="822960" y="4754880"/>
            <a:ext cx="6858000" cy="822960"/>
          </a:xfrm>
          <a:prstGeom prst="rect">
            <a:avLst/>
          </a:prstGeom>
          <a:noFill/>
          <a:ln/>
        </p:spPr>
        <p:txBody>
          <a:bodyPr wrap="square" lIns="0" tIns="0" rIns="0" bIns="0" rtlCol="0" anchor="t"/>
          <a:lstStyle/>
          <a:p>
            <a:pPr algn="l" indent="0" marL="0">
              <a:buNone/>
            </a:pPr>
            <a:r>
              <a:rPr lang="en-US" sz="2000" dirty="0">
                <a:solidFill>
                  <a:schemeClr val="bg2"/>
                </a:solidFill>
              </a:rPr>
              <a:t>Why signing a contract blind is so costly</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THE PROBLEM</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A Systemic Asymmetry</a:t>
            </a:r>
            <a:endParaRPr lang="en-US" sz="3600" dirty="0"/>
          </a:p>
        </p:txBody>
      </p:sp>
      <p:sp>
        <p:nvSpPr>
          <p:cNvPr id="4" name="Quote card"/>
          <p:cNvSpPr/>
          <p:nvPr/>
        </p:nvSpPr>
        <p:spPr>
          <a:xfrm>
            <a:off x="640080" y="1691640"/>
            <a:ext cx="4572000" cy="4343400"/>
          </a:xfrm>
          <a:prstGeom prst="roundRect">
            <a:avLst>
              <a:gd name="adj" fmla="val 2526"/>
            </a:avLst>
          </a:prstGeom>
          <a:solidFill>
            <a:schemeClr val="tx1"/>
          </a:solidFill>
          <a:ln/>
        </p:spPr>
      </p:sp>
      <p:sp>
        <p:nvSpPr>
          <p:cNvPr id="5" name="Balance scale badge"/>
          <p:cNvSpPr/>
          <p:nvPr/>
        </p:nvSpPr>
        <p:spPr>
          <a:xfrm>
            <a:off x="1005840" y="2011680"/>
            <a:ext cx="685800" cy="685800"/>
          </a:xfrm>
          <a:prstGeom prst="ellipse">
            <a:avLst/>
          </a:prstGeom>
          <a:solidFill>
            <a:schemeClr val="tx2"/>
          </a:solidFill>
          <a:ln/>
        </p:spPr>
      </p:sp>
      <p:pic>
        <p:nvPicPr>
          <p:cNvPr id="6" name="Image 0" descr="Balance scale">    </p:cNvPr>
          <p:cNvPicPr>
            <a:picLocks noChangeAspect="1"/>
          </p:cNvPicPr>
          <p:nvPr/>
        </p:nvPicPr>
        <p:blipFill>
          <a:blip r:embed="rId1"/>
          <a:stretch>
            <a:fillRect/>
          </a:stretch>
        </p:blipFill>
        <p:spPr>
          <a:xfrm>
            <a:off x="1191006" y="2196846"/>
            <a:ext cx="315468" cy="315468"/>
          </a:xfrm>
          <a:prstGeom prst="rect">
            <a:avLst/>
          </a:prstGeom>
        </p:spPr>
      </p:pic>
      <p:sp>
        <p:nvSpPr>
          <p:cNvPr id="7" name="Quote"/>
          <p:cNvSpPr txBox="1"/>
          <p:nvPr/>
        </p:nvSpPr>
        <p:spPr>
          <a:xfrm>
            <a:off x="1005840" y="2926080"/>
            <a:ext cx="3840480" cy="1463040"/>
          </a:xfrm>
          <a:prstGeom prst="rect">
            <a:avLst/>
          </a:prstGeom>
          <a:noFill/>
          <a:ln/>
        </p:spPr>
        <p:txBody>
          <a:bodyPr wrap="square" lIns="0" tIns="0" rIns="0" bIns="0" rtlCol="0" anchor="t"/>
          <a:lstStyle/>
          <a:p>
            <a:pPr indent="0" marL="0">
              <a:buNone/>
            </a:pPr>
            <a:r>
              <a:rPr lang="en-US" sz="2200" dirty="0">
                <a:solidFill>
                  <a:schemeClr val="bg1"/>
                </a:solidFill>
                <a:latin typeface="+mj-lt" pitchFamily="34" charset="0"/>
                <a:ea typeface="+mj-lt" pitchFamily="34" charset="-122"/>
                <a:cs typeface="+mj-lt" pitchFamily="34" charset="-120"/>
              </a:rPr>
              <a:t>The stronger party's lawyers understand every word. The weaker party understands almost none.</a:t>
            </a:r>
            <a:endParaRPr lang="en-US" sz="2200" dirty="0"/>
          </a:p>
        </p:txBody>
      </p:sp>
      <p:sp>
        <p:nvSpPr>
          <p:cNvPr id="8" name="Stat"/>
          <p:cNvSpPr txBox="1"/>
          <p:nvPr/>
        </p:nvSpPr>
        <p:spPr>
          <a:xfrm>
            <a:off x="1005840" y="4572000"/>
            <a:ext cx="3840480" cy="64008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$300–$800</a:t>
            </a:r>
            <a:endParaRPr lang="en-US" sz="4000" dirty="0"/>
          </a:p>
        </p:txBody>
      </p:sp>
      <p:sp>
        <p:nvSpPr>
          <p:cNvPr id="9" name="Stat caption"/>
          <p:cNvSpPr txBox="1"/>
          <p:nvPr/>
        </p:nvSpPr>
        <p:spPr>
          <a:xfrm>
            <a:off x="1005840" y="5212080"/>
            <a:ext cx="3840480" cy="365760"/>
          </a:xfrm>
          <a:prstGeom prst="rect">
            <a:avLst/>
          </a:prstGeom>
          <a:noFill/>
          <a:ln/>
        </p:spPr>
        <p:txBody>
          <a:bodyPr wrap="square" lIns="0" tIns="0" rIns="0" bIns="0" rtlCol="0" anchor="t"/>
          <a:lstStyle/>
          <a:p>
            <a:pPr indent="0" marL="0">
              <a:buNone/>
            </a:pPr>
            <a:r>
              <a:rPr lang="en-US" sz="1400" dirty="0">
                <a:solidFill>
                  <a:srgbClr val="A8A29E"/>
                </a:solidFill>
              </a:rPr>
              <a:t>typical hourly rate for legal review</a:t>
            </a:r>
            <a:endParaRPr lang="en-US" sz="1400" dirty="0"/>
          </a:p>
        </p:txBody>
      </p:sp>
      <p:sp>
        <p:nvSpPr>
          <p:cNvPr id="10" name="Problem card 1"/>
          <p:cNvSpPr/>
          <p:nvPr/>
        </p:nvSpPr>
        <p:spPr>
          <a:xfrm>
            <a:off x="5486400" y="1691640"/>
            <a:ext cx="6062472" cy="1325880"/>
          </a:xfrm>
          <a:prstGeom prst="roundRect">
            <a:avLst>
              <a:gd name="adj" fmla="val 8276"/>
            </a:avLst>
          </a:prstGeom>
          <a:solidFill>
            <a:schemeClr val="bg2"/>
          </a:solidFill>
          <a:ln/>
        </p:spPr>
      </p:sp>
      <p:sp>
        <p:nvSpPr>
          <p:cNvPr id="11" name="Unbalanced negotiations badge"/>
          <p:cNvSpPr/>
          <p:nvPr/>
        </p:nvSpPr>
        <p:spPr>
          <a:xfrm>
            <a:off x="5760720" y="2039112"/>
            <a:ext cx="640080" cy="640080"/>
          </a:xfrm>
          <a:prstGeom prst="ellipse">
            <a:avLst/>
          </a:prstGeom>
          <a:solidFill>
            <a:schemeClr val="tx1"/>
          </a:solidFill>
          <a:ln/>
        </p:spPr>
      </p:sp>
      <p:pic>
        <p:nvPicPr>
          <p:cNvPr id="12" name="Image 1" descr="Unbalanced negotiations">    </p:cNvPr>
          <p:cNvPicPr>
            <a:picLocks noChangeAspect="1"/>
          </p:cNvPicPr>
          <p:nvPr/>
        </p:nvPicPr>
        <p:blipFill>
          <a:blip r:embed="rId2"/>
          <a:stretch>
            <a:fillRect/>
          </a:stretch>
        </p:blipFill>
        <p:spPr>
          <a:xfrm>
            <a:off x="5933542" y="2211934"/>
            <a:ext cx="294437" cy="294437"/>
          </a:xfrm>
          <a:prstGeom prst="rect">
            <a:avLst/>
          </a:prstGeom>
        </p:spPr>
      </p:pic>
      <p:sp>
        <p:nvSpPr>
          <p:cNvPr id="13" name="Card title"/>
          <p:cNvSpPr txBox="1"/>
          <p:nvPr/>
        </p:nvSpPr>
        <p:spPr>
          <a:xfrm>
            <a:off x="6675120" y="1892808"/>
            <a:ext cx="4572000" cy="365760"/>
          </a:xfrm>
          <a:prstGeom prst="rect">
            <a:avLst/>
          </a:prstGeom>
          <a:noFill/>
          <a:ln/>
        </p:spPr>
        <p:txBody>
          <a:bodyPr wrap="square" lIns="0" tIns="0" rIns="0" bIns="0" rtlCol="0" anchor="t"/>
          <a:lstStyle/>
          <a:p>
            <a:pPr indent="0" marL="0">
              <a:buNone/>
            </a:pPr>
            <a:r>
              <a:rPr lang="en-US" sz="1800" b="1" dirty="0">
                <a:solidFill>
                  <a:schemeClr val="tx1"/>
                </a:solidFill>
              </a:rPr>
              <a:t>Unbalanced negotiations</a:t>
            </a:r>
            <a:endParaRPr lang="en-US" sz="1800" dirty="0"/>
          </a:p>
        </p:txBody>
      </p:sp>
      <p:sp>
        <p:nvSpPr>
          <p:cNvPr id="14" name="Card text"/>
          <p:cNvSpPr txBox="1"/>
          <p:nvPr/>
        </p:nvSpPr>
        <p:spPr>
          <a:xfrm>
            <a:off x="6675120" y="2295144"/>
            <a:ext cx="4663440" cy="640080"/>
          </a:xfrm>
          <a:prstGeom prst="rect">
            <a:avLst/>
          </a:prstGeom>
          <a:noFill/>
          <a:ln/>
        </p:spPr>
        <p:txBody>
          <a:bodyPr wrap="square" lIns="0" tIns="0" rIns="0" bIns="0" rtlCol="0" anchor="t"/>
          <a:lstStyle/>
          <a:p>
            <a:pPr indent="0" marL="0">
              <a:buNone/>
            </a:pPr>
            <a:r>
              <a:rPr lang="en-US" sz="1400" dirty="0">
                <a:solidFill>
                  <a:srgbClr val="57534E"/>
                </a:solidFill>
              </a:rPr>
              <a:t>One side brings counsel and institutional knowledge; the other brings hope and a pen.</a:t>
            </a:r>
            <a:endParaRPr lang="en-US" sz="1400" dirty="0"/>
          </a:p>
        </p:txBody>
      </p:sp>
      <p:sp>
        <p:nvSpPr>
          <p:cNvPr id="15" name="Problem card 2"/>
          <p:cNvSpPr/>
          <p:nvPr/>
        </p:nvSpPr>
        <p:spPr>
          <a:xfrm>
            <a:off x="5486400" y="3172968"/>
            <a:ext cx="6062472" cy="1325880"/>
          </a:xfrm>
          <a:prstGeom prst="roundRect">
            <a:avLst>
              <a:gd name="adj" fmla="val 8276"/>
            </a:avLst>
          </a:prstGeom>
          <a:solidFill>
            <a:schemeClr val="bg2"/>
          </a:solidFill>
          <a:ln/>
        </p:spPr>
      </p:sp>
      <p:sp>
        <p:nvSpPr>
          <p:cNvPr id="16" name="Hidden consequences badge"/>
          <p:cNvSpPr/>
          <p:nvPr/>
        </p:nvSpPr>
        <p:spPr>
          <a:xfrm>
            <a:off x="5760720" y="3520440"/>
            <a:ext cx="640080" cy="640080"/>
          </a:xfrm>
          <a:prstGeom prst="ellipse">
            <a:avLst/>
          </a:prstGeom>
          <a:solidFill>
            <a:schemeClr val="tx1"/>
          </a:solidFill>
          <a:ln/>
        </p:spPr>
      </p:sp>
      <p:pic>
        <p:nvPicPr>
          <p:cNvPr id="17" name="Image 2" descr="Hidden consequences">    </p:cNvPr>
          <p:cNvPicPr>
            <a:picLocks noChangeAspect="1"/>
          </p:cNvPicPr>
          <p:nvPr/>
        </p:nvPicPr>
        <p:blipFill>
          <a:blip r:embed="rId3"/>
          <a:stretch>
            <a:fillRect/>
          </a:stretch>
        </p:blipFill>
        <p:spPr>
          <a:xfrm>
            <a:off x="5933542" y="3693262"/>
            <a:ext cx="294437" cy="294437"/>
          </a:xfrm>
          <a:prstGeom prst="rect">
            <a:avLst/>
          </a:prstGeom>
        </p:spPr>
      </p:pic>
      <p:sp>
        <p:nvSpPr>
          <p:cNvPr id="18" name="Card title"/>
          <p:cNvSpPr txBox="1"/>
          <p:nvPr/>
        </p:nvSpPr>
        <p:spPr>
          <a:xfrm>
            <a:off x="6675120" y="3374136"/>
            <a:ext cx="4572000" cy="365760"/>
          </a:xfrm>
          <a:prstGeom prst="rect">
            <a:avLst/>
          </a:prstGeom>
          <a:noFill/>
          <a:ln/>
        </p:spPr>
        <p:txBody>
          <a:bodyPr wrap="square" lIns="0" tIns="0" rIns="0" bIns="0" rtlCol="0" anchor="t"/>
          <a:lstStyle/>
          <a:p>
            <a:pPr indent="0" marL="0">
              <a:buNone/>
            </a:pPr>
            <a:r>
              <a:rPr lang="en-US" sz="1800" b="1" dirty="0">
                <a:solidFill>
                  <a:schemeClr val="tx1"/>
                </a:solidFill>
              </a:rPr>
              <a:t>Hidden consequences</a:t>
            </a:r>
            <a:endParaRPr lang="en-US" sz="1800" dirty="0"/>
          </a:p>
        </p:txBody>
      </p:sp>
      <p:sp>
        <p:nvSpPr>
          <p:cNvPr id="19" name="Card text"/>
          <p:cNvSpPr txBox="1"/>
          <p:nvPr/>
        </p:nvSpPr>
        <p:spPr>
          <a:xfrm>
            <a:off x="6675120" y="3776472"/>
            <a:ext cx="4663440" cy="640080"/>
          </a:xfrm>
          <a:prstGeom prst="rect">
            <a:avLst/>
          </a:prstGeom>
          <a:noFill/>
          <a:ln/>
        </p:spPr>
        <p:txBody>
          <a:bodyPr wrap="square" lIns="0" tIns="0" rIns="0" bIns="0" rtlCol="0" anchor="t"/>
          <a:lstStyle/>
          <a:p>
            <a:pPr indent="0" marL="0">
              <a:buNone/>
            </a:pPr>
            <a:r>
              <a:rPr lang="en-US" sz="1400" dirty="0">
                <a:solidFill>
                  <a:srgbClr val="57534E"/>
                </a:solidFill>
              </a:rPr>
              <a:t>IP transfers, unlimited liability and auto-renewals sit buried in dense legalese.</a:t>
            </a:r>
            <a:endParaRPr lang="en-US" sz="1400" dirty="0"/>
          </a:p>
        </p:txBody>
      </p:sp>
      <p:sp>
        <p:nvSpPr>
          <p:cNvPr id="20" name="Problem card 3"/>
          <p:cNvSpPr/>
          <p:nvPr/>
        </p:nvSpPr>
        <p:spPr>
          <a:xfrm>
            <a:off x="5486400" y="4654296"/>
            <a:ext cx="6062472" cy="1325880"/>
          </a:xfrm>
          <a:prstGeom prst="roundRect">
            <a:avLst>
              <a:gd name="adj" fmla="val 8276"/>
            </a:avLst>
          </a:prstGeom>
          <a:solidFill>
            <a:schemeClr val="bg2"/>
          </a:solidFill>
          <a:ln/>
        </p:spPr>
      </p:sp>
      <p:sp>
        <p:nvSpPr>
          <p:cNvPr id="21" name="Counsel is out of reach badge"/>
          <p:cNvSpPr/>
          <p:nvPr/>
        </p:nvSpPr>
        <p:spPr>
          <a:xfrm>
            <a:off x="5760720" y="5001768"/>
            <a:ext cx="640080" cy="640080"/>
          </a:xfrm>
          <a:prstGeom prst="ellipse">
            <a:avLst/>
          </a:prstGeom>
          <a:solidFill>
            <a:schemeClr val="tx1"/>
          </a:solidFill>
          <a:ln/>
        </p:spPr>
      </p:sp>
      <p:pic>
        <p:nvPicPr>
          <p:cNvPr id="22" name="Image 3" descr="Counsel is out of reach">    </p:cNvPr>
          <p:cNvPicPr>
            <a:picLocks noChangeAspect="1"/>
          </p:cNvPicPr>
          <p:nvPr/>
        </p:nvPicPr>
        <p:blipFill>
          <a:blip r:embed="rId4"/>
          <a:stretch>
            <a:fillRect/>
          </a:stretch>
        </p:blipFill>
        <p:spPr>
          <a:xfrm>
            <a:off x="5933542" y="5174590"/>
            <a:ext cx="294437" cy="294437"/>
          </a:xfrm>
          <a:prstGeom prst="rect">
            <a:avLst/>
          </a:prstGeom>
        </p:spPr>
      </p:pic>
      <p:sp>
        <p:nvSpPr>
          <p:cNvPr id="23" name="Card title"/>
          <p:cNvSpPr txBox="1"/>
          <p:nvPr/>
        </p:nvSpPr>
        <p:spPr>
          <a:xfrm>
            <a:off x="6675120" y="4855464"/>
            <a:ext cx="4572000" cy="365760"/>
          </a:xfrm>
          <a:prstGeom prst="rect">
            <a:avLst/>
          </a:prstGeom>
          <a:noFill/>
          <a:ln/>
        </p:spPr>
        <p:txBody>
          <a:bodyPr wrap="square" lIns="0" tIns="0" rIns="0" bIns="0" rtlCol="0" anchor="t"/>
          <a:lstStyle/>
          <a:p>
            <a:pPr indent="0" marL="0">
              <a:buNone/>
            </a:pPr>
            <a:r>
              <a:rPr lang="en-US" sz="1800" b="1" dirty="0">
                <a:solidFill>
                  <a:schemeClr val="tx1"/>
                </a:solidFill>
              </a:rPr>
              <a:t>Counsel is out of reach</a:t>
            </a:r>
            <a:endParaRPr lang="en-US" sz="1800" dirty="0"/>
          </a:p>
        </p:txBody>
      </p:sp>
      <p:sp>
        <p:nvSpPr>
          <p:cNvPr id="24" name="Card text"/>
          <p:cNvSpPr txBox="1"/>
          <p:nvPr/>
        </p:nvSpPr>
        <p:spPr>
          <a:xfrm>
            <a:off x="6675120" y="5257800"/>
            <a:ext cx="4663440" cy="640080"/>
          </a:xfrm>
          <a:prstGeom prst="rect">
            <a:avLst/>
          </a:prstGeom>
          <a:noFill/>
          <a:ln/>
        </p:spPr>
        <p:txBody>
          <a:bodyPr wrap="square" lIns="0" tIns="0" rIns="0" bIns="0" rtlCol="0" anchor="t"/>
          <a:lstStyle/>
          <a:p>
            <a:pPr indent="0" marL="0">
              <a:buNone/>
            </a:pPr>
            <a:r>
              <a:rPr lang="en-US" sz="1400" dirty="0">
                <a:solidFill>
                  <a:srgbClr val="57534E"/>
                </a:solidFill>
              </a:rPr>
              <a:t>Reviewing every agreement with a lawyer is economically impossible for individuals and small teams.</a:t>
            </a:r>
            <a:endParaRPr lang="en-US" sz="14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OUR SOLUTION</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Democratizing Legal Comprehension</a:t>
            </a:r>
            <a:endParaRPr lang="en-US" sz="3600" dirty="0"/>
          </a:p>
        </p:txBody>
      </p:sp>
      <p:sp>
        <p:nvSpPr>
          <p:cNvPr id="4" name="Solution card 01"/>
          <p:cNvSpPr/>
          <p:nvPr/>
        </p:nvSpPr>
        <p:spPr>
          <a:xfrm>
            <a:off x="640080" y="1691640"/>
            <a:ext cx="3454298" cy="3337560"/>
          </a:xfrm>
          <a:prstGeom prst="roundRect">
            <a:avLst>
              <a:gd name="adj" fmla="val 3288"/>
            </a:avLst>
          </a:prstGeom>
          <a:solidFill>
            <a:schemeClr val="bg2"/>
          </a:solidFill>
          <a:ln/>
        </p:spPr>
      </p:sp>
      <p:sp>
        <p:nvSpPr>
          <p:cNvPr id="5" name="Risk Detection badge"/>
          <p:cNvSpPr/>
          <p:nvPr/>
        </p:nvSpPr>
        <p:spPr>
          <a:xfrm>
            <a:off x="960120" y="2011680"/>
            <a:ext cx="777240" cy="777240"/>
          </a:xfrm>
          <a:prstGeom prst="ellipse">
            <a:avLst/>
          </a:prstGeom>
          <a:solidFill>
            <a:schemeClr val="tx1"/>
          </a:solidFill>
          <a:ln/>
        </p:spPr>
      </p:sp>
      <p:pic>
        <p:nvPicPr>
          <p:cNvPr id="6" name="Image 0" descr="Risk Detection">    </p:cNvPr>
          <p:cNvPicPr>
            <a:picLocks noChangeAspect="1"/>
          </p:cNvPicPr>
          <p:nvPr/>
        </p:nvPicPr>
        <p:blipFill>
          <a:blip r:embed="rId1"/>
          <a:stretch>
            <a:fillRect/>
          </a:stretch>
        </p:blipFill>
        <p:spPr>
          <a:xfrm>
            <a:off x="1169975" y="2221535"/>
            <a:ext cx="357530" cy="357530"/>
          </a:xfrm>
          <a:prstGeom prst="rect">
            <a:avLst/>
          </a:prstGeom>
        </p:spPr>
      </p:pic>
      <p:sp>
        <p:nvSpPr>
          <p:cNvPr id="7" name="Index"/>
          <p:cNvSpPr txBox="1"/>
          <p:nvPr/>
        </p:nvSpPr>
        <p:spPr>
          <a:xfrm>
            <a:off x="2859938" y="2011680"/>
            <a:ext cx="914400" cy="731520"/>
          </a:xfrm>
          <a:prstGeom prst="rect">
            <a:avLst/>
          </a:prstGeom>
          <a:noFill/>
          <a:ln/>
        </p:spPr>
        <p:txBody>
          <a:bodyPr wrap="square" lIns="0" tIns="0" rIns="0" bIns="0" rtlCol="0" anchor="ctr"/>
          <a:lstStyle/>
          <a:p>
            <a:pPr algn="r" indent="0" marL="0">
              <a:buNone/>
            </a:pPr>
            <a:r>
              <a:rPr lang="en-US" sz="3200" b="1" dirty="0">
                <a:solidFill>
                  <a:srgbClr val="D6D3D1"/>
                </a:solidFill>
                <a:latin typeface="+mj-lt" pitchFamily="34" charset="0"/>
                <a:ea typeface="+mj-lt" pitchFamily="34" charset="-122"/>
                <a:cs typeface="+mj-lt" pitchFamily="34" charset="-120"/>
              </a:rPr>
              <a:t>01</a:t>
            </a:r>
            <a:endParaRPr lang="en-US" sz="3200" dirty="0"/>
          </a:p>
        </p:txBody>
      </p:sp>
      <p:sp>
        <p:nvSpPr>
          <p:cNvPr id="8" name="Card title"/>
          <p:cNvSpPr txBox="1"/>
          <p:nvPr/>
        </p:nvSpPr>
        <p:spPr>
          <a:xfrm>
            <a:off x="960120" y="3017520"/>
            <a:ext cx="2814218" cy="411480"/>
          </a:xfrm>
          <a:prstGeom prst="rect">
            <a:avLst/>
          </a:prstGeom>
          <a:noFill/>
          <a:ln/>
        </p:spPr>
        <p:txBody>
          <a:bodyPr wrap="square" lIns="0" tIns="0" rIns="0" bIns="0" rtlCol="0" anchor="t"/>
          <a:lstStyle/>
          <a:p>
            <a:pPr indent="0" marL="0">
              <a:buNone/>
            </a:pPr>
            <a:r>
              <a:rPr lang="en-US" sz="2200" b="1" dirty="0">
                <a:solidFill>
                  <a:schemeClr val="tx1"/>
                </a:solidFill>
              </a:rPr>
              <a:t>Risk Detection</a:t>
            </a:r>
            <a:endParaRPr lang="en-US" sz="2200" dirty="0"/>
          </a:p>
        </p:txBody>
      </p:sp>
      <p:sp>
        <p:nvSpPr>
          <p:cNvPr id="9" name="Card text"/>
          <p:cNvSpPr txBox="1"/>
          <p:nvPr/>
        </p:nvSpPr>
        <p:spPr>
          <a:xfrm>
            <a:off x="960120" y="3520440"/>
            <a:ext cx="2814218" cy="1371600"/>
          </a:xfrm>
          <a:prstGeom prst="rect">
            <a:avLst/>
          </a:prstGeom>
          <a:noFill/>
          <a:ln/>
        </p:spPr>
        <p:txBody>
          <a:bodyPr wrap="square" lIns="0" tIns="0" rIns="0" bIns="0" rtlCol="0" anchor="t"/>
          <a:lstStyle/>
          <a:p>
            <a:pPr indent="0" marL="0">
              <a:buNone/>
            </a:pPr>
            <a:r>
              <a:rPr lang="en-US" sz="1500" dirty="0">
                <a:solidFill>
                  <a:srgbClr val="57534E"/>
                </a:solidFill>
              </a:rPr>
              <a:t>Automated detection of IP transfers, unlimited liability, auto-renewals and hidden penalties.</a:t>
            </a:r>
            <a:endParaRPr lang="en-US" sz="1500" dirty="0"/>
          </a:p>
        </p:txBody>
      </p:sp>
      <p:sp>
        <p:nvSpPr>
          <p:cNvPr id="10" name="Solution card 02"/>
          <p:cNvSpPr/>
          <p:nvPr/>
        </p:nvSpPr>
        <p:spPr>
          <a:xfrm>
            <a:off x="4368698" y="1691640"/>
            <a:ext cx="3454298" cy="3337560"/>
          </a:xfrm>
          <a:prstGeom prst="roundRect">
            <a:avLst>
              <a:gd name="adj" fmla="val 3288"/>
            </a:avLst>
          </a:prstGeom>
          <a:solidFill>
            <a:schemeClr val="bg2"/>
          </a:solidFill>
          <a:ln/>
        </p:spPr>
      </p:sp>
      <p:sp>
        <p:nvSpPr>
          <p:cNvPr id="11" name="Plain Language badge"/>
          <p:cNvSpPr/>
          <p:nvPr/>
        </p:nvSpPr>
        <p:spPr>
          <a:xfrm>
            <a:off x="4688738" y="2011680"/>
            <a:ext cx="777240" cy="777240"/>
          </a:xfrm>
          <a:prstGeom prst="ellipse">
            <a:avLst/>
          </a:prstGeom>
          <a:solidFill>
            <a:schemeClr val="tx1"/>
          </a:solidFill>
          <a:ln/>
        </p:spPr>
      </p:sp>
      <p:pic>
        <p:nvPicPr>
          <p:cNvPr id="12" name="Image 1" descr="Plain Language">    </p:cNvPr>
          <p:cNvPicPr>
            <a:picLocks noChangeAspect="1"/>
          </p:cNvPicPr>
          <p:nvPr/>
        </p:nvPicPr>
        <p:blipFill>
          <a:blip r:embed="rId2"/>
          <a:stretch>
            <a:fillRect/>
          </a:stretch>
        </p:blipFill>
        <p:spPr>
          <a:xfrm>
            <a:off x="4898593" y="2221535"/>
            <a:ext cx="357530" cy="357530"/>
          </a:xfrm>
          <a:prstGeom prst="rect">
            <a:avLst/>
          </a:prstGeom>
        </p:spPr>
      </p:pic>
      <p:sp>
        <p:nvSpPr>
          <p:cNvPr id="13" name="Index"/>
          <p:cNvSpPr txBox="1"/>
          <p:nvPr/>
        </p:nvSpPr>
        <p:spPr>
          <a:xfrm>
            <a:off x="6588557" y="2011680"/>
            <a:ext cx="914400" cy="731520"/>
          </a:xfrm>
          <a:prstGeom prst="rect">
            <a:avLst/>
          </a:prstGeom>
          <a:noFill/>
          <a:ln/>
        </p:spPr>
        <p:txBody>
          <a:bodyPr wrap="square" lIns="0" tIns="0" rIns="0" bIns="0" rtlCol="0" anchor="ctr"/>
          <a:lstStyle/>
          <a:p>
            <a:pPr algn="r" indent="0" marL="0">
              <a:buNone/>
            </a:pPr>
            <a:r>
              <a:rPr lang="en-US" sz="3200" b="1" dirty="0">
                <a:solidFill>
                  <a:srgbClr val="D6D3D1"/>
                </a:solidFill>
                <a:latin typeface="+mj-lt" pitchFamily="34" charset="0"/>
                <a:ea typeface="+mj-lt" pitchFamily="34" charset="-122"/>
                <a:cs typeface="+mj-lt" pitchFamily="34" charset="-120"/>
              </a:rPr>
              <a:t>02</a:t>
            </a:r>
            <a:endParaRPr lang="en-US" sz="3200" dirty="0"/>
          </a:p>
        </p:txBody>
      </p:sp>
      <p:sp>
        <p:nvSpPr>
          <p:cNvPr id="14" name="Card title"/>
          <p:cNvSpPr txBox="1"/>
          <p:nvPr/>
        </p:nvSpPr>
        <p:spPr>
          <a:xfrm>
            <a:off x="4688738" y="3017520"/>
            <a:ext cx="2814218" cy="411480"/>
          </a:xfrm>
          <a:prstGeom prst="rect">
            <a:avLst/>
          </a:prstGeom>
          <a:noFill/>
          <a:ln/>
        </p:spPr>
        <p:txBody>
          <a:bodyPr wrap="square" lIns="0" tIns="0" rIns="0" bIns="0" rtlCol="0" anchor="t"/>
          <a:lstStyle/>
          <a:p>
            <a:pPr indent="0" marL="0">
              <a:buNone/>
            </a:pPr>
            <a:r>
              <a:rPr lang="en-US" sz="2200" b="1" dirty="0">
                <a:solidFill>
                  <a:schemeClr val="tx1"/>
                </a:solidFill>
              </a:rPr>
              <a:t>Plain Language</a:t>
            </a:r>
            <a:endParaRPr lang="en-US" sz="2200" dirty="0"/>
          </a:p>
        </p:txBody>
      </p:sp>
      <p:sp>
        <p:nvSpPr>
          <p:cNvPr id="15" name="Card text"/>
          <p:cNvSpPr txBox="1"/>
          <p:nvPr/>
        </p:nvSpPr>
        <p:spPr>
          <a:xfrm>
            <a:off x="4688738" y="3520440"/>
            <a:ext cx="2814218" cy="1371600"/>
          </a:xfrm>
          <a:prstGeom prst="rect">
            <a:avLst/>
          </a:prstGeom>
          <a:noFill/>
          <a:ln/>
        </p:spPr>
        <p:txBody>
          <a:bodyPr wrap="square" lIns="0" tIns="0" rIns="0" bIns="0" rtlCol="0" anchor="t"/>
          <a:lstStyle/>
          <a:p>
            <a:pPr indent="0" marL="0">
              <a:buNone/>
            </a:pPr>
            <a:r>
              <a:rPr lang="en-US" sz="1500" dirty="0">
                <a:solidFill>
                  <a:srgbClr val="57534E"/>
                </a:solidFill>
              </a:rPr>
              <a:t>Legal jargon decoded into clear explanations of what you are actually agreeing to.</a:t>
            </a:r>
            <a:endParaRPr lang="en-US" sz="1500" dirty="0"/>
          </a:p>
        </p:txBody>
      </p:sp>
      <p:sp>
        <p:nvSpPr>
          <p:cNvPr id="16" name="Solution card 03"/>
          <p:cNvSpPr/>
          <p:nvPr/>
        </p:nvSpPr>
        <p:spPr>
          <a:xfrm>
            <a:off x="8097317" y="1691640"/>
            <a:ext cx="3454298" cy="3337560"/>
          </a:xfrm>
          <a:prstGeom prst="roundRect">
            <a:avLst>
              <a:gd name="adj" fmla="val 3288"/>
            </a:avLst>
          </a:prstGeom>
          <a:solidFill>
            <a:schemeClr val="bg2"/>
          </a:solidFill>
          <a:ln/>
        </p:spPr>
      </p:sp>
      <p:sp>
        <p:nvSpPr>
          <p:cNvPr id="17" name="Strategic Guidance badge"/>
          <p:cNvSpPr/>
          <p:nvPr/>
        </p:nvSpPr>
        <p:spPr>
          <a:xfrm>
            <a:off x="8417357" y="2011680"/>
            <a:ext cx="777240" cy="777240"/>
          </a:xfrm>
          <a:prstGeom prst="ellipse">
            <a:avLst/>
          </a:prstGeom>
          <a:solidFill>
            <a:schemeClr val="tx1"/>
          </a:solidFill>
          <a:ln/>
        </p:spPr>
      </p:sp>
      <p:pic>
        <p:nvPicPr>
          <p:cNvPr id="18" name="Image 2" descr="Strategic Guidance">    </p:cNvPr>
          <p:cNvPicPr>
            <a:picLocks noChangeAspect="1"/>
          </p:cNvPicPr>
          <p:nvPr/>
        </p:nvPicPr>
        <p:blipFill>
          <a:blip r:embed="rId3"/>
          <a:stretch>
            <a:fillRect/>
          </a:stretch>
        </p:blipFill>
        <p:spPr>
          <a:xfrm>
            <a:off x="8627212" y="2221535"/>
            <a:ext cx="357530" cy="357530"/>
          </a:xfrm>
          <a:prstGeom prst="rect">
            <a:avLst/>
          </a:prstGeom>
        </p:spPr>
      </p:pic>
      <p:sp>
        <p:nvSpPr>
          <p:cNvPr id="19" name="Index"/>
          <p:cNvSpPr txBox="1"/>
          <p:nvPr/>
        </p:nvSpPr>
        <p:spPr>
          <a:xfrm>
            <a:off x="10317175" y="2011680"/>
            <a:ext cx="914400" cy="731520"/>
          </a:xfrm>
          <a:prstGeom prst="rect">
            <a:avLst/>
          </a:prstGeom>
          <a:noFill/>
          <a:ln/>
        </p:spPr>
        <p:txBody>
          <a:bodyPr wrap="square" lIns="0" tIns="0" rIns="0" bIns="0" rtlCol="0" anchor="ctr"/>
          <a:lstStyle/>
          <a:p>
            <a:pPr algn="r" indent="0" marL="0">
              <a:buNone/>
            </a:pPr>
            <a:r>
              <a:rPr lang="en-US" sz="3200" b="1" dirty="0">
                <a:solidFill>
                  <a:srgbClr val="D6D3D1"/>
                </a:solidFill>
                <a:latin typeface="+mj-lt" pitchFamily="34" charset="0"/>
                <a:ea typeface="+mj-lt" pitchFamily="34" charset="-122"/>
                <a:cs typeface="+mj-lt" pitchFamily="34" charset="-120"/>
              </a:rPr>
              <a:t>03</a:t>
            </a:r>
            <a:endParaRPr lang="en-US" sz="3200" dirty="0"/>
          </a:p>
        </p:txBody>
      </p:sp>
      <p:sp>
        <p:nvSpPr>
          <p:cNvPr id="20" name="Card title"/>
          <p:cNvSpPr txBox="1"/>
          <p:nvPr/>
        </p:nvSpPr>
        <p:spPr>
          <a:xfrm>
            <a:off x="8417357" y="3017520"/>
            <a:ext cx="2814218" cy="411480"/>
          </a:xfrm>
          <a:prstGeom prst="rect">
            <a:avLst/>
          </a:prstGeom>
          <a:noFill/>
          <a:ln/>
        </p:spPr>
        <p:txBody>
          <a:bodyPr wrap="square" lIns="0" tIns="0" rIns="0" bIns="0" rtlCol="0" anchor="t"/>
          <a:lstStyle/>
          <a:p>
            <a:pPr indent="0" marL="0">
              <a:buNone/>
            </a:pPr>
            <a:r>
              <a:rPr lang="en-US" sz="2200" b="1" dirty="0">
                <a:solidFill>
                  <a:schemeClr val="tx1"/>
                </a:solidFill>
              </a:rPr>
              <a:t>Strategic Guidance</a:t>
            </a:r>
            <a:endParaRPr lang="en-US" sz="2200" dirty="0"/>
          </a:p>
        </p:txBody>
      </p:sp>
      <p:sp>
        <p:nvSpPr>
          <p:cNvPr id="21" name="Card text"/>
          <p:cNvSpPr txBox="1"/>
          <p:nvPr/>
        </p:nvSpPr>
        <p:spPr>
          <a:xfrm>
            <a:off x="8417357" y="3520440"/>
            <a:ext cx="2814218" cy="1371600"/>
          </a:xfrm>
          <a:prstGeom prst="rect">
            <a:avLst/>
          </a:prstGeom>
          <a:noFill/>
          <a:ln/>
        </p:spPr>
        <p:txBody>
          <a:bodyPr wrap="square" lIns="0" tIns="0" rIns="0" bIns="0" rtlCol="0" anchor="t"/>
          <a:lstStyle/>
          <a:p>
            <a:pPr indent="0" marL="0">
              <a:buNone/>
            </a:pPr>
            <a:r>
              <a:rPr lang="en-US" sz="1500" dirty="0">
                <a:solidFill>
                  <a:srgbClr val="57534E"/>
                </a:solidFill>
              </a:rPr>
              <a:t>Specific negotiation points, counter-clauses and protective measures to level the field.</a:t>
            </a:r>
            <a:endParaRPr lang="en-US" sz="1500" dirty="0"/>
          </a:p>
        </p:txBody>
      </p:sp>
      <p:sp>
        <p:nvSpPr>
          <p:cNvPr id="22" name="Promise strip"/>
          <p:cNvSpPr/>
          <p:nvPr/>
        </p:nvSpPr>
        <p:spPr>
          <a:xfrm>
            <a:off x="640080" y="5257800"/>
            <a:ext cx="10911535" cy="777240"/>
          </a:xfrm>
          <a:prstGeom prst="roundRect">
            <a:avLst>
              <a:gd name="adj" fmla="val 14118"/>
            </a:avLst>
          </a:prstGeom>
          <a:solidFill>
            <a:schemeClr val="tx1"/>
          </a:solidFill>
          <a:ln/>
        </p:spPr>
      </p:sp>
      <p:sp>
        <p:nvSpPr>
          <p:cNvPr id="23" name="Speed badge"/>
          <p:cNvSpPr/>
          <p:nvPr/>
        </p:nvSpPr>
        <p:spPr>
          <a:xfrm>
            <a:off x="960120" y="5394960"/>
            <a:ext cx="502920" cy="502920"/>
          </a:xfrm>
          <a:prstGeom prst="ellipse">
            <a:avLst/>
          </a:prstGeom>
          <a:solidFill>
            <a:schemeClr val="tx2"/>
          </a:solidFill>
          <a:ln/>
        </p:spPr>
      </p:sp>
      <p:pic>
        <p:nvPicPr>
          <p:cNvPr id="24" name="Image 3" descr="Speed">    </p:cNvPr>
          <p:cNvPicPr>
            <a:picLocks noChangeAspect="1"/>
          </p:cNvPicPr>
          <p:nvPr/>
        </p:nvPicPr>
        <p:blipFill>
          <a:blip r:embed="rId4"/>
          <a:stretch>
            <a:fillRect/>
          </a:stretch>
        </p:blipFill>
        <p:spPr>
          <a:xfrm>
            <a:off x="1095908" y="5530748"/>
            <a:ext cx="231343" cy="231343"/>
          </a:xfrm>
          <a:prstGeom prst="rect">
            <a:avLst/>
          </a:prstGeom>
        </p:spPr>
      </p:pic>
      <p:sp>
        <p:nvSpPr>
          <p:cNvPr id="25" name="Promise text"/>
          <p:cNvSpPr txBox="1"/>
          <p:nvPr/>
        </p:nvSpPr>
        <p:spPr>
          <a:xfrm>
            <a:off x="1737360" y="5257800"/>
            <a:ext cx="9539935" cy="777240"/>
          </a:xfrm>
          <a:prstGeom prst="rect">
            <a:avLst/>
          </a:prstGeom>
          <a:noFill/>
          <a:ln/>
        </p:spPr>
        <p:txBody>
          <a:bodyPr wrap="square" lIns="0" tIns="0" rIns="0" bIns="0" rtlCol="0" anchor="ctr"/>
          <a:lstStyle/>
          <a:p>
            <a:pPr indent="0" marL="0">
              <a:buNone/>
            </a:pPr>
            <a:r>
              <a:rPr lang="en-US" sz="1800" dirty="0">
                <a:solidFill>
                  <a:schemeClr val="bg1"/>
                </a:solidFill>
              </a:rPr>
              <a:t>Free core analysis  ·  No account required  ·  Results stream in as they are generated</a:t>
            </a:r>
            <a:endParaRPr lang="en-US" sz="18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SCOPE</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Objectives &amp; Who It Serves</a:t>
            </a:r>
            <a:endParaRPr lang="en-US" sz="3600" dirty="0"/>
          </a:p>
        </p:txBody>
      </p:sp>
      <p:sp>
        <p:nvSpPr>
          <p:cNvPr id="4" name="Objective 1"/>
          <p:cNvSpPr/>
          <p:nvPr/>
        </p:nvSpPr>
        <p:spPr>
          <a:xfrm>
            <a:off x="640080" y="1691640"/>
            <a:ext cx="6400800" cy="749808"/>
          </a:xfrm>
          <a:prstGeom prst="roundRect">
            <a:avLst>
              <a:gd name="adj" fmla="val 14634"/>
            </a:avLst>
          </a:prstGeom>
          <a:solidFill>
            <a:schemeClr val="bg2"/>
          </a:solidFill>
          <a:ln/>
        </p:spPr>
      </p:sp>
      <p:sp>
        <p:nvSpPr>
          <p:cNvPr id="5" name="Step 1"/>
          <p:cNvSpPr/>
          <p:nvPr/>
        </p:nvSpPr>
        <p:spPr>
          <a:xfrm>
            <a:off x="841248" y="1837944"/>
            <a:ext cx="457200" cy="457200"/>
          </a:xfrm>
          <a:prstGeom prst="ellipse">
            <a:avLst/>
          </a:prstGeom>
          <a:solidFill>
            <a:schemeClr val="accent1"/>
          </a:solidFill>
          <a:ln/>
        </p:spPr>
      </p:sp>
      <p:sp>
        <p:nvSpPr>
          <p:cNvPr id="6" name="Step number 1"/>
          <p:cNvSpPr txBox="1"/>
          <p:nvPr/>
        </p:nvSpPr>
        <p:spPr>
          <a:xfrm>
            <a:off x="841248" y="183794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Objective text"/>
          <p:cNvSpPr txBox="1"/>
          <p:nvPr/>
        </p:nvSpPr>
        <p:spPr>
          <a:xfrm>
            <a:off x="1554480" y="1691640"/>
            <a:ext cx="5303520" cy="749808"/>
          </a:xfrm>
          <a:prstGeom prst="rect">
            <a:avLst/>
          </a:prstGeom>
          <a:noFill/>
          <a:ln/>
        </p:spPr>
        <p:txBody>
          <a:bodyPr wrap="square" lIns="0" tIns="0" rIns="0" bIns="0" rtlCol="0" anchor="ctr"/>
          <a:lstStyle/>
          <a:p>
            <a:pPr indent="0" marL="0">
              <a:buNone/>
            </a:pPr>
            <a:r>
              <a:rPr lang="en-US" sz="1500" dirty="0">
                <a:solidFill>
                  <a:schemeClr val="tx1"/>
                </a:solidFill>
              </a:rPr>
              <a:t>Detect hidden risks automatically across employment, lease, SaaS, NDA and freelance contracts</a:t>
            </a:r>
            <a:endParaRPr lang="en-US" sz="1500" dirty="0"/>
          </a:p>
        </p:txBody>
      </p:sp>
      <p:sp>
        <p:nvSpPr>
          <p:cNvPr id="8" name="Objective 2"/>
          <p:cNvSpPr/>
          <p:nvPr/>
        </p:nvSpPr>
        <p:spPr>
          <a:xfrm>
            <a:off x="640080" y="2560320"/>
            <a:ext cx="6400800" cy="749808"/>
          </a:xfrm>
          <a:prstGeom prst="roundRect">
            <a:avLst>
              <a:gd name="adj" fmla="val 14634"/>
            </a:avLst>
          </a:prstGeom>
          <a:solidFill>
            <a:schemeClr val="bg2"/>
          </a:solidFill>
          <a:ln/>
        </p:spPr>
      </p:sp>
      <p:sp>
        <p:nvSpPr>
          <p:cNvPr id="9" name="Step 2"/>
          <p:cNvSpPr/>
          <p:nvPr/>
        </p:nvSpPr>
        <p:spPr>
          <a:xfrm>
            <a:off x="841248" y="2706624"/>
            <a:ext cx="457200" cy="457200"/>
          </a:xfrm>
          <a:prstGeom prst="ellipse">
            <a:avLst/>
          </a:prstGeom>
          <a:solidFill>
            <a:schemeClr val="accent1"/>
          </a:solidFill>
          <a:ln/>
        </p:spPr>
      </p:sp>
      <p:sp>
        <p:nvSpPr>
          <p:cNvPr id="10" name="Step number 2"/>
          <p:cNvSpPr txBox="1"/>
          <p:nvPr/>
        </p:nvSpPr>
        <p:spPr>
          <a:xfrm>
            <a:off x="841248" y="270662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Objective text"/>
          <p:cNvSpPr txBox="1"/>
          <p:nvPr/>
        </p:nvSpPr>
        <p:spPr>
          <a:xfrm>
            <a:off x="1554480" y="2560320"/>
            <a:ext cx="5303520" cy="749808"/>
          </a:xfrm>
          <a:prstGeom prst="rect">
            <a:avLst/>
          </a:prstGeom>
          <a:noFill/>
          <a:ln/>
        </p:spPr>
        <p:txBody>
          <a:bodyPr wrap="square" lIns="0" tIns="0" rIns="0" bIns="0" rtlCol="0" anchor="ctr"/>
          <a:lstStyle/>
          <a:p>
            <a:pPr indent="0" marL="0">
              <a:buNone/>
            </a:pPr>
            <a:r>
              <a:rPr lang="en-US" sz="1500" dirty="0">
                <a:solidFill>
                  <a:schemeClr val="tx1"/>
                </a:solidFill>
              </a:rPr>
              <a:t>Explain every clause in plain English and estimate worst-case financial exposure</a:t>
            </a:r>
            <a:endParaRPr lang="en-US" sz="1500" dirty="0"/>
          </a:p>
        </p:txBody>
      </p:sp>
      <p:sp>
        <p:nvSpPr>
          <p:cNvPr id="12" name="Objective 3"/>
          <p:cNvSpPr/>
          <p:nvPr/>
        </p:nvSpPr>
        <p:spPr>
          <a:xfrm>
            <a:off x="640080" y="3429000"/>
            <a:ext cx="6400800" cy="749808"/>
          </a:xfrm>
          <a:prstGeom prst="roundRect">
            <a:avLst>
              <a:gd name="adj" fmla="val 14634"/>
            </a:avLst>
          </a:prstGeom>
          <a:solidFill>
            <a:schemeClr val="bg2"/>
          </a:solidFill>
          <a:ln/>
        </p:spPr>
      </p:sp>
      <p:sp>
        <p:nvSpPr>
          <p:cNvPr id="13" name="Step 3"/>
          <p:cNvSpPr/>
          <p:nvPr/>
        </p:nvSpPr>
        <p:spPr>
          <a:xfrm>
            <a:off x="841248" y="3575304"/>
            <a:ext cx="457200" cy="457200"/>
          </a:xfrm>
          <a:prstGeom prst="ellipse">
            <a:avLst/>
          </a:prstGeom>
          <a:solidFill>
            <a:schemeClr val="accent1"/>
          </a:solidFill>
          <a:ln/>
        </p:spPr>
      </p:sp>
      <p:sp>
        <p:nvSpPr>
          <p:cNvPr id="14" name="Step number 3"/>
          <p:cNvSpPr txBox="1"/>
          <p:nvPr/>
        </p:nvSpPr>
        <p:spPr>
          <a:xfrm>
            <a:off x="841248" y="357530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5" name="Objective text"/>
          <p:cNvSpPr txBox="1"/>
          <p:nvPr/>
        </p:nvSpPr>
        <p:spPr>
          <a:xfrm>
            <a:off x="1554480" y="3429000"/>
            <a:ext cx="5303520" cy="749808"/>
          </a:xfrm>
          <a:prstGeom prst="rect">
            <a:avLst/>
          </a:prstGeom>
          <a:noFill/>
          <a:ln/>
        </p:spPr>
        <p:txBody>
          <a:bodyPr wrap="square" lIns="0" tIns="0" rIns="0" bIns="0" rtlCol="0" anchor="ctr"/>
          <a:lstStyle/>
          <a:p>
            <a:pPr indent="0" marL="0">
              <a:buNone/>
            </a:pPr>
            <a:r>
              <a:rPr lang="en-US" sz="1500" dirty="0">
                <a:solidFill>
                  <a:schemeClr val="tx1"/>
                </a:solidFill>
              </a:rPr>
              <a:t>Benchmark clauses against real SEC-filed precedent with a deterministic ML engine</a:t>
            </a:r>
            <a:endParaRPr lang="en-US" sz="1500" dirty="0"/>
          </a:p>
        </p:txBody>
      </p:sp>
      <p:sp>
        <p:nvSpPr>
          <p:cNvPr id="16" name="Objective 4"/>
          <p:cNvSpPr/>
          <p:nvPr/>
        </p:nvSpPr>
        <p:spPr>
          <a:xfrm>
            <a:off x="640080" y="4297680"/>
            <a:ext cx="6400800" cy="749808"/>
          </a:xfrm>
          <a:prstGeom prst="roundRect">
            <a:avLst>
              <a:gd name="adj" fmla="val 14634"/>
            </a:avLst>
          </a:prstGeom>
          <a:solidFill>
            <a:schemeClr val="bg2"/>
          </a:solidFill>
          <a:ln/>
        </p:spPr>
      </p:sp>
      <p:sp>
        <p:nvSpPr>
          <p:cNvPr id="17" name="Step 4"/>
          <p:cNvSpPr/>
          <p:nvPr/>
        </p:nvSpPr>
        <p:spPr>
          <a:xfrm>
            <a:off x="841248" y="4443984"/>
            <a:ext cx="457200" cy="457200"/>
          </a:xfrm>
          <a:prstGeom prst="ellipse">
            <a:avLst/>
          </a:prstGeom>
          <a:solidFill>
            <a:schemeClr val="accent1"/>
          </a:solidFill>
          <a:ln/>
        </p:spPr>
      </p:sp>
      <p:sp>
        <p:nvSpPr>
          <p:cNvPr id="18" name="Step number 4"/>
          <p:cNvSpPr txBox="1"/>
          <p:nvPr/>
        </p:nvSpPr>
        <p:spPr>
          <a:xfrm>
            <a:off x="841248" y="444398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9" name="Objective text"/>
          <p:cNvSpPr txBox="1"/>
          <p:nvPr/>
        </p:nvSpPr>
        <p:spPr>
          <a:xfrm>
            <a:off x="1554480" y="4297680"/>
            <a:ext cx="5303520" cy="749808"/>
          </a:xfrm>
          <a:prstGeom prst="rect">
            <a:avLst/>
          </a:prstGeom>
          <a:noFill/>
          <a:ln/>
        </p:spPr>
        <p:txBody>
          <a:bodyPr wrap="square" lIns="0" tIns="0" rIns="0" bIns="0" rtlCol="0" anchor="ctr"/>
          <a:lstStyle/>
          <a:p>
            <a:pPr indent="0" marL="0">
              <a:buNone/>
            </a:pPr>
            <a:r>
              <a:rPr lang="en-US" sz="1500" dirty="0">
                <a:solidFill>
                  <a:schemeClr val="tx1"/>
                </a:solidFill>
              </a:rPr>
              <a:t>Generate counter-clauses, redlines and negotiation playbooks users can act on</a:t>
            </a:r>
            <a:endParaRPr lang="en-US" sz="1500" dirty="0"/>
          </a:p>
        </p:txBody>
      </p:sp>
      <p:sp>
        <p:nvSpPr>
          <p:cNvPr id="20" name="Objective 5"/>
          <p:cNvSpPr/>
          <p:nvPr/>
        </p:nvSpPr>
        <p:spPr>
          <a:xfrm>
            <a:off x="640080" y="5166360"/>
            <a:ext cx="6400800" cy="749808"/>
          </a:xfrm>
          <a:prstGeom prst="roundRect">
            <a:avLst>
              <a:gd name="adj" fmla="val 14634"/>
            </a:avLst>
          </a:prstGeom>
          <a:solidFill>
            <a:schemeClr val="bg2"/>
          </a:solidFill>
          <a:ln/>
        </p:spPr>
      </p:sp>
      <p:sp>
        <p:nvSpPr>
          <p:cNvPr id="21" name="Step 5"/>
          <p:cNvSpPr/>
          <p:nvPr/>
        </p:nvSpPr>
        <p:spPr>
          <a:xfrm>
            <a:off x="841248" y="5312664"/>
            <a:ext cx="457200" cy="457200"/>
          </a:xfrm>
          <a:prstGeom prst="ellipse">
            <a:avLst/>
          </a:prstGeom>
          <a:solidFill>
            <a:schemeClr val="accent1"/>
          </a:solidFill>
          <a:ln/>
        </p:spPr>
      </p:sp>
      <p:sp>
        <p:nvSpPr>
          <p:cNvPr id="22" name="Step number 5"/>
          <p:cNvSpPr txBox="1"/>
          <p:nvPr/>
        </p:nvSpPr>
        <p:spPr>
          <a:xfrm>
            <a:off x="841248" y="531266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3" name="Objective text"/>
          <p:cNvSpPr txBox="1"/>
          <p:nvPr/>
        </p:nvSpPr>
        <p:spPr>
          <a:xfrm>
            <a:off x="1554480" y="5166360"/>
            <a:ext cx="5303520" cy="749808"/>
          </a:xfrm>
          <a:prstGeom prst="rect">
            <a:avLst/>
          </a:prstGeom>
          <a:noFill/>
          <a:ln/>
        </p:spPr>
        <p:txBody>
          <a:bodyPr wrap="square" lIns="0" tIns="0" rIns="0" bIns="0" rtlCol="0" anchor="ctr"/>
          <a:lstStyle/>
          <a:p>
            <a:pPr indent="0" marL="0">
              <a:buNone/>
            </a:pPr>
            <a:r>
              <a:rPr lang="en-US" sz="1500" dirty="0">
                <a:solidFill>
                  <a:schemeClr val="tx1"/>
                </a:solidFill>
              </a:rPr>
              <a:t>Keep contracts private: transient processing and client-side document tools</a:t>
            </a:r>
            <a:endParaRPr lang="en-US" sz="1500" dirty="0"/>
          </a:p>
        </p:txBody>
      </p:sp>
      <p:sp>
        <p:nvSpPr>
          <p:cNvPr id="24" name="Audience label"/>
          <p:cNvSpPr txBox="1"/>
          <p:nvPr/>
        </p:nvSpPr>
        <p:spPr>
          <a:xfrm>
            <a:off x="7498080" y="1691640"/>
            <a:ext cx="4023360" cy="274320"/>
          </a:xfrm>
          <a:prstGeom prst="rect">
            <a:avLst/>
          </a:prstGeom>
          <a:noFill/>
          <a:ln/>
        </p:spPr>
        <p:txBody>
          <a:bodyPr wrap="square" lIns="0" tIns="0" rIns="0" bIns="0" rtlCol="0" anchor="t"/>
          <a:lstStyle/>
          <a:p>
            <a:pPr indent="0" marL="0">
              <a:buNone/>
            </a:pPr>
            <a:r>
              <a:rPr lang="en-US" sz="1200" b="1" spc="300" kern="0" dirty="0">
                <a:solidFill>
                  <a:srgbClr val="8A6414"/>
                </a:solidFill>
              </a:rPr>
              <a:t>WHO IT SERVES</a:t>
            </a:r>
            <a:endParaRPr lang="en-US" sz="1200" dirty="0"/>
          </a:p>
        </p:txBody>
      </p:sp>
      <p:sp>
        <p:nvSpPr>
          <p:cNvPr id="25" name="Freelancers &amp; consultants badge"/>
          <p:cNvSpPr/>
          <p:nvPr/>
        </p:nvSpPr>
        <p:spPr>
          <a:xfrm>
            <a:off x="7498080" y="2212848"/>
            <a:ext cx="640080" cy="640080"/>
          </a:xfrm>
          <a:prstGeom prst="ellipse">
            <a:avLst/>
          </a:prstGeom>
          <a:solidFill>
            <a:schemeClr val="tx1"/>
          </a:solidFill>
          <a:ln/>
        </p:spPr>
      </p:sp>
      <p:pic>
        <p:nvPicPr>
          <p:cNvPr id="26" name="Image 0" descr="Freelancers &amp; consultants">    </p:cNvPr>
          <p:cNvPicPr>
            <a:picLocks noChangeAspect="1"/>
          </p:cNvPicPr>
          <p:nvPr/>
        </p:nvPicPr>
        <p:blipFill>
          <a:blip r:embed="rId1"/>
          <a:stretch>
            <a:fillRect/>
          </a:stretch>
        </p:blipFill>
        <p:spPr>
          <a:xfrm>
            <a:off x="7670902" y="2385670"/>
            <a:ext cx="294437" cy="294437"/>
          </a:xfrm>
          <a:prstGeom prst="rect">
            <a:avLst/>
          </a:prstGeom>
        </p:spPr>
      </p:pic>
      <p:sp>
        <p:nvSpPr>
          <p:cNvPr id="27" name="Audience title"/>
          <p:cNvSpPr txBox="1"/>
          <p:nvPr/>
        </p:nvSpPr>
        <p:spPr>
          <a:xfrm>
            <a:off x="8321040" y="2212848"/>
            <a:ext cx="3200400" cy="320040"/>
          </a:xfrm>
          <a:prstGeom prst="rect">
            <a:avLst/>
          </a:prstGeom>
          <a:noFill/>
          <a:ln/>
        </p:spPr>
        <p:txBody>
          <a:bodyPr wrap="square" lIns="0" tIns="0" rIns="0" bIns="0" rtlCol="0" anchor="t"/>
          <a:lstStyle/>
          <a:p>
            <a:pPr indent="0" marL="0">
              <a:buNone/>
            </a:pPr>
            <a:r>
              <a:rPr lang="en-US" sz="1700" b="1" dirty="0">
                <a:solidFill>
                  <a:schemeClr val="tx1"/>
                </a:solidFill>
              </a:rPr>
              <a:t>Freelancers &amp; consultants</a:t>
            </a:r>
            <a:endParaRPr lang="en-US" sz="1700" dirty="0"/>
          </a:p>
        </p:txBody>
      </p:sp>
      <p:sp>
        <p:nvSpPr>
          <p:cNvPr id="28" name="Audience text"/>
          <p:cNvSpPr txBox="1"/>
          <p:nvPr/>
        </p:nvSpPr>
        <p:spPr>
          <a:xfrm>
            <a:off x="8321040" y="2560320"/>
            <a:ext cx="3200400" cy="320040"/>
          </a:xfrm>
          <a:prstGeom prst="rect">
            <a:avLst/>
          </a:prstGeom>
          <a:noFill/>
          <a:ln/>
        </p:spPr>
        <p:txBody>
          <a:bodyPr wrap="square" lIns="0" tIns="0" rIns="0" bIns="0" rtlCol="0" anchor="t"/>
          <a:lstStyle/>
          <a:p>
            <a:pPr indent="0" marL="0">
              <a:buNone/>
            </a:pPr>
            <a:r>
              <a:rPr lang="en-US" sz="1400" dirty="0">
                <a:solidFill>
                  <a:srgbClr val="57534E"/>
                </a:solidFill>
              </a:rPr>
              <a:t>Client agreements &amp; SOWs</a:t>
            </a:r>
            <a:endParaRPr lang="en-US" sz="1400" dirty="0"/>
          </a:p>
        </p:txBody>
      </p:sp>
      <p:sp>
        <p:nvSpPr>
          <p:cNvPr id="29" name="Startup founders badge"/>
          <p:cNvSpPr/>
          <p:nvPr/>
        </p:nvSpPr>
        <p:spPr>
          <a:xfrm>
            <a:off x="7498080" y="3236976"/>
            <a:ext cx="640080" cy="640080"/>
          </a:xfrm>
          <a:prstGeom prst="ellipse">
            <a:avLst/>
          </a:prstGeom>
          <a:solidFill>
            <a:schemeClr val="tx1"/>
          </a:solidFill>
          <a:ln/>
        </p:spPr>
      </p:sp>
      <p:pic>
        <p:nvPicPr>
          <p:cNvPr id="30" name="Image 1" descr="Startup founders">    </p:cNvPr>
          <p:cNvPicPr>
            <a:picLocks noChangeAspect="1"/>
          </p:cNvPicPr>
          <p:nvPr/>
        </p:nvPicPr>
        <p:blipFill>
          <a:blip r:embed="rId2"/>
          <a:stretch>
            <a:fillRect/>
          </a:stretch>
        </p:blipFill>
        <p:spPr>
          <a:xfrm>
            <a:off x="7670902" y="3409798"/>
            <a:ext cx="294437" cy="294437"/>
          </a:xfrm>
          <a:prstGeom prst="rect">
            <a:avLst/>
          </a:prstGeom>
        </p:spPr>
      </p:pic>
      <p:sp>
        <p:nvSpPr>
          <p:cNvPr id="31" name="Audience title"/>
          <p:cNvSpPr txBox="1"/>
          <p:nvPr/>
        </p:nvSpPr>
        <p:spPr>
          <a:xfrm>
            <a:off x="8321040" y="3236976"/>
            <a:ext cx="3200400" cy="320040"/>
          </a:xfrm>
          <a:prstGeom prst="rect">
            <a:avLst/>
          </a:prstGeom>
          <a:noFill/>
          <a:ln/>
        </p:spPr>
        <p:txBody>
          <a:bodyPr wrap="square" lIns="0" tIns="0" rIns="0" bIns="0" rtlCol="0" anchor="t"/>
          <a:lstStyle/>
          <a:p>
            <a:pPr indent="0" marL="0">
              <a:buNone/>
            </a:pPr>
            <a:r>
              <a:rPr lang="en-US" sz="1700" b="1" dirty="0">
                <a:solidFill>
                  <a:schemeClr val="tx1"/>
                </a:solidFill>
              </a:rPr>
              <a:t>Startup founders</a:t>
            </a:r>
            <a:endParaRPr lang="en-US" sz="1700" dirty="0"/>
          </a:p>
        </p:txBody>
      </p:sp>
      <p:sp>
        <p:nvSpPr>
          <p:cNvPr id="32" name="Audience text"/>
          <p:cNvSpPr txBox="1"/>
          <p:nvPr/>
        </p:nvSpPr>
        <p:spPr>
          <a:xfrm>
            <a:off x="8321040" y="3584448"/>
            <a:ext cx="3200400" cy="320040"/>
          </a:xfrm>
          <a:prstGeom prst="rect">
            <a:avLst/>
          </a:prstGeom>
          <a:noFill/>
          <a:ln/>
        </p:spPr>
        <p:txBody>
          <a:bodyPr wrap="square" lIns="0" tIns="0" rIns="0" bIns="0" rtlCol="0" anchor="t"/>
          <a:lstStyle/>
          <a:p>
            <a:pPr indent="0" marL="0">
              <a:buNone/>
            </a:pPr>
            <a:r>
              <a:rPr lang="en-US" sz="1400" dirty="0">
                <a:solidFill>
                  <a:srgbClr val="57534E"/>
                </a:solidFill>
              </a:rPr>
              <a:t>Vendor, SaaS &amp; investor deals</a:t>
            </a:r>
            <a:endParaRPr lang="en-US" sz="1400" dirty="0"/>
          </a:p>
        </p:txBody>
      </p:sp>
      <p:sp>
        <p:nvSpPr>
          <p:cNvPr id="33" name="Employees &amp; tenants badge"/>
          <p:cNvSpPr/>
          <p:nvPr/>
        </p:nvSpPr>
        <p:spPr>
          <a:xfrm>
            <a:off x="7498080" y="4261104"/>
            <a:ext cx="640080" cy="640080"/>
          </a:xfrm>
          <a:prstGeom prst="ellipse">
            <a:avLst/>
          </a:prstGeom>
          <a:solidFill>
            <a:schemeClr val="tx1"/>
          </a:solidFill>
          <a:ln/>
        </p:spPr>
      </p:sp>
      <p:pic>
        <p:nvPicPr>
          <p:cNvPr id="34" name="Image 2" descr="Employees &amp; tenants">    </p:cNvPr>
          <p:cNvPicPr>
            <a:picLocks noChangeAspect="1"/>
          </p:cNvPicPr>
          <p:nvPr/>
        </p:nvPicPr>
        <p:blipFill>
          <a:blip r:embed="rId3"/>
          <a:stretch>
            <a:fillRect/>
          </a:stretch>
        </p:blipFill>
        <p:spPr>
          <a:xfrm>
            <a:off x="7670902" y="4433926"/>
            <a:ext cx="294437" cy="294437"/>
          </a:xfrm>
          <a:prstGeom prst="rect">
            <a:avLst/>
          </a:prstGeom>
        </p:spPr>
      </p:pic>
      <p:sp>
        <p:nvSpPr>
          <p:cNvPr id="35" name="Audience title"/>
          <p:cNvSpPr txBox="1"/>
          <p:nvPr/>
        </p:nvSpPr>
        <p:spPr>
          <a:xfrm>
            <a:off x="8321040" y="4261104"/>
            <a:ext cx="3200400" cy="320040"/>
          </a:xfrm>
          <a:prstGeom prst="rect">
            <a:avLst/>
          </a:prstGeom>
          <a:noFill/>
          <a:ln/>
        </p:spPr>
        <p:txBody>
          <a:bodyPr wrap="square" lIns="0" tIns="0" rIns="0" bIns="0" rtlCol="0" anchor="t"/>
          <a:lstStyle/>
          <a:p>
            <a:pPr indent="0" marL="0">
              <a:buNone/>
            </a:pPr>
            <a:r>
              <a:rPr lang="en-US" sz="1700" b="1" dirty="0">
                <a:solidFill>
                  <a:schemeClr val="tx1"/>
                </a:solidFill>
              </a:rPr>
              <a:t>Employees &amp; tenants</a:t>
            </a:r>
            <a:endParaRPr lang="en-US" sz="1700" dirty="0"/>
          </a:p>
        </p:txBody>
      </p:sp>
      <p:sp>
        <p:nvSpPr>
          <p:cNvPr id="36" name="Audience text"/>
          <p:cNvSpPr txBox="1"/>
          <p:nvPr/>
        </p:nvSpPr>
        <p:spPr>
          <a:xfrm>
            <a:off x="8321040" y="4608576"/>
            <a:ext cx="3200400" cy="320040"/>
          </a:xfrm>
          <a:prstGeom prst="rect">
            <a:avLst/>
          </a:prstGeom>
          <a:noFill/>
          <a:ln/>
        </p:spPr>
        <p:txBody>
          <a:bodyPr wrap="square" lIns="0" tIns="0" rIns="0" bIns="0" rtlCol="0" anchor="t"/>
          <a:lstStyle/>
          <a:p>
            <a:pPr indent="0" marL="0">
              <a:buNone/>
            </a:pPr>
            <a:r>
              <a:rPr lang="en-US" sz="1400" dirty="0">
                <a:solidFill>
                  <a:srgbClr val="57534E"/>
                </a:solidFill>
              </a:rPr>
              <a:t>Offers, non-competes, leases</a:t>
            </a:r>
            <a:endParaRPr lang="en-US" sz="1400" dirty="0"/>
          </a:p>
        </p:txBody>
      </p:sp>
      <p:sp>
        <p:nvSpPr>
          <p:cNvPr id="37" name="Legal &amp; procurement teams badge"/>
          <p:cNvSpPr/>
          <p:nvPr/>
        </p:nvSpPr>
        <p:spPr>
          <a:xfrm>
            <a:off x="7498080" y="5285232"/>
            <a:ext cx="640080" cy="640080"/>
          </a:xfrm>
          <a:prstGeom prst="ellipse">
            <a:avLst/>
          </a:prstGeom>
          <a:solidFill>
            <a:schemeClr val="tx1"/>
          </a:solidFill>
          <a:ln/>
        </p:spPr>
      </p:sp>
      <p:pic>
        <p:nvPicPr>
          <p:cNvPr id="38" name="Image 3" descr="Legal &amp; procurement teams">    </p:cNvPr>
          <p:cNvPicPr>
            <a:picLocks noChangeAspect="1"/>
          </p:cNvPicPr>
          <p:nvPr/>
        </p:nvPicPr>
        <p:blipFill>
          <a:blip r:embed="rId4"/>
          <a:stretch>
            <a:fillRect/>
          </a:stretch>
        </p:blipFill>
        <p:spPr>
          <a:xfrm>
            <a:off x="7670902" y="5458054"/>
            <a:ext cx="294437" cy="294437"/>
          </a:xfrm>
          <a:prstGeom prst="rect">
            <a:avLst/>
          </a:prstGeom>
        </p:spPr>
      </p:pic>
      <p:sp>
        <p:nvSpPr>
          <p:cNvPr id="39" name="Audience title"/>
          <p:cNvSpPr txBox="1"/>
          <p:nvPr/>
        </p:nvSpPr>
        <p:spPr>
          <a:xfrm>
            <a:off x="8321040" y="5285232"/>
            <a:ext cx="3200400" cy="320040"/>
          </a:xfrm>
          <a:prstGeom prst="rect">
            <a:avLst/>
          </a:prstGeom>
          <a:noFill/>
          <a:ln/>
        </p:spPr>
        <p:txBody>
          <a:bodyPr wrap="square" lIns="0" tIns="0" rIns="0" bIns="0" rtlCol="0" anchor="t"/>
          <a:lstStyle/>
          <a:p>
            <a:pPr indent="0" marL="0">
              <a:buNone/>
            </a:pPr>
            <a:r>
              <a:rPr lang="en-US" sz="1700" b="1" dirty="0">
                <a:solidFill>
                  <a:schemeClr val="tx1"/>
                </a:solidFill>
              </a:rPr>
              <a:t>Legal &amp; procurement teams</a:t>
            </a:r>
            <a:endParaRPr lang="en-US" sz="1700" dirty="0"/>
          </a:p>
        </p:txBody>
      </p:sp>
      <p:sp>
        <p:nvSpPr>
          <p:cNvPr id="40" name="Audience text"/>
          <p:cNvSpPr txBox="1"/>
          <p:nvPr/>
        </p:nvSpPr>
        <p:spPr>
          <a:xfrm>
            <a:off x="8321040" y="5632704"/>
            <a:ext cx="3200400" cy="320040"/>
          </a:xfrm>
          <a:prstGeom prst="rect">
            <a:avLst/>
          </a:prstGeom>
          <a:noFill/>
          <a:ln/>
        </p:spPr>
        <p:txBody>
          <a:bodyPr wrap="square" lIns="0" tIns="0" rIns="0" bIns="0" rtlCol="0" anchor="t"/>
          <a:lstStyle/>
          <a:p>
            <a:pPr indent="0" marL="0">
              <a:buNone/>
            </a:pPr>
            <a:r>
              <a:rPr lang="en-US" sz="1400" dirty="0">
                <a:solidFill>
                  <a:srgbClr val="57534E"/>
                </a:solidFill>
              </a:rPr>
              <a:t>Faster first-pass clause review</a:t>
            </a:r>
            <a:endParaRPr lang="en-US" sz="14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number"/>
          <p:cNvSpPr txBox="1"/>
          <p:nvPr/>
        </p:nvSpPr>
        <p:spPr>
          <a:xfrm>
            <a:off x="822960" y="1280160"/>
            <a:ext cx="4572000" cy="1828800"/>
          </a:xfrm>
          <a:prstGeom prst="rect">
            <a:avLst/>
          </a:prstGeom>
          <a:noFill/>
          <a:ln/>
        </p:spPr>
        <p:txBody>
          <a:bodyPr wrap="square" lIns="0" tIns="0" rIns="0" bIns="0" rtlCol="0" anchor="ctr"/>
          <a:lstStyle/>
          <a:p>
            <a:pPr indent="0" marL="0">
              <a:buNone/>
            </a:pPr>
            <a:r>
              <a:rPr lang="en-US" sz="13000" b="1" dirty="0">
                <a:solidFill>
                  <a:schemeClr val="accent1"/>
                </a:solidFill>
                <a:latin typeface="+mj-lt" pitchFamily="34" charset="0"/>
                <a:ea typeface="+mj-lt" pitchFamily="34" charset="-122"/>
                <a:cs typeface="+mj-lt" pitchFamily="34" charset="-120"/>
              </a:rPr>
              <a:t>02</a:t>
            </a:r>
            <a:endParaRPr lang="en-US" sz="13000" dirty="0"/>
          </a:p>
        </p:txBody>
      </p:sp>
      <p:sp>
        <p:nvSpPr>
          <p:cNvPr id="3" name="Text 2"/>
          <p:cNvSpPr/>
          <p:nvPr>
            <p:ph idx="102" type="title" hasCustomPrompt="1"/>
          </p:nvPr>
        </p:nvSpPr>
        <p:spPr>
          <a:xfrm>
            <a:off x="822960" y="3154680"/>
            <a:ext cx="7772400" cy="1463040"/>
          </a:xfrm>
          <a:prstGeom prst="rect">
            <a:avLst/>
          </a:prstGeom>
          <a:noFill/>
          <a:ln/>
        </p:spPr>
        <p:txBody>
          <a:bodyPr wrap="square" lIns="0" tIns="0" rIns="0" bIns="0" rtlCol="0" anchor="t"/>
          <a:lstStyle/>
          <a:p>
            <a:pPr algn="l" indent="0" marL="0">
              <a:buNone/>
            </a:pPr>
            <a:r>
              <a:rPr lang="en-US" sz="4800" b="1" dirty="0">
                <a:solidFill>
                  <a:schemeClr val="bg1"/>
                </a:solidFill>
              </a:rPr>
              <a:t>System Architecture &amp; Intelligence</a:t>
            </a:r>
            <a:endParaRPr lang="en-US" sz="4800" dirty="0"/>
          </a:p>
        </p:txBody>
      </p:sp>
      <p:sp>
        <p:nvSpPr>
          <p:cNvPr id="4" name="Text 2"/>
          <p:cNvSpPr/>
          <p:nvPr>
            <p:ph idx="103" type="body" hasCustomPrompt="1"/>
          </p:nvPr>
        </p:nvSpPr>
        <p:spPr>
          <a:xfrm>
            <a:off x="822960" y="4754880"/>
            <a:ext cx="6858000" cy="822960"/>
          </a:xfrm>
          <a:prstGeom prst="rect">
            <a:avLst/>
          </a:prstGeom>
          <a:noFill/>
          <a:ln/>
        </p:spPr>
        <p:txBody>
          <a:bodyPr wrap="square" lIns="0" tIns="0" rIns="0" bIns="0" rtlCol="0" anchor="t"/>
          <a:lstStyle/>
          <a:p>
            <a:pPr algn="l" indent="0" marL="0">
              <a:buNone/>
            </a:pPr>
            <a:r>
              <a:rPr lang="en-US" sz="2000" dirty="0">
                <a:solidFill>
                  <a:schemeClr val="bg2"/>
                </a:solidFill>
              </a:rPr>
              <a:t>A dual-pipeline design: fast deterministic ML plus deep generative reasoning</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ARCHITECTURE</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Dual-Pipeline Architecture</a:t>
            </a:r>
            <a:endParaRPr lang="en-US" sz="3600" dirty="0"/>
          </a:p>
        </p:txBody>
      </p:sp>
      <p:sp>
        <p:nvSpPr>
          <p:cNvPr id="4" name="Client layer"/>
          <p:cNvSpPr/>
          <p:nvPr/>
        </p:nvSpPr>
        <p:spPr>
          <a:xfrm>
            <a:off x="640080" y="1645920"/>
            <a:ext cx="2880360" cy="3611880"/>
          </a:xfrm>
          <a:prstGeom prst="roundRect">
            <a:avLst>
              <a:gd name="adj" fmla="val 3810"/>
            </a:avLst>
          </a:prstGeom>
          <a:solidFill>
            <a:schemeClr val="tx1"/>
          </a:solidFill>
          <a:ln/>
        </p:spPr>
      </p:sp>
      <p:sp>
        <p:nvSpPr>
          <p:cNvPr id="5" name="Client heading"/>
          <p:cNvSpPr txBox="1"/>
          <p:nvPr/>
        </p:nvSpPr>
        <p:spPr>
          <a:xfrm>
            <a:off x="914400" y="1801368"/>
            <a:ext cx="22860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CLIENT LAYER</a:t>
            </a:r>
            <a:endParaRPr lang="en-US" sz="1200" dirty="0"/>
          </a:p>
        </p:txBody>
      </p:sp>
      <p:sp>
        <p:nvSpPr>
          <p:cNvPr id="6" name="Client item 1"/>
          <p:cNvSpPr/>
          <p:nvPr/>
        </p:nvSpPr>
        <p:spPr>
          <a:xfrm>
            <a:off x="822960" y="2194560"/>
            <a:ext cx="2514600" cy="868680"/>
          </a:xfrm>
          <a:prstGeom prst="roundRect">
            <a:avLst>
              <a:gd name="adj" fmla="val 12632"/>
            </a:avLst>
          </a:prstGeom>
          <a:solidFill>
            <a:schemeClr val="tx2"/>
          </a:solidFill>
          <a:ln/>
        </p:spPr>
      </p:sp>
      <p:sp>
        <p:nvSpPr>
          <p:cNvPr id="7" name="Web app badge"/>
          <p:cNvSpPr/>
          <p:nvPr/>
        </p:nvSpPr>
        <p:spPr>
          <a:xfrm>
            <a:off x="960120" y="2395728"/>
            <a:ext cx="457200" cy="457200"/>
          </a:xfrm>
          <a:prstGeom prst="ellipse">
            <a:avLst/>
          </a:prstGeom>
          <a:solidFill>
            <a:schemeClr val="tx1"/>
          </a:solidFill>
          <a:ln/>
        </p:spPr>
      </p:sp>
      <p:pic>
        <p:nvPicPr>
          <p:cNvPr id="8" name="Image 0" descr="Web app">    </p:cNvPr>
          <p:cNvPicPr>
            <a:picLocks noChangeAspect="1"/>
          </p:cNvPicPr>
          <p:nvPr/>
        </p:nvPicPr>
        <p:blipFill>
          <a:blip r:embed="rId1"/>
          <a:stretch>
            <a:fillRect/>
          </a:stretch>
        </p:blipFill>
        <p:spPr>
          <a:xfrm>
            <a:off x="1083564" y="2519172"/>
            <a:ext cx="210312" cy="210312"/>
          </a:xfrm>
          <a:prstGeom prst="rect">
            <a:avLst/>
          </a:prstGeom>
        </p:spPr>
      </p:pic>
      <p:sp>
        <p:nvSpPr>
          <p:cNvPr id="9" name="Client item title"/>
          <p:cNvSpPr txBox="1"/>
          <p:nvPr/>
        </p:nvSpPr>
        <p:spPr>
          <a:xfrm>
            <a:off x="1554480" y="2331720"/>
            <a:ext cx="1737360" cy="320040"/>
          </a:xfrm>
          <a:prstGeom prst="rect">
            <a:avLst/>
          </a:prstGeom>
          <a:noFill/>
          <a:ln/>
        </p:spPr>
        <p:txBody>
          <a:bodyPr wrap="square" lIns="0" tIns="0" rIns="0" bIns="0" rtlCol="0" anchor="t"/>
          <a:lstStyle/>
          <a:p>
            <a:pPr indent="0" marL="0">
              <a:buNone/>
            </a:pPr>
            <a:r>
              <a:rPr lang="en-US" sz="1500" b="1" dirty="0">
                <a:solidFill>
                  <a:schemeClr val="bg1"/>
                </a:solidFill>
              </a:rPr>
              <a:t>Web app</a:t>
            </a:r>
            <a:endParaRPr lang="en-US" sz="1500" dirty="0"/>
          </a:p>
        </p:txBody>
      </p:sp>
      <p:sp>
        <p:nvSpPr>
          <p:cNvPr id="10" name="Client item sub"/>
          <p:cNvSpPr txBox="1"/>
          <p:nvPr/>
        </p:nvSpPr>
        <p:spPr>
          <a:xfrm>
            <a:off x="1554480" y="2651760"/>
            <a:ext cx="1737360" cy="274320"/>
          </a:xfrm>
          <a:prstGeom prst="rect">
            <a:avLst/>
          </a:prstGeom>
          <a:noFill/>
          <a:ln/>
        </p:spPr>
        <p:txBody>
          <a:bodyPr wrap="square" lIns="0" tIns="0" rIns="0" bIns="0" rtlCol="0" anchor="t"/>
          <a:lstStyle/>
          <a:p>
            <a:pPr indent="0" marL="0">
              <a:buNone/>
            </a:pPr>
            <a:r>
              <a:rPr lang="en-US" sz="1200" dirty="0">
                <a:solidFill>
                  <a:srgbClr val="A8A29E"/>
                </a:solidFill>
              </a:rPr>
              <a:t>Next.js 16 · React 19</a:t>
            </a:r>
            <a:endParaRPr lang="en-US" sz="1200" dirty="0"/>
          </a:p>
        </p:txBody>
      </p:sp>
      <p:sp>
        <p:nvSpPr>
          <p:cNvPr id="11" name="Client item 2"/>
          <p:cNvSpPr/>
          <p:nvPr/>
        </p:nvSpPr>
        <p:spPr>
          <a:xfrm>
            <a:off x="822960" y="3200400"/>
            <a:ext cx="2514600" cy="868680"/>
          </a:xfrm>
          <a:prstGeom prst="roundRect">
            <a:avLst>
              <a:gd name="adj" fmla="val 12632"/>
            </a:avLst>
          </a:prstGeom>
          <a:solidFill>
            <a:schemeClr val="tx2"/>
          </a:solidFill>
          <a:ln/>
        </p:spPr>
      </p:sp>
      <p:sp>
        <p:nvSpPr>
          <p:cNvPr id="12" name="Chrome extension badge"/>
          <p:cNvSpPr/>
          <p:nvPr/>
        </p:nvSpPr>
        <p:spPr>
          <a:xfrm>
            <a:off x="960120" y="3401568"/>
            <a:ext cx="457200" cy="457200"/>
          </a:xfrm>
          <a:prstGeom prst="ellipse">
            <a:avLst/>
          </a:prstGeom>
          <a:solidFill>
            <a:schemeClr val="tx1"/>
          </a:solidFill>
          <a:ln/>
        </p:spPr>
      </p:sp>
      <p:pic>
        <p:nvPicPr>
          <p:cNvPr id="13" name="Image 1" descr="Chrome extension">    </p:cNvPr>
          <p:cNvPicPr>
            <a:picLocks noChangeAspect="1"/>
          </p:cNvPicPr>
          <p:nvPr/>
        </p:nvPicPr>
        <p:blipFill>
          <a:blip r:embed="rId2"/>
          <a:stretch>
            <a:fillRect/>
          </a:stretch>
        </p:blipFill>
        <p:spPr>
          <a:xfrm>
            <a:off x="1083564" y="3525012"/>
            <a:ext cx="210312" cy="210312"/>
          </a:xfrm>
          <a:prstGeom prst="rect">
            <a:avLst/>
          </a:prstGeom>
        </p:spPr>
      </p:pic>
      <p:sp>
        <p:nvSpPr>
          <p:cNvPr id="14" name="Client item title"/>
          <p:cNvSpPr txBox="1"/>
          <p:nvPr/>
        </p:nvSpPr>
        <p:spPr>
          <a:xfrm>
            <a:off x="1554480" y="3337560"/>
            <a:ext cx="1737360" cy="320040"/>
          </a:xfrm>
          <a:prstGeom prst="rect">
            <a:avLst/>
          </a:prstGeom>
          <a:noFill/>
          <a:ln/>
        </p:spPr>
        <p:txBody>
          <a:bodyPr wrap="square" lIns="0" tIns="0" rIns="0" bIns="0" rtlCol="0" anchor="t"/>
          <a:lstStyle/>
          <a:p>
            <a:pPr indent="0" marL="0">
              <a:buNone/>
            </a:pPr>
            <a:r>
              <a:rPr lang="en-US" sz="1500" b="1" dirty="0">
                <a:solidFill>
                  <a:schemeClr val="bg1"/>
                </a:solidFill>
              </a:rPr>
              <a:t>Chrome extension</a:t>
            </a:r>
            <a:endParaRPr lang="en-US" sz="1500" dirty="0"/>
          </a:p>
        </p:txBody>
      </p:sp>
      <p:sp>
        <p:nvSpPr>
          <p:cNvPr id="15" name="Client item sub"/>
          <p:cNvSpPr txBox="1"/>
          <p:nvPr/>
        </p:nvSpPr>
        <p:spPr>
          <a:xfrm>
            <a:off x="1554480" y="3657600"/>
            <a:ext cx="1737360" cy="274320"/>
          </a:xfrm>
          <a:prstGeom prst="rect">
            <a:avLst/>
          </a:prstGeom>
          <a:noFill/>
          <a:ln/>
        </p:spPr>
        <p:txBody>
          <a:bodyPr wrap="square" lIns="0" tIns="0" rIns="0" bIns="0" rtlCol="0" anchor="t"/>
          <a:lstStyle/>
          <a:p>
            <a:pPr indent="0" marL="0">
              <a:buNone/>
            </a:pPr>
            <a:r>
              <a:rPr lang="en-US" sz="1200" dirty="0">
                <a:solidFill>
                  <a:srgbClr val="A8A29E"/>
                </a:solidFill>
              </a:rPr>
              <a:t>Manifest V3</a:t>
            </a:r>
            <a:endParaRPr lang="en-US" sz="1200" dirty="0"/>
          </a:p>
        </p:txBody>
      </p:sp>
      <p:sp>
        <p:nvSpPr>
          <p:cNvPr id="16" name="Client item 3"/>
          <p:cNvSpPr/>
          <p:nvPr/>
        </p:nvSpPr>
        <p:spPr>
          <a:xfrm>
            <a:off x="822960" y="4206240"/>
            <a:ext cx="2514600" cy="868680"/>
          </a:xfrm>
          <a:prstGeom prst="roundRect">
            <a:avLst>
              <a:gd name="adj" fmla="val 12632"/>
            </a:avLst>
          </a:prstGeom>
          <a:solidFill>
            <a:schemeClr val="tx2"/>
          </a:solidFill>
          <a:ln/>
        </p:spPr>
      </p:sp>
      <p:sp>
        <p:nvSpPr>
          <p:cNvPr id="17" name="Document upload badge"/>
          <p:cNvSpPr/>
          <p:nvPr/>
        </p:nvSpPr>
        <p:spPr>
          <a:xfrm>
            <a:off x="960120" y="4407408"/>
            <a:ext cx="457200" cy="457200"/>
          </a:xfrm>
          <a:prstGeom prst="ellipse">
            <a:avLst/>
          </a:prstGeom>
          <a:solidFill>
            <a:schemeClr val="tx1"/>
          </a:solidFill>
          <a:ln/>
        </p:spPr>
      </p:sp>
      <p:pic>
        <p:nvPicPr>
          <p:cNvPr id="18" name="Image 2" descr="Document upload">    </p:cNvPr>
          <p:cNvPicPr>
            <a:picLocks noChangeAspect="1"/>
          </p:cNvPicPr>
          <p:nvPr/>
        </p:nvPicPr>
        <p:blipFill>
          <a:blip r:embed="rId3"/>
          <a:stretch>
            <a:fillRect/>
          </a:stretch>
        </p:blipFill>
        <p:spPr>
          <a:xfrm>
            <a:off x="1083564" y="4530852"/>
            <a:ext cx="210312" cy="210312"/>
          </a:xfrm>
          <a:prstGeom prst="rect">
            <a:avLst/>
          </a:prstGeom>
        </p:spPr>
      </p:pic>
      <p:sp>
        <p:nvSpPr>
          <p:cNvPr id="19" name="Client item title"/>
          <p:cNvSpPr txBox="1"/>
          <p:nvPr/>
        </p:nvSpPr>
        <p:spPr>
          <a:xfrm>
            <a:off x="1554480" y="4343400"/>
            <a:ext cx="1737360" cy="320040"/>
          </a:xfrm>
          <a:prstGeom prst="rect">
            <a:avLst/>
          </a:prstGeom>
          <a:noFill/>
          <a:ln/>
        </p:spPr>
        <p:txBody>
          <a:bodyPr wrap="square" lIns="0" tIns="0" rIns="0" bIns="0" rtlCol="0" anchor="t"/>
          <a:lstStyle/>
          <a:p>
            <a:pPr indent="0" marL="0">
              <a:buNone/>
            </a:pPr>
            <a:r>
              <a:rPr lang="en-US" sz="1500" b="1" dirty="0">
                <a:solidFill>
                  <a:schemeClr val="bg1"/>
                </a:solidFill>
              </a:rPr>
              <a:t>Document upload</a:t>
            </a:r>
            <a:endParaRPr lang="en-US" sz="1500" dirty="0"/>
          </a:p>
        </p:txBody>
      </p:sp>
      <p:sp>
        <p:nvSpPr>
          <p:cNvPr id="20" name="Client item sub"/>
          <p:cNvSpPr txBox="1"/>
          <p:nvPr/>
        </p:nvSpPr>
        <p:spPr>
          <a:xfrm>
            <a:off x="1554480" y="4663440"/>
            <a:ext cx="1737360" cy="274320"/>
          </a:xfrm>
          <a:prstGeom prst="rect">
            <a:avLst/>
          </a:prstGeom>
          <a:noFill/>
          <a:ln/>
        </p:spPr>
        <p:txBody>
          <a:bodyPr wrap="square" lIns="0" tIns="0" rIns="0" bIns="0" rtlCol="0" anchor="t"/>
          <a:lstStyle/>
          <a:p>
            <a:pPr indent="0" marL="0">
              <a:buNone/>
            </a:pPr>
            <a:r>
              <a:rPr lang="en-US" sz="1200" dirty="0">
                <a:solidFill>
                  <a:srgbClr val="A8A29E"/>
                </a:solidFill>
              </a:rPr>
              <a:t>PDF · DOCX · TXT</a:t>
            </a:r>
            <a:endParaRPr lang="en-US" sz="1200" dirty="0"/>
          </a:p>
        </p:txBody>
      </p:sp>
      <p:sp>
        <p:nvSpPr>
          <p:cNvPr id="21" name="API layer"/>
          <p:cNvSpPr/>
          <p:nvPr/>
        </p:nvSpPr>
        <p:spPr>
          <a:xfrm>
            <a:off x="4114800" y="1645920"/>
            <a:ext cx="2194560" cy="3611880"/>
          </a:xfrm>
          <a:prstGeom prst="roundRect">
            <a:avLst>
              <a:gd name="adj" fmla="val 5000"/>
            </a:avLst>
          </a:prstGeom>
          <a:solidFill>
            <a:schemeClr val="bg2"/>
          </a:solidFill>
          <a:ln/>
        </p:spPr>
      </p:sp>
      <p:sp>
        <p:nvSpPr>
          <p:cNvPr id="22" name="Server badge"/>
          <p:cNvSpPr/>
          <p:nvPr/>
        </p:nvSpPr>
        <p:spPr>
          <a:xfrm>
            <a:off x="4343400" y="1874520"/>
            <a:ext cx="548640" cy="548640"/>
          </a:xfrm>
          <a:prstGeom prst="ellipse">
            <a:avLst/>
          </a:prstGeom>
          <a:solidFill>
            <a:schemeClr val="tx1"/>
          </a:solidFill>
          <a:ln/>
        </p:spPr>
      </p:sp>
      <p:pic>
        <p:nvPicPr>
          <p:cNvPr id="23" name="Image 3" descr="Server">    </p:cNvPr>
          <p:cNvPicPr>
            <a:picLocks noChangeAspect="1"/>
          </p:cNvPicPr>
          <p:nvPr/>
        </p:nvPicPr>
        <p:blipFill>
          <a:blip r:embed="rId4"/>
          <a:stretch>
            <a:fillRect/>
          </a:stretch>
        </p:blipFill>
        <p:spPr>
          <a:xfrm>
            <a:off x="4491533" y="2022653"/>
            <a:ext cx="252374" cy="252374"/>
          </a:xfrm>
          <a:prstGeom prst="rect">
            <a:avLst/>
          </a:prstGeom>
        </p:spPr>
      </p:pic>
      <p:sp>
        <p:nvSpPr>
          <p:cNvPr id="24" name="API heading"/>
          <p:cNvSpPr txBox="1"/>
          <p:nvPr/>
        </p:nvSpPr>
        <p:spPr>
          <a:xfrm>
            <a:off x="4983480" y="2011680"/>
            <a:ext cx="1280160" cy="274320"/>
          </a:xfrm>
          <a:prstGeom prst="rect">
            <a:avLst/>
          </a:prstGeom>
          <a:noFill/>
          <a:ln/>
        </p:spPr>
        <p:txBody>
          <a:bodyPr wrap="square" lIns="0" tIns="0" rIns="0" bIns="0" rtlCol="0" anchor="t"/>
          <a:lstStyle/>
          <a:p>
            <a:pPr indent="0" marL="0">
              <a:buNone/>
            </a:pPr>
            <a:r>
              <a:rPr lang="en-US" sz="1200" b="1" spc="200" kern="0" dirty="0">
                <a:solidFill>
                  <a:schemeClr val="tx1"/>
                </a:solidFill>
              </a:rPr>
              <a:t>API LAYER</a:t>
            </a:r>
            <a:endParaRPr lang="en-US" sz="1200" dirty="0"/>
          </a:p>
        </p:txBody>
      </p:sp>
      <p:sp>
        <p:nvSpPr>
          <p:cNvPr id="25" name="API list"/>
          <p:cNvSpPr txBox="1"/>
          <p:nvPr/>
        </p:nvSpPr>
        <p:spPr>
          <a:xfrm>
            <a:off x="4343400" y="2743200"/>
            <a:ext cx="1783080" cy="2286000"/>
          </a:xfrm>
          <a:prstGeom prst="rect">
            <a:avLst/>
          </a:prstGeom>
          <a:noFill/>
          <a:ln/>
        </p:spPr>
        <p:txBody>
          <a:bodyPr wrap="square" lIns="0" tIns="0" rIns="0" bIns="0" rtlCol="0" anchor="t"/>
          <a:lstStyle/>
          <a:p>
            <a:pPr indent="0" marL="0">
              <a:spcAft>
                <a:spcPts val="800"/>
              </a:spcAft>
              <a:buNone/>
            </a:pPr>
            <a:r>
              <a:rPr lang="en-US" sz="1400" dirty="0">
                <a:solidFill>
                  <a:schemeClr val="tx2"/>
                </a:solidFill>
              </a:rPr>
              <a:t>Next.js route handlers</a:t>
            </a:r>
            <a:endParaRPr lang="en-US" sz="1400" dirty="0"/>
          </a:p>
          <a:p>
            <a:pPr indent="0" marL="0">
              <a:spcAft>
                <a:spcPts val="800"/>
              </a:spcAft>
              <a:buNone/>
            </a:pPr>
            <a:r>
              <a:rPr lang="en-US" sz="1400" dirty="0">
                <a:solidFill>
                  <a:schemeClr val="tx2"/>
                </a:solidFill>
              </a:rPr>
              <a:t>32 REST endpoints</a:t>
            </a:r>
            <a:endParaRPr lang="en-US" sz="1400" dirty="0"/>
          </a:p>
          <a:p>
            <a:pPr indent="0" marL="0">
              <a:spcAft>
                <a:spcPts val="800"/>
              </a:spcAft>
              <a:buNone/>
            </a:pPr>
            <a:r>
              <a:rPr lang="en-US" sz="1400" dirty="0">
                <a:solidFill>
                  <a:schemeClr val="tx2"/>
                </a:solidFill>
              </a:rPr>
              <a:t>Document parser</a:t>
            </a:r>
            <a:endParaRPr lang="en-US" sz="1400" dirty="0"/>
          </a:p>
          <a:p>
            <a:pPr indent="0" marL="0">
              <a:spcAft>
                <a:spcPts val="800"/>
              </a:spcAft>
              <a:buNone/>
            </a:pPr>
            <a:r>
              <a:rPr lang="en-US" sz="1400" dirty="0">
                <a:solidFill>
                  <a:schemeClr val="tx2"/>
                </a:solidFill>
              </a:rPr>
              <a:t>Auth guards (Clerk / NextAuth)</a:t>
            </a:r>
            <a:endParaRPr lang="en-US" sz="1400" dirty="0"/>
          </a:p>
          <a:p>
            <a:pPr indent="0" marL="0">
              <a:buNone/>
            </a:pPr>
            <a:r>
              <a:rPr lang="en-US" sz="1400" dirty="0">
                <a:solidFill>
                  <a:schemeClr val="tx2"/>
                </a:solidFill>
              </a:rPr>
              <a:t>Streamed results</a:t>
            </a:r>
            <a:endParaRPr lang="en-US" sz="1400" dirty="0"/>
          </a:p>
        </p:txBody>
      </p:sp>
      <p:sp>
        <p:nvSpPr>
          <p:cNvPr id="26" name="Pipeline A"/>
          <p:cNvSpPr/>
          <p:nvPr/>
        </p:nvSpPr>
        <p:spPr>
          <a:xfrm>
            <a:off x="6903720" y="1645920"/>
            <a:ext cx="4645152" cy="1691640"/>
          </a:xfrm>
          <a:prstGeom prst="roundRect">
            <a:avLst>
              <a:gd name="adj" fmla="val 6486"/>
            </a:avLst>
          </a:prstGeom>
          <a:solidFill>
            <a:schemeClr val="accent6"/>
          </a:solidFill>
          <a:ln/>
        </p:spPr>
      </p:sp>
      <p:sp>
        <p:nvSpPr>
          <p:cNvPr id="27" name="Pipeline A heading"/>
          <p:cNvSpPr txBox="1"/>
          <p:nvPr/>
        </p:nvSpPr>
        <p:spPr>
          <a:xfrm>
            <a:off x="7178040" y="1810512"/>
            <a:ext cx="3017520" cy="274320"/>
          </a:xfrm>
          <a:prstGeom prst="rect">
            <a:avLst/>
          </a:prstGeom>
          <a:noFill/>
          <a:ln/>
        </p:spPr>
        <p:txBody>
          <a:bodyPr wrap="square" lIns="0" tIns="0" rIns="0" bIns="0" rtlCol="0" anchor="t"/>
          <a:lstStyle/>
          <a:p>
            <a:pPr indent="0" marL="0">
              <a:buNone/>
            </a:pPr>
            <a:r>
              <a:rPr lang="en-US" sz="1200" b="1" spc="200" kern="0" dirty="0">
                <a:solidFill>
                  <a:schemeClr val="bg1"/>
                </a:solidFill>
              </a:rPr>
              <a:t>PIPELINE A · DETERMINISTIC ML</a:t>
            </a:r>
            <a:endParaRPr lang="en-US" sz="1200" dirty="0"/>
          </a:p>
        </p:txBody>
      </p:sp>
      <p:sp>
        <p:nvSpPr>
          <p:cNvPr id="28" name="Pill &lt;150 ms"/>
          <p:cNvSpPr/>
          <p:nvPr/>
        </p:nvSpPr>
        <p:spPr>
          <a:xfrm>
            <a:off x="10241280" y="1783080"/>
            <a:ext cx="1051560" cy="310896"/>
          </a:xfrm>
          <a:prstGeom prst="roundRect">
            <a:avLst>
              <a:gd name="adj" fmla="val 50000"/>
            </a:avLst>
          </a:prstGeom>
          <a:solidFill>
            <a:schemeClr val="bg1"/>
          </a:solidFill>
          <a:ln/>
        </p:spPr>
      </p:sp>
      <p:sp>
        <p:nvSpPr>
          <p:cNvPr id="29" name="Pill label &amp;lt;150 ms"/>
          <p:cNvSpPr txBox="1"/>
          <p:nvPr/>
        </p:nvSpPr>
        <p:spPr>
          <a:xfrm>
            <a:off x="10241280" y="1783080"/>
            <a:ext cx="1051560" cy="310896"/>
          </a:xfrm>
          <a:prstGeom prst="rect">
            <a:avLst/>
          </a:prstGeom>
          <a:noFill/>
          <a:ln/>
        </p:spPr>
        <p:txBody>
          <a:bodyPr wrap="square" lIns="0" tIns="0" rIns="0" bIns="0" rtlCol="0" anchor="ctr"/>
          <a:lstStyle/>
          <a:p>
            <a:pPr algn="ctr" indent="0" marL="0">
              <a:buNone/>
            </a:pPr>
            <a:r>
              <a:rPr lang="en-US" sz="1100" b="1" spc="100" kern="0" dirty="0">
                <a:solidFill>
                  <a:schemeClr val="accent6"/>
                </a:solidFill>
              </a:rPr>
              <a:t>&lt;150 ms</a:t>
            </a:r>
            <a:endParaRPr lang="en-US" sz="1100" dirty="0"/>
          </a:p>
        </p:txBody>
      </p:sp>
      <p:sp>
        <p:nvSpPr>
          <p:cNvPr id="30" name="Pipeline A list"/>
          <p:cNvSpPr txBox="1"/>
          <p:nvPr/>
        </p:nvSpPr>
        <p:spPr>
          <a:xfrm>
            <a:off x="7178040" y="2331720"/>
            <a:ext cx="4114800" cy="822960"/>
          </a:xfrm>
          <a:prstGeom prst="rect">
            <a:avLst/>
          </a:prstGeom>
          <a:noFill/>
          <a:ln/>
        </p:spPr>
        <p:txBody>
          <a:bodyPr wrap="square" lIns="0" tIns="0" rIns="0" bIns="0" rtlCol="0" anchor="t"/>
          <a:lstStyle/>
          <a:p>
            <a:pPr indent="0" marL="0">
              <a:spcAft>
                <a:spcPts val="600"/>
              </a:spcAft>
              <a:buNone/>
            </a:pPr>
            <a:r>
              <a:rPr lang="en-US" sz="1500" dirty="0">
                <a:solidFill>
                  <a:schemeClr val="bg1"/>
                </a:solidFill>
              </a:rPr>
              <a:t>all-MiniLM-L6-v2 (ONNX) → 384-d vectors</a:t>
            </a:r>
            <a:endParaRPr lang="en-US" sz="1500" dirty="0"/>
          </a:p>
          <a:p>
            <a:pPr indent="0" marL="0">
              <a:buNone/>
            </a:pPr>
            <a:r>
              <a:rPr lang="en-US" sz="1500" dirty="0">
                <a:solidFill>
                  <a:schemeClr val="bg1"/>
                </a:solidFill>
              </a:rPr>
              <a:t>Cosine search · k-NN vote · ERR score</a:t>
            </a:r>
            <a:endParaRPr lang="en-US" sz="1500" dirty="0"/>
          </a:p>
        </p:txBody>
      </p:sp>
      <p:sp>
        <p:nvSpPr>
          <p:cNvPr id="31" name="Pipeline B"/>
          <p:cNvSpPr/>
          <p:nvPr/>
        </p:nvSpPr>
        <p:spPr>
          <a:xfrm>
            <a:off x="6903720" y="3566160"/>
            <a:ext cx="4645152" cy="1691640"/>
          </a:xfrm>
          <a:prstGeom prst="roundRect">
            <a:avLst>
              <a:gd name="adj" fmla="val 6486"/>
            </a:avLst>
          </a:prstGeom>
          <a:solidFill>
            <a:schemeClr val="tx2"/>
          </a:solidFill>
          <a:ln/>
        </p:spPr>
      </p:sp>
      <p:sp>
        <p:nvSpPr>
          <p:cNvPr id="32" name="Pipeline B heading"/>
          <p:cNvSpPr txBox="1"/>
          <p:nvPr/>
        </p:nvSpPr>
        <p:spPr>
          <a:xfrm>
            <a:off x="7178040" y="3730752"/>
            <a:ext cx="30175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PIPELINE B · GENERATIVE AI</a:t>
            </a:r>
            <a:endParaRPr lang="en-US" sz="1200" dirty="0"/>
          </a:p>
        </p:txBody>
      </p:sp>
      <p:sp>
        <p:nvSpPr>
          <p:cNvPr id="33" name="Pill Cloud LLM"/>
          <p:cNvSpPr/>
          <p:nvPr/>
        </p:nvSpPr>
        <p:spPr>
          <a:xfrm>
            <a:off x="10241280" y="3703320"/>
            <a:ext cx="1051560" cy="310896"/>
          </a:xfrm>
          <a:prstGeom prst="roundRect">
            <a:avLst>
              <a:gd name="adj" fmla="val 50000"/>
            </a:avLst>
          </a:prstGeom>
          <a:solidFill>
            <a:schemeClr val="accent1"/>
          </a:solidFill>
          <a:ln/>
        </p:spPr>
      </p:sp>
      <p:sp>
        <p:nvSpPr>
          <p:cNvPr id="34" name="Pill label Cloud LLM"/>
          <p:cNvSpPr txBox="1"/>
          <p:nvPr/>
        </p:nvSpPr>
        <p:spPr>
          <a:xfrm>
            <a:off x="10241280" y="3703320"/>
            <a:ext cx="1051560" cy="310896"/>
          </a:xfrm>
          <a:prstGeom prst="rect">
            <a:avLst/>
          </a:prstGeom>
          <a:noFill/>
          <a:ln/>
        </p:spPr>
        <p:txBody>
          <a:bodyPr wrap="square" lIns="0" tIns="0" rIns="0" bIns="0" rtlCol="0" anchor="ctr"/>
          <a:lstStyle/>
          <a:p>
            <a:pPr algn="ctr" indent="0" marL="0">
              <a:buNone/>
            </a:pPr>
            <a:r>
              <a:rPr lang="en-US" sz="1100" b="1" spc="100" kern="0" dirty="0">
                <a:solidFill>
                  <a:schemeClr val="tx1"/>
                </a:solidFill>
              </a:rPr>
              <a:t>Cloud LLM</a:t>
            </a:r>
            <a:endParaRPr lang="en-US" sz="1100" dirty="0"/>
          </a:p>
        </p:txBody>
      </p:sp>
      <p:sp>
        <p:nvSpPr>
          <p:cNvPr id="35" name="Pipeline B list"/>
          <p:cNvSpPr txBox="1"/>
          <p:nvPr/>
        </p:nvSpPr>
        <p:spPr>
          <a:xfrm>
            <a:off x="7178040" y="4251960"/>
            <a:ext cx="4114800" cy="822960"/>
          </a:xfrm>
          <a:prstGeom prst="rect">
            <a:avLst/>
          </a:prstGeom>
          <a:noFill/>
          <a:ln/>
        </p:spPr>
        <p:txBody>
          <a:bodyPr wrap="square" lIns="0" tIns="0" rIns="0" bIns="0" rtlCol="0" anchor="t"/>
          <a:lstStyle/>
          <a:p>
            <a:pPr indent="0" marL="0">
              <a:spcAft>
                <a:spcPts val="600"/>
              </a:spcAft>
              <a:buNone/>
            </a:pPr>
            <a:r>
              <a:rPr lang="en-US" sz="1500" dirty="0">
                <a:solidFill>
                  <a:schemeClr val="bg1"/>
                </a:solidFill>
              </a:rPr>
              <a:t>NVIDIA NIM · Llama 3.3 70B / 3.1 8B</a:t>
            </a:r>
            <a:endParaRPr lang="en-US" sz="1500" dirty="0"/>
          </a:p>
          <a:p>
            <a:pPr indent="0" marL="0">
              <a:buNone/>
            </a:pPr>
            <a:r>
              <a:rPr lang="en-US" sz="1500" dirty="0">
                <a:solidFill>
                  <a:schemeClr val="bg1"/>
                </a:solidFill>
              </a:rPr>
              <a:t>Gemini fallback · red flags · redlines</a:t>
            </a:r>
            <a:endParaRPr lang="en-US" sz="1500" dirty="0"/>
          </a:p>
        </p:txBody>
      </p:sp>
      <p:sp>
        <p:nvSpPr>
          <p:cNvPr id="36" name="Persistence layer"/>
          <p:cNvSpPr/>
          <p:nvPr/>
        </p:nvSpPr>
        <p:spPr>
          <a:xfrm>
            <a:off x="640080" y="5486400"/>
            <a:ext cx="10911535" cy="658368"/>
          </a:xfrm>
          <a:prstGeom prst="roundRect">
            <a:avLst>
              <a:gd name="adj" fmla="val 16667"/>
            </a:avLst>
          </a:prstGeom>
          <a:solidFill>
            <a:schemeClr val="bg2"/>
          </a:solidFill>
          <a:ln/>
        </p:spPr>
      </p:sp>
      <p:sp>
        <p:nvSpPr>
          <p:cNvPr id="37" name="Persistence heading"/>
          <p:cNvSpPr txBox="1"/>
          <p:nvPr/>
        </p:nvSpPr>
        <p:spPr>
          <a:xfrm>
            <a:off x="914400" y="5486400"/>
            <a:ext cx="2743200" cy="658368"/>
          </a:xfrm>
          <a:prstGeom prst="rect">
            <a:avLst/>
          </a:prstGeom>
          <a:noFill/>
          <a:ln/>
        </p:spPr>
        <p:txBody>
          <a:bodyPr wrap="square" lIns="0" tIns="0" rIns="0" bIns="0" rtlCol="0" anchor="ctr"/>
          <a:lstStyle/>
          <a:p>
            <a:pPr indent="0" marL="0">
              <a:buNone/>
            </a:pPr>
            <a:r>
              <a:rPr lang="en-US" sz="1200" b="1" spc="200" kern="0" dirty="0">
                <a:solidFill>
                  <a:schemeClr val="tx1"/>
                </a:solidFill>
              </a:rPr>
              <a:t>PERSISTENCE &amp; INTEGRITY</a:t>
            </a:r>
            <a:endParaRPr lang="en-US" sz="1200" dirty="0"/>
          </a:p>
        </p:txBody>
      </p:sp>
      <p:sp>
        <p:nvSpPr>
          <p:cNvPr id="38" name="Persistence list"/>
          <p:cNvSpPr txBox="1"/>
          <p:nvPr/>
        </p:nvSpPr>
        <p:spPr>
          <a:xfrm>
            <a:off x="3566160" y="5486400"/>
            <a:ext cx="7863840" cy="658368"/>
          </a:xfrm>
          <a:prstGeom prst="rect">
            <a:avLst/>
          </a:prstGeom>
          <a:noFill/>
          <a:ln/>
        </p:spPr>
        <p:txBody>
          <a:bodyPr wrap="square" lIns="0" tIns="0" rIns="0" bIns="0" rtlCol="0" anchor="ctr"/>
          <a:lstStyle/>
          <a:p>
            <a:pPr indent="0" marL="0">
              <a:buNone/>
            </a:pPr>
            <a:r>
              <a:rPr lang="en-US" sz="1500" dirty="0">
                <a:solidFill>
                  <a:schemeClr val="tx2"/>
                </a:solidFill>
              </a:rPr>
              <a:t>PostgreSQL (Prisma)  ·  Supabase Storage  ·  Clerk / NextAuth  ·  SHA-256 hashing</a:t>
            </a:r>
            <a:endParaRPr lang="en-US" sz="1500" dirty="0"/>
          </a:p>
        </p:txBody>
      </p:sp>
      <p:sp>
        <p:nvSpPr>
          <p:cNvPr id="39" name="Arrow"/>
          <p:cNvSpPr/>
          <p:nvPr/>
        </p:nvSpPr>
        <p:spPr>
          <a:xfrm>
            <a:off x="3566160" y="3456432"/>
            <a:ext cx="502920" cy="0"/>
          </a:xfrm>
          <a:prstGeom prst="line">
            <a:avLst/>
          </a:prstGeom>
          <a:noFill/>
          <a:ln w="25400">
            <a:solidFill>
              <a:srgbClr val="78716C"/>
            </a:solidFill>
            <a:prstDash val="solid"/>
            <a:tailEnd type="triangle"/>
          </a:ln>
        </p:spPr>
      </p:sp>
      <p:sp>
        <p:nvSpPr>
          <p:cNvPr id="40" name="Arrow"/>
          <p:cNvSpPr/>
          <p:nvPr/>
        </p:nvSpPr>
        <p:spPr>
          <a:xfrm>
            <a:off x="6355080" y="2487168"/>
            <a:ext cx="502920" cy="0"/>
          </a:xfrm>
          <a:prstGeom prst="line">
            <a:avLst/>
          </a:prstGeom>
          <a:noFill/>
          <a:ln w="25400">
            <a:solidFill>
              <a:srgbClr val="0F766E"/>
            </a:solidFill>
            <a:prstDash val="solid"/>
            <a:tailEnd type="triangle"/>
          </a:ln>
        </p:spPr>
      </p:sp>
      <p:sp>
        <p:nvSpPr>
          <p:cNvPr id="41" name="Arrow"/>
          <p:cNvSpPr/>
          <p:nvPr/>
        </p:nvSpPr>
        <p:spPr>
          <a:xfrm>
            <a:off x="6355080" y="4407408"/>
            <a:ext cx="502920" cy="0"/>
          </a:xfrm>
          <a:prstGeom prst="line">
            <a:avLst/>
          </a:prstGeom>
          <a:noFill/>
          <a:ln w="25400">
            <a:solidFill>
              <a:srgbClr val="B8862B"/>
            </a:solidFill>
            <a:prstDash val="solid"/>
            <a:tailEnd type="triangle"/>
          </a:ln>
        </p:spPr>
      </p:sp>
      <p:sp>
        <p:nvSpPr>
          <p:cNvPr id="42" name="Arrow"/>
          <p:cNvSpPr/>
          <p:nvPr/>
        </p:nvSpPr>
        <p:spPr>
          <a:xfrm>
            <a:off x="5212080" y="5285232"/>
            <a:ext cx="0" cy="182880"/>
          </a:xfrm>
          <a:prstGeom prst="line">
            <a:avLst/>
          </a:prstGeom>
          <a:noFill/>
          <a:ln w="25400">
            <a:solidFill>
              <a:srgbClr val="78716C"/>
            </a:solidFill>
            <a:prstDash val="solid"/>
            <a:tailEnd type="triangle"/>
          </a:ln>
        </p:spPr>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DESIGN RATIONALE</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Why Two Pipelines?</a:t>
            </a:r>
            <a:endParaRPr lang="en-US" sz="3600" dirty="0"/>
          </a:p>
        </p:txBody>
      </p:sp>
      <p:sp>
        <p:nvSpPr>
          <p:cNvPr id="4" name="Intro"/>
          <p:cNvSpPr txBox="1"/>
          <p:nvPr/>
        </p:nvSpPr>
        <p:spPr>
          <a:xfrm>
            <a:off x="640080" y="1508760"/>
            <a:ext cx="10911535" cy="594360"/>
          </a:xfrm>
          <a:prstGeom prst="rect">
            <a:avLst/>
          </a:prstGeom>
          <a:noFill/>
          <a:ln/>
        </p:spPr>
        <p:txBody>
          <a:bodyPr wrap="square" lIns="0" tIns="0" rIns="0" bIns="0" rtlCol="0" anchor="t"/>
          <a:lstStyle/>
          <a:p>
            <a:pPr indent="0" marL="0">
              <a:buNone/>
            </a:pPr>
            <a:r>
              <a:rPr lang="en-US" sz="1600" dirty="0">
                <a:solidFill>
                  <a:srgbClr val="57534E"/>
                </a:solidFill>
              </a:rPr>
              <a:t>Sending every clause to a cloud LLM is slow, costly and can vary run to run, so each pipeline does only what it does best.</a:t>
            </a:r>
            <a:endParaRPr lang="en-US" sz="1600" dirty="0"/>
          </a:p>
        </p:txBody>
      </p:sp>
      <p:sp>
        <p:nvSpPr>
          <p:cNvPr id="5" name="Pipeline A · Edge ML"/>
          <p:cNvSpPr/>
          <p:nvPr/>
        </p:nvSpPr>
        <p:spPr>
          <a:xfrm>
            <a:off x="640080" y="2286000"/>
            <a:ext cx="5321808" cy="3840480"/>
          </a:xfrm>
          <a:prstGeom prst="roundRect">
            <a:avLst>
              <a:gd name="adj" fmla="val 2857"/>
            </a:avLst>
          </a:prstGeom>
          <a:solidFill>
            <a:schemeClr val="bg2"/>
          </a:solidFill>
          <a:ln/>
        </p:spPr>
      </p:sp>
      <p:sp>
        <p:nvSpPr>
          <p:cNvPr id="6" name="Pipeline A · Edge ML badge"/>
          <p:cNvSpPr/>
          <p:nvPr/>
        </p:nvSpPr>
        <p:spPr>
          <a:xfrm>
            <a:off x="914400" y="2487168"/>
            <a:ext cx="640080" cy="640080"/>
          </a:xfrm>
          <a:prstGeom prst="ellipse">
            <a:avLst/>
          </a:prstGeom>
          <a:solidFill>
            <a:schemeClr val="accent6"/>
          </a:solidFill>
          <a:ln/>
        </p:spPr>
      </p:sp>
      <p:pic>
        <p:nvPicPr>
          <p:cNvPr id="7" name="Image 0" descr="Pipeline A · Edge ML">    </p:cNvPr>
          <p:cNvPicPr>
            <a:picLocks noChangeAspect="1"/>
          </p:cNvPicPr>
          <p:nvPr/>
        </p:nvPicPr>
        <p:blipFill>
          <a:blip r:embed="rId1"/>
          <a:stretch>
            <a:fillRect/>
          </a:stretch>
        </p:blipFill>
        <p:spPr>
          <a:xfrm>
            <a:off x="1087222" y="2659990"/>
            <a:ext cx="294437" cy="294437"/>
          </a:xfrm>
          <a:prstGeom prst="rect">
            <a:avLst/>
          </a:prstGeom>
        </p:spPr>
      </p:pic>
      <p:sp>
        <p:nvSpPr>
          <p:cNvPr id="8" name="Pipeline name"/>
          <p:cNvSpPr txBox="1"/>
          <p:nvPr/>
        </p:nvSpPr>
        <p:spPr>
          <a:xfrm>
            <a:off x="1737360" y="2487168"/>
            <a:ext cx="4023360" cy="365760"/>
          </a:xfrm>
          <a:prstGeom prst="rect">
            <a:avLst/>
          </a:prstGeom>
          <a:noFill/>
          <a:ln/>
        </p:spPr>
        <p:txBody>
          <a:bodyPr wrap="square" lIns="0" tIns="0" rIns="0" bIns="0" rtlCol="0" anchor="t"/>
          <a:lstStyle/>
          <a:p>
            <a:pPr indent="0" marL="0">
              <a:buNone/>
            </a:pPr>
            <a:r>
              <a:rPr lang="en-US" sz="2000" b="1" dirty="0">
                <a:solidFill>
                  <a:schemeClr val="tx1"/>
                </a:solidFill>
              </a:rPr>
              <a:t>Pipeline A · Edge ML</a:t>
            </a:r>
            <a:endParaRPr lang="en-US" sz="2000" dirty="0"/>
          </a:p>
        </p:txBody>
      </p:sp>
      <p:sp>
        <p:nvSpPr>
          <p:cNvPr id="9" name="Pipeline sub"/>
          <p:cNvSpPr txBox="1"/>
          <p:nvPr/>
        </p:nvSpPr>
        <p:spPr>
          <a:xfrm>
            <a:off x="1737360" y="2871216"/>
            <a:ext cx="4023360" cy="274320"/>
          </a:xfrm>
          <a:prstGeom prst="rect">
            <a:avLst/>
          </a:prstGeom>
          <a:noFill/>
          <a:ln/>
        </p:spPr>
        <p:txBody>
          <a:bodyPr wrap="square" lIns="0" tIns="0" rIns="0" bIns="0" rtlCol="0" anchor="t"/>
          <a:lstStyle/>
          <a:p>
            <a:pPr indent="0" marL="0">
              <a:buNone/>
            </a:pPr>
            <a:r>
              <a:rPr lang="en-US" sz="1400" dirty="0">
                <a:solidFill>
                  <a:srgbClr val="57534E"/>
                </a:solidFill>
              </a:rPr>
              <a:t>Benchmark and ground</a:t>
            </a:r>
            <a:endParaRPr lang="en-US" sz="1400" dirty="0"/>
          </a:p>
        </p:txBody>
      </p:sp>
      <p:sp>
        <p:nvSpPr>
          <p:cNvPr id="10" name="Row label"/>
          <p:cNvSpPr txBox="1"/>
          <p:nvPr/>
        </p:nvSpPr>
        <p:spPr>
          <a:xfrm>
            <a:off x="914400" y="3429000"/>
            <a:ext cx="1280160" cy="411480"/>
          </a:xfrm>
          <a:prstGeom prst="rect">
            <a:avLst/>
          </a:prstGeom>
          <a:noFill/>
          <a:ln/>
        </p:spPr>
        <p:txBody>
          <a:bodyPr wrap="square" lIns="0" tIns="0" rIns="0" bIns="0" rtlCol="0" anchor="ctr"/>
          <a:lstStyle/>
          <a:p>
            <a:pPr indent="0" marL="0">
              <a:buNone/>
            </a:pPr>
            <a:r>
              <a:rPr lang="en-US" sz="1100" b="1" spc="100" kern="0" dirty="0">
                <a:solidFill>
                  <a:srgbClr val="57534E"/>
                </a:solidFill>
              </a:rPr>
              <a:t>ENGINE</a:t>
            </a:r>
            <a:endParaRPr lang="en-US" sz="1100" dirty="0"/>
          </a:p>
        </p:txBody>
      </p:sp>
      <p:sp>
        <p:nvSpPr>
          <p:cNvPr id="11" name="Row value"/>
          <p:cNvSpPr txBox="1"/>
          <p:nvPr/>
        </p:nvSpPr>
        <p:spPr>
          <a:xfrm>
            <a:off x="2240280" y="3429000"/>
            <a:ext cx="3566160" cy="411480"/>
          </a:xfrm>
          <a:prstGeom prst="rect">
            <a:avLst/>
          </a:prstGeom>
          <a:noFill/>
          <a:ln/>
        </p:spPr>
        <p:txBody>
          <a:bodyPr wrap="square" lIns="0" tIns="0" rIns="0" bIns="0" rtlCol="0" anchor="ctr"/>
          <a:lstStyle/>
          <a:p>
            <a:pPr indent="0" marL="0">
              <a:buNone/>
            </a:pPr>
            <a:r>
              <a:rPr lang="en-US" sz="1400" dirty="0">
                <a:solidFill>
                  <a:schemeClr val="tx1"/>
                </a:solidFill>
              </a:rPr>
              <a:t>MiniLM-L6-v2 via ONNX, in Node.js</a:t>
            </a:r>
            <a:endParaRPr lang="en-US" sz="1400" dirty="0"/>
          </a:p>
        </p:txBody>
      </p:sp>
      <p:sp>
        <p:nvSpPr>
          <p:cNvPr id="12" name="Row label"/>
          <p:cNvSpPr txBox="1"/>
          <p:nvPr/>
        </p:nvSpPr>
        <p:spPr>
          <a:xfrm>
            <a:off x="914400" y="3950208"/>
            <a:ext cx="1280160" cy="411480"/>
          </a:xfrm>
          <a:prstGeom prst="rect">
            <a:avLst/>
          </a:prstGeom>
          <a:noFill/>
          <a:ln/>
        </p:spPr>
        <p:txBody>
          <a:bodyPr wrap="square" lIns="0" tIns="0" rIns="0" bIns="0" rtlCol="0" anchor="ctr"/>
          <a:lstStyle/>
          <a:p>
            <a:pPr indent="0" marL="0">
              <a:buNone/>
            </a:pPr>
            <a:r>
              <a:rPr lang="en-US" sz="1100" b="1" spc="100" kern="0" dirty="0">
                <a:solidFill>
                  <a:srgbClr val="57534E"/>
                </a:solidFill>
              </a:rPr>
              <a:t>OUTPUT</a:t>
            </a:r>
            <a:endParaRPr lang="en-US" sz="1100" dirty="0"/>
          </a:p>
        </p:txBody>
      </p:sp>
      <p:sp>
        <p:nvSpPr>
          <p:cNvPr id="13" name="Row value"/>
          <p:cNvSpPr txBox="1"/>
          <p:nvPr/>
        </p:nvSpPr>
        <p:spPr>
          <a:xfrm>
            <a:off x="2240280" y="3950208"/>
            <a:ext cx="3566160" cy="411480"/>
          </a:xfrm>
          <a:prstGeom prst="rect">
            <a:avLst/>
          </a:prstGeom>
          <a:noFill/>
          <a:ln/>
        </p:spPr>
        <p:txBody>
          <a:bodyPr wrap="square" lIns="0" tIns="0" rIns="0" bIns="0" rtlCol="0" anchor="ctr"/>
          <a:lstStyle/>
          <a:p>
            <a:pPr indent="0" marL="0">
              <a:buNone/>
            </a:pPr>
            <a:r>
              <a:rPr lang="en-US" sz="1400" dirty="0">
                <a:solidFill>
                  <a:schemeClr val="tx1"/>
                </a:solidFill>
              </a:rPr>
              <a:t>Similarity %, category, ERR score</a:t>
            </a:r>
            <a:endParaRPr lang="en-US" sz="1400" dirty="0"/>
          </a:p>
        </p:txBody>
      </p:sp>
      <p:sp>
        <p:nvSpPr>
          <p:cNvPr id="14" name="Row label"/>
          <p:cNvSpPr txBox="1"/>
          <p:nvPr/>
        </p:nvSpPr>
        <p:spPr>
          <a:xfrm>
            <a:off x="914400" y="4471416"/>
            <a:ext cx="1280160" cy="411480"/>
          </a:xfrm>
          <a:prstGeom prst="rect">
            <a:avLst/>
          </a:prstGeom>
          <a:noFill/>
          <a:ln/>
        </p:spPr>
        <p:txBody>
          <a:bodyPr wrap="square" lIns="0" tIns="0" rIns="0" bIns="0" rtlCol="0" anchor="ctr"/>
          <a:lstStyle/>
          <a:p>
            <a:pPr indent="0" marL="0">
              <a:buNone/>
            </a:pPr>
            <a:r>
              <a:rPr lang="en-US" sz="1100" b="1" spc="100" kern="0" dirty="0">
                <a:solidFill>
                  <a:srgbClr val="57534E"/>
                </a:solidFill>
              </a:rPr>
              <a:t>BEHAVIOUR</a:t>
            </a:r>
            <a:endParaRPr lang="en-US" sz="1100" dirty="0"/>
          </a:p>
        </p:txBody>
      </p:sp>
      <p:sp>
        <p:nvSpPr>
          <p:cNvPr id="15" name="Row value"/>
          <p:cNvSpPr txBox="1"/>
          <p:nvPr/>
        </p:nvSpPr>
        <p:spPr>
          <a:xfrm>
            <a:off x="2240280" y="4471416"/>
            <a:ext cx="3566160" cy="411480"/>
          </a:xfrm>
          <a:prstGeom prst="rect">
            <a:avLst/>
          </a:prstGeom>
          <a:noFill/>
          <a:ln/>
        </p:spPr>
        <p:txBody>
          <a:bodyPr wrap="square" lIns="0" tIns="0" rIns="0" bIns="0" rtlCol="0" anchor="ctr"/>
          <a:lstStyle/>
          <a:p>
            <a:pPr indent="0" marL="0">
              <a:buNone/>
            </a:pPr>
            <a:r>
              <a:rPr lang="en-US" sz="1400" dirty="0">
                <a:solidFill>
                  <a:schemeClr val="tx1"/>
                </a:solidFill>
              </a:rPr>
              <a:t>Deterministic: same input, same output</a:t>
            </a:r>
            <a:endParaRPr lang="en-US" sz="1400" dirty="0"/>
          </a:p>
        </p:txBody>
      </p:sp>
      <p:sp>
        <p:nvSpPr>
          <p:cNvPr id="16" name="Row label"/>
          <p:cNvSpPr txBox="1"/>
          <p:nvPr/>
        </p:nvSpPr>
        <p:spPr>
          <a:xfrm>
            <a:off x="914400" y="4992624"/>
            <a:ext cx="1280160" cy="411480"/>
          </a:xfrm>
          <a:prstGeom prst="rect">
            <a:avLst/>
          </a:prstGeom>
          <a:noFill/>
          <a:ln/>
        </p:spPr>
        <p:txBody>
          <a:bodyPr wrap="square" lIns="0" tIns="0" rIns="0" bIns="0" rtlCol="0" anchor="ctr"/>
          <a:lstStyle/>
          <a:p>
            <a:pPr indent="0" marL="0">
              <a:buNone/>
            </a:pPr>
            <a:r>
              <a:rPr lang="en-US" sz="1100" b="1" spc="100" kern="0" dirty="0">
                <a:solidFill>
                  <a:srgbClr val="57534E"/>
                </a:solidFill>
              </a:rPr>
              <a:t>COST &amp; SPEED</a:t>
            </a:r>
            <a:endParaRPr lang="en-US" sz="1100" dirty="0"/>
          </a:p>
        </p:txBody>
      </p:sp>
      <p:sp>
        <p:nvSpPr>
          <p:cNvPr id="17" name="Row value"/>
          <p:cNvSpPr txBox="1"/>
          <p:nvPr/>
        </p:nvSpPr>
        <p:spPr>
          <a:xfrm>
            <a:off x="2240280" y="4992624"/>
            <a:ext cx="3566160" cy="411480"/>
          </a:xfrm>
          <a:prstGeom prst="rect">
            <a:avLst/>
          </a:prstGeom>
          <a:noFill/>
          <a:ln/>
        </p:spPr>
        <p:txBody>
          <a:bodyPr wrap="square" lIns="0" tIns="0" rIns="0" bIns="0" rtlCol="0" anchor="ctr"/>
          <a:lstStyle/>
          <a:p>
            <a:pPr indent="0" marL="0">
              <a:buNone/>
            </a:pPr>
            <a:r>
              <a:rPr lang="en-US" sz="1400" dirty="0">
                <a:solidFill>
                  <a:schemeClr val="tx1"/>
                </a:solidFill>
              </a:rPr>
              <a:t>No API cost, &lt;150 ms lookup</a:t>
            </a:r>
            <a:endParaRPr lang="en-US" sz="1400" dirty="0"/>
          </a:p>
        </p:txBody>
      </p:sp>
      <p:sp>
        <p:nvSpPr>
          <p:cNvPr id="18" name="Row label"/>
          <p:cNvSpPr txBox="1"/>
          <p:nvPr/>
        </p:nvSpPr>
        <p:spPr>
          <a:xfrm>
            <a:off x="914400" y="5513832"/>
            <a:ext cx="1280160" cy="411480"/>
          </a:xfrm>
          <a:prstGeom prst="rect">
            <a:avLst/>
          </a:prstGeom>
          <a:noFill/>
          <a:ln/>
        </p:spPr>
        <p:txBody>
          <a:bodyPr wrap="square" lIns="0" tIns="0" rIns="0" bIns="0" rtlCol="0" anchor="ctr"/>
          <a:lstStyle/>
          <a:p>
            <a:pPr indent="0" marL="0">
              <a:buNone/>
            </a:pPr>
            <a:r>
              <a:rPr lang="en-US" sz="1100" b="1" spc="100" kern="0" dirty="0">
                <a:solidFill>
                  <a:srgbClr val="57534E"/>
                </a:solidFill>
              </a:rPr>
              <a:t>ROLE</a:t>
            </a:r>
            <a:endParaRPr lang="en-US" sz="1100" dirty="0"/>
          </a:p>
        </p:txBody>
      </p:sp>
      <p:sp>
        <p:nvSpPr>
          <p:cNvPr id="19" name="Row value"/>
          <p:cNvSpPr txBox="1"/>
          <p:nvPr/>
        </p:nvSpPr>
        <p:spPr>
          <a:xfrm>
            <a:off x="2240280" y="5513832"/>
            <a:ext cx="3566160" cy="411480"/>
          </a:xfrm>
          <a:prstGeom prst="rect">
            <a:avLst/>
          </a:prstGeom>
          <a:noFill/>
          <a:ln/>
        </p:spPr>
        <p:txBody>
          <a:bodyPr wrap="square" lIns="0" tIns="0" rIns="0" bIns="0" rtlCol="0" anchor="ctr"/>
          <a:lstStyle/>
          <a:p>
            <a:pPr indent="0" marL="0">
              <a:buNone/>
            </a:pPr>
            <a:r>
              <a:rPr lang="en-US" sz="1400" dirty="0">
                <a:solidFill>
                  <a:schemeClr val="tx1"/>
                </a:solidFill>
              </a:rPr>
              <a:t>Ground-truth benchmark</a:t>
            </a:r>
            <a:endParaRPr lang="en-US" sz="1400" dirty="0"/>
          </a:p>
        </p:txBody>
      </p:sp>
      <p:sp>
        <p:nvSpPr>
          <p:cNvPr id="20" name="Pipeline B · Generative LLM"/>
          <p:cNvSpPr/>
          <p:nvPr/>
        </p:nvSpPr>
        <p:spPr>
          <a:xfrm>
            <a:off x="6227064" y="2286000"/>
            <a:ext cx="5321808" cy="3840480"/>
          </a:xfrm>
          <a:prstGeom prst="roundRect">
            <a:avLst>
              <a:gd name="adj" fmla="val 2857"/>
            </a:avLst>
          </a:prstGeom>
          <a:solidFill>
            <a:schemeClr val="bg2"/>
          </a:solidFill>
          <a:ln/>
        </p:spPr>
      </p:sp>
      <p:sp>
        <p:nvSpPr>
          <p:cNvPr id="21" name="Pipeline B · Generative LLM badge"/>
          <p:cNvSpPr/>
          <p:nvPr/>
        </p:nvSpPr>
        <p:spPr>
          <a:xfrm>
            <a:off x="6501384" y="2487168"/>
            <a:ext cx="640080" cy="640080"/>
          </a:xfrm>
          <a:prstGeom prst="ellipse">
            <a:avLst/>
          </a:prstGeom>
          <a:solidFill>
            <a:schemeClr val="tx1"/>
          </a:solidFill>
          <a:ln/>
        </p:spPr>
      </p:sp>
      <p:pic>
        <p:nvPicPr>
          <p:cNvPr id="22" name="Image 1" descr="Pipeline B · Generative LLM">    </p:cNvPr>
          <p:cNvPicPr>
            <a:picLocks noChangeAspect="1"/>
          </p:cNvPicPr>
          <p:nvPr/>
        </p:nvPicPr>
        <p:blipFill>
          <a:blip r:embed="rId2"/>
          <a:stretch>
            <a:fillRect/>
          </a:stretch>
        </p:blipFill>
        <p:spPr>
          <a:xfrm>
            <a:off x="6674206" y="2659990"/>
            <a:ext cx="294437" cy="294437"/>
          </a:xfrm>
          <a:prstGeom prst="rect">
            <a:avLst/>
          </a:prstGeom>
        </p:spPr>
      </p:pic>
      <p:sp>
        <p:nvSpPr>
          <p:cNvPr id="23" name="Pipeline name"/>
          <p:cNvSpPr txBox="1"/>
          <p:nvPr/>
        </p:nvSpPr>
        <p:spPr>
          <a:xfrm>
            <a:off x="7324344" y="2487168"/>
            <a:ext cx="4023360" cy="365760"/>
          </a:xfrm>
          <a:prstGeom prst="rect">
            <a:avLst/>
          </a:prstGeom>
          <a:noFill/>
          <a:ln/>
        </p:spPr>
        <p:txBody>
          <a:bodyPr wrap="square" lIns="0" tIns="0" rIns="0" bIns="0" rtlCol="0" anchor="t"/>
          <a:lstStyle/>
          <a:p>
            <a:pPr indent="0" marL="0">
              <a:buNone/>
            </a:pPr>
            <a:r>
              <a:rPr lang="en-US" sz="2000" b="1" dirty="0">
                <a:solidFill>
                  <a:schemeClr val="tx1"/>
                </a:solidFill>
              </a:rPr>
              <a:t>Pipeline B · Generative LLM</a:t>
            </a:r>
            <a:endParaRPr lang="en-US" sz="2000" dirty="0"/>
          </a:p>
        </p:txBody>
      </p:sp>
      <p:sp>
        <p:nvSpPr>
          <p:cNvPr id="24" name="Pipeline sub"/>
          <p:cNvSpPr txBox="1"/>
          <p:nvPr/>
        </p:nvSpPr>
        <p:spPr>
          <a:xfrm>
            <a:off x="7324344" y="2871216"/>
            <a:ext cx="4023360" cy="274320"/>
          </a:xfrm>
          <a:prstGeom prst="rect">
            <a:avLst/>
          </a:prstGeom>
          <a:noFill/>
          <a:ln/>
        </p:spPr>
        <p:txBody>
          <a:bodyPr wrap="square" lIns="0" tIns="0" rIns="0" bIns="0" rtlCol="0" anchor="t"/>
          <a:lstStyle/>
          <a:p>
            <a:pPr indent="0" marL="0">
              <a:buNone/>
            </a:pPr>
            <a:r>
              <a:rPr lang="en-US" sz="1400" dirty="0">
                <a:solidFill>
                  <a:srgbClr val="57534E"/>
                </a:solidFill>
              </a:rPr>
              <a:t>Reason and draft</a:t>
            </a:r>
            <a:endParaRPr lang="en-US" sz="1400" dirty="0"/>
          </a:p>
        </p:txBody>
      </p:sp>
      <p:sp>
        <p:nvSpPr>
          <p:cNvPr id="25" name="Row label"/>
          <p:cNvSpPr txBox="1"/>
          <p:nvPr/>
        </p:nvSpPr>
        <p:spPr>
          <a:xfrm>
            <a:off x="6501384" y="3429000"/>
            <a:ext cx="1280160" cy="411480"/>
          </a:xfrm>
          <a:prstGeom prst="rect">
            <a:avLst/>
          </a:prstGeom>
          <a:noFill/>
          <a:ln/>
        </p:spPr>
        <p:txBody>
          <a:bodyPr wrap="square" lIns="0" tIns="0" rIns="0" bIns="0" rtlCol="0" anchor="ctr"/>
          <a:lstStyle/>
          <a:p>
            <a:pPr indent="0" marL="0">
              <a:buNone/>
            </a:pPr>
            <a:r>
              <a:rPr lang="en-US" sz="1100" b="1" spc="100" kern="0" dirty="0">
                <a:solidFill>
                  <a:srgbClr val="57534E"/>
                </a:solidFill>
              </a:rPr>
              <a:t>ENGINE</a:t>
            </a:r>
            <a:endParaRPr lang="en-US" sz="1100" dirty="0"/>
          </a:p>
        </p:txBody>
      </p:sp>
      <p:sp>
        <p:nvSpPr>
          <p:cNvPr id="26" name="Row value"/>
          <p:cNvSpPr txBox="1"/>
          <p:nvPr/>
        </p:nvSpPr>
        <p:spPr>
          <a:xfrm>
            <a:off x="7827264" y="3429000"/>
            <a:ext cx="3566160" cy="411480"/>
          </a:xfrm>
          <a:prstGeom prst="rect">
            <a:avLst/>
          </a:prstGeom>
          <a:noFill/>
          <a:ln/>
        </p:spPr>
        <p:txBody>
          <a:bodyPr wrap="square" lIns="0" tIns="0" rIns="0" bIns="0" rtlCol="0" anchor="ctr"/>
          <a:lstStyle/>
          <a:p>
            <a:pPr indent="0" marL="0">
              <a:buNone/>
            </a:pPr>
            <a:r>
              <a:rPr lang="en-US" sz="1400" dirty="0">
                <a:solidFill>
                  <a:schemeClr val="tx1"/>
                </a:solidFill>
              </a:rPr>
              <a:t>Llama 3.3 70B &amp; 3.1 8B on NVIDIA NIM</a:t>
            </a:r>
            <a:endParaRPr lang="en-US" sz="1400" dirty="0"/>
          </a:p>
        </p:txBody>
      </p:sp>
      <p:sp>
        <p:nvSpPr>
          <p:cNvPr id="27" name="Row label"/>
          <p:cNvSpPr txBox="1"/>
          <p:nvPr/>
        </p:nvSpPr>
        <p:spPr>
          <a:xfrm>
            <a:off x="6501384" y="3950208"/>
            <a:ext cx="1280160" cy="411480"/>
          </a:xfrm>
          <a:prstGeom prst="rect">
            <a:avLst/>
          </a:prstGeom>
          <a:noFill/>
          <a:ln/>
        </p:spPr>
        <p:txBody>
          <a:bodyPr wrap="square" lIns="0" tIns="0" rIns="0" bIns="0" rtlCol="0" anchor="ctr"/>
          <a:lstStyle/>
          <a:p>
            <a:pPr indent="0" marL="0">
              <a:buNone/>
            </a:pPr>
            <a:r>
              <a:rPr lang="en-US" sz="1100" b="1" spc="100" kern="0" dirty="0">
                <a:solidFill>
                  <a:srgbClr val="57534E"/>
                </a:solidFill>
              </a:rPr>
              <a:t>OUTPUT</a:t>
            </a:r>
            <a:endParaRPr lang="en-US" sz="1100" dirty="0"/>
          </a:p>
        </p:txBody>
      </p:sp>
      <p:sp>
        <p:nvSpPr>
          <p:cNvPr id="28" name="Row value"/>
          <p:cNvSpPr txBox="1"/>
          <p:nvPr/>
        </p:nvSpPr>
        <p:spPr>
          <a:xfrm>
            <a:off x="7827264" y="3950208"/>
            <a:ext cx="3566160" cy="411480"/>
          </a:xfrm>
          <a:prstGeom prst="rect">
            <a:avLst/>
          </a:prstGeom>
          <a:noFill/>
          <a:ln/>
        </p:spPr>
        <p:txBody>
          <a:bodyPr wrap="square" lIns="0" tIns="0" rIns="0" bIns="0" rtlCol="0" anchor="ctr"/>
          <a:lstStyle/>
          <a:p>
            <a:pPr indent="0" marL="0">
              <a:buNone/>
            </a:pPr>
            <a:r>
              <a:rPr lang="en-US" sz="1400" dirty="0">
                <a:solidFill>
                  <a:schemeClr val="tx1"/>
                </a:solidFill>
              </a:rPr>
              <a:t>Risk score, red flags, redlines</a:t>
            </a:r>
            <a:endParaRPr lang="en-US" sz="1400" dirty="0"/>
          </a:p>
        </p:txBody>
      </p:sp>
      <p:sp>
        <p:nvSpPr>
          <p:cNvPr id="29" name="Row label"/>
          <p:cNvSpPr txBox="1"/>
          <p:nvPr/>
        </p:nvSpPr>
        <p:spPr>
          <a:xfrm>
            <a:off x="6501384" y="4471416"/>
            <a:ext cx="1280160" cy="411480"/>
          </a:xfrm>
          <a:prstGeom prst="rect">
            <a:avLst/>
          </a:prstGeom>
          <a:noFill/>
          <a:ln/>
        </p:spPr>
        <p:txBody>
          <a:bodyPr wrap="square" lIns="0" tIns="0" rIns="0" bIns="0" rtlCol="0" anchor="ctr"/>
          <a:lstStyle/>
          <a:p>
            <a:pPr indent="0" marL="0">
              <a:buNone/>
            </a:pPr>
            <a:r>
              <a:rPr lang="en-US" sz="1100" b="1" spc="100" kern="0" dirty="0">
                <a:solidFill>
                  <a:srgbClr val="57534E"/>
                </a:solidFill>
              </a:rPr>
              <a:t>BEHAVIOUR</a:t>
            </a:r>
            <a:endParaRPr lang="en-US" sz="1100" dirty="0"/>
          </a:p>
        </p:txBody>
      </p:sp>
      <p:sp>
        <p:nvSpPr>
          <p:cNvPr id="30" name="Row value"/>
          <p:cNvSpPr txBox="1"/>
          <p:nvPr/>
        </p:nvSpPr>
        <p:spPr>
          <a:xfrm>
            <a:off x="7827264" y="4471416"/>
            <a:ext cx="3566160" cy="411480"/>
          </a:xfrm>
          <a:prstGeom prst="rect">
            <a:avLst/>
          </a:prstGeom>
          <a:noFill/>
          <a:ln/>
        </p:spPr>
        <p:txBody>
          <a:bodyPr wrap="square" lIns="0" tIns="0" rIns="0" bIns="0" rtlCol="0" anchor="ctr"/>
          <a:lstStyle/>
          <a:p>
            <a:pPr indent="0" marL="0">
              <a:buNone/>
            </a:pPr>
            <a:r>
              <a:rPr lang="en-US" sz="1400" dirty="0">
                <a:solidFill>
                  <a:schemeClr val="tx1"/>
                </a:solidFill>
              </a:rPr>
              <a:t>Contextual reasoning, wording can vary</a:t>
            </a:r>
            <a:endParaRPr lang="en-US" sz="1400" dirty="0"/>
          </a:p>
        </p:txBody>
      </p:sp>
      <p:sp>
        <p:nvSpPr>
          <p:cNvPr id="31" name="Row label"/>
          <p:cNvSpPr txBox="1"/>
          <p:nvPr/>
        </p:nvSpPr>
        <p:spPr>
          <a:xfrm>
            <a:off x="6501384" y="4992624"/>
            <a:ext cx="1280160" cy="411480"/>
          </a:xfrm>
          <a:prstGeom prst="rect">
            <a:avLst/>
          </a:prstGeom>
          <a:noFill/>
          <a:ln/>
        </p:spPr>
        <p:txBody>
          <a:bodyPr wrap="square" lIns="0" tIns="0" rIns="0" bIns="0" rtlCol="0" anchor="ctr"/>
          <a:lstStyle/>
          <a:p>
            <a:pPr indent="0" marL="0">
              <a:buNone/>
            </a:pPr>
            <a:r>
              <a:rPr lang="en-US" sz="1100" b="1" spc="100" kern="0" dirty="0">
                <a:solidFill>
                  <a:srgbClr val="57534E"/>
                </a:solidFill>
              </a:rPr>
              <a:t>COST &amp; SPEED</a:t>
            </a:r>
            <a:endParaRPr lang="en-US" sz="1100" dirty="0"/>
          </a:p>
        </p:txBody>
      </p:sp>
      <p:sp>
        <p:nvSpPr>
          <p:cNvPr id="32" name="Row value"/>
          <p:cNvSpPr txBox="1"/>
          <p:nvPr/>
        </p:nvSpPr>
        <p:spPr>
          <a:xfrm>
            <a:off x="7827264" y="4992624"/>
            <a:ext cx="3566160" cy="411480"/>
          </a:xfrm>
          <a:prstGeom prst="rect">
            <a:avLst/>
          </a:prstGeom>
          <a:noFill/>
          <a:ln/>
        </p:spPr>
        <p:txBody>
          <a:bodyPr wrap="square" lIns="0" tIns="0" rIns="0" bIns="0" rtlCol="0" anchor="ctr"/>
          <a:lstStyle/>
          <a:p>
            <a:pPr indent="0" marL="0">
              <a:buNone/>
            </a:pPr>
            <a:r>
              <a:rPr lang="en-US" sz="1400" dirty="0">
                <a:solidFill>
                  <a:schemeClr val="tx1"/>
                </a:solidFill>
              </a:rPr>
              <a:t>Per-call cost, streamed in seconds</a:t>
            </a:r>
            <a:endParaRPr lang="en-US" sz="1400" dirty="0"/>
          </a:p>
        </p:txBody>
      </p:sp>
      <p:sp>
        <p:nvSpPr>
          <p:cNvPr id="33" name="Row label"/>
          <p:cNvSpPr txBox="1"/>
          <p:nvPr/>
        </p:nvSpPr>
        <p:spPr>
          <a:xfrm>
            <a:off x="6501384" y="5513832"/>
            <a:ext cx="1280160" cy="411480"/>
          </a:xfrm>
          <a:prstGeom prst="rect">
            <a:avLst/>
          </a:prstGeom>
          <a:noFill/>
          <a:ln/>
        </p:spPr>
        <p:txBody>
          <a:bodyPr wrap="square" lIns="0" tIns="0" rIns="0" bIns="0" rtlCol="0" anchor="ctr"/>
          <a:lstStyle/>
          <a:p>
            <a:pPr indent="0" marL="0">
              <a:buNone/>
            </a:pPr>
            <a:r>
              <a:rPr lang="en-US" sz="1100" b="1" spc="100" kern="0" dirty="0">
                <a:solidFill>
                  <a:srgbClr val="57534E"/>
                </a:solidFill>
              </a:rPr>
              <a:t>ROLE</a:t>
            </a:r>
            <a:endParaRPr lang="en-US" sz="1100" dirty="0"/>
          </a:p>
        </p:txBody>
      </p:sp>
      <p:sp>
        <p:nvSpPr>
          <p:cNvPr id="34" name="Row value"/>
          <p:cNvSpPr txBox="1"/>
          <p:nvPr/>
        </p:nvSpPr>
        <p:spPr>
          <a:xfrm>
            <a:off x="7827264" y="5513832"/>
            <a:ext cx="3566160" cy="411480"/>
          </a:xfrm>
          <a:prstGeom prst="rect">
            <a:avLst/>
          </a:prstGeom>
          <a:noFill/>
          <a:ln/>
        </p:spPr>
        <p:txBody>
          <a:bodyPr wrap="square" lIns="0" tIns="0" rIns="0" bIns="0" rtlCol="0" anchor="ctr"/>
          <a:lstStyle/>
          <a:p>
            <a:pPr indent="0" marL="0">
              <a:buNone/>
            </a:pPr>
            <a:r>
              <a:rPr lang="en-US" sz="1400" dirty="0">
                <a:solidFill>
                  <a:schemeClr val="tx1"/>
                </a:solidFill>
              </a:rPr>
              <a:t>Explain, negotiate and draft</a:t>
            </a:r>
            <a:endParaRPr lang="en-US" sz="14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PIPELINE A</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The Edge ML Engine</a:t>
            </a:r>
            <a:endParaRPr lang="en-US" sz="3600" dirty="0"/>
          </a:p>
        </p:txBody>
      </p:sp>
      <p:sp>
        <p:nvSpPr>
          <p:cNvPr id="4" name="Step card 1"/>
          <p:cNvSpPr/>
          <p:nvPr/>
        </p:nvSpPr>
        <p:spPr>
          <a:xfrm>
            <a:off x="640080" y="1645920"/>
            <a:ext cx="1938528" cy="2194560"/>
          </a:xfrm>
          <a:prstGeom prst="roundRect">
            <a:avLst>
              <a:gd name="adj" fmla="val 5660"/>
            </a:avLst>
          </a:prstGeom>
          <a:solidFill>
            <a:schemeClr val="bg2"/>
          </a:solidFill>
          <a:ln/>
        </p:spPr>
      </p:sp>
      <p:sp>
        <p:nvSpPr>
          <p:cNvPr id="5" name="Step 1"/>
          <p:cNvSpPr/>
          <p:nvPr/>
        </p:nvSpPr>
        <p:spPr>
          <a:xfrm>
            <a:off x="868680" y="1847088"/>
            <a:ext cx="457200" cy="457200"/>
          </a:xfrm>
          <a:prstGeom prst="ellipse">
            <a:avLst/>
          </a:prstGeom>
          <a:solidFill>
            <a:schemeClr val="accent6"/>
          </a:solidFill>
          <a:ln/>
        </p:spPr>
      </p:sp>
      <p:sp>
        <p:nvSpPr>
          <p:cNvPr id="6" name="Step number 1"/>
          <p:cNvSpPr txBox="1"/>
          <p:nvPr/>
        </p:nvSpPr>
        <p:spPr>
          <a:xfrm>
            <a:off x="868680" y="18470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Step title"/>
          <p:cNvSpPr txBox="1"/>
          <p:nvPr/>
        </p:nvSpPr>
        <p:spPr>
          <a:xfrm>
            <a:off x="868680" y="2514600"/>
            <a:ext cx="1572768" cy="365760"/>
          </a:xfrm>
          <a:prstGeom prst="rect">
            <a:avLst/>
          </a:prstGeom>
          <a:noFill/>
          <a:ln/>
        </p:spPr>
        <p:txBody>
          <a:bodyPr wrap="square" lIns="0" tIns="0" rIns="0" bIns="0" rtlCol="0" anchor="t"/>
          <a:lstStyle/>
          <a:p>
            <a:pPr indent="0" marL="0">
              <a:buNone/>
            </a:pPr>
            <a:r>
              <a:rPr lang="en-US" sz="1700" b="1" dirty="0">
                <a:solidFill>
                  <a:schemeClr val="tx1"/>
                </a:solidFill>
              </a:rPr>
              <a:t>Clause text</a:t>
            </a:r>
            <a:endParaRPr lang="en-US" sz="1700" dirty="0"/>
          </a:p>
        </p:txBody>
      </p:sp>
      <p:sp>
        <p:nvSpPr>
          <p:cNvPr id="8" name="Step text"/>
          <p:cNvSpPr txBox="1"/>
          <p:nvPr/>
        </p:nvSpPr>
        <p:spPr>
          <a:xfrm>
            <a:off x="868680" y="2907792"/>
            <a:ext cx="1572768" cy="868680"/>
          </a:xfrm>
          <a:prstGeom prst="rect">
            <a:avLst/>
          </a:prstGeom>
          <a:noFill/>
          <a:ln/>
        </p:spPr>
        <p:txBody>
          <a:bodyPr wrap="square" lIns="0" tIns="0" rIns="0" bIns="0" rtlCol="0" anchor="t"/>
          <a:lstStyle/>
          <a:p>
            <a:pPr indent="0" marL="0">
              <a:buNone/>
            </a:pPr>
            <a:r>
              <a:rPr lang="en-US" sz="1400" dirty="0">
                <a:solidFill>
                  <a:srgbClr val="57534E"/>
                </a:solidFill>
              </a:rPr>
              <a:t>Any clause from an uploaded contract</a:t>
            </a:r>
            <a:endParaRPr lang="en-US" sz="1400" dirty="0"/>
          </a:p>
        </p:txBody>
      </p:sp>
      <p:sp>
        <p:nvSpPr>
          <p:cNvPr id="9" name="Arrow"/>
          <p:cNvSpPr/>
          <p:nvPr/>
        </p:nvSpPr>
        <p:spPr>
          <a:xfrm>
            <a:off x="2615184" y="2743200"/>
            <a:ext cx="231572" cy="0"/>
          </a:xfrm>
          <a:prstGeom prst="line">
            <a:avLst/>
          </a:prstGeom>
          <a:noFill/>
          <a:ln w="25400">
            <a:solidFill>
              <a:srgbClr val="0F766E"/>
            </a:solidFill>
            <a:prstDash val="solid"/>
            <a:tailEnd type="triangle"/>
          </a:ln>
        </p:spPr>
      </p:sp>
      <p:sp>
        <p:nvSpPr>
          <p:cNvPr id="10" name="Step card 2"/>
          <p:cNvSpPr/>
          <p:nvPr/>
        </p:nvSpPr>
        <p:spPr>
          <a:xfrm>
            <a:off x="2883332" y="1645920"/>
            <a:ext cx="1938528" cy="2194560"/>
          </a:xfrm>
          <a:prstGeom prst="roundRect">
            <a:avLst>
              <a:gd name="adj" fmla="val 5660"/>
            </a:avLst>
          </a:prstGeom>
          <a:solidFill>
            <a:schemeClr val="bg2"/>
          </a:solidFill>
          <a:ln/>
        </p:spPr>
      </p:sp>
      <p:sp>
        <p:nvSpPr>
          <p:cNvPr id="11" name="Step 2"/>
          <p:cNvSpPr/>
          <p:nvPr/>
        </p:nvSpPr>
        <p:spPr>
          <a:xfrm>
            <a:off x="3111932" y="1847088"/>
            <a:ext cx="457200" cy="457200"/>
          </a:xfrm>
          <a:prstGeom prst="ellipse">
            <a:avLst/>
          </a:prstGeom>
          <a:solidFill>
            <a:schemeClr val="accent6"/>
          </a:solidFill>
          <a:ln/>
        </p:spPr>
      </p:sp>
      <p:sp>
        <p:nvSpPr>
          <p:cNvPr id="12" name="Step number 2"/>
          <p:cNvSpPr txBox="1"/>
          <p:nvPr/>
        </p:nvSpPr>
        <p:spPr>
          <a:xfrm>
            <a:off x="3111932" y="18470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Step title"/>
          <p:cNvSpPr txBox="1"/>
          <p:nvPr/>
        </p:nvSpPr>
        <p:spPr>
          <a:xfrm>
            <a:off x="3111932" y="2514600"/>
            <a:ext cx="1572768" cy="365760"/>
          </a:xfrm>
          <a:prstGeom prst="rect">
            <a:avLst/>
          </a:prstGeom>
          <a:noFill/>
          <a:ln/>
        </p:spPr>
        <p:txBody>
          <a:bodyPr wrap="square" lIns="0" tIns="0" rIns="0" bIns="0" rtlCol="0" anchor="t"/>
          <a:lstStyle/>
          <a:p>
            <a:pPr indent="0" marL="0">
              <a:buNone/>
            </a:pPr>
            <a:r>
              <a:rPr lang="en-US" sz="1700" b="1" dirty="0">
                <a:solidFill>
                  <a:schemeClr val="tx1"/>
                </a:solidFill>
              </a:rPr>
              <a:t>Embed</a:t>
            </a:r>
            <a:endParaRPr lang="en-US" sz="1700" dirty="0"/>
          </a:p>
        </p:txBody>
      </p:sp>
      <p:sp>
        <p:nvSpPr>
          <p:cNvPr id="14" name="Step text"/>
          <p:cNvSpPr txBox="1"/>
          <p:nvPr/>
        </p:nvSpPr>
        <p:spPr>
          <a:xfrm>
            <a:off x="3111932" y="2907792"/>
            <a:ext cx="1572768" cy="868680"/>
          </a:xfrm>
          <a:prstGeom prst="rect">
            <a:avLst/>
          </a:prstGeom>
          <a:noFill/>
          <a:ln/>
        </p:spPr>
        <p:txBody>
          <a:bodyPr wrap="square" lIns="0" tIns="0" rIns="0" bIns="0" rtlCol="0" anchor="t"/>
          <a:lstStyle/>
          <a:p>
            <a:pPr indent="0" marL="0">
              <a:buNone/>
            </a:pPr>
            <a:r>
              <a:rPr lang="en-US" sz="1400" dirty="0">
                <a:solidFill>
                  <a:srgbClr val="57534E"/>
                </a:solidFill>
              </a:rPr>
              <a:t>MiniLM-L6-v2, mean pooling + L2 norm → 384-d</a:t>
            </a:r>
            <a:endParaRPr lang="en-US" sz="1400" dirty="0"/>
          </a:p>
        </p:txBody>
      </p:sp>
      <p:sp>
        <p:nvSpPr>
          <p:cNvPr id="15" name="Arrow"/>
          <p:cNvSpPr/>
          <p:nvPr/>
        </p:nvSpPr>
        <p:spPr>
          <a:xfrm>
            <a:off x="4858436" y="2743200"/>
            <a:ext cx="231572" cy="0"/>
          </a:xfrm>
          <a:prstGeom prst="line">
            <a:avLst/>
          </a:prstGeom>
          <a:noFill/>
          <a:ln w="25400">
            <a:solidFill>
              <a:srgbClr val="0F766E"/>
            </a:solidFill>
            <a:prstDash val="solid"/>
            <a:tailEnd type="triangle"/>
          </a:ln>
        </p:spPr>
      </p:sp>
      <p:sp>
        <p:nvSpPr>
          <p:cNvPr id="16" name="Step card 3"/>
          <p:cNvSpPr/>
          <p:nvPr/>
        </p:nvSpPr>
        <p:spPr>
          <a:xfrm>
            <a:off x="5126584" y="1645920"/>
            <a:ext cx="1938528" cy="2194560"/>
          </a:xfrm>
          <a:prstGeom prst="roundRect">
            <a:avLst>
              <a:gd name="adj" fmla="val 5660"/>
            </a:avLst>
          </a:prstGeom>
          <a:solidFill>
            <a:schemeClr val="bg2"/>
          </a:solidFill>
          <a:ln/>
        </p:spPr>
      </p:sp>
      <p:sp>
        <p:nvSpPr>
          <p:cNvPr id="17" name="Step 3"/>
          <p:cNvSpPr/>
          <p:nvPr/>
        </p:nvSpPr>
        <p:spPr>
          <a:xfrm>
            <a:off x="5355184" y="1847088"/>
            <a:ext cx="457200" cy="457200"/>
          </a:xfrm>
          <a:prstGeom prst="ellipse">
            <a:avLst/>
          </a:prstGeom>
          <a:solidFill>
            <a:schemeClr val="accent6"/>
          </a:solidFill>
          <a:ln/>
        </p:spPr>
      </p:sp>
      <p:sp>
        <p:nvSpPr>
          <p:cNvPr id="18" name="Step number 3"/>
          <p:cNvSpPr txBox="1"/>
          <p:nvPr/>
        </p:nvSpPr>
        <p:spPr>
          <a:xfrm>
            <a:off x="5355184" y="18470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Step title"/>
          <p:cNvSpPr txBox="1"/>
          <p:nvPr/>
        </p:nvSpPr>
        <p:spPr>
          <a:xfrm>
            <a:off x="5355184" y="2514600"/>
            <a:ext cx="1572768" cy="365760"/>
          </a:xfrm>
          <a:prstGeom prst="rect">
            <a:avLst/>
          </a:prstGeom>
          <a:noFill/>
          <a:ln/>
        </p:spPr>
        <p:txBody>
          <a:bodyPr wrap="square" lIns="0" tIns="0" rIns="0" bIns="0" rtlCol="0" anchor="t"/>
          <a:lstStyle/>
          <a:p>
            <a:pPr indent="0" marL="0">
              <a:buNone/>
            </a:pPr>
            <a:r>
              <a:rPr lang="en-US" sz="1700" b="1" dirty="0">
                <a:solidFill>
                  <a:schemeClr val="tx1"/>
                </a:solidFill>
              </a:rPr>
              <a:t>Compare</a:t>
            </a:r>
            <a:endParaRPr lang="en-US" sz="1700" dirty="0"/>
          </a:p>
        </p:txBody>
      </p:sp>
      <p:sp>
        <p:nvSpPr>
          <p:cNvPr id="20" name="Step text"/>
          <p:cNvSpPr txBox="1"/>
          <p:nvPr/>
        </p:nvSpPr>
        <p:spPr>
          <a:xfrm>
            <a:off x="5355184" y="2907792"/>
            <a:ext cx="1572768" cy="868680"/>
          </a:xfrm>
          <a:prstGeom prst="rect">
            <a:avLst/>
          </a:prstGeom>
          <a:noFill/>
          <a:ln/>
        </p:spPr>
        <p:txBody>
          <a:bodyPr wrap="square" lIns="0" tIns="0" rIns="0" bIns="0" rtlCol="0" anchor="t"/>
          <a:lstStyle/>
          <a:p>
            <a:pPr indent="0" marL="0">
              <a:buNone/>
            </a:pPr>
            <a:r>
              <a:rPr lang="en-US" sz="1400" dirty="0">
                <a:solidFill>
                  <a:srgbClr val="57534E"/>
                </a:solidFill>
              </a:rPr>
              <a:t>Dot product vs 250 precomputed vectors</a:t>
            </a:r>
            <a:endParaRPr lang="en-US" sz="1400" dirty="0"/>
          </a:p>
        </p:txBody>
      </p:sp>
      <p:sp>
        <p:nvSpPr>
          <p:cNvPr id="21" name="Arrow"/>
          <p:cNvSpPr/>
          <p:nvPr/>
        </p:nvSpPr>
        <p:spPr>
          <a:xfrm>
            <a:off x="7101688" y="2743200"/>
            <a:ext cx="231572" cy="0"/>
          </a:xfrm>
          <a:prstGeom prst="line">
            <a:avLst/>
          </a:prstGeom>
          <a:noFill/>
          <a:ln w="25400">
            <a:solidFill>
              <a:srgbClr val="0F766E"/>
            </a:solidFill>
            <a:prstDash val="solid"/>
            <a:tailEnd type="triangle"/>
          </a:ln>
        </p:spPr>
      </p:sp>
      <p:sp>
        <p:nvSpPr>
          <p:cNvPr id="22" name="Step card 4"/>
          <p:cNvSpPr/>
          <p:nvPr/>
        </p:nvSpPr>
        <p:spPr>
          <a:xfrm>
            <a:off x="7369835" y="1645920"/>
            <a:ext cx="1938528" cy="2194560"/>
          </a:xfrm>
          <a:prstGeom prst="roundRect">
            <a:avLst>
              <a:gd name="adj" fmla="val 5660"/>
            </a:avLst>
          </a:prstGeom>
          <a:solidFill>
            <a:schemeClr val="bg2"/>
          </a:solidFill>
          <a:ln/>
        </p:spPr>
      </p:sp>
      <p:sp>
        <p:nvSpPr>
          <p:cNvPr id="23" name="Step 4"/>
          <p:cNvSpPr/>
          <p:nvPr/>
        </p:nvSpPr>
        <p:spPr>
          <a:xfrm>
            <a:off x="7598435" y="1847088"/>
            <a:ext cx="457200" cy="457200"/>
          </a:xfrm>
          <a:prstGeom prst="ellipse">
            <a:avLst/>
          </a:prstGeom>
          <a:solidFill>
            <a:schemeClr val="accent6"/>
          </a:solidFill>
          <a:ln/>
        </p:spPr>
      </p:sp>
      <p:sp>
        <p:nvSpPr>
          <p:cNvPr id="24" name="Step number 4"/>
          <p:cNvSpPr txBox="1"/>
          <p:nvPr/>
        </p:nvSpPr>
        <p:spPr>
          <a:xfrm>
            <a:off x="7598435" y="18470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Step title"/>
          <p:cNvSpPr txBox="1"/>
          <p:nvPr/>
        </p:nvSpPr>
        <p:spPr>
          <a:xfrm>
            <a:off x="7598435" y="2514600"/>
            <a:ext cx="1572768" cy="365760"/>
          </a:xfrm>
          <a:prstGeom prst="rect">
            <a:avLst/>
          </a:prstGeom>
          <a:noFill/>
          <a:ln/>
        </p:spPr>
        <p:txBody>
          <a:bodyPr wrap="square" lIns="0" tIns="0" rIns="0" bIns="0" rtlCol="0" anchor="t"/>
          <a:lstStyle/>
          <a:p>
            <a:pPr indent="0" marL="0">
              <a:buNone/>
            </a:pPr>
            <a:r>
              <a:rPr lang="en-US" sz="1700" b="1" dirty="0">
                <a:solidFill>
                  <a:schemeClr val="tx1"/>
                </a:solidFill>
              </a:rPr>
              <a:t>Top-K</a:t>
            </a:r>
            <a:endParaRPr lang="en-US" sz="1700" dirty="0"/>
          </a:p>
        </p:txBody>
      </p:sp>
      <p:sp>
        <p:nvSpPr>
          <p:cNvPr id="26" name="Step text"/>
          <p:cNvSpPr txBox="1"/>
          <p:nvPr/>
        </p:nvSpPr>
        <p:spPr>
          <a:xfrm>
            <a:off x="7598435" y="2907792"/>
            <a:ext cx="1572768" cy="868680"/>
          </a:xfrm>
          <a:prstGeom prst="rect">
            <a:avLst/>
          </a:prstGeom>
          <a:noFill/>
          <a:ln/>
        </p:spPr>
        <p:txBody>
          <a:bodyPr wrap="square" lIns="0" tIns="0" rIns="0" bIns="0" rtlCol="0" anchor="t"/>
          <a:lstStyle/>
          <a:p>
            <a:pPr indent="0" marL="0">
              <a:buNone/>
            </a:pPr>
            <a:r>
              <a:rPr lang="en-US" sz="1400" dirty="0">
                <a:solidFill>
                  <a:srgbClr val="57534E"/>
                </a:solidFill>
              </a:rPr>
              <a:t>Take the K = 3 nearest precedents</a:t>
            </a:r>
            <a:endParaRPr lang="en-US" sz="1400" dirty="0"/>
          </a:p>
        </p:txBody>
      </p:sp>
      <p:sp>
        <p:nvSpPr>
          <p:cNvPr id="27" name="Arrow"/>
          <p:cNvSpPr/>
          <p:nvPr/>
        </p:nvSpPr>
        <p:spPr>
          <a:xfrm>
            <a:off x="9344939" y="2743200"/>
            <a:ext cx="231572" cy="0"/>
          </a:xfrm>
          <a:prstGeom prst="line">
            <a:avLst/>
          </a:prstGeom>
          <a:noFill/>
          <a:ln w="25400">
            <a:solidFill>
              <a:srgbClr val="0F766E"/>
            </a:solidFill>
            <a:prstDash val="solid"/>
            <a:tailEnd type="triangle"/>
          </a:ln>
        </p:spPr>
      </p:sp>
      <p:sp>
        <p:nvSpPr>
          <p:cNvPr id="28" name="Step card 5"/>
          <p:cNvSpPr/>
          <p:nvPr/>
        </p:nvSpPr>
        <p:spPr>
          <a:xfrm>
            <a:off x="9613087" y="1645920"/>
            <a:ext cx="1938528" cy="2194560"/>
          </a:xfrm>
          <a:prstGeom prst="roundRect">
            <a:avLst>
              <a:gd name="adj" fmla="val 5660"/>
            </a:avLst>
          </a:prstGeom>
          <a:solidFill>
            <a:schemeClr val="bg2"/>
          </a:solidFill>
          <a:ln/>
        </p:spPr>
      </p:sp>
      <p:sp>
        <p:nvSpPr>
          <p:cNvPr id="29" name="Step 5"/>
          <p:cNvSpPr/>
          <p:nvPr/>
        </p:nvSpPr>
        <p:spPr>
          <a:xfrm>
            <a:off x="9841687" y="1847088"/>
            <a:ext cx="457200" cy="457200"/>
          </a:xfrm>
          <a:prstGeom prst="ellipse">
            <a:avLst/>
          </a:prstGeom>
          <a:solidFill>
            <a:schemeClr val="accent6"/>
          </a:solidFill>
          <a:ln/>
        </p:spPr>
      </p:sp>
      <p:sp>
        <p:nvSpPr>
          <p:cNvPr id="30" name="Step number 5"/>
          <p:cNvSpPr txBox="1"/>
          <p:nvPr/>
        </p:nvSpPr>
        <p:spPr>
          <a:xfrm>
            <a:off x="9841687" y="18470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1" name="Step title"/>
          <p:cNvSpPr txBox="1"/>
          <p:nvPr/>
        </p:nvSpPr>
        <p:spPr>
          <a:xfrm>
            <a:off x="9841687" y="2514600"/>
            <a:ext cx="1572768" cy="365760"/>
          </a:xfrm>
          <a:prstGeom prst="rect">
            <a:avLst/>
          </a:prstGeom>
          <a:noFill/>
          <a:ln/>
        </p:spPr>
        <p:txBody>
          <a:bodyPr wrap="square" lIns="0" tIns="0" rIns="0" bIns="0" rtlCol="0" anchor="t"/>
          <a:lstStyle/>
          <a:p>
            <a:pPr indent="0" marL="0">
              <a:buNone/>
            </a:pPr>
            <a:r>
              <a:rPr lang="en-US" sz="1700" b="1" dirty="0">
                <a:solidFill>
                  <a:schemeClr val="tx1"/>
                </a:solidFill>
              </a:rPr>
              <a:t>Vote</a:t>
            </a:r>
            <a:endParaRPr lang="en-US" sz="1700" dirty="0"/>
          </a:p>
        </p:txBody>
      </p:sp>
      <p:sp>
        <p:nvSpPr>
          <p:cNvPr id="32" name="Step text"/>
          <p:cNvSpPr txBox="1"/>
          <p:nvPr/>
        </p:nvSpPr>
        <p:spPr>
          <a:xfrm>
            <a:off x="9841687" y="2907792"/>
            <a:ext cx="1572768" cy="868680"/>
          </a:xfrm>
          <a:prstGeom prst="rect">
            <a:avLst/>
          </a:prstGeom>
          <a:noFill/>
          <a:ln/>
        </p:spPr>
        <p:txBody>
          <a:bodyPr wrap="square" lIns="0" tIns="0" rIns="0" bIns="0" rtlCol="0" anchor="t"/>
          <a:lstStyle/>
          <a:p>
            <a:pPr indent="0" marL="0">
              <a:buNone/>
            </a:pPr>
            <a:r>
              <a:rPr lang="en-US" sz="1400" dirty="0">
                <a:solidFill>
                  <a:srgbClr val="57534E"/>
                </a:solidFill>
              </a:rPr>
              <a:t>Majority category + confidence score</a:t>
            </a:r>
            <a:endParaRPr lang="en-US" sz="1400" dirty="0"/>
          </a:p>
        </p:txBody>
      </p:sp>
      <p:sp>
        <p:nvSpPr>
          <p:cNvPr id="33" name="Formula card"/>
          <p:cNvSpPr/>
          <p:nvPr/>
        </p:nvSpPr>
        <p:spPr>
          <a:xfrm>
            <a:off x="640080" y="4160520"/>
            <a:ext cx="5852160" cy="1920240"/>
          </a:xfrm>
          <a:prstGeom prst="roundRect">
            <a:avLst>
              <a:gd name="adj" fmla="val 5714"/>
            </a:avLst>
          </a:prstGeom>
          <a:solidFill>
            <a:schemeClr val="tx1"/>
          </a:solidFill>
          <a:ln/>
        </p:spPr>
      </p:sp>
      <p:sp>
        <p:nvSpPr>
          <p:cNvPr id="34" name="Formula label"/>
          <p:cNvSpPr txBox="1"/>
          <p:nvPr/>
        </p:nvSpPr>
        <p:spPr>
          <a:xfrm>
            <a:off x="960120" y="4343400"/>
            <a:ext cx="50292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SIMILARITY &amp; CONFIDENCE</a:t>
            </a:r>
            <a:endParaRPr lang="en-US" sz="1100" dirty="0"/>
          </a:p>
        </p:txBody>
      </p:sp>
      <p:sp>
        <p:nvSpPr>
          <p:cNvPr id="35" name="Formula"/>
          <p:cNvSpPr txBox="1"/>
          <p:nvPr/>
        </p:nvSpPr>
        <p:spPr>
          <a:xfrm>
            <a:off x="960120" y="4709160"/>
            <a:ext cx="5303520" cy="548640"/>
          </a:xfrm>
          <a:prstGeom prst="rect">
            <a:avLst/>
          </a:prstGeom>
          <a:noFill/>
          <a:ln/>
        </p:spPr>
        <p:txBody>
          <a:bodyPr wrap="square" lIns="0" tIns="0" rIns="0" bIns="0" rtlCol="0" anchor="ctr"/>
          <a:lstStyle/>
          <a:p>
            <a:pPr indent="0" marL="0">
              <a:buNone/>
            </a:pPr>
            <a:r>
              <a:rPr lang="en-US" sz="2600" dirty="0">
                <a:solidFill>
                  <a:schemeClr val="bg1"/>
                </a:solidFill>
                <a:latin typeface="+mj-lt" pitchFamily="34" charset="0"/>
                <a:ea typeface="+mj-lt" pitchFamily="34" charset="-122"/>
                <a:cs typeface="+mj-lt" pitchFamily="34" charset="-120"/>
              </a:rPr>
              <a:t>sim(A, B) = Σ A</a:t>
            </a:r>
            <a:pPr indent="0" marL="0">
              <a:buNone/>
            </a:pPr>
            <a:r>
              <a:rPr lang="en-US" sz="2600" baseline="-40000" dirty="0">
                <a:solidFill>
                  <a:schemeClr val="bg1"/>
                </a:solidFill>
                <a:latin typeface="+mj-lt" pitchFamily="34" charset="0"/>
                <a:ea typeface="+mj-lt" pitchFamily="34" charset="-122"/>
                <a:cs typeface="+mj-lt" pitchFamily="34" charset="-120"/>
              </a:rPr>
              <a:t>i</a:t>
            </a:r>
            <a:pPr indent="0" marL="0">
              <a:buNone/>
            </a:pPr>
            <a:r>
              <a:rPr lang="en-US" sz="2600" dirty="0">
                <a:solidFill>
                  <a:schemeClr val="bg1"/>
                </a:solidFill>
                <a:latin typeface="+mj-lt" pitchFamily="34" charset="0"/>
                <a:ea typeface="+mj-lt" pitchFamily="34" charset="-122"/>
                <a:cs typeface="+mj-lt" pitchFamily="34" charset="-120"/>
              </a:rPr>
              <a:t> · B</a:t>
            </a:r>
            <a:pPr indent="0" marL="0">
              <a:buNone/>
            </a:pPr>
            <a:r>
              <a:rPr lang="en-US" sz="2600" baseline="-40000" dirty="0">
                <a:solidFill>
                  <a:schemeClr val="bg1"/>
                </a:solidFill>
                <a:latin typeface="+mj-lt" pitchFamily="34" charset="0"/>
                <a:ea typeface="+mj-lt" pitchFamily="34" charset="-122"/>
                <a:cs typeface="+mj-lt" pitchFamily="34" charset="-120"/>
              </a:rPr>
              <a:t>i</a:t>
            </a:r>
            <a:pPr indent="0" marL="0">
              <a:buNone/>
            </a:pPr>
            <a:r>
              <a:rPr lang="en-US" sz="1500" dirty="0">
                <a:solidFill>
                  <a:srgbClr val="A8A29E"/>
                </a:solidFill>
                <a:latin typeface="+mj-lt" pitchFamily="34" charset="0"/>
                <a:ea typeface="+mj-lt" pitchFamily="34" charset="-122"/>
                <a:cs typeface="+mj-lt" pitchFamily="34" charset="-120"/>
              </a:rPr>
              <a:t>    (i = 1 … 384)</a:t>
            </a:r>
            <a:endParaRPr lang="en-US" sz="2600" dirty="0"/>
          </a:p>
        </p:txBody>
      </p:sp>
      <p:sp>
        <p:nvSpPr>
          <p:cNvPr id="36" name="Confidence formula"/>
          <p:cNvSpPr txBox="1"/>
          <p:nvPr/>
        </p:nvSpPr>
        <p:spPr>
          <a:xfrm>
            <a:off x="960120" y="5440680"/>
            <a:ext cx="5303520" cy="365760"/>
          </a:xfrm>
          <a:prstGeom prst="rect">
            <a:avLst/>
          </a:prstGeom>
          <a:noFill/>
          <a:ln/>
        </p:spPr>
        <p:txBody>
          <a:bodyPr wrap="square" lIns="0" tIns="0" rIns="0" bIns="0" rtlCol="0" anchor="t"/>
          <a:lstStyle/>
          <a:p>
            <a:pPr indent="0" marL="0">
              <a:buNone/>
            </a:pPr>
            <a:r>
              <a:rPr lang="en-US" sz="1600" dirty="0">
                <a:solidFill>
                  <a:schemeClr val="bg1"/>
                </a:solidFill>
              </a:rPr>
              <a:t>Confidence = votes for winning category ÷ K × 100%</a:t>
            </a:r>
            <a:endParaRPr lang="en-US" sz="1600" dirty="0"/>
          </a:p>
        </p:txBody>
      </p:sp>
      <p:sp>
        <p:nvSpPr>
          <p:cNvPr id="37" name="Stat card 384"/>
          <p:cNvSpPr/>
          <p:nvPr/>
        </p:nvSpPr>
        <p:spPr>
          <a:xfrm>
            <a:off x="6766560" y="4160520"/>
            <a:ext cx="1499616" cy="1920240"/>
          </a:xfrm>
          <a:prstGeom prst="roundRect">
            <a:avLst>
              <a:gd name="adj" fmla="val 7317"/>
            </a:avLst>
          </a:prstGeom>
          <a:solidFill>
            <a:schemeClr val="bg2"/>
          </a:solidFill>
          <a:ln/>
        </p:spPr>
      </p:sp>
      <p:sp>
        <p:nvSpPr>
          <p:cNvPr id="38" name="Stat number"/>
          <p:cNvSpPr txBox="1"/>
          <p:nvPr/>
        </p:nvSpPr>
        <p:spPr>
          <a:xfrm>
            <a:off x="6766560" y="4434840"/>
            <a:ext cx="1499616" cy="822960"/>
          </a:xfrm>
          <a:prstGeom prst="rect">
            <a:avLst/>
          </a:prstGeom>
          <a:noFill/>
          <a:ln/>
        </p:spPr>
        <p:txBody>
          <a:bodyPr wrap="square" lIns="0" tIns="0" rIns="0" bIns="0" rtlCol="0" anchor="ctr"/>
          <a:lstStyle/>
          <a:p>
            <a:pPr algn="ctr" indent="0" marL="0">
              <a:buNone/>
            </a:pPr>
            <a:r>
              <a:rPr lang="en-US" sz="4400" b="1" dirty="0">
                <a:solidFill>
                  <a:schemeClr val="accent6"/>
                </a:solidFill>
                <a:latin typeface="+mj-lt" pitchFamily="34" charset="0"/>
                <a:ea typeface="+mj-lt" pitchFamily="34" charset="-122"/>
                <a:cs typeface="+mj-lt" pitchFamily="34" charset="-120"/>
              </a:rPr>
              <a:t>384</a:t>
            </a:r>
            <a:endParaRPr lang="en-US" sz="4400" dirty="0"/>
          </a:p>
        </p:txBody>
      </p:sp>
      <p:sp>
        <p:nvSpPr>
          <p:cNvPr id="39" name="Stat label"/>
          <p:cNvSpPr txBox="1"/>
          <p:nvPr/>
        </p:nvSpPr>
        <p:spPr>
          <a:xfrm>
            <a:off x="6903720" y="5303520"/>
            <a:ext cx="1225296" cy="640080"/>
          </a:xfrm>
          <a:prstGeom prst="rect">
            <a:avLst/>
          </a:prstGeom>
          <a:noFill/>
          <a:ln/>
        </p:spPr>
        <p:txBody>
          <a:bodyPr wrap="square" lIns="0" tIns="0" rIns="0" bIns="0" rtlCol="0" anchor="t"/>
          <a:lstStyle/>
          <a:p>
            <a:pPr algn="ctr" indent="0" marL="0">
              <a:buNone/>
            </a:pPr>
            <a:r>
              <a:rPr lang="en-US" sz="1400" dirty="0">
                <a:solidFill>
                  <a:srgbClr val="57534E"/>
                </a:solidFill>
              </a:rPr>
              <a:t>dimensions per embedding</a:t>
            </a:r>
            <a:endParaRPr lang="en-US" sz="1400" dirty="0"/>
          </a:p>
        </p:txBody>
      </p:sp>
      <p:sp>
        <p:nvSpPr>
          <p:cNvPr id="40" name="Stat card 250"/>
          <p:cNvSpPr/>
          <p:nvPr/>
        </p:nvSpPr>
        <p:spPr>
          <a:xfrm>
            <a:off x="8407908" y="4160520"/>
            <a:ext cx="1499616" cy="1920240"/>
          </a:xfrm>
          <a:prstGeom prst="roundRect">
            <a:avLst>
              <a:gd name="adj" fmla="val 7317"/>
            </a:avLst>
          </a:prstGeom>
          <a:solidFill>
            <a:schemeClr val="bg2"/>
          </a:solidFill>
          <a:ln/>
        </p:spPr>
      </p:sp>
      <p:sp>
        <p:nvSpPr>
          <p:cNvPr id="41" name="Stat number"/>
          <p:cNvSpPr txBox="1"/>
          <p:nvPr/>
        </p:nvSpPr>
        <p:spPr>
          <a:xfrm>
            <a:off x="8407908" y="4434840"/>
            <a:ext cx="1499616" cy="822960"/>
          </a:xfrm>
          <a:prstGeom prst="rect">
            <a:avLst/>
          </a:prstGeom>
          <a:noFill/>
          <a:ln/>
        </p:spPr>
        <p:txBody>
          <a:bodyPr wrap="square" lIns="0" tIns="0" rIns="0" bIns="0" rtlCol="0" anchor="ctr"/>
          <a:lstStyle/>
          <a:p>
            <a:pPr algn="ctr" indent="0" marL="0">
              <a:buNone/>
            </a:pPr>
            <a:r>
              <a:rPr lang="en-US" sz="4400" b="1" dirty="0">
                <a:solidFill>
                  <a:schemeClr val="accent6"/>
                </a:solidFill>
                <a:latin typeface="+mj-lt" pitchFamily="34" charset="0"/>
                <a:ea typeface="+mj-lt" pitchFamily="34" charset="-122"/>
                <a:cs typeface="+mj-lt" pitchFamily="34" charset="-120"/>
              </a:rPr>
              <a:t>250</a:t>
            </a:r>
            <a:endParaRPr lang="en-US" sz="4400" dirty="0"/>
          </a:p>
        </p:txBody>
      </p:sp>
      <p:sp>
        <p:nvSpPr>
          <p:cNvPr id="42" name="Stat label"/>
          <p:cNvSpPr txBox="1"/>
          <p:nvPr/>
        </p:nvSpPr>
        <p:spPr>
          <a:xfrm>
            <a:off x="8545068" y="5303520"/>
            <a:ext cx="1225296" cy="640080"/>
          </a:xfrm>
          <a:prstGeom prst="rect">
            <a:avLst/>
          </a:prstGeom>
          <a:noFill/>
          <a:ln/>
        </p:spPr>
        <p:txBody>
          <a:bodyPr wrap="square" lIns="0" tIns="0" rIns="0" bIns="0" rtlCol="0" anchor="t"/>
          <a:lstStyle/>
          <a:p>
            <a:pPr algn="ctr" indent="0" marL="0">
              <a:buNone/>
            </a:pPr>
            <a:r>
              <a:rPr lang="en-US" sz="1400" dirty="0">
                <a:solidFill>
                  <a:srgbClr val="57534E"/>
                </a:solidFill>
              </a:rPr>
              <a:t>precedent clauses</a:t>
            </a:r>
            <a:endParaRPr lang="en-US" sz="1400" dirty="0"/>
          </a:p>
        </p:txBody>
      </p:sp>
      <p:sp>
        <p:nvSpPr>
          <p:cNvPr id="43" name="Stat card 500"/>
          <p:cNvSpPr/>
          <p:nvPr/>
        </p:nvSpPr>
        <p:spPr>
          <a:xfrm>
            <a:off x="10049256" y="4160520"/>
            <a:ext cx="1499616" cy="1920240"/>
          </a:xfrm>
          <a:prstGeom prst="roundRect">
            <a:avLst>
              <a:gd name="adj" fmla="val 7317"/>
            </a:avLst>
          </a:prstGeom>
          <a:solidFill>
            <a:schemeClr val="bg2"/>
          </a:solidFill>
          <a:ln/>
        </p:spPr>
      </p:sp>
      <p:sp>
        <p:nvSpPr>
          <p:cNvPr id="44" name="Stat number"/>
          <p:cNvSpPr txBox="1"/>
          <p:nvPr/>
        </p:nvSpPr>
        <p:spPr>
          <a:xfrm>
            <a:off x="10049256" y="4434840"/>
            <a:ext cx="1499616" cy="822960"/>
          </a:xfrm>
          <a:prstGeom prst="rect">
            <a:avLst/>
          </a:prstGeom>
          <a:noFill/>
          <a:ln/>
        </p:spPr>
        <p:txBody>
          <a:bodyPr wrap="square" lIns="0" tIns="0" rIns="0" bIns="0" rtlCol="0" anchor="ctr"/>
          <a:lstStyle/>
          <a:p>
            <a:pPr algn="ctr" indent="0" marL="0">
              <a:buNone/>
            </a:pPr>
            <a:r>
              <a:rPr lang="en-US" sz="4400" b="1" dirty="0">
                <a:solidFill>
                  <a:schemeClr val="accent6"/>
                </a:solidFill>
                <a:latin typeface="+mj-lt" pitchFamily="34" charset="0"/>
                <a:ea typeface="+mj-lt" pitchFamily="34" charset="-122"/>
                <a:cs typeface="+mj-lt" pitchFamily="34" charset="-120"/>
              </a:rPr>
              <a:t>500</a:t>
            </a:r>
            <a:endParaRPr lang="en-US" sz="4400" dirty="0"/>
          </a:p>
        </p:txBody>
      </p:sp>
      <p:sp>
        <p:nvSpPr>
          <p:cNvPr id="45" name="Stat label"/>
          <p:cNvSpPr txBox="1"/>
          <p:nvPr/>
        </p:nvSpPr>
        <p:spPr>
          <a:xfrm>
            <a:off x="10186416" y="5303520"/>
            <a:ext cx="1225296" cy="640080"/>
          </a:xfrm>
          <a:prstGeom prst="rect">
            <a:avLst/>
          </a:prstGeom>
          <a:noFill/>
          <a:ln/>
        </p:spPr>
        <p:txBody>
          <a:bodyPr wrap="square" lIns="0" tIns="0" rIns="0" bIns="0" rtlCol="0" anchor="t"/>
          <a:lstStyle/>
          <a:p>
            <a:pPr algn="ctr" indent="0" marL="0">
              <a:buNone/>
            </a:pPr>
            <a:r>
              <a:rPr lang="en-US" sz="1400" dirty="0">
                <a:solidFill>
                  <a:srgbClr val="57534E"/>
                </a:solidFill>
              </a:rPr>
              <a:t>cached queries (FIFO)</a:t>
            </a:r>
            <a:endParaRPr lang="en-US" sz="14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DATA</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The LEDGAR Precedent Corpus</a:t>
            </a:r>
            <a:endParaRPr lang="en-US" sz="3600" dirty="0"/>
          </a:p>
        </p:txBody>
      </p:sp>
      <p:graphicFrame>
        <p:nvGraphicFramePr>
          <p:cNvPr id="4" name="Chart 0" descr=""/>
          <p:cNvGraphicFramePr/>
          <p:nvPr/>
        </p:nvGraphicFramePr>
        <p:xfrm>
          <a:off x="640080" y="16002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Corpus stat 250"/>
          <p:cNvSpPr/>
          <p:nvPr/>
        </p:nvSpPr>
        <p:spPr>
          <a:xfrm>
            <a:off x="7680960" y="1691640"/>
            <a:ext cx="1828800" cy="1508760"/>
          </a:xfrm>
          <a:prstGeom prst="roundRect">
            <a:avLst>
              <a:gd name="adj" fmla="val 7273"/>
            </a:avLst>
          </a:prstGeom>
          <a:solidFill>
            <a:schemeClr val="bg2"/>
          </a:solidFill>
          <a:ln/>
        </p:spPr>
      </p:sp>
      <p:sp>
        <p:nvSpPr>
          <p:cNvPr id="6" name="Stat number"/>
          <p:cNvSpPr txBox="1"/>
          <p:nvPr/>
        </p:nvSpPr>
        <p:spPr>
          <a:xfrm>
            <a:off x="7680960" y="1874520"/>
            <a:ext cx="1828800" cy="685800"/>
          </a:xfrm>
          <a:prstGeom prst="rect">
            <a:avLst/>
          </a:prstGeom>
          <a:noFill/>
          <a:ln/>
        </p:spPr>
        <p:txBody>
          <a:bodyPr wrap="square" lIns="0" tIns="0" rIns="0" bIns="0" rtlCol="0" anchor="ctr"/>
          <a:lstStyle/>
          <a:p>
            <a:pPr algn="ctr" indent="0" marL="0">
              <a:buNone/>
            </a:pPr>
            <a:r>
              <a:rPr lang="en-US" sz="3400" b="1" dirty="0">
                <a:solidFill>
                  <a:schemeClr val="accent6"/>
                </a:solidFill>
                <a:latin typeface="+mj-lt" pitchFamily="34" charset="0"/>
                <a:ea typeface="+mj-lt" pitchFamily="34" charset="-122"/>
                <a:cs typeface="+mj-lt" pitchFamily="34" charset="-120"/>
              </a:rPr>
              <a:t>250</a:t>
            </a:r>
            <a:endParaRPr lang="en-US" sz="3400" dirty="0"/>
          </a:p>
        </p:txBody>
      </p:sp>
      <p:sp>
        <p:nvSpPr>
          <p:cNvPr id="7" name="Stat label"/>
          <p:cNvSpPr txBox="1"/>
          <p:nvPr/>
        </p:nvSpPr>
        <p:spPr>
          <a:xfrm>
            <a:off x="7818120" y="2587752"/>
            <a:ext cx="1554480" cy="502920"/>
          </a:xfrm>
          <a:prstGeom prst="rect">
            <a:avLst/>
          </a:prstGeom>
          <a:noFill/>
          <a:ln/>
        </p:spPr>
        <p:txBody>
          <a:bodyPr wrap="square" lIns="0" tIns="0" rIns="0" bIns="0" rtlCol="0" anchor="t"/>
          <a:lstStyle/>
          <a:p>
            <a:pPr algn="ctr" indent="0" marL="0">
              <a:buNone/>
            </a:pPr>
            <a:r>
              <a:rPr lang="en-US" sz="1300" dirty="0">
                <a:solidFill>
                  <a:srgbClr val="57534E"/>
                </a:solidFill>
              </a:rPr>
              <a:t>curated LEDGAR clauses</a:t>
            </a:r>
            <a:endParaRPr lang="en-US" sz="1300" dirty="0"/>
          </a:p>
        </p:txBody>
      </p:sp>
      <p:sp>
        <p:nvSpPr>
          <p:cNvPr id="8" name="Corpus stat 54"/>
          <p:cNvSpPr/>
          <p:nvPr/>
        </p:nvSpPr>
        <p:spPr>
          <a:xfrm>
            <a:off x="9738360" y="1691640"/>
            <a:ext cx="1828800" cy="1508760"/>
          </a:xfrm>
          <a:prstGeom prst="roundRect">
            <a:avLst>
              <a:gd name="adj" fmla="val 7273"/>
            </a:avLst>
          </a:prstGeom>
          <a:solidFill>
            <a:schemeClr val="bg2"/>
          </a:solidFill>
          <a:ln/>
        </p:spPr>
      </p:sp>
      <p:sp>
        <p:nvSpPr>
          <p:cNvPr id="9" name="Stat number"/>
          <p:cNvSpPr txBox="1"/>
          <p:nvPr/>
        </p:nvSpPr>
        <p:spPr>
          <a:xfrm>
            <a:off x="9738360" y="1874520"/>
            <a:ext cx="1828800" cy="685800"/>
          </a:xfrm>
          <a:prstGeom prst="rect">
            <a:avLst/>
          </a:prstGeom>
          <a:noFill/>
          <a:ln/>
        </p:spPr>
        <p:txBody>
          <a:bodyPr wrap="square" lIns="0" tIns="0" rIns="0" bIns="0" rtlCol="0" anchor="ctr"/>
          <a:lstStyle/>
          <a:p>
            <a:pPr algn="ctr" indent="0" marL="0">
              <a:buNone/>
            </a:pPr>
            <a:r>
              <a:rPr lang="en-US" sz="3400" b="1" dirty="0">
                <a:solidFill>
                  <a:schemeClr val="accent6"/>
                </a:solidFill>
                <a:latin typeface="+mj-lt" pitchFamily="34" charset="0"/>
                <a:ea typeface="+mj-lt" pitchFamily="34" charset="-122"/>
                <a:cs typeface="+mj-lt" pitchFamily="34" charset="-120"/>
              </a:rPr>
              <a:t>54</a:t>
            </a:r>
            <a:endParaRPr lang="en-US" sz="3400" dirty="0"/>
          </a:p>
        </p:txBody>
      </p:sp>
      <p:sp>
        <p:nvSpPr>
          <p:cNvPr id="10" name="Stat label"/>
          <p:cNvSpPr txBox="1"/>
          <p:nvPr/>
        </p:nvSpPr>
        <p:spPr>
          <a:xfrm>
            <a:off x="9875520" y="2587752"/>
            <a:ext cx="1554480" cy="502920"/>
          </a:xfrm>
          <a:prstGeom prst="rect">
            <a:avLst/>
          </a:prstGeom>
          <a:noFill/>
          <a:ln/>
        </p:spPr>
        <p:txBody>
          <a:bodyPr wrap="square" lIns="0" tIns="0" rIns="0" bIns="0" rtlCol="0" anchor="t"/>
          <a:lstStyle/>
          <a:p>
            <a:pPr algn="ctr" indent="0" marL="0">
              <a:buNone/>
            </a:pPr>
            <a:r>
              <a:rPr lang="en-US" sz="1300" dirty="0">
                <a:solidFill>
                  <a:srgbClr val="57534E"/>
                </a:solidFill>
              </a:rPr>
              <a:t>legal categories</a:t>
            </a:r>
            <a:endParaRPr lang="en-US" sz="1300" dirty="0"/>
          </a:p>
        </p:txBody>
      </p:sp>
      <p:sp>
        <p:nvSpPr>
          <p:cNvPr id="11" name="Corpus stat 384-d"/>
          <p:cNvSpPr/>
          <p:nvPr/>
        </p:nvSpPr>
        <p:spPr>
          <a:xfrm>
            <a:off x="7680960" y="3383280"/>
            <a:ext cx="1828800" cy="1508760"/>
          </a:xfrm>
          <a:prstGeom prst="roundRect">
            <a:avLst>
              <a:gd name="adj" fmla="val 7273"/>
            </a:avLst>
          </a:prstGeom>
          <a:solidFill>
            <a:schemeClr val="bg2"/>
          </a:solidFill>
          <a:ln/>
        </p:spPr>
      </p:sp>
      <p:sp>
        <p:nvSpPr>
          <p:cNvPr id="12" name="Stat number"/>
          <p:cNvSpPr txBox="1"/>
          <p:nvPr/>
        </p:nvSpPr>
        <p:spPr>
          <a:xfrm>
            <a:off x="7680960" y="3566160"/>
            <a:ext cx="1828800" cy="685800"/>
          </a:xfrm>
          <a:prstGeom prst="rect">
            <a:avLst/>
          </a:prstGeom>
          <a:noFill/>
          <a:ln/>
        </p:spPr>
        <p:txBody>
          <a:bodyPr wrap="square" lIns="0" tIns="0" rIns="0" bIns="0" rtlCol="0" anchor="ctr"/>
          <a:lstStyle/>
          <a:p>
            <a:pPr algn="ctr" indent="0" marL="0">
              <a:buNone/>
            </a:pPr>
            <a:r>
              <a:rPr lang="en-US" sz="3400" b="1" dirty="0">
                <a:solidFill>
                  <a:schemeClr val="accent6"/>
                </a:solidFill>
                <a:latin typeface="+mj-lt" pitchFamily="34" charset="0"/>
                <a:ea typeface="+mj-lt" pitchFamily="34" charset="-122"/>
                <a:cs typeface="+mj-lt" pitchFamily="34" charset="-120"/>
              </a:rPr>
              <a:t>384-d</a:t>
            </a:r>
            <a:endParaRPr lang="en-US" sz="3400" dirty="0"/>
          </a:p>
        </p:txBody>
      </p:sp>
      <p:sp>
        <p:nvSpPr>
          <p:cNvPr id="13" name="Stat label"/>
          <p:cNvSpPr txBox="1"/>
          <p:nvPr/>
        </p:nvSpPr>
        <p:spPr>
          <a:xfrm>
            <a:off x="7818120" y="4279392"/>
            <a:ext cx="1554480" cy="502920"/>
          </a:xfrm>
          <a:prstGeom prst="rect">
            <a:avLst/>
          </a:prstGeom>
          <a:noFill/>
          <a:ln/>
        </p:spPr>
        <p:txBody>
          <a:bodyPr wrap="square" lIns="0" tIns="0" rIns="0" bIns="0" rtlCol="0" anchor="t"/>
          <a:lstStyle/>
          <a:p>
            <a:pPr algn="ctr" indent="0" marL="0">
              <a:buNone/>
            </a:pPr>
            <a:r>
              <a:rPr lang="en-US" sz="1300" dirty="0">
                <a:solidFill>
                  <a:srgbClr val="57534E"/>
                </a:solidFill>
              </a:rPr>
              <a:t>embedding per clause</a:t>
            </a:r>
            <a:endParaRPr lang="en-US" sz="1300" dirty="0"/>
          </a:p>
        </p:txBody>
      </p:sp>
      <p:sp>
        <p:nvSpPr>
          <p:cNvPr id="14" name="Corpus stat 15–85"/>
          <p:cNvSpPr/>
          <p:nvPr/>
        </p:nvSpPr>
        <p:spPr>
          <a:xfrm>
            <a:off x="9738360" y="3383280"/>
            <a:ext cx="1828800" cy="1508760"/>
          </a:xfrm>
          <a:prstGeom prst="roundRect">
            <a:avLst>
              <a:gd name="adj" fmla="val 7273"/>
            </a:avLst>
          </a:prstGeom>
          <a:solidFill>
            <a:schemeClr val="bg2"/>
          </a:solidFill>
          <a:ln/>
        </p:spPr>
      </p:sp>
      <p:sp>
        <p:nvSpPr>
          <p:cNvPr id="15" name="Stat number"/>
          <p:cNvSpPr txBox="1"/>
          <p:nvPr/>
        </p:nvSpPr>
        <p:spPr>
          <a:xfrm>
            <a:off x="9738360" y="3566160"/>
            <a:ext cx="1828800" cy="685800"/>
          </a:xfrm>
          <a:prstGeom prst="rect">
            <a:avLst/>
          </a:prstGeom>
          <a:noFill/>
          <a:ln/>
        </p:spPr>
        <p:txBody>
          <a:bodyPr wrap="square" lIns="0" tIns="0" rIns="0" bIns="0" rtlCol="0" anchor="ctr"/>
          <a:lstStyle/>
          <a:p>
            <a:pPr algn="ctr" indent="0" marL="0">
              <a:buNone/>
            </a:pPr>
            <a:r>
              <a:rPr lang="en-US" sz="3400" b="1" dirty="0">
                <a:solidFill>
                  <a:schemeClr val="accent6"/>
                </a:solidFill>
                <a:latin typeface="+mj-lt" pitchFamily="34" charset="0"/>
                <a:ea typeface="+mj-lt" pitchFamily="34" charset="-122"/>
                <a:cs typeface="+mj-lt" pitchFamily="34" charset="-120"/>
              </a:rPr>
              <a:t>15–85</a:t>
            </a:r>
            <a:endParaRPr lang="en-US" sz="3400" dirty="0"/>
          </a:p>
        </p:txBody>
      </p:sp>
      <p:sp>
        <p:nvSpPr>
          <p:cNvPr id="16" name="Stat label"/>
          <p:cNvSpPr txBox="1"/>
          <p:nvPr/>
        </p:nvSpPr>
        <p:spPr>
          <a:xfrm>
            <a:off x="9875520" y="4279392"/>
            <a:ext cx="1554480" cy="502920"/>
          </a:xfrm>
          <a:prstGeom prst="rect">
            <a:avLst/>
          </a:prstGeom>
          <a:noFill/>
          <a:ln/>
        </p:spPr>
        <p:txBody>
          <a:bodyPr wrap="square" lIns="0" tIns="0" rIns="0" bIns="0" rtlCol="0" anchor="t"/>
          <a:lstStyle/>
          <a:p>
            <a:pPr algn="ctr" indent="0" marL="0">
              <a:buNone/>
            </a:pPr>
            <a:r>
              <a:rPr lang="en-US" sz="1300" dirty="0">
                <a:solidFill>
                  <a:srgbClr val="57534E"/>
                </a:solidFill>
              </a:rPr>
              <a:t>risk benchmark range</a:t>
            </a:r>
            <a:endParaRPr lang="en-US" sz="1300" dirty="0"/>
          </a:p>
        </p:txBody>
      </p:sp>
      <p:sp>
        <p:nvSpPr>
          <p:cNvPr id="17" name="Finding card"/>
          <p:cNvSpPr/>
          <p:nvPr/>
        </p:nvSpPr>
        <p:spPr>
          <a:xfrm>
            <a:off x="7680960" y="5120640"/>
            <a:ext cx="3886200" cy="960120"/>
          </a:xfrm>
          <a:prstGeom prst="roundRect">
            <a:avLst>
              <a:gd name="adj" fmla="val 11429"/>
            </a:avLst>
          </a:prstGeom>
          <a:solidFill>
            <a:schemeClr val="tx1"/>
          </a:solidFill>
          <a:ln/>
        </p:spPr>
      </p:sp>
      <p:sp>
        <p:nvSpPr>
          <p:cNvPr id="18" name="Finding text"/>
          <p:cNvSpPr txBox="1"/>
          <p:nvPr/>
        </p:nvSpPr>
        <p:spPr>
          <a:xfrm>
            <a:off x="7909560" y="5120640"/>
            <a:ext cx="3474720" cy="960120"/>
          </a:xfrm>
          <a:prstGeom prst="rect">
            <a:avLst/>
          </a:prstGeom>
          <a:noFill/>
          <a:ln/>
        </p:spPr>
        <p:txBody>
          <a:bodyPr wrap="square" lIns="0" tIns="0" rIns="0" bIns="0" rtlCol="0" anchor="ctr"/>
          <a:lstStyle/>
          <a:p>
            <a:pPr indent="0" marL="0">
              <a:buNone/>
            </a:pPr>
            <a:r>
              <a:rPr lang="en-US" sz="1400" dirty="0">
                <a:solidFill>
                  <a:schemeClr val="bg1"/>
                </a:solidFill>
              </a:rPr>
              <a:t>Open finding: risk benchmarks are assigned per category, not derived per clause.</a:t>
            </a:r>
            <a:endParaRPr lang="en-US" sz="14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RESEARCH</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Evaluation: What the Data Says</a:t>
            </a:r>
            <a:endParaRPr lang="en-US" sz="3600" dirty="0"/>
          </a:p>
        </p:txBody>
      </p:sp>
      <p:graphicFrame>
        <p:nvGraphicFramePr>
          <p:cNvPr id="4" name="Chart 0" descr=""/>
          <p:cNvGraphicFramePr/>
          <p:nvPr/>
        </p:nvGraphicFramePr>
        <p:xfrm>
          <a:off x="640080" y="1600200"/>
          <a:ext cx="5669280" cy="4114800"/>
        </p:xfrm>
        <a:graphic xmlns:a="http://schemas.openxmlformats.org/drawingml/2006/main">
          <a:graphicData uri="http://schemas.openxmlformats.org/drawingml/2006/chart">
            <c:chart xmlns:c="http://schemas.openxmlformats.org/drawingml/2006/chart" r:id="rId1"/>
          </a:graphicData>
        </a:graphic>
      </p:graphicFrame>
      <p:sp>
        <p:nvSpPr>
          <p:cNvPr id="5" name="Source note"/>
          <p:cNvSpPr txBox="1"/>
          <p:nvPr/>
        </p:nvSpPr>
        <p:spPr>
          <a:xfrm>
            <a:off x="640080" y="5806440"/>
            <a:ext cx="5669280" cy="411480"/>
          </a:xfrm>
          <a:prstGeom prst="rect">
            <a:avLst/>
          </a:prstGeom>
          <a:noFill/>
          <a:ln/>
        </p:spPr>
        <p:txBody>
          <a:bodyPr wrap="square" lIns="0" tIns="0" rIns="0" bIns="0" rtlCol="0" anchor="t"/>
          <a:lstStyle/>
          <a:p>
            <a:pPr indent="0" marL="0">
              <a:buNone/>
            </a:pPr>
            <a:r>
              <a:rPr lang="en-US" sz="1100" dirty="0">
                <a:solidFill>
                  <a:srgbClr val="57534E"/>
                </a:solidFill>
              </a:rPr>
              <a:t>Source: project research paper, “Lightweight Semantic Retrieval for Contract Risk Benchmarking” (pre-print, under review).</a:t>
            </a:r>
            <a:endParaRPr lang="en-US" sz="1100" dirty="0"/>
          </a:p>
        </p:txBody>
      </p:sp>
      <p:sp>
        <p:nvSpPr>
          <p:cNvPr id="6" name="Finding 1"/>
          <p:cNvSpPr/>
          <p:nvPr/>
        </p:nvSpPr>
        <p:spPr>
          <a:xfrm>
            <a:off x="6675120" y="1691640"/>
            <a:ext cx="4873752" cy="960120"/>
          </a:xfrm>
          <a:prstGeom prst="roundRect">
            <a:avLst>
              <a:gd name="adj" fmla="val 11429"/>
            </a:avLst>
          </a:prstGeom>
          <a:solidFill>
            <a:schemeClr val="bg2"/>
          </a:solidFill>
          <a:ln/>
        </p:spPr>
      </p:sp>
      <p:sp>
        <p:nvSpPr>
          <p:cNvPr id="7" name="+20.4 points over the baseline badge"/>
          <p:cNvSpPr/>
          <p:nvPr/>
        </p:nvSpPr>
        <p:spPr>
          <a:xfrm>
            <a:off x="6858000" y="1892808"/>
            <a:ext cx="548640" cy="548640"/>
          </a:xfrm>
          <a:prstGeom prst="ellipse">
            <a:avLst/>
          </a:prstGeom>
          <a:solidFill>
            <a:schemeClr val="tx1"/>
          </a:solidFill>
          <a:ln/>
        </p:spPr>
      </p:sp>
      <p:pic>
        <p:nvPicPr>
          <p:cNvPr id="8" name="Image 0" descr="+20.4 points over the baseline">    </p:cNvPr>
          <p:cNvPicPr>
            <a:picLocks noChangeAspect="1"/>
          </p:cNvPicPr>
          <p:nvPr/>
        </p:nvPicPr>
        <p:blipFill>
          <a:blip r:embed="rId2"/>
          <a:stretch>
            <a:fillRect/>
          </a:stretch>
        </p:blipFill>
        <p:spPr>
          <a:xfrm>
            <a:off x="7006133" y="2040941"/>
            <a:ext cx="252374" cy="252374"/>
          </a:xfrm>
          <a:prstGeom prst="rect">
            <a:avLst/>
          </a:prstGeom>
        </p:spPr>
      </p:pic>
      <p:sp>
        <p:nvSpPr>
          <p:cNvPr id="9" name="Finding title"/>
          <p:cNvSpPr txBox="1"/>
          <p:nvPr/>
        </p:nvSpPr>
        <p:spPr>
          <a:xfrm>
            <a:off x="7589520" y="1801368"/>
            <a:ext cx="3840480" cy="320040"/>
          </a:xfrm>
          <a:prstGeom prst="rect">
            <a:avLst/>
          </a:prstGeom>
          <a:noFill/>
          <a:ln/>
        </p:spPr>
        <p:txBody>
          <a:bodyPr wrap="square" lIns="0" tIns="0" rIns="0" bIns="0" rtlCol="0" anchor="t"/>
          <a:lstStyle/>
          <a:p>
            <a:pPr indent="0" marL="0">
              <a:buNone/>
            </a:pPr>
            <a:r>
              <a:rPr lang="en-US" sz="1600" b="1" dirty="0">
                <a:solidFill>
                  <a:schemeClr val="tx1"/>
                </a:solidFill>
              </a:rPr>
              <a:t>+20.4 points over the baseline</a:t>
            </a:r>
            <a:endParaRPr lang="en-US" sz="1600" dirty="0"/>
          </a:p>
        </p:txBody>
      </p:sp>
      <p:sp>
        <p:nvSpPr>
          <p:cNvPr id="10" name="Finding text"/>
          <p:cNvSpPr txBox="1"/>
          <p:nvPr/>
        </p:nvSpPr>
        <p:spPr>
          <a:xfrm>
            <a:off x="7589520" y="2130552"/>
            <a:ext cx="3840480" cy="457200"/>
          </a:xfrm>
          <a:prstGeom prst="rect">
            <a:avLst/>
          </a:prstGeom>
          <a:noFill/>
          <a:ln/>
        </p:spPr>
        <p:txBody>
          <a:bodyPr wrap="square" lIns="0" tIns="0" rIns="0" bIns="0" rtlCol="0" anchor="t"/>
          <a:lstStyle/>
          <a:p>
            <a:pPr indent="0" marL="0">
              <a:buNone/>
            </a:pPr>
            <a:r>
              <a:rPr lang="en-US" sz="1300" dirty="0">
                <a:solidFill>
                  <a:srgbClr val="57534E"/>
                </a:solidFill>
              </a:rPr>
              <a:t>56.8% accuracy [95% CI 50.4–62.8%] vs 36.4% majority class</a:t>
            </a:r>
            <a:endParaRPr lang="en-US" sz="1300" dirty="0"/>
          </a:p>
        </p:txBody>
      </p:sp>
      <p:sp>
        <p:nvSpPr>
          <p:cNvPr id="11" name="Finding 2"/>
          <p:cNvSpPr/>
          <p:nvPr/>
        </p:nvSpPr>
        <p:spPr>
          <a:xfrm>
            <a:off x="6675120" y="2788920"/>
            <a:ext cx="4873752" cy="960120"/>
          </a:xfrm>
          <a:prstGeom prst="roundRect">
            <a:avLst>
              <a:gd name="adj" fmla="val 11429"/>
            </a:avLst>
          </a:prstGeom>
          <a:solidFill>
            <a:schemeClr val="bg2"/>
          </a:solidFill>
          <a:ln/>
        </p:spPr>
      </p:sp>
      <p:sp>
        <p:nvSpPr>
          <p:cNvPr id="12" name="Statistically tied with BM25 badge"/>
          <p:cNvSpPr/>
          <p:nvPr/>
        </p:nvSpPr>
        <p:spPr>
          <a:xfrm>
            <a:off x="6858000" y="2990088"/>
            <a:ext cx="548640" cy="548640"/>
          </a:xfrm>
          <a:prstGeom prst="ellipse">
            <a:avLst/>
          </a:prstGeom>
          <a:solidFill>
            <a:schemeClr val="tx1"/>
          </a:solidFill>
          <a:ln/>
        </p:spPr>
      </p:sp>
      <p:pic>
        <p:nvPicPr>
          <p:cNvPr id="13" name="Image 1" descr="Statistically tied with BM25">    </p:cNvPr>
          <p:cNvPicPr>
            <a:picLocks noChangeAspect="1"/>
          </p:cNvPicPr>
          <p:nvPr/>
        </p:nvPicPr>
        <p:blipFill>
          <a:blip r:embed="rId3"/>
          <a:stretch>
            <a:fillRect/>
          </a:stretch>
        </p:blipFill>
        <p:spPr>
          <a:xfrm>
            <a:off x="7006133" y="3138221"/>
            <a:ext cx="252374" cy="252374"/>
          </a:xfrm>
          <a:prstGeom prst="rect">
            <a:avLst/>
          </a:prstGeom>
        </p:spPr>
      </p:pic>
      <p:sp>
        <p:nvSpPr>
          <p:cNvPr id="14" name="Finding title"/>
          <p:cNvSpPr txBox="1"/>
          <p:nvPr/>
        </p:nvSpPr>
        <p:spPr>
          <a:xfrm>
            <a:off x="7589520" y="2898648"/>
            <a:ext cx="3840480" cy="320040"/>
          </a:xfrm>
          <a:prstGeom prst="rect">
            <a:avLst/>
          </a:prstGeom>
          <a:noFill/>
          <a:ln/>
        </p:spPr>
        <p:txBody>
          <a:bodyPr wrap="square" lIns="0" tIns="0" rIns="0" bIns="0" rtlCol="0" anchor="t"/>
          <a:lstStyle/>
          <a:p>
            <a:pPr indent="0" marL="0">
              <a:buNone/>
            </a:pPr>
            <a:r>
              <a:rPr lang="en-US" sz="1600" b="1" dirty="0">
                <a:solidFill>
                  <a:schemeClr val="tx1"/>
                </a:solidFill>
              </a:rPr>
              <a:t>Statistically tied with BM25</a:t>
            </a:r>
            <a:endParaRPr lang="en-US" sz="1600" dirty="0"/>
          </a:p>
        </p:txBody>
      </p:sp>
      <p:sp>
        <p:nvSpPr>
          <p:cNvPr id="15" name="Finding text"/>
          <p:cNvSpPr txBox="1"/>
          <p:nvPr/>
        </p:nvSpPr>
        <p:spPr>
          <a:xfrm>
            <a:off x="7589520" y="3227832"/>
            <a:ext cx="3840480" cy="457200"/>
          </a:xfrm>
          <a:prstGeom prst="rect">
            <a:avLst/>
          </a:prstGeom>
          <a:noFill/>
          <a:ln/>
        </p:spPr>
        <p:txBody>
          <a:bodyPr wrap="square" lIns="0" tIns="0" rIns="0" bIns="0" rtlCol="0" anchor="t"/>
          <a:lstStyle/>
          <a:p>
            <a:pPr indent="0" marL="0">
              <a:buNone/>
            </a:pPr>
            <a:r>
              <a:rPr lang="en-US" sz="1300" dirty="0">
                <a:solidFill>
                  <a:srgbClr val="57534E"/>
                </a:solidFill>
              </a:rPr>
              <a:t>McNemar's χ² = 1.50, p = 0.22 at this sample size</a:t>
            </a:r>
            <a:endParaRPr lang="en-US" sz="1300" dirty="0"/>
          </a:p>
        </p:txBody>
      </p:sp>
      <p:sp>
        <p:nvSpPr>
          <p:cNvPr id="16" name="Finding 3"/>
          <p:cNvSpPr/>
          <p:nvPr/>
        </p:nvSpPr>
        <p:spPr>
          <a:xfrm>
            <a:off x="6675120" y="3886200"/>
            <a:ext cx="4873752" cy="960120"/>
          </a:xfrm>
          <a:prstGeom prst="roundRect">
            <a:avLst>
              <a:gd name="adj" fmla="val 11429"/>
            </a:avLst>
          </a:prstGeom>
          <a:solidFill>
            <a:schemeClr val="bg2"/>
          </a:solidFill>
          <a:ln/>
        </p:spPr>
      </p:sp>
      <p:sp>
        <p:nvSpPr>
          <p:cNvPr id="17" name="An honest conclusion badge"/>
          <p:cNvSpPr/>
          <p:nvPr/>
        </p:nvSpPr>
        <p:spPr>
          <a:xfrm>
            <a:off x="6858000" y="4087368"/>
            <a:ext cx="548640" cy="548640"/>
          </a:xfrm>
          <a:prstGeom prst="ellipse">
            <a:avLst/>
          </a:prstGeom>
          <a:solidFill>
            <a:schemeClr val="tx1"/>
          </a:solidFill>
          <a:ln/>
        </p:spPr>
      </p:sp>
      <p:pic>
        <p:nvPicPr>
          <p:cNvPr id="18" name="Image 2" descr="An honest conclusion">    </p:cNvPr>
          <p:cNvPicPr>
            <a:picLocks noChangeAspect="1"/>
          </p:cNvPicPr>
          <p:nvPr/>
        </p:nvPicPr>
        <p:blipFill>
          <a:blip r:embed="rId4"/>
          <a:stretch>
            <a:fillRect/>
          </a:stretch>
        </p:blipFill>
        <p:spPr>
          <a:xfrm>
            <a:off x="7006133" y="4235501"/>
            <a:ext cx="252374" cy="252374"/>
          </a:xfrm>
          <a:prstGeom prst="rect">
            <a:avLst/>
          </a:prstGeom>
        </p:spPr>
      </p:pic>
      <p:sp>
        <p:nvSpPr>
          <p:cNvPr id="19" name="Finding title"/>
          <p:cNvSpPr txBox="1"/>
          <p:nvPr/>
        </p:nvSpPr>
        <p:spPr>
          <a:xfrm>
            <a:off x="7589520" y="3995928"/>
            <a:ext cx="3840480" cy="320040"/>
          </a:xfrm>
          <a:prstGeom prst="rect">
            <a:avLst/>
          </a:prstGeom>
          <a:noFill/>
          <a:ln/>
        </p:spPr>
        <p:txBody>
          <a:bodyPr wrap="square" lIns="0" tIns="0" rIns="0" bIns="0" rtlCol="0" anchor="t"/>
          <a:lstStyle/>
          <a:p>
            <a:pPr indent="0" marL="0">
              <a:buNone/>
            </a:pPr>
            <a:r>
              <a:rPr lang="en-US" sz="1600" b="1" dirty="0">
                <a:solidFill>
                  <a:schemeClr val="tx1"/>
                </a:solidFill>
              </a:rPr>
              <a:t>An honest conclusion</a:t>
            </a:r>
            <a:endParaRPr lang="en-US" sz="1600" dirty="0"/>
          </a:p>
        </p:txBody>
      </p:sp>
      <p:sp>
        <p:nvSpPr>
          <p:cNvPr id="20" name="Finding text"/>
          <p:cNvSpPr txBox="1"/>
          <p:nvPr/>
        </p:nvSpPr>
        <p:spPr>
          <a:xfrm>
            <a:off x="7589520" y="4325112"/>
            <a:ext cx="3840480" cy="457200"/>
          </a:xfrm>
          <a:prstGeom prst="rect">
            <a:avLst/>
          </a:prstGeom>
          <a:noFill/>
          <a:ln/>
        </p:spPr>
        <p:txBody>
          <a:bodyPr wrap="square" lIns="0" tIns="0" rIns="0" bIns="0" rtlCol="0" anchor="t"/>
          <a:lstStyle/>
          <a:p>
            <a:pPr indent="0" marL="0">
              <a:buNone/>
            </a:pPr>
            <a:r>
              <a:rPr lang="en-US" sz="1300" dirty="0">
                <a:solidFill>
                  <a:srgbClr val="57534E"/>
                </a:solidFill>
              </a:rPr>
              <a:t>Scale the corpus before claiming semantic superiority</a:t>
            </a:r>
            <a:endParaRPr lang="en-US" sz="1300" dirty="0"/>
          </a:p>
        </p:txBody>
      </p:sp>
      <p:sp>
        <p:nvSpPr>
          <p:cNvPr id="21" name="Finding 4"/>
          <p:cNvSpPr/>
          <p:nvPr/>
        </p:nvSpPr>
        <p:spPr>
          <a:xfrm>
            <a:off x="6675120" y="4983480"/>
            <a:ext cx="4873752" cy="960120"/>
          </a:xfrm>
          <a:prstGeom prst="roundRect">
            <a:avLst>
              <a:gd name="adj" fmla="val 11429"/>
            </a:avLst>
          </a:prstGeom>
          <a:solidFill>
            <a:schemeClr val="bg2"/>
          </a:solidFill>
          <a:ln/>
        </p:spPr>
      </p:sp>
      <p:sp>
        <p:nvSpPr>
          <p:cNvPr id="22" name="An unplanned finding badge"/>
          <p:cNvSpPr/>
          <p:nvPr/>
        </p:nvSpPr>
        <p:spPr>
          <a:xfrm>
            <a:off x="6858000" y="5184648"/>
            <a:ext cx="548640" cy="548640"/>
          </a:xfrm>
          <a:prstGeom prst="ellipse">
            <a:avLst/>
          </a:prstGeom>
          <a:solidFill>
            <a:schemeClr val="tx1"/>
          </a:solidFill>
          <a:ln/>
        </p:spPr>
      </p:sp>
      <p:pic>
        <p:nvPicPr>
          <p:cNvPr id="23" name="Image 3" descr="An unplanned finding">    </p:cNvPr>
          <p:cNvPicPr>
            <a:picLocks noChangeAspect="1"/>
          </p:cNvPicPr>
          <p:nvPr/>
        </p:nvPicPr>
        <p:blipFill>
          <a:blip r:embed="rId5"/>
          <a:stretch>
            <a:fillRect/>
          </a:stretch>
        </p:blipFill>
        <p:spPr>
          <a:xfrm>
            <a:off x="7006133" y="5332781"/>
            <a:ext cx="252374" cy="252374"/>
          </a:xfrm>
          <a:prstGeom prst="rect">
            <a:avLst/>
          </a:prstGeom>
        </p:spPr>
      </p:pic>
      <p:sp>
        <p:nvSpPr>
          <p:cNvPr id="24" name="Finding title"/>
          <p:cNvSpPr txBox="1"/>
          <p:nvPr/>
        </p:nvSpPr>
        <p:spPr>
          <a:xfrm>
            <a:off x="7589520" y="5093208"/>
            <a:ext cx="3840480" cy="320040"/>
          </a:xfrm>
          <a:prstGeom prst="rect">
            <a:avLst/>
          </a:prstGeom>
          <a:noFill/>
          <a:ln/>
        </p:spPr>
        <p:txBody>
          <a:bodyPr wrap="square" lIns="0" tIns="0" rIns="0" bIns="0" rtlCol="0" anchor="t"/>
          <a:lstStyle/>
          <a:p>
            <a:pPr indent="0" marL="0">
              <a:buNone/>
            </a:pPr>
            <a:r>
              <a:rPr lang="en-US" sz="1600" b="1" dirty="0">
                <a:solidFill>
                  <a:schemeClr val="tx1"/>
                </a:solidFill>
              </a:rPr>
              <a:t>An unplanned finding</a:t>
            </a:r>
            <a:endParaRPr lang="en-US" sz="1600" dirty="0"/>
          </a:p>
        </p:txBody>
      </p:sp>
      <p:sp>
        <p:nvSpPr>
          <p:cNvPr id="25" name="Finding text"/>
          <p:cNvSpPr txBox="1"/>
          <p:nvPr/>
        </p:nvSpPr>
        <p:spPr>
          <a:xfrm>
            <a:off x="7589520" y="5422392"/>
            <a:ext cx="3840480" cy="457200"/>
          </a:xfrm>
          <a:prstGeom prst="rect">
            <a:avLst/>
          </a:prstGeom>
          <a:noFill/>
          <a:ln/>
        </p:spPr>
        <p:txBody>
          <a:bodyPr wrap="square" lIns="0" tIns="0" rIns="0" bIns="0" rtlCol="0" anchor="t"/>
          <a:lstStyle/>
          <a:p>
            <a:pPr indent="0" marL="0">
              <a:buNone/>
            </a:pPr>
            <a:r>
              <a:rPr lang="en-US" sz="1300" dirty="0">
                <a:solidFill>
                  <a:srgbClr val="57534E"/>
                </a:solidFill>
              </a:rPr>
              <a:t>Risk benchmarks are categorical, not empirically continuous</a:t>
            </a:r>
            <a:endParaRPr lang="en-US" sz="13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PIPELINE A</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Estimated Risk Reduction (ERR)</a:t>
            </a:r>
            <a:endParaRPr lang="en-US" sz="3600" dirty="0"/>
          </a:p>
        </p:txBody>
      </p:sp>
      <p:sp>
        <p:nvSpPr>
          <p:cNvPr id="4" name="ERR step 1"/>
          <p:cNvSpPr/>
          <p:nvPr/>
        </p:nvSpPr>
        <p:spPr>
          <a:xfrm>
            <a:off x="640080" y="1691640"/>
            <a:ext cx="5029200" cy="960120"/>
          </a:xfrm>
          <a:prstGeom prst="roundRect">
            <a:avLst>
              <a:gd name="adj" fmla="val 11429"/>
            </a:avLst>
          </a:prstGeom>
          <a:solidFill>
            <a:schemeClr val="bg2"/>
          </a:solidFill>
          <a:ln/>
        </p:spPr>
      </p:sp>
      <p:sp>
        <p:nvSpPr>
          <p:cNvPr id="5" name="Step 1"/>
          <p:cNvSpPr/>
          <p:nvPr/>
        </p:nvSpPr>
        <p:spPr>
          <a:xfrm>
            <a:off x="868680" y="1938528"/>
            <a:ext cx="457200" cy="457200"/>
          </a:xfrm>
          <a:prstGeom prst="ellipse">
            <a:avLst/>
          </a:prstGeom>
          <a:solidFill>
            <a:schemeClr val="accent6"/>
          </a:solidFill>
          <a:ln/>
        </p:spPr>
      </p:sp>
      <p:sp>
        <p:nvSpPr>
          <p:cNvPr id="6" name="Step number 1"/>
          <p:cNvSpPr txBox="1"/>
          <p:nvPr/>
        </p:nvSpPr>
        <p:spPr>
          <a:xfrm>
            <a:off x="868680" y="19385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ERR step text"/>
          <p:cNvSpPr txBox="1"/>
          <p:nvPr/>
        </p:nvSpPr>
        <p:spPr>
          <a:xfrm>
            <a:off x="1554480" y="1691640"/>
            <a:ext cx="3931920" cy="960120"/>
          </a:xfrm>
          <a:prstGeom prst="rect">
            <a:avLst/>
          </a:prstGeom>
          <a:noFill/>
          <a:ln/>
        </p:spPr>
        <p:txBody>
          <a:bodyPr wrap="square" lIns="0" tIns="0" rIns="0" bIns="0" rtlCol="0" anchor="ctr"/>
          <a:lstStyle/>
          <a:p>
            <a:pPr indent="0" marL="0">
              <a:buNone/>
            </a:pPr>
            <a:r>
              <a:rPr lang="en-US" sz="1500" dirty="0">
                <a:solidFill>
                  <a:schemeClr val="tx1"/>
                </a:solidFill>
              </a:rPr>
              <a:t>Embed the clause and read its benchmark risk (e.g. 85)</a:t>
            </a:r>
            <a:endParaRPr lang="en-US" sz="1500" dirty="0"/>
          </a:p>
        </p:txBody>
      </p:sp>
      <p:sp>
        <p:nvSpPr>
          <p:cNvPr id="8" name="ERR step 2"/>
          <p:cNvSpPr/>
          <p:nvPr/>
        </p:nvSpPr>
        <p:spPr>
          <a:xfrm>
            <a:off x="640080" y="2770632"/>
            <a:ext cx="5029200" cy="960120"/>
          </a:xfrm>
          <a:prstGeom prst="roundRect">
            <a:avLst>
              <a:gd name="adj" fmla="val 11429"/>
            </a:avLst>
          </a:prstGeom>
          <a:solidFill>
            <a:schemeClr val="bg2"/>
          </a:solidFill>
          <a:ln/>
        </p:spPr>
      </p:sp>
      <p:sp>
        <p:nvSpPr>
          <p:cNvPr id="9" name="Step 2"/>
          <p:cNvSpPr/>
          <p:nvPr/>
        </p:nvSpPr>
        <p:spPr>
          <a:xfrm>
            <a:off x="868680" y="3017520"/>
            <a:ext cx="457200" cy="457200"/>
          </a:xfrm>
          <a:prstGeom prst="ellipse">
            <a:avLst/>
          </a:prstGeom>
          <a:solidFill>
            <a:schemeClr val="accent6"/>
          </a:solidFill>
          <a:ln/>
        </p:spPr>
      </p:sp>
      <p:sp>
        <p:nvSpPr>
          <p:cNvPr id="10" name="Step number 2"/>
          <p:cNvSpPr txBox="1"/>
          <p:nvPr/>
        </p:nvSpPr>
        <p:spPr>
          <a:xfrm>
            <a:off x="868680" y="3017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ERR step text"/>
          <p:cNvSpPr txBox="1"/>
          <p:nvPr/>
        </p:nvSpPr>
        <p:spPr>
          <a:xfrm>
            <a:off x="1554480" y="2770632"/>
            <a:ext cx="3931920" cy="960120"/>
          </a:xfrm>
          <a:prstGeom prst="rect">
            <a:avLst/>
          </a:prstGeom>
          <a:noFill/>
          <a:ln/>
        </p:spPr>
        <p:txBody>
          <a:bodyPr wrap="square" lIns="0" tIns="0" rIns="0" bIns="0" rtlCol="0" anchor="ctr"/>
          <a:lstStyle/>
          <a:p>
            <a:pPr indent="0" marL="0">
              <a:buNone/>
            </a:pPr>
            <a:r>
              <a:rPr lang="en-US" sz="1500" dirty="0">
                <a:solidFill>
                  <a:schemeClr val="tx1"/>
                </a:solidFill>
              </a:rPr>
              <a:t>Retrieve the 20 most similar precedents</a:t>
            </a:r>
            <a:endParaRPr lang="en-US" sz="1500" dirty="0"/>
          </a:p>
        </p:txBody>
      </p:sp>
      <p:sp>
        <p:nvSpPr>
          <p:cNvPr id="12" name="ERR step 3"/>
          <p:cNvSpPr/>
          <p:nvPr/>
        </p:nvSpPr>
        <p:spPr>
          <a:xfrm>
            <a:off x="640080" y="3849624"/>
            <a:ext cx="5029200" cy="960120"/>
          </a:xfrm>
          <a:prstGeom prst="roundRect">
            <a:avLst>
              <a:gd name="adj" fmla="val 11429"/>
            </a:avLst>
          </a:prstGeom>
          <a:solidFill>
            <a:schemeClr val="bg2"/>
          </a:solidFill>
          <a:ln/>
        </p:spPr>
      </p:sp>
      <p:sp>
        <p:nvSpPr>
          <p:cNvPr id="13" name="Step 3"/>
          <p:cNvSpPr/>
          <p:nvPr/>
        </p:nvSpPr>
        <p:spPr>
          <a:xfrm>
            <a:off x="868680" y="4096512"/>
            <a:ext cx="457200" cy="457200"/>
          </a:xfrm>
          <a:prstGeom prst="ellipse">
            <a:avLst/>
          </a:prstGeom>
          <a:solidFill>
            <a:schemeClr val="accent6"/>
          </a:solidFill>
          <a:ln/>
        </p:spPr>
      </p:sp>
      <p:sp>
        <p:nvSpPr>
          <p:cNvPr id="14" name="Step number 3"/>
          <p:cNvSpPr txBox="1"/>
          <p:nvPr/>
        </p:nvSpPr>
        <p:spPr>
          <a:xfrm>
            <a:off x="868680" y="40965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ERR step text"/>
          <p:cNvSpPr txBox="1"/>
          <p:nvPr/>
        </p:nvSpPr>
        <p:spPr>
          <a:xfrm>
            <a:off x="1554480" y="3849624"/>
            <a:ext cx="3931920" cy="960120"/>
          </a:xfrm>
          <a:prstGeom prst="rect">
            <a:avLst/>
          </a:prstGeom>
          <a:noFill/>
          <a:ln/>
        </p:spPr>
        <p:txBody>
          <a:bodyPr wrap="square" lIns="0" tIns="0" rIns="0" bIns="0" rtlCol="0" anchor="ctr"/>
          <a:lstStyle/>
          <a:p>
            <a:pPr indent="0" marL="0">
              <a:buNone/>
            </a:pPr>
            <a:r>
              <a:rPr lang="en-US" sz="1500" dirty="0">
                <a:solidFill>
                  <a:schemeClr val="tx1"/>
                </a:solidFill>
              </a:rPr>
              <a:t>Discard precedents whose risk is not lower than the clause's own</a:t>
            </a:r>
            <a:endParaRPr lang="en-US" sz="1500" dirty="0"/>
          </a:p>
        </p:txBody>
      </p:sp>
      <p:sp>
        <p:nvSpPr>
          <p:cNvPr id="16" name="ERR step 4"/>
          <p:cNvSpPr/>
          <p:nvPr/>
        </p:nvSpPr>
        <p:spPr>
          <a:xfrm>
            <a:off x="640080" y="4928616"/>
            <a:ext cx="5029200" cy="960120"/>
          </a:xfrm>
          <a:prstGeom prst="roundRect">
            <a:avLst>
              <a:gd name="adj" fmla="val 11429"/>
            </a:avLst>
          </a:prstGeom>
          <a:solidFill>
            <a:schemeClr val="bg2"/>
          </a:solidFill>
          <a:ln/>
        </p:spPr>
      </p:sp>
      <p:sp>
        <p:nvSpPr>
          <p:cNvPr id="17" name="Step 4"/>
          <p:cNvSpPr/>
          <p:nvPr/>
        </p:nvSpPr>
        <p:spPr>
          <a:xfrm>
            <a:off x="868680" y="5175504"/>
            <a:ext cx="457200" cy="457200"/>
          </a:xfrm>
          <a:prstGeom prst="ellipse">
            <a:avLst/>
          </a:prstGeom>
          <a:solidFill>
            <a:schemeClr val="accent6"/>
          </a:solidFill>
          <a:ln/>
        </p:spPr>
      </p:sp>
      <p:sp>
        <p:nvSpPr>
          <p:cNvPr id="18" name="Step number 4"/>
          <p:cNvSpPr txBox="1"/>
          <p:nvPr/>
        </p:nvSpPr>
        <p:spPr>
          <a:xfrm>
            <a:off x="868680" y="51755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ERR step text"/>
          <p:cNvSpPr txBox="1"/>
          <p:nvPr/>
        </p:nvSpPr>
        <p:spPr>
          <a:xfrm>
            <a:off x="1554480" y="4928616"/>
            <a:ext cx="3931920" cy="960120"/>
          </a:xfrm>
          <a:prstGeom prst="rect">
            <a:avLst/>
          </a:prstGeom>
          <a:noFill/>
          <a:ln/>
        </p:spPr>
        <p:txBody>
          <a:bodyPr wrap="square" lIns="0" tIns="0" rIns="0" bIns="0" rtlCol="0" anchor="ctr"/>
          <a:lstStyle/>
          <a:p>
            <a:pPr indent="0" marL="0">
              <a:buNone/>
            </a:pPr>
            <a:r>
              <a:rPr lang="en-US" sz="1500" dirty="0">
                <a:solidFill>
                  <a:schemeClr val="tx1"/>
                </a:solidFill>
              </a:rPr>
              <a:t>Rank by similarity, then lowest risk, and recommend the top match</a:t>
            </a:r>
            <a:endParaRPr lang="en-US" sz="1500" dirty="0"/>
          </a:p>
        </p:txBody>
      </p:sp>
      <p:sp>
        <p:nvSpPr>
          <p:cNvPr id="20" name="Example label"/>
          <p:cNvSpPr txBox="1"/>
          <p:nvPr/>
        </p:nvSpPr>
        <p:spPr>
          <a:xfrm>
            <a:off x="6035040" y="1691640"/>
            <a:ext cx="5486400" cy="274320"/>
          </a:xfrm>
          <a:prstGeom prst="rect">
            <a:avLst/>
          </a:prstGeom>
          <a:noFill/>
          <a:ln/>
        </p:spPr>
        <p:txBody>
          <a:bodyPr wrap="square" lIns="0" tIns="0" rIns="0" bIns="0" rtlCol="0" anchor="t"/>
          <a:lstStyle/>
          <a:p>
            <a:pPr indent="0" marL="0">
              <a:buNone/>
            </a:pPr>
            <a:r>
              <a:rPr lang="en-US" sz="1200" b="1" spc="300" kern="0" dirty="0">
                <a:solidFill>
                  <a:srgbClr val="8A6414"/>
                </a:solidFill>
              </a:rPr>
              <a:t>ILLUSTRATIVE EXAMPLE</a:t>
            </a:r>
            <a:endParaRPr lang="en-US" sz="1200" dirty="0"/>
          </a:p>
        </p:txBody>
      </p:sp>
      <p:sp>
        <p:nvSpPr>
          <p:cNvPr id="21" name="Risky clause card"/>
          <p:cNvSpPr/>
          <p:nvPr/>
        </p:nvSpPr>
        <p:spPr>
          <a:xfrm>
            <a:off x="6035040" y="2103120"/>
            <a:ext cx="2560320" cy="2103120"/>
          </a:xfrm>
          <a:prstGeom prst="roundRect">
            <a:avLst>
              <a:gd name="adj" fmla="val 5217"/>
            </a:avLst>
          </a:prstGeom>
          <a:solidFill>
            <a:schemeClr val="tx1"/>
          </a:solidFill>
          <a:ln/>
        </p:spPr>
      </p:sp>
      <p:sp>
        <p:nvSpPr>
          <p:cNvPr id="22" name="Card label"/>
          <p:cNvSpPr txBox="1"/>
          <p:nvPr/>
        </p:nvSpPr>
        <p:spPr>
          <a:xfrm>
            <a:off x="6263640" y="2267712"/>
            <a:ext cx="2103120" cy="228600"/>
          </a:xfrm>
          <a:prstGeom prst="rect">
            <a:avLst/>
          </a:prstGeom>
          <a:noFill/>
          <a:ln/>
        </p:spPr>
        <p:txBody>
          <a:bodyPr wrap="square" lIns="0" tIns="0" rIns="0" bIns="0" rtlCol="0" anchor="t"/>
          <a:lstStyle/>
          <a:p>
            <a:pPr indent="0" marL="0">
              <a:buNone/>
            </a:pPr>
            <a:r>
              <a:rPr lang="en-US" sz="1000" b="1" spc="200" kern="0" dirty="0">
                <a:solidFill>
                  <a:srgbClr val="A8A29E"/>
                </a:solidFill>
              </a:rPr>
              <a:t>YOUR CLAUSE</a:t>
            </a:r>
            <a:endParaRPr lang="en-US" sz="1000" dirty="0"/>
          </a:p>
        </p:txBody>
      </p:sp>
      <p:sp>
        <p:nvSpPr>
          <p:cNvPr id="23" name="Card title"/>
          <p:cNvSpPr txBox="1"/>
          <p:nvPr/>
        </p:nvSpPr>
        <p:spPr>
          <a:xfrm>
            <a:off x="6263640" y="2542032"/>
            <a:ext cx="2103120" cy="320040"/>
          </a:xfrm>
          <a:prstGeom prst="rect">
            <a:avLst/>
          </a:prstGeom>
          <a:noFill/>
          <a:ln/>
        </p:spPr>
        <p:txBody>
          <a:bodyPr wrap="square" lIns="0" tIns="0" rIns="0" bIns="0" rtlCol="0" anchor="t"/>
          <a:lstStyle/>
          <a:p>
            <a:pPr indent="0" marL="0">
              <a:buNone/>
            </a:pPr>
            <a:r>
              <a:rPr lang="en-US" sz="1600" b="1" dirty="0">
                <a:solidFill>
                  <a:schemeClr val="bg1"/>
                </a:solidFill>
              </a:rPr>
              <a:t>Unilateral indemnity</a:t>
            </a:r>
            <a:endParaRPr lang="en-US" sz="1600" dirty="0"/>
          </a:p>
        </p:txBody>
      </p:sp>
      <p:sp>
        <p:nvSpPr>
          <p:cNvPr id="24" name="Risk number"/>
          <p:cNvSpPr txBox="1"/>
          <p:nvPr/>
        </p:nvSpPr>
        <p:spPr>
          <a:xfrm>
            <a:off x="6263640" y="3017520"/>
            <a:ext cx="1371600" cy="914400"/>
          </a:xfrm>
          <a:prstGeom prst="rect">
            <a:avLst/>
          </a:prstGeom>
          <a:noFill/>
          <a:ln/>
        </p:spPr>
        <p:txBody>
          <a:bodyPr wrap="square" lIns="0" tIns="0" rIns="0" bIns="0" rtlCol="0" anchor="ctr"/>
          <a:lstStyle/>
          <a:p>
            <a:pPr indent="0" marL="0">
              <a:buNone/>
            </a:pPr>
            <a:r>
              <a:rPr lang="en-US" sz="6000" b="1" dirty="0">
                <a:solidFill>
                  <a:schemeClr val="accent2"/>
                </a:solidFill>
                <a:latin typeface="+mj-lt" pitchFamily="34" charset="0"/>
                <a:ea typeface="+mj-lt" pitchFamily="34" charset="-122"/>
                <a:cs typeface="+mj-lt" pitchFamily="34" charset="-120"/>
              </a:rPr>
              <a:t>85</a:t>
            </a:r>
            <a:endParaRPr lang="en-US" sz="6000" dirty="0"/>
          </a:p>
        </p:txBody>
      </p:sp>
      <p:sp>
        <p:nvSpPr>
          <p:cNvPr id="25" name="Risk unit"/>
          <p:cNvSpPr txBox="1"/>
          <p:nvPr/>
        </p:nvSpPr>
        <p:spPr>
          <a:xfrm>
            <a:off x="7452360" y="3429000"/>
            <a:ext cx="914400" cy="365760"/>
          </a:xfrm>
          <a:prstGeom prst="rect">
            <a:avLst/>
          </a:prstGeom>
          <a:noFill/>
          <a:ln/>
        </p:spPr>
        <p:txBody>
          <a:bodyPr wrap="square" lIns="0" tIns="0" rIns="0" bIns="0" rtlCol="0" anchor="t"/>
          <a:lstStyle/>
          <a:p>
            <a:pPr indent="0" marL="0">
              <a:buNone/>
            </a:pPr>
            <a:r>
              <a:rPr lang="en-US" sz="1400" dirty="0">
                <a:solidFill>
                  <a:srgbClr val="A8A29E"/>
                </a:solidFill>
              </a:rPr>
              <a:t>risk</a:t>
            </a:r>
            <a:endParaRPr lang="en-US" sz="1400" dirty="0"/>
          </a:p>
        </p:txBody>
      </p:sp>
      <p:sp>
        <p:nvSpPr>
          <p:cNvPr id="26" name="Arrow"/>
          <p:cNvSpPr/>
          <p:nvPr/>
        </p:nvSpPr>
        <p:spPr>
          <a:xfrm>
            <a:off x="8641080" y="3154680"/>
            <a:ext cx="301752" cy="0"/>
          </a:xfrm>
          <a:prstGeom prst="line">
            <a:avLst/>
          </a:prstGeom>
          <a:noFill/>
          <a:ln w="25400">
            <a:solidFill>
              <a:srgbClr val="0F766E"/>
            </a:solidFill>
            <a:prstDash val="solid"/>
            <a:tailEnd type="triangle"/>
          </a:ln>
        </p:spPr>
      </p:sp>
      <p:sp>
        <p:nvSpPr>
          <p:cNvPr id="27" name="Safer clause card"/>
          <p:cNvSpPr/>
          <p:nvPr/>
        </p:nvSpPr>
        <p:spPr>
          <a:xfrm>
            <a:off x="8988552" y="2103120"/>
            <a:ext cx="2560320" cy="2103120"/>
          </a:xfrm>
          <a:prstGeom prst="roundRect">
            <a:avLst>
              <a:gd name="adj" fmla="val 5217"/>
            </a:avLst>
          </a:prstGeom>
          <a:solidFill>
            <a:schemeClr val="bg2"/>
          </a:solidFill>
          <a:ln/>
        </p:spPr>
      </p:sp>
      <p:sp>
        <p:nvSpPr>
          <p:cNvPr id="28" name="Card label"/>
          <p:cNvSpPr txBox="1"/>
          <p:nvPr/>
        </p:nvSpPr>
        <p:spPr>
          <a:xfrm>
            <a:off x="9217152" y="2267712"/>
            <a:ext cx="2103120" cy="228600"/>
          </a:xfrm>
          <a:prstGeom prst="rect">
            <a:avLst/>
          </a:prstGeom>
          <a:noFill/>
          <a:ln/>
        </p:spPr>
        <p:txBody>
          <a:bodyPr wrap="square" lIns="0" tIns="0" rIns="0" bIns="0" rtlCol="0" anchor="t"/>
          <a:lstStyle/>
          <a:p>
            <a:pPr indent="0" marL="0">
              <a:buNone/>
            </a:pPr>
            <a:r>
              <a:rPr lang="en-US" sz="1000" b="1" spc="200" kern="0" dirty="0">
                <a:solidFill>
                  <a:srgbClr val="57534E"/>
                </a:solidFill>
              </a:rPr>
              <a:t>MARKET PRECEDENT</a:t>
            </a:r>
            <a:endParaRPr lang="en-US" sz="1000" dirty="0"/>
          </a:p>
        </p:txBody>
      </p:sp>
      <p:sp>
        <p:nvSpPr>
          <p:cNvPr id="29" name="Card title"/>
          <p:cNvSpPr txBox="1"/>
          <p:nvPr/>
        </p:nvSpPr>
        <p:spPr>
          <a:xfrm>
            <a:off x="9217152" y="2542032"/>
            <a:ext cx="2103120" cy="320040"/>
          </a:xfrm>
          <a:prstGeom prst="rect">
            <a:avLst/>
          </a:prstGeom>
          <a:noFill/>
          <a:ln/>
        </p:spPr>
        <p:txBody>
          <a:bodyPr wrap="square" lIns="0" tIns="0" rIns="0" bIns="0" rtlCol="0" anchor="t"/>
          <a:lstStyle/>
          <a:p>
            <a:pPr indent="0" marL="0">
              <a:buNone/>
            </a:pPr>
            <a:r>
              <a:rPr lang="en-US" sz="1600" b="1" dirty="0">
                <a:solidFill>
                  <a:schemeClr val="tx1"/>
                </a:solidFill>
              </a:rPr>
              <a:t>Mutual indemnity</a:t>
            </a:r>
            <a:endParaRPr lang="en-US" sz="1600" dirty="0"/>
          </a:p>
        </p:txBody>
      </p:sp>
      <p:sp>
        <p:nvSpPr>
          <p:cNvPr id="30" name="Risk number"/>
          <p:cNvSpPr txBox="1"/>
          <p:nvPr/>
        </p:nvSpPr>
        <p:spPr>
          <a:xfrm>
            <a:off x="9217152" y="3017520"/>
            <a:ext cx="1371600" cy="914400"/>
          </a:xfrm>
          <a:prstGeom prst="rect">
            <a:avLst/>
          </a:prstGeom>
          <a:noFill/>
          <a:ln/>
        </p:spPr>
        <p:txBody>
          <a:bodyPr wrap="square" lIns="0" tIns="0" rIns="0" bIns="0" rtlCol="0" anchor="ctr"/>
          <a:lstStyle/>
          <a:p>
            <a:pPr indent="0" marL="0">
              <a:buNone/>
            </a:pPr>
            <a:r>
              <a:rPr lang="en-US" sz="6000" b="1" dirty="0">
                <a:solidFill>
                  <a:schemeClr val="accent5"/>
                </a:solidFill>
                <a:latin typeface="+mj-lt" pitchFamily="34" charset="0"/>
                <a:ea typeface="+mj-lt" pitchFamily="34" charset="-122"/>
                <a:cs typeface="+mj-lt" pitchFamily="34" charset="-120"/>
              </a:rPr>
              <a:t>30</a:t>
            </a:r>
            <a:endParaRPr lang="en-US" sz="6000" dirty="0"/>
          </a:p>
        </p:txBody>
      </p:sp>
      <p:sp>
        <p:nvSpPr>
          <p:cNvPr id="31" name="Similarity"/>
          <p:cNvSpPr txBox="1"/>
          <p:nvPr/>
        </p:nvSpPr>
        <p:spPr>
          <a:xfrm>
            <a:off x="10378440" y="3429000"/>
            <a:ext cx="1097280" cy="365760"/>
          </a:xfrm>
          <a:prstGeom prst="rect">
            <a:avLst/>
          </a:prstGeom>
          <a:noFill/>
          <a:ln/>
        </p:spPr>
        <p:txBody>
          <a:bodyPr wrap="square" lIns="0" tIns="0" rIns="0" bIns="0" rtlCol="0" anchor="t"/>
          <a:lstStyle/>
          <a:p>
            <a:pPr indent="0" marL="0">
              <a:buNone/>
            </a:pPr>
            <a:r>
              <a:rPr lang="en-US" sz="1400" dirty="0">
                <a:solidFill>
                  <a:srgbClr val="57534E"/>
                </a:solidFill>
              </a:rPr>
              <a:t>88% similar</a:t>
            </a:r>
            <a:endParaRPr lang="en-US" sz="1400" dirty="0"/>
          </a:p>
        </p:txBody>
      </p:sp>
      <p:sp>
        <p:nvSpPr>
          <p:cNvPr id="32" name="ERR result"/>
          <p:cNvSpPr/>
          <p:nvPr/>
        </p:nvSpPr>
        <p:spPr>
          <a:xfrm>
            <a:off x="6035040" y="4434840"/>
            <a:ext cx="5513832" cy="1645920"/>
          </a:xfrm>
          <a:prstGeom prst="roundRect">
            <a:avLst>
              <a:gd name="adj" fmla="val 6667"/>
            </a:avLst>
          </a:prstGeom>
          <a:solidFill>
            <a:schemeClr val="accent6"/>
          </a:solidFill>
          <a:ln/>
        </p:spPr>
      </p:sp>
      <p:sp>
        <p:nvSpPr>
          <p:cNvPr id="33" name="ERR value"/>
          <p:cNvSpPr txBox="1"/>
          <p:nvPr/>
        </p:nvSpPr>
        <p:spPr>
          <a:xfrm>
            <a:off x="6355080" y="4572000"/>
            <a:ext cx="4937760" cy="777240"/>
          </a:xfrm>
          <a:prstGeom prst="rect">
            <a:avLst/>
          </a:prstGeom>
          <a:noFill/>
          <a:ln/>
        </p:spPr>
        <p:txBody>
          <a:bodyPr wrap="square" lIns="0" tIns="0" rIns="0" bIns="0" rtlCol="0" anchor="ctr"/>
          <a:lstStyle/>
          <a:p>
            <a:pPr indent="0" marL="0">
              <a:buNone/>
            </a:pPr>
            <a:r>
              <a:rPr lang="en-US" sz="4400" b="1" dirty="0">
                <a:solidFill>
                  <a:schemeClr val="bg1"/>
                </a:solidFill>
                <a:latin typeface="+mj-lt" pitchFamily="34" charset="0"/>
                <a:ea typeface="+mj-lt" pitchFamily="34" charset="-122"/>
                <a:cs typeface="+mj-lt" pitchFamily="34" charset="-120"/>
              </a:rPr>
              <a:t>−55 points</a:t>
            </a:r>
            <a:endParaRPr lang="en-US" sz="4400" dirty="0"/>
          </a:p>
        </p:txBody>
      </p:sp>
      <p:sp>
        <p:nvSpPr>
          <p:cNvPr id="34" name="ERR formula"/>
          <p:cNvSpPr txBox="1"/>
          <p:nvPr/>
        </p:nvSpPr>
        <p:spPr>
          <a:xfrm>
            <a:off x="6355080" y="5394960"/>
            <a:ext cx="4937760" cy="594360"/>
          </a:xfrm>
          <a:prstGeom prst="rect">
            <a:avLst/>
          </a:prstGeom>
          <a:noFill/>
          <a:ln/>
        </p:spPr>
        <p:txBody>
          <a:bodyPr wrap="square" lIns="0" tIns="0" rIns="0" bIns="0" rtlCol="0" anchor="t"/>
          <a:lstStyle/>
          <a:p>
            <a:pPr indent="0" marL="0">
              <a:buNone/>
            </a:pPr>
            <a:r>
              <a:rPr lang="en-US" sz="1500" dirty="0">
                <a:solidFill>
                  <a:schemeClr val="bg1"/>
                </a:solidFill>
              </a:rPr>
              <a:t>ERR = current clause risk − recommended precedent risk, about 65% lower risk</a:t>
            </a:r>
            <a:endParaRPr lang="en-US" sz="15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PIPELINE B</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Generative Reasoning Tier</a:t>
            </a:r>
            <a:endParaRPr lang="en-US" sz="3600" dirty="0"/>
          </a:p>
        </p:txBody>
      </p:sp>
      <p:sp>
        <p:nvSpPr>
          <p:cNvPr id="4" name="Model card 1"/>
          <p:cNvSpPr/>
          <p:nvPr/>
        </p:nvSpPr>
        <p:spPr>
          <a:xfrm>
            <a:off x="640080" y="1691640"/>
            <a:ext cx="5943600" cy="1371600"/>
          </a:xfrm>
          <a:prstGeom prst="roundRect">
            <a:avLst>
              <a:gd name="adj" fmla="val 8000"/>
            </a:avLst>
          </a:prstGeom>
          <a:solidFill>
            <a:schemeClr val="bg2"/>
          </a:solidFill>
          <a:ln/>
        </p:spPr>
      </p:sp>
      <p:sp>
        <p:nvSpPr>
          <p:cNvPr id="5" name="Llama 3.3 70B Instruct badge"/>
          <p:cNvSpPr/>
          <p:nvPr/>
        </p:nvSpPr>
        <p:spPr>
          <a:xfrm>
            <a:off x="914400" y="2057400"/>
            <a:ext cx="640080" cy="640080"/>
          </a:xfrm>
          <a:prstGeom prst="ellipse">
            <a:avLst/>
          </a:prstGeom>
          <a:solidFill>
            <a:schemeClr val="tx1"/>
          </a:solidFill>
          <a:ln/>
        </p:spPr>
      </p:sp>
      <p:pic>
        <p:nvPicPr>
          <p:cNvPr id="6" name="Image 0" descr="Llama 3.3 70B Instruct">    </p:cNvPr>
          <p:cNvPicPr>
            <a:picLocks noChangeAspect="1"/>
          </p:cNvPicPr>
          <p:nvPr/>
        </p:nvPicPr>
        <p:blipFill>
          <a:blip r:embed="rId1"/>
          <a:stretch>
            <a:fillRect/>
          </a:stretch>
        </p:blipFill>
        <p:spPr>
          <a:xfrm>
            <a:off x="1087222" y="2230222"/>
            <a:ext cx="294437" cy="294437"/>
          </a:xfrm>
          <a:prstGeom prst="rect">
            <a:avLst/>
          </a:prstGeom>
        </p:spPr>
      </p:pic>
      <p:sp>
        <p:nvSpPr>
          <p:cNvPr id="7" name="Model name"/>
          <p:cNvSpPr txBox="1"/>
          <p:nvPr/>
        </p:nvSpPr>
        <p:spPr>
          <a:xfrm>
            <a:off x="1828800" y="1920240"/>
            <a:ext cx="3200400" cy="365760"/>
          </a:xfrm>
          <a:prstGeom prst="rect">
            <a:avLst/>
          </a:prstGeom>
          <a:noFill/>
          <a:ln/>
        </p:spPr>
        <p:txBody>
          <a:bodyPr wrap="square" lIns="0" tIns="0" rIns="0" bIns="0" rtlCol="0" anchor="t"/>
          <a:lstStyle/>
          <a:p>
            <a:pPr indent="0" marL="0">
              <a:buNone/>
            </a:pPr>
            <a:r>
              <a:rPr lang="en-US" sz="1800" b="1" dirty="0">
                <a:solidFill>
                  <a:schemeClr val="tx1"/>
                </a:solidFill>
              </a:rPr>
              <a:t>Llama 3.3 70B Instruct</a:t>
            </a:r>
            <a:endParaRPr lang="en-US" sz="1800" dirty="0"/>
          </a:p>
        </p:txBody>
      </p:sp>
      <p:sp>
        <p:nvSpPr>
          <p:cNvPr id="8" name="Model role"/>
          <p:cNvSpPr txBox="1"/>
          <p:nvPr/>
        </p:nvSpPr>
        <p:spPr>
          <a:xfrm>
            <a:off x="1828800" y="2350008"/>
            <a:ext cx="3657600" cy="594360"/>
          </a:xfrm>
          <a:prstGeom prst="rect">
            <a:avLst/>
          </a:prstGeom>
          <a:noFill/>
          <a:ln/>
        </p:spPr>
        <p:txBody>
          <a:bodyPr wrap="square" lIns="0" tIns="0" rIns="0" bIns="0" rtlCol="0" anchor="t"/>
          <a:lstStyle/>
          <a:p>
            <a:pPr indent="0" marL="0">
              <a:buNone/>
            </a:pPr>
            <a:r>
              <a:rPr lang="en-US" sz="1400" dirty="0">
                <a:solidFill>
                  <a:srgbClr val="57534E"/>
                </a:solidFill>
              </a:rPr>
              <a:t>Deep reasoning: live negotiation, drafting and playbooks</a:t>
            </a:r>
            <a:endParaRPr lang="en-US" sz="1400" dirty="0"/>
          </a:p>
        </p:txBody>
      </p:sp>
      <p:sp>
        <p:nvSpPr>
          <p:cNvPr id="9" name="Pill PRIMARY"/>
          <p:cNvSpPr/>
          <p:nvPr/>
        </p:nvSpPr>
        <p:spPr>
          <a:xfrm>
            <a:off x="5212080" y="1920240"/>
            <a:ext cx="1143000" cy="310896"/>
          </a:xfrm>
          <a:prstGeom prst="roundRect">
            <a:avLst>
              <a:gd name="adj" fmla="val 50000"/>
            </a:avLst>
          </a:prstGeom>
          <a:solidFill>
            <a:schemeClr val="accent6"/>
          </a:solidFill>
          <a:ln/>
        </p:spPr>
      </p:sp>
      <p:sp>
        <p:nvSpPr>
          <p:cNvPr id="10" name="Pill label PRIMARY"/>
          <p:cNvSpPr txBox="1"/>
          <p:nvPr/>
        </p:nvSpPr>
        <p:spPr>
          <a:xfrm>
            <a:off x="5212080" y="1920240"/>
            <a:ext cx="1143000" cy="310896"/>
          </a:xfrm>
          <a:prstGeom prst="rect">
            <a:avLst/>
          </a:prstGeom>
          <a:noFill/>
          <a:ln/>
        </p:spPr>
        <p:txBody>
          <a:bodyPr wrap="square" lIns="0" tIns="0" rIns="0" bIns="0" rtlCol="0" anchor="ctr"/>
          <a:lstStyle/>
          <a:p>
            <a:pPr algn="ctr" indent="0" marL="0">
              <a:buNone/>
            </a:pPr>
            <a:r>
              <a:rPr lang="en-US" sz="1000" b="1" spc="100" kern="0" dirty="0">
                <a:solidFill>
                  <a:schemeClr val="bg1"/>
                </a:solidFill>
              </a:rPr>
              <a:t>PRIMARY</a:t>
            </a:r>
            <a:endParaRPr lang="en-US" sz="1000" dirty="0"/>
          </a:p>
        </p:txBody>
      </p:sp>
      <p:sp>
        <p:nvSpPr>
          <p:cNvPr id="11" name="Model card 2"/>
          <p:cNvSpPr/>
          <p:nvPr/>
        </p:nvSpPr>
        <p:spPr>
          <a:xfrm>
            <a:off x="640080" y="3200400"/>
            <a:ext cx="5943600" cy="1371600"/>
          </a:xfrm>
          <a:prstGeom prst="roundRect">
            <a:avLst>
              <a:gd name="adj" fmla="val 8000"/>
            </a:avLst>
          </a:prstGeom>
          <a:solidFill>
            <a:schemeClr val="bg2"/>
          </a:solidFill>
          <a:ln/>
        </p:spPr>
      </p:sp>
      <p:sp>
        <p:nvSpPr>
          <p:cNvPr id="12" name="Llama 3.1 8B Instruct badge"/>
          <p:cNvSpPr/>
          <p:nvPr/>
        </p:nvSpPr>
        <p:spPr>
          <a:xfrm>
            <a:off x="914400" y="3566160"/>
            <a:ext cx="640080" cy="640080"/>
          </a:xfrm>
          <a:prstGeom prst="ellipse">
            <a:avLst/>
          </a:prstGeom>
          <a:solidFill>
            <a:schemeClr val="tx1"/>
          </a:solidFill>
          <a:ln/>
        </p:spPr>
      </p:sp>
      <p:pic>
        <p:nvPicPr>
          <p:cNvPr id="13" name="Image 1" descr="Llama 3.1 8B Instruct">    </p:cNvPr>
          <p:cNvPicPr>
            <a:picLocks noChangeAspect="1"/>
          </p:cNvPicPr>
          <p:nvPr/>
        </p:nvPicPr>
        <p:blipFill>
          <a:blip r:embed="rId2"/>
          <a:stretch>
            <a:fillRect/>
          </a:stretch>
        </p:blipFill>
        <p:spPr>
          <a:xfrm>
            <a:off x="1087222" y="3738982"/>
            <a:ext cx="294437" cy="294437"/>
          </a:xfrm>
          <a:prstGeom prst="rect">
            <a:avLst/>
          </a:prstGeom>
        </p:spPr>
      </p:pic>
      <p:sp>
        <p:nvSpPr>
          <p:cNvPr id="14" name="Model name"/>
          <p:cNvSpPr txBox="1"/>
          <p:nvPr/>
        </p:nvSpPr>
        <p:spPr>
          <a:xfrm>
            <a:off x="1828800" y="3429000"/>
            <a:ext cx="3200400" cy="365760"/>
          </a:xfrm>
          <a:prstGeom prst="rect">
            <a:avLst/>
          </a:prstGeom>
          <a:noFill/>
          <a:ln/>
        </p:spPr>
        <p:txBody>
          <a:bodyPr wrap="square" lIns="0" tIns="0" rIns="0" bIns="0" rtlCol="0" anchor="t"/>
          <a:lstStyle/>
          <a:p>
            <a:pPr indent="0" marL="0">
              <a:buNone/>
            </a:pPr>
            <a:r>
              <a:rPr lang="en-US" sz="1800" b="1" dirty="0">
                <a:solidFill>
                  <a:schemeClr val="tx1"/>
                </a:solidFill>
              </a:rPr>
              <a:t>Llama 3.1 8B Instruct</a:t>
            </a:r>
            <a:endParaRPr lang="en-US" sz="1800" dirty="0"/>
          </a:p>
        </p:txBody>
      </p:sp>
      <p:sp>
        <p:nvSpPr>
          <p:cNvPr id="15" name="Model role"/>
          <p:cNvSpPr txBox="1"/>
          <p:nvPr/>
        </p:nvSpPr>
        <p:spPr>
          <a:xfrm>
            <a:off x="1828800" y="3858768"/>
            <a:ext cx="3657600" cy="594360"/>
          </a:xfrm>
          <a:prstGeom prst="rect">
            <a:avLst/>
          </a:prstGeom>
          <a:noFill/>
          <a:ln/>
        </p:spPr>
        <p:txBody>
          <a:bodyPr wrap="square" lIns="0" tIns="0" rIns="0" bIns="0" rtlCol="0" anchor="t"/>
          <a:lstStyle/>
          <a:p>
            <a:pPr indent="0" marL="0">
              <a:buNone/>
            </a:pPr>
            <a:r>
              <a:rPr lang="en-US" sz="1400" dirty="0">
                <a:solidFill>
                  <a:srgbClr val="57534E"/>
                </a:solidFill>
              </a:rPr>
              <a:t>Fast turnaround: rapid scoring and clause extraction</a:t>
            </a:r>
            <a:endParaRPr lang="en-US" sz="1400" dirty="0"/>
          </a:p>
        </p:txBody>
      </p:sp>
      <p:sp>
        <p:nvSpPr>
          <p:cNvPr id="16" name="Pill FAST"/>
          <p:cNvSpPr/>
          <p:nvPr/>
        </p:nvSpPr>
        <p:spPr>
          <a:xfrm>
            <a:off x="5212080" y="3429000"/>
            <a:ext cx="1143000" cy="310896"/>
          </a:xfrm>
          <a:prstGeom prst="roundRect">
            <a:avLst>
              <a:gd name="adj" fmla="val 50000"/>
            </a:avLst>
          </a:prstGeom>
          <a:solidFill>
            <a:schemeClr val="accent1"/>
          </a:solidFill>
          <a:ln/>
        </p:spPr>
      </p:sp>
      <p:sp>
        <p:nvSpPr>
          <p:cNvPr id="17" name="Pill label FAST"/>
          <p:cNvSpPr txBox="1"/>
          <p:nvPr/>
        </p:nvSpPr>
        <p:spPr>
          <a:xfrm>
            <a:off x="5212080" y="3429000"/>
            <a:ext cx="1143000" cy="310896"/>
          </a:xfrm>
          <a:prstGeom prst="rect">
            <a:avLst/>
          </a:prstGeom>
          <a:noFill/>
          <a:ln/>
        </p:spPr>
        <p:txBody>
          <a:bodyPr wrap="square" lIns="0" tIns="0" rIns="0" bIns="0" rtlCol="0" anchor="ctr"/>
          <a:lstStyle/>
          <a:p>
            <a:pPr algn="ctr" indent="0" marL="0">
              <a:buNone/>
            </a:pPr>
            <a:r>
              <a:rPr lang="en-US" sz="1000" b="1" spc="100" kern="0" dirty="0">
                <a:solidFill>
                  <a:schemeClr val="tx1"/>
                </a:solidFill>
              </a:rPr>
              <a:t>FAST</a:t>
            </a:r>
            <a:endParaRPr lang="en-US" sz="1000" dirty="0"/>
          </a:p>
        </p:txBody>
      </p:sp>
      <p:sp>
        <p:nvSpPr>
          <p:cNvPr id="18" name="Model card 3"/>
          <p:cNvSpPr/>
          <p:nvPr/>
        </p:nvSpPr>
        <p:spPr>
          <a:xfrm>
            <a:off x="640080" y="4709160"/>
            <a:ext cx="5943600" cy="1371600"/>
          </a:xfrm>
          <a:prstGeom prst="roundRect">
            <a:avLst>
              <a:gd name="adj" fmla="val 8000"/>
            </a:avLst>
          </a:prstGeom>
          <a:solidFill>
            <a:schemeClr val="bg2"/>
          </a:solidFill>
          <a:ln/>
        </p:spPr>
      </p:sp>
      <p:sp>
        <p:nvSpPr>
          <p:cNvPr id="19" name="Llama 3.1 70B → Gemini badge"/>
          <p:cNvSpPr/>
          <p:nvPr/>
        </p:nvSpPr>
        <p:spPr>
          <a:xfrm>
            <a:off x="914400" y="5074920"/>
            <a:ext cx="640080" cy="640080"/>
          </a:xfrm>
          <a:prstGeom prst="ellipse">
            <a:avLst/>
          </a:prstGeom>
          <a:solidFill>
            <a:schemeClr val="tx1"/>
          </a:solidFill>
          <a:ln/>
        </p:spPr>
      </p:sp>
      <p:pic>
        <p:nvPicPr>
          <p:cNvPr id="20" name="Image 2" descr="Llama 3.1 70B → Gemini">    </p:cNvPr>
          <p:cNvPicPr>
            <a:picLocks noChangeAspect="1"/>
          </p:cNvPicPr>
          <p:nvPr/>
        </p:nvPicPr>
        <p:blipFill>
          <a:blip r:embed="rId3"/>
          <a:stretch>
            <a:fillRect/>
          </a:stretch>
        </p:blipFill>
        <p:spPr>
          <a:xfrm>
            <a:off x="1087222" y="5247742"/>
            <a:ext cx="294437" cy="294437"/>
          </a:xfrm>
          <a:prstGeom prst="rect">
            <a:avLst/>
          </a:prstGeom>
        </p:spPr>
      </p:pic>
      <p:sp>
        <p:nvSpPr>
          <p:cNvPr id="21" name="Model name"/>
          <p:cNvSpPr txBox="1"/>
          <p:nvPr/>
        </p:nvSpPr>
        <p:spPr>
          <a:xfrm>
            <a:off x="1828800" y="4937760"/>
            <a:ext cx="3200400" cy="365760"/>
          </a:xfrm>
          <a:prstGeom prst="rect">
            <a:avLst/>
          </a:prstGeom>
          <a:noFill/>
          <a:ln/>
        </p:spPr>
        <p:txBody>
          <a:bodyPr wrap="square" lIns="0" tIns="0" rIns="0" bIns="0" rtlCol="0" anchor="t"/>
          <a:lstStyle/>
          <a:p>
            <a:pPr indent="0" marL="0">
              <a:buNone/>
            </a:pPr>
            <a:r>
              <a:rPr lang="en-US" sz="1800" b="1" dirty="0">
                <a:solidFill>
                  <a:schemeClr val="tx1"/>
                </a:solidFill>
              </a:rPr>
              <a:t>Llama 3.1 70B → Gemini</a:t>
            </a:r>
            <a:endParaRPr lang="en-US" sz="1800" dirty="0"/>
          </a:p>
        </p:txBody>
      </p:sp>
      <p:sp>
        <p:nvSpPr>
          <p:cNvPr id="22" name="Model role"/>
          <p:cNvSpPr txBox="1"/>
          <p:nvPr/>
        </p:nvSpPr>
        <p:spPr>
          <a:xfrm>
            <a:off x="1828800" y="5367528"/>
            <a:ext cx="3657600" cy="594360"/>
          </a:xfrm>
          <a:prstGeom prst="rect">
            <a:avLst/>
          </a:prstGeom>
          <a:noFill/>
          <a:ln/>
        </p:spPr>
        <p:txBody>
          <a:bodyPr wrap="square" lIns="0" tIns="0" rIns="0" bIns="0" rtlCol="0" anchor="t"/>
          <a:lstStyle/>
          <a:p>
            <a:pPr indent="0" marL="0">
              <a:buNone/>
            </a:pPr>
            <a:r>
              <a:rPr lang="en-US" sz="1400" dirty="0">
                <a:solidFill>
                  <a:srgbClr val="57534E"/>
                </a:solidFill>
              </a:rPr>
              <a:t>Automatic fallback when a provider is rate-limited</a:t>
            </a:r>
            <a:endParaRPr lang="en-US" sz="1400" dirty="0"/>
          </a:p>
        </p:txBody>
      </p:sp>
      <p:sp>
        <p:nvSpPr>
          <p:cNvPr id="23" name="Pill FALLBACK"/>
          <p:cNvSpPr/>
          <p:nvPr/>
        </p:nvSpPr>
        <p:spPr>
          <a:xfrm>
            <a:off x="5212080" y="4937760"/>
            <a:ext cx="1143000" cy="310896"/>
          </a:xfrm>
          <a:prstGeom prst="roundRect">
            <a:avLst>
              <a:gd name="adj" fmla="val 50000"/>
            </a:avLst>
          </a:prstGeom>
          <a:solidFill>
            <a:schemeClr val="tx2"/>
          </a:solidFill>
          <a:ln/>
        </p:spPr>
      </p:sp>
      <p:sp>
        <p:nvSpPr>
          <p:cNvPr id="24" name="Pill label FALLBACK"/>
          <p:cNvSpPr txBox="1"/>
          <p:nvPr/>
        </p:nvSpPr>
        <p:spPr>
          <a:xfrm>
            <a:off x="5212080" y="4937760"/>
            <a:ext cx="1143000" cy="310896"/>
          </a:xfrm>
          <a:prstGeom prst="rect">
            <a:avLst/>
          </a:prstGeom>
          <a:noFill/>
          <a:ln/>
        </p:spPr>
        <p:txBody>
          <a:bodyPr wrap="square" lIns="0" tIns="0" rIns="0" bIns="0" rtlCol="0" anchor="ctr"/>
          <a:lstStyle/>
          <a:p>
            <a:pPr algn="ctr" indent="0" marL="0">
              <a:buNone/>
            </a:pPr>
            <a:r>
              <a:rPr lang="en-US" sz="1000" b="1" spc="100" kern="0" dirty="0">
                <a:solidFill>
                  <a:schemeClr val="bg1"/>
                </a:solidFill>
              </a:rPr>
              <a:t>FALLBACK</a:t>
            </a:r>
            <a:endParaRPr lang="en-US" sz="1000" dirty="0"/>
          </a:p>
        </p:txBody>
      </p:sp>
      <p:sp>
        <p:nvSpPr>
          <p:cNvPr id="25" name="Reliability card"/>
          <p:cNvSpPr/>
          <p:nvPr/>
        </p:nvSpPr>
        <p:spPr>
          <a:xfrm>
            <a:off x="6858000" y="1691640"/>
            <a:ext cx="4690872" cy="4389120"/>
          </a:xfrm>
          <a:prstGeom prst="roundRect">
            <a:avLst>
              <a:gd name="adj" fmla="val 2500"/>
            </a:avLst>
          </a:prstGeom>
          <a:solidFill>
            <a:schemeClr val="tx1"/>
          </a:solidFill>
          <a:ln/>
        </p:spPr>
      </p:sp>
      <p:sp>
        <p:nvSpPr>
          <p:cNvPr id="26" name="Reliability heading"/>
          <p:cNvSpPr txBox="1"/>
          <p:nvPr/>
        </p:nvSpPr>
        <p:spPr>
          <a:xfrm>
            <a:off x="7178040" y="1874520"/>
            <a:ext cx="41148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RELIABILITY ENGINEERING</a:t>
            </a:r>
            <a:endParaRPr lang="en-US" sz="1200" dirty="0"/>
          </a:p>
        </p:txBody>
      </p:sp>
      <p:sp>
        <p:nvSpPr>
          <p:cNvPr id="27" name="Check badge"/>
          <p:cNvSpPr/>
          <p:nvPr/>
        </p:nvSpPr>
        <p:spPr>
          <a:xfrm>
            <a:off x="7178040" y="2450592"/>
            <a:ext cx="365760" cy="365760"/>
          </a:xfrm>
          <a:prstGeom prst="ellipse">
            <a:avLst/>
          </a:prstGeom>
          <a:solidFill>
            <a:schemeClr val="tx2"/>
          </a:solidFill>
          <a:ln/>
        </p:spPr>
      </p:sp>
      <p:pic>
        <p:nvPicPr>
          <p:cNvPr id="28" name="Image 3" descr="Check">    </p:cNvPr>
          <p:cNvPicPr>
            <a:picLocks noChangeAspect="1"/>
          </p:cNvPicPr>
          <p:nvPr/>
        </p:nvPicPr>
        <p:blipFill>
          <a:blip r:embed="rId4"/>
          <a:stretch>
            <a:fillRect/>
          </a:stretch>
        </p:blipFill>
        <p:spPr>
          <a:xfrm>
            <a:off x="7276795" y="2549347"/>
            <a:ext cx="168250" cy="168250"/>
          </a:xfrm>
          <a:prstGeom prst="rect">
            <a:avLst/>
          </a:prstGeom>
        </p:spPr>
      </p:pic>
      <p:sp>
        <p:nvSpPr>
          <p:cNvPr id="29" name="Reliability item"/>
          <p:cNvSpPr txBox="1"/>
          <p:nvPr/>
        </p:nvSpPr>
        <p:spPr>
          <a:xfrm>
            <a:off x="7726680" y="2377440"/>
            <a:ext cx="3566160" cy="594360"/>
          </a:xfrm>
          <a:prstGeom prst="rect">
            <a:avLst/>
          </a:prstGeom>
          <a:noFill/>
          <a:ln/>
        </p:spPr>
        <p:txBody>
          <a:bodyPr wrap="square" lIns="0" tIns="0" rIns="0" bIns="0" rtlCol="0" anchor="ctr"/>
          <a:lstStyle/>
          <a:p>
            <a:pPr indent="0" marL="0">
              <a:buNone/>
            </a:pPr>
            <a:r>
              <a:rPr lang="en-US" sz="1400" dirty="0">
                <a:solidFill>
                  <a:schemeClr val="bg1"/>
                </a:solidFill>
              </a:rPr>
              <a:t>Strict-JSON prompts typed by shared TypeScript interfaces</a:t>
            </a:r>
            <a:endParaRPr lang="en-US" sz="1400" dirty="0"/>
          </a:p>
        </p:txBody>
      </p:sp>
      <p:sp>
        <p:nvSpPr>
          <p:cNvPr id="30" name="Check badge"/>
          <p:cNvSpPr/>
          <p:nvPr/>
        </p:nvSpPr>
        <p:spPr>
          <a:xfrm>
            <a:off x="7178040" y="3182112"/>
            <a:ext cx="365760" cy="365760"/>
          </a:xfrm>
          <a:prstGeom prst="ellipse">
            <a:avLst/>
          </a:prstGeom>
          <a:solidFill>
            <a:schemeClr val="tx2"/>
          </a:solidFill>
          <a:ln/>
        </p:spPr>
      </p:sp>
      <p:pic>
        <p:nvPicPr>
          <p:cNvPr id="31" name="Image 4" descr="Check">    </p:cNvPr>
          <p:cNvPicPr>
            <a:picLocks noChangeAspect="1"/>
          </p:cNvPicPr>
          <p:nvPr/>
        </p:nvPicPr>
        <p:blipFill>
          <a:blip r:embed="rId5"/>
          <a:stretch>
            <a:fillRect/>
          </a:stretch>
        </p:blipFill>
        <p:spPr>
          <a:xfrm>
            <a:off x="7276795" y="3280867"/>
            <a:ext cx="168250" cy="168250"/>
          </a:xfrm>
          <a:prstGeom prst="rect">
            <a:avLst/>
          </a:prstGeom>
        </p:spPr>
      </p:pic>
      <p:sp>
        <p:nvSpPr>
          <p:cNvPr id="32" name="Reliability item"/>
          <p:cNvSpPr txBox="1"/>
          <p:nvPr/>
        </p:nvSpPr>
        <p:spPr>
          <a:xfrm>
            <a:off x="7726680" y="3108960"/>
            <a:ext cx="3566160" cy="594360"/>
          </a:xfrm>
          <a:prstGeom prst="rect">
            <a:avLst/>
          </a:prstGeom>
          <a:noFill/>
          <a:ln/>
        </p:spPr>
        <p:txBody>
          <a:bodyPr wrap="square" lIns="0" tIns="0" rIns="0" bIns="0" rtlCol="0" anchor="ctr"/>
          <a:lstStyle/>
          <a:p>
            <a:pPr indent="0" marL="0">
              <a:buNone/>
            </a:pPr>
            <a:r>
              <a:rPr lang="en-US" sz="1400" dirty="0">
                <a:solidFill>
                  <a:schemeClr val="bg1"/>
                </a:solidFill>
              </a:rPr>
              <a:t>Parser strips markdown fences and sanitises model output</a:t>
            </a:r>
            <a:endParaRPr lang="en-US" sz="1400" dirty="0"/>
          </a:p>
        </p:txBody>
      </p:sp>
      <p:sp>
        <p:nvSpPr>
          <p:cNvPr id="33" name="Check badge"/>
          <p:cNvSpPr/>
          <p:nvPr/>
        </p:nvSpPr>
        <p:spPr>
          <a:xfrm>
            <a:off x="7178040" y="3913632"/>
            <a:ext cx="365760" cy="365760"/>
          </a:xfrm>
          <a:prstGeom prst="ellipse">
            <a:avLst/>
          </a:prstGeom>
          <a:solidFill>
            <a:schemeClr val="tx2"/>
          </a:solidFill>
          <a:ln/>
        </p:spPr>
      </p:sp>
      <p:pic>
        <p:nvPicPr>
          <p:cNvPr id="34" name="Image 5" descr="Check">    </p:cNvPr>
          <p:cNvPicPr>
            <a:picLocks noChangeAspect="1"/>
          </p:cNvPicPr>
          <p:nvPr/>
        </p:nvPicPr>
        <p:blipFill>
          <a:blip r:embed="rId6"/>
          <a:stretch>
            <a:fillRect/>
          </a:stretch>
        </p:blipFill>
        <p:spPr>
          <a:xfrm>
            <a:off x="7276795" y="4012387"/>
            <a:ext cx="168250" cy="168250"/>
          </a:xfrm>
          <a:prstGeom prst="rect">
            <a:avLst/>
          </a:prstGeom>
        </p:spPr>
      </p:pic>
      <p:sp>
        <p:nvSpPr>
          <p:cNvPr id="35" name="Reliability item"/>
          <p:cNvSpPr txBox="1"/>
          <p:nvPr/>
        </p:nvSpPr>
        <p:spPr>
          <a:xfrm>
            <a:off x="7726680" y="3840480"/>
            <a:ext cx="3566160" cy="594360"/>
          </a:xfrm>
          <a:prstGeom prst="rect">
            <a:avLst/>
          </a:prstGeom>
          <a:noFill/>
          <a:ln/>
        </p:spPr>
        <p:txBody>
          <a:bodyPr wrap="square" lIns="0" tIns="0" rIns="0" bIns="0" rtlCol="0" anchor="ctr"/>
          <a:lstStyle/>
          <a:p>
            <a:pPr indent="0" marL="0">
              <a:buNone/>
            </a:pPr>
            <a:r>
              <a:rPr lang="en-US" sz="1400" dirty="0">
                <a:solidFill>
                  <a:schemeClr val="bg1"/>
                </a:solidFill>
              </a:rPr>
              <a:t>Exponential backoff on HTTP 429 and 503</a:t>
            </a:r>
            <a:endParaRPr lang="en-US" sz="1400" dirty="0"/>
          </a:p>
        </p:txBody>
      </p:sp>
      <p:sp>
        <p:nvSpPr>
          <p:cNvPr id="36" name="Check badge"/>
          <p:cNvSpPr/>
          <p:nvPr/>
        </p:nvSpPr>
        <p:spPr>
          <a:xfrm>
            <a:off x="7178040" y="4645152"/>
            <a:ext cx="365760" cy="365760"/>
          </a:xfrm>
          <a:prstGeom prst="ellipse">
            <a:avLst/>
          </a:prstGeom>
          <a:solidFill>
            <a:schemeClr val="tx2"/>
          </a:solidFill>
          <a:ln/>
        </p:spPr>
      </p:sp>
      <p:pic>
        <p:nvPicPr>
          <p:cNvPr id="37" name="Image 6" descr="Check">    </p:cNvPr>
          <p:cNvPicPr>
            <a:picLocks noChangeAspect="1"/>
          </p:cNvPicPr>
          <p:nvPr/>
        </p:nvPicPr>
        <p:blipFill>
          <a:blip r:embed="rId7"/>
          <a:stretch>
            <a:fillRect/>
          </a:stretch>
        </p:blipFill>
        <p:spPr>
          <a:xfrm>
            <a:off x="7276795" y="4743907"/>
            <a:ext cx="168250" cy="168250"/>
          </a:xfrm>
          <a:prstGeom prst="rect">
            <a:avLst/>
          </a:prstGeom>
        </p:spPr>
      </p:pic>
      <p:sp>
        <p:nvSpPr>
          <p:cNvPr id="38" name="Reliability item"/>
          <p:cNvSpPr txBox="1"/>
          <p:nvPr/>
        </p:nvSpPr>
        <p:spPr>
          <a:xfrm>
            <a:off x="7726680" y="4572000"/>
            <a:ext cx="3566160" cy="594360"/>
          </a:xfrm>
          <a:prstGeom prst="rect">
            <a:avLst/>
          </a:prstGeom>
          <a:noFill/>
          <a:ln/>
        </p:spPr>
        <p:txBody>
          <a:bodyPr wrap="square" lIns="0" tIns="0" rIns="0" bIns="0" rtlCol="0" anchor="ctr"/>
          <a:lstStyle/>
          <a:p>
            <a:pPr indent="0" marL="0">
              <a:buNone/>
            </a:pPr>
            <a:r>
              <a:rPr lang="en-US" sz="1400" dirty="0">
                <a:solidFill>
                  <a:schemeClr val="bg1"/>
                </a:solidFill>
              </a:rPr>
              <a:t>Up to 100k characters of contract text per request</a:t>
            </a:r>
            <a:endParaRPr lang="en-US" sz="1400" dirty="0"/>
          </a:p>
        </p:txBody>
      </p:sp>
      <p:sp>
        <p:nvSpPr>
          <p:cNvPr id="39" name="Check badge"/>
          <p:cNvSpPr/>
          <p:nvPr/>
        </p:nvSpPr>
        <p:spPr>
          <a:xfrm>
            <a:off x="7178040" y="5376672"/>
            <a:ext cx="365760" cy="365760"/>
          </a:xfrm>
          <a:prstGeom prst="ellipse">
            <a:avLst/>
          </a:prstGeom>
          <a:solidFill>
            <a:schemeClr val="tx2"/>
          </a:solidFill>
          <a:ln/>
        </p:spPr>
      </p:sp>
      <p:pic>
        <p:nvPicPr>
          <p:cNvPr id="40" name="Image 7" descr="Check">    </p:cNvPr>
          <p:cNvPicPr>
            <a:picLocks noChangeAspect="1"/>
          </p:cNvPicPr>
          <p:nvPr/>
        </p:nvPicPr>
        <p:blipFill>
          <a:blip r:embed="rId8"/>
          <a:stretch>
            <a:fillRect/>
          </a:stretch>
        </p:blipFill>
        <p:spPr>
          <a:xfrm>
            <a:off x="7276795" y="5475427"/>
            <a:ext cx="168250" cy="168250"/>
          </a:xfrm>
          <a:prstGeom prst="rect">
            <a:avLst/>
          </a:prstGeom>
        </p:spPr>
      </p:pic>
      <p:sp>
        <p:nvSpPr>
          <p:cNvPr id="41" name="Reliability item"/>
          <p:cNvSpPr txBox="1"/>
          <p:nvPr/>
        </p:nvSpPr>
        <p:spPr>
          <a:xfrm>
            <a:off x="7726680" y="5303520"/>
            <a:ext cx="3566160" cy="594360"/>
          </a:xfrm>
          <a:prstGeom prst="rect">
            <a:avLst/>
          </a:prstGeom>
          <a:noFill/>
          <a:ln/>
        </p:spPr>
        <p:txBody>
          <a:bodyPr wrap="square" lIns="0" tIns="0" rIns="0" bIns="0" rtlCol="0" anchor="ctr"/>
          <a:lstStyle/>
          <a:p>
            <a:pPr indent="0" marL="0">
              <a:buNone/>
            </a:pPr>
            <a:r>
              <a:rPr lang="en-US" sz="1400" dirty="0">
                <a:solidFill>
                  <a:schemeClr val="bg1"/>
                </a:solidFill>
              </a:rPr>
              <a:t>Output merged with Pipeline A's ML benchmarks</a:t>
            </a:r>
            <a:endParaRPr lang="en-US" sz="14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DATA FLOW</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Inside One Analysis Request</a:t>
            </a:r>
            <a:endParaRPr lang="en-US" sz="3600" dirty="0"/>
          </a:p>
        </p:txBody>
      </p:sp>
      <p:sp>
        <p:nvSpPr>
          <p:cNvPr id="4" name="Parallel label"/>
          <p:cNvSpPr txBox="1"/>
          <p:nvPr/>
        </p:nvSpPr>
        <p:spPr>
          <a:xfrm>
            <a:off x="4846320" y="1554480"/>
            <a:ext cx="2468880" cy="274320"/>
          </a:xfrm>
          <a:prstGeom prst="rect">
            <a:avLst/>
          </a:prstGeom>
          <a:noFill/>
          <a:ln/>
        </p:spPr>
        <p:txBody>
          <a:bodyPr wrap="square" lIns="0" tIns="0" rIns="0" bIns="0" rtlCol="0" anchor="t"/>
          <a:lstStyle/>
          <a:p>
            <a:pPr algn="ctr" indent="0" marL="0">
              <a:buNone/>
            </a:pPr>
            <a:r>
              <a:rPr lang="en-US" sz="1100" b="1" spc="300" kern="0" dirty="0">
                <a:solidFill>
                  <a:srgbClr val="0F766E"/>
                </a:solidFill>
              </a:rPr>
              <a:t>RUNS IN PARALLEL</a:t>
            </a:r>
            <a:endParaRPr lang="en-US" sz="1100" dirty="0"/>
          </a:p>
        </p:txBody>
      </p:sp>
      <p:sp>
        <p:nvSpPr>
          <p:cNvPr id="5" name="Stage Upload"/>
          <p:cNvSpPr/>
          <p:nvPr/>
        </p:nvSpPr>
        <p:spPr>
          <a:xfrm>
            <a:off x="640080" y="1965960"/>
            <a:ext cx="1737360" cy="3566160"/>
          </a:xfrm>
          <a:prstGeom prst="roundRect">
            <a:avLst>
              <a:gd name="adj" fmla="val 6316"/>
            </a:avLst>
          </a:prstGeom>
          <a:solidFill>
            <a:schemeClr val="bg2"/>
          </a:solidFill>
          <a:ln/>
        </p:spPr>
      </p:sp>
      <p:sp>
        <p:nvSpPr>
          <p:cNvPr id="6" name="Upload badge"/>
          <p:cNvSpPr/>
          <p:nvPr/>
        </p:nvSpPr>
        <p:spPr>
          <a:xfrm>
            <a:off x="914400" y="2286000"/>
            <a:ext cx="731520" cy="731520"/>
          </a:xfrm>
          <a:prstGeom prst="ellipse">
            <a:avLst/>
          </a:prstGeom>
          <a:solidFill>
            <a:schemeClr val="tx1"/>
          </a:solidFill>
          <a:ln/>
        </p:spPr>
      </p:sp>
      <p:pic>
        <p:nvPicPr>
          <p:cNvPr id="7" name="Image 0" descr="Upload">    </p:cNvPr>
          <p:cNvPicPr>
            <a:picLocks noChangeAspect="1"/>
          </p:cNvPicPr>
          <p:nvPr/>
        </p:nvPicPr>
        <p:blipFill>
          <a:blip r:embed="rId1"/>
          <a:stretch>
            <a:fillRect/>
          </a:stretch>
        </p:blipFill>
        <p:spPr>
          <a:xfrm>
            <a:off x="1111910" y="2483510"/>
            <a:ext cx="336499" cy="336499"/>
          </a:xfrm>
          <a:prstGeom prst="rect">
            <a:avLst/>
          </a:prstGeom>
        </p:spPr>
      </p:pic>
      <p:sp>
        <p:nvSpPr>
          <p:cNvPr id="8" name="Stage title"/>
          <p:cNvSpPr txBox="1"/>
          <p:nvPr/>
        </p:nvSpPr>
        <p:spPr>
          <a:xfrm>
            <a:off x="914400" y="3246120"/>
            <a:ext cx="1280160" cy="365760"/>
          </a:xfrm>
          <a:prstGeom prst="rect">
            <a:avLst/>
          </a:prstGeom>
          <a:noFill/>
          <a:ln/>
        </p:spPr>
        <p:txBody>
          <a:bodyPr wrap="square" lIns="0" tIns="0" rIns="0" bIns="0" rtlCol="0" anchor="t"/>
          <a:lstStyle/>
          <a:p>
            <a:pPr indent="0" marL="0">
              <a:buNone/>
            </a:pPr>
            <a:r>
              <a:rPr lang="en-US" sz="1800" b="1" dirty="0">
                <a:solidFill>
                  <a:schemeClr val="tx1"/>
                </a:solidFill>
              </a:rPr>
              <a:t>Upload</a:t>
            </a:r>
            <a:endParaRPr lang="en-US" sz="1800" dirty="0"/>
          </a:p>
        </p:txBody>
      </p:sp>
      <p:sp>
        <p:nvSpPr>
          <p:cNvPr id="9" name="Stage text"/>
          <p:cNvSpPr txBox="1"/>
          <p:nvPr/>
        </p:nvSpPr>
        <p:spPr>
          <a:xfrm>
            <a:off x="914400" y="3703320"/>
            <a:ext cx="1280160" cy="1554480"/>
          </a:xfrm>
          <a:prstGeom prst="rect">
            <a:avLst/>
          </a:prstGeom>
          <a:noFill/>
          <a:ln/>
        </p:spPr>
        <p:txBody>
          <a:bodyPr wrap="square" lIns="0" tIns="0" rIns="0" bIns="0" rtlCol="0" anchor="t"/>
          <a:lstStyle/>
          <a:p>
            <a:pPr indent="0" marL="0">
              <a:buNone/>
            </a:pPr>
            <a:r>
              <a:rPr lang="en-US" sz="1400" dirty="0">
                <a:solidFill>
                  <a:srgbClr val="57534E"/>
                </a:solidFill>
              </a:rPr>
              <a:t>PDF, DOCX or TXT (≤ 10 MB)</a:t>
            </a:r>
            <a:endParaRPr lang="en-US" sz="1400" dirty="0"/>
          </a:p>
        </p:txBody>
      </p:sp>
      <p:sp>
        <p:nvSpPr>
          <p:cNvPr id="10" name="Stage Parse"/>
          <p:cNvSpPr/>
          <p:nvPr/>
        </p:nvSpPr>
        <p:spPr>
          <a:xfrm>
            <a:off x="2743200" y="1965960"/>
            <a:ext cx="1737360" cy="3566160"/>
          </a:xfrm>
          <a:prstGeom prst="roundRect">
            <a:avLst>
              <a:gd name="adj" fmla="val 6316"/>
            </a:avLst>
          </a:prstGeom>
          <a:solidFill>
            <a:schemeClr val="bg2"/>
          </a:solidFill>
          <a:ln/>
        </p:spPr>
      </p:sp>
      <p:sp>
        <p:nvSpPr>
          <p:cNvPr id="11" name="Parse badge"/>
          <p:cNvSpPr/>
          <p:nvPr/>
        </p:nvSpPr>
        <p:spPr>
          <a:xfrm>
            <a:off x="3017520" y="2286000"/>
            <a:ext cx="731520" cy="731520"/>
          </a:xfrm>
          <a:prstGeom prst="ellipse">
            <a:avLst/>
          </a:prstGeom>
          <a:solidFill>
            <a:schemeClr val="tx1"/>
          </a:solidFill>
          <a:ln/>
        </p:spPr>
      </p:sp>
      <p:pic>
        <p:nvPicPr>
          <p:cNvPr id="12" name="Image 1" descr="Parse">    </p:cNvPr>
          <p:cNvPicPr>
            <a:picLocks noChangeAspect="1"/>
          </p:cNvPicPr>
          <p:nvPr/>
        </p:nvPicPr>
        <p:blipFill>
          <a:blip r:embed="rId2"/>
          <a:stretch>
            <a:fillRect/>
          </a:stretch>
        </p:blipFill>
        <p:spPr>
          <a:xfrm>
            <a:off x="3215030" y="2483510"/>
            <a:ext cx="336499" cy="336499"/>
          </a:xfrm>
          <a:prstGeom prst="rect">
            <a:avLst/>
          </a:prstGeom>
        </p:spPr>
      </p:pic>
      <p:sp>
        <p:nvSpPr>
          <p:cNvPr id="13" name="Stage title"/>
          <p:cNvSpPr txBox="1"/>
          <p:nvPr/>
        </p:nvSpPr>
        <p:spPr>
          <a:xfrm>
            <a:off x="3017520" y="3246120"/>
            <a:ext cx="1280160" cy="365760"/>
          </a:xfrm>
          <a:prstGeom prst="rect">
            <a:avLst/>
          </a:prstGeom>
          <a:noFill/>
          <a:ln/>
        </p:spPr>
        <p:txBody>
          <a:bodyPr wrap="square" lIns="0" tIns="0" rIns="0" bIns="0" rtlCol="0" anchor="t"/>
          <a:lstStyle/>
          <a:p>
            <a:pPr indent="0" marL="0">
              <a:buNone/>
            </a:pPr>
            <a:r>
              <a:rPr lang="en-US" sz="1800" b="1" dirty="0">
                <a:solidFill>
                  <a:schemeClr val="tx1"/>
                </a:solidFill>
              </a:rPr>
              <a:t>Parse</a:t>
            </a:r>
            <a:endParaRPr lang="en-US" sz="1800" dirty="0"/>
          </a:p>
        </p:txBody>
      </p:sp>
      <p:sp>
        <p:nvSpPr>
          <p:cNvPr id="14" name="Stage text"/>
          <p:cNvSpPr txBox="1"/>
          <p:nvPr/>
        </p:nvSpPr>
        <p:spPr>
          <a:xfrm>
            <a:off x="3017520" y="3703320"/>
            <a:ext cx="1280160" cy="1554480"/>
          </a:xfrm>
          <a:prstGeom prst="rect">
            <a:avLst/>
          </a:prstGeom>
          <a:noFill/>
          <a:ln/>
        </p:spPr>
        <p:txBody>
          <a:bodyPr wrap="square" lIns="0" tIns="0" rIns="0" bIns="0" rtlCol="0" anchor="t"/>
          <a:lstStyle/>
          <a:p>
            <a:pPr indent="0" marL="0">
              <a:buNone/>
            </a:pPr>
            <a:r>
              <a:rPr lang="en-US" sz="1400" dirty="0">
                <a:solidFill>
                  <a:srgbClr val="57534E"/>
                </a:solidFill>
              </a:rPr>
              <a:t>Clean text, up to 100k chars</a:t>
            </a:r>
            <a:endParaRPr lang="en-US" sz="1400" dirty="0"/>
          </a:p>
        </p:txBody>
      </p:sp>
      <p:sp>
        <p:nvSpPr>
          <p:cNvPr id="15" name="Stage Merge"/>
          <p:cNvSpPr/>
          <p:nvPr/>
        </p:nvSpPr>
        <p:spPr>
          <a:xfrm>
            <a:off x="7680960" y="1965960"/>
            <a:ext cx="1737360" cy="3566160"/>
          </a:xfrm>
          <a:prstGeom prst="roundRect">
            <a:avLst>
              <a:gd name="adj" fmla="val 6316"/>
            </a:avLst>
          </a:prstGeom>
          <a:solidFill>
            <a:schemeClr val="bg2"/>
          </a:solidFill>
          <a:ln/>
        </p:spPr>
      </p:sp>
      <p:sp>
        <p:nvSpPr>
          <p:cNvPr id="16" name="Merge badge"/>
          <p:cNvSpPr/>
          <p:nvPr/>
        </p:nvSpPr>
        <p:spPr>
          <a:xfrm>
            <a:off x="7955280" y="2286000"/>
            <a:ext cx="731520" cy="731520"/>
          </a:xfrm>
          <a:prstGeom prst="ellipse">
            <a:avLst/>
          </a:prstGeom>
          <a:solidFill>
            <a:schemeClr val="tx1"/>
          </a:solidFill>
          <a:ln/>
        </p:spPr>
      </p:sp>
      <p:pic>
        <p:nvPicPr>
          <p:cNvPr id="17" name="Image 2" descr="Merge">    </p:cNvPr>
          <p:cNvPicPr>
            <a:picLocks noChangeAspect="1"/>
          </p:cNvPicPr>
          <p:nvPr/>
        </p:nvPicPr>
        <p:blipFill>
          <a:blip r:embed="rId3"/>
          <a:stretch>
            <a:fillRect/>
          </a:stretch>
        </p:blipFill>
        <p:spPr>
          <a:xfrm>
            <a:off x="8152790" y="2483510"/>
            <a:ext cx="336499" cy="336499"/>
          </a:xfrm>
          <a:prstGeom prst="rect">
            <a:avLst/>
          </a:prstGeom>
        </p:spPr>
      </p:pic>
      <p:sp>
        <p:nvSpPr>
          <p:cNvPr id="18" name="Stage title"/>
          <p:cNvSpPr txBox="1"/>
          <p:nvPr/>
        </p:nvSpPr>
        <p:spPr>
          <a:xfrm>
            <a:off x="7955280" y="3246120"/>
            <a:ext cx="1280160" cy="365760"/>
          </a:xfrm>
          <a:prstGeom prst="rect">
            <a:avLst/>
          </a:prstGeom>
          <a:noFill/>
          <a:ln/>
        </p:spPr>
        <p:txBody>
          <a:bodyPr wrap="square" lIns="0" tIns="0" rIns="0" bIns="0" rtlCol="0" anchor="t"/>
          <a:lstStyle/>
          <a:p>
            <a:pPr indent="0" marL="0">
              <a:buNone/>
            </a:pPr>
            <a:r>
              <a:rPr lang="en-US" sz="1800" b="1" dirty="0">
                <a:solidFill>
                  <a:schemeClr val="tx1"/>
                </a:solidFill>
              </a:rPr>
              <a:t>Merge</a:t>
            </a:r>
            <a:endParaRPr lang="en-US" sz="1800" dirty="0"/>
          </a:p>
        </p:txBody>
      </p:sp>
      <p:sp>
        <p:nvSpPr>
          <p:cNvPr id="19" name="Stage text"/>
          <p:cNvSpPr txBox="1"/>
          <p:nvPr/>
        </p:nvSpPr>
        <p:spPr>
          <a:xfrm>
            <a:off x="7955280" y="3703320"/>
            <a:ext cx="1280160" cy="1554480"/>
          </a:xfrm>
          <a:prstGeom prst="rect">
            <a:avLst/>
          </a:prstGeom>
          <a:noFill/>
          <a:ln/>
        </p:spPr>
        <p:txBody>
          <a:bodyPr wrap="square" lIns="0" tIns="0" rIns="0" bIns="0" rtlCol="0" anchor="t"/>
          <a:lstStyle/>
          <a:p>
            <a:pPr indent="0" marL="0">
              <a:buNone/>
            </a:pPr>
            <a:r>
              <a:rPr lang="en-US" sz="1400" dirty="0">
                <a:solidFill>
                  <a:srgbClr val="57534E"/>
                </a:solidFill>
              </a:rPr>
              <a:t>LLM insights joined with ML benchmarks</a:t>
            </a:r>
            <a:endParaRPr lang="en-US" sz="1400" dirty="0"/>
          </a:p>
        </p:txBody>
      </p:sp>
      <p:sp>
        <p:nvSpPr>
          <p:cNvPr id="20" name="Stage Report"/>
          <p:cNvSpPr/>
          <p:nvPr/>
        </p:nvSpPr>
        <p:spPr>
          <a:xfrm>
            <a:off x="9784080" y="1965960"/>
            <a:ext cx="1764792" cy="3566160"/>
          </a:xfrm>
          <a:prstGeom prst="roundRect">
            <a:avLst>
              <a:gd name="adj" fmla="val 6218"/>
            </a:avLst>
          </a:prstGeom>
          <a:solidFill>
            <a:schemeClr val="bg2"/>
          </a:solidFill>
          <a:ln/>
        </p:spPr>
      </p:sp>
      <p:sp>
        <p:nvSpPr>
          <p:cNvPr id="21" name="Report badge"/>
          <p:cNvSpPr/>
          <p:nvPr/>
        </p:nvSpPr>
        <p:spPr>
          <a:xfrm>
            <a:off x="10058400" y="2286000"/>
            <a:ext cx="731520" cy="731520"/>
          </a:xfrm>
          <a:prstGeom prst="ellipse">
            <a:avLst/>
          </a:prstGeom>
          <a:solidFill>
            <a:schemeClr val="tx1"/>
          </a:solidFill>
          <a:ln/>
        </p:spPr>
      </p:sp>
      <p:pic>
        <p:nvPicPr>
          <p:cNvPr id="22" name="Image 3" descr="Report">    </p:cNvPr>
          <p:cNvPicPr>
            <a:picLocks noChangeAspect="1"/>
          </p:cNvPicPr>
          <p:nvPr/>
        </p:nvPicPr>
        <p:blipFill>
          <a:blip r:embed="rId4"/>
          <a:stretch>
            <a:fillRect/>
          </a:stretch>
        </p:blipFill>
        <p:spPr>
          <a:xfrm>
            <a:off x="10255910" y="2483510"/>
            <a:ext cx="336499" cy="336499"/>
          </a:xfrm>
          <a:prstGeom prst="rect">
            <a:avLst/>
          </a:prstGeom>
        </p:spPr>
      </p:pic>
      <p:sp>
        <p:nvSpPr>
          <p:cNvPr id="23" name="Stage title"/>
          <p:cNvSpPr txBox="1"/>
          <p:nvPr/>
        </p:nvSpPr>
        <p:spPr>
          <a:xfrm>
            <a:off x="10058400" y="3246120"/>
            <a:ext cx="1307592" cy="365760"/>
          </a:xfrm>
          <a:prstGeom prst="rect">
            <a:avLst/>
          </a:prstGeom>
          <a:noFill/>
          <a:ln/>
        </p:spPr>
        <p:txBody>
          <a:bodyPr wrap="square" lIns="0" tIns="0" rIns="0" bIns="0" rtlCol="0" anchor="t"/>
          <a:lstStyle/>
          <a:p>
            <a:pPr indent="0" marL="0">
              <a:buNone/>
            </a:pPr>
            <a:r>
              <a:rPr lang="en-US" sz="1800" b="1" dirty="0">
                <a:solidFill>
                  <a:schemeClr val="tx1"/>
                </a:solidFill>
              </a:rPr>
              <a:t>Report</a:t>
            </a:r>
            <a:endParaRPr lang="en-US" sz="1800" dirty="0"/>
          </a:p>
        </p:txBody>
      </p:sp>
      <p:sp>
        <p:nvSpPr>
          <p:cNvPr id="24" name="Stage text"/>
          <p:cNvSpPr txBox="1"/>
          <p:nvPr/>
        </p:nvSpPr>
        <p:spPr>
          <a:xfrm>
            <a:off x="10058400" y="3703320"/>
            <a:ext cx="1307592" cy="1554480"/>
          </a:xfrm>
          <a:prstGeom prst="rect">
            <a:avLst/>
          </a:prstGeom>
          <a:noFill/>
          <a:ln/>
        </p:spPr>
        <p:txBody>
          <a:bodyPr wrap="square" lIns="0" tIns="0" rIns="0" bIns="0" rtlCol="0" anchor="t"/>
          <a:lstStyle/>
          <a:p>
            <a:pPr indent="0" marL="0">
              <a:buNone/>
            </a:pPr>
            <a:r>
              <a:rPr lang="en-US" sz="1400" dirty="0">
                <a:solidFill>
                  <a:srgbClr val="57534E"/>
                </a:solidFill>
              </a:rPr>
              <a:t>Gauge, flags, redlines and exports</a:t>
            </a:r>
            <a:endParaRPr lang="en-US" sz="1400" dirty="0"/>
          </a:p>
        </p:txBody>
      </p:sp>
      <p:sp>
        <p:nvSpPr>
          <p:cNvPr id="25" name="Stage Benchmark"/>
          <p:cNvSpPr/>
          <p:nvPr/>
        </p:nvSpPr>
        <p:spPr>
          <a:xfrm>
            <a:off x="4846320" y="1965960"/>
            <a:ext cx="2468880" cy="1645920"/>
          </a:xfrm>
          <a:prstGeom prst="roundRect">
            <a:avLst>
              <a:gd name="adj" fmla="val 6667"/>
            </a:avLst>
          </a:prstGeom>
          <a:solidFill>
            <a:schemeClr val="accent6"/>
          </a:solidFill>
          <a:ln/>
        </p:spPr>
      </p:sp>
      <p:sp>
        <p:nvSpPr>
          <p:cNvPr id="26" name="Benchmark badge"/>
          <p:cNvSpPr/>
          <p:nvPr/>
        </p:nvSpPr>
        <p:spPr>
          <a:xfrm>
            <a:off x="5074920" y="2148840"/>
            <a:ext cx="548640" cy="548640"/>
          </a:xfrm>
          <a:prstGeom prst="ellipse">
            <a:avLst/>
          </a:prstGeom>
          <a:solidFill>
            <a:schemeClr val="tx1"/>
          </a:solidFill>
          <a:ln/>
        </p:spPr>
      </p:sp>
      <p:pic>
        <p:nvPicPr>
          <p:cNvPr id="27" name="Image 4" descr="Benchmark">    </p:cNvPr>
          <p:cNvPicPr>
            <a:picLocks noChangeAspect="1"/>
          </p:cNvPicPr>
          <p:nvPr/>
        </p:nvPicPr>
        <p:blipFill>
          <a:blip r:embed="rId5"/>
          <a:stretch>
            <a:fillRect/>
          </a:stretch>
        </p:blipFill>
        <p:spPr>
          <a:xfrm>
            <a:off x="5223053" y="2296973"/>
            <a:ext cx="252374" cy="252374"/>
          </a:xfrm>
          <a:prstGeom prst="rect">
            <a:avLst/>
          </a:prstGeom>
        </p:spPr>
      </p:pic>
      <p:sp>
        <p:nvSpPr>
          <p:cNvPr id="28" name="Stage title"/>
          <p:cNvSpPr txBox="1"/>
          <p:nvPr/>
        </p:nvSpPr>
        <p:spPr>
          <a:xfrm>
            <a:off x="5760720" y="2148840"/>
            <a:ext cx="1463040" cy="548640"/>
          </a:xfrm>
          <a:prstGeom prst="rect">
            <a:avLst/>
          </a:prstGeom>
          <a:noFill/>
          <a:ln/>
        </p:spPr>
        <p:txBody>
          <a:bodyPr wrap="square" lIns="0" tIns="0" rIns="0" bIns="0" rtlCol="0" anchor="ctr"/>
          <a:lstStyle/>
          <a:p>
            <a:pPr indent="0" marL="0">
              <a:buNone/>
            </a:pPr>
            <a:r>
              <a:rPr lang="en-US" sz="1700" b="1" dirty="0">
                <a:solidFill>
                  <a:schemeClr val="bg1"/>
                </a:solidFill>
              </a:rPr>
              <a:t>Benchmark</a:t>
            </a:r>
            <a:endParaRPr lang="en-US" sz="1700" dirty="0"/>
          </a:p>
        </p:txBody>
      </p:sp>
      <p:sp>
        <p:nvSpPr>
          <p:cNvPr id="29" name="Stage text"/>
          <p:cNvSpPr txBox="1"/>
          <p:nvPr/>
        </p:nvSpPr>
        <p:spPr>
          <a:xfrm>
            <a:off x="5074920" y="2834640"/>
            <a:ext cx="2103120" cy="685800"/>
          </a:xfrm>
          <a:prstGeom prst="rect">
            <a:avLst/>
          </a:prstGeom>
          <a:noFill/>
          <a:ln/>
        </p:spPr>
        <p:txBody>
          <a:bodyPr wrap="square" lIns="0" tIns="0" rIns="0" bIns="0" rtlCol="0" anchor="t"/>
          <a:lstStyle/>
          <a:p>
            <a:pPr indent="0" marL="0">
              <a:buNone/>
            </a:pPr>
            <a:r>
              <a:rPr lang="en-US" sz="1400" dirty="0">
                <a:solidFill>
                  <a:schemeClr val="bg1"/>
                </a:solidFill>
              </a:rPr>
              <a:t>ONNX embeddings, k-NN, safer precedents</a:t>
            </a:r>
            <a:endParaRPr lang="en-US" sz="1400" dirty="0"/>
          </a:p>
        </p:txBody>
      </p:sp>
      <p:sp>
        <p:nvSpPr>
          <p:cNvPr id="30" name="Stage Deep analysis"/>
          <p:cNvSpPr/>
          <p:nvPr/>
        </p:nvSpPr>
        <p:spPr>
          <a:xfrm>
            <a:off x="4846320" y="3840480"/>
            <a:ext cx="2468880" cy="1691640"/>
          </a:xfrm>
          <a:prstGeom prst="roundRect">
            <a:avLst>
              <a:gd name="adj" fmla="val 6486"/>
            </a:avLst>
          </a:prstGeom>
          <a:solidFill>
            <a:schemeClr val="tx1"/>
          </a:solidFill>
          <a:ln/>
        </p:spPr>
      </p:sp>
      <p:sp>
        <p:nvSpPr>
          <p:cNvPr id="31" name="Deep analysis badge"/>
          <p:cNvSpPr/>
          <p:nvPr/>
        </p:nvSpPr>
        <p:spPr>
          <a:xfrm>
            <a:off x="5074920" y="4023360"/>
            <a:ext cx="548640" cy="548640"/>
          </a:xfrm>
          <a:prstGeom prst="ellipse">
            <a:avLst/>
          </a:prstGeom>
          <a:solidFill>
            <a:schemeClr val="tx2"/>
          </a:solidFill>
          <a:ln/>
        </p:spPr>
      </p:sp>
      <p:pic>
        <p:nvPicPr>
          <p:cNvPr id="32" name="Image 5" descr="Deep analysis">    </p:cNvPr>
          <p:cNvPicPr>
            <a:picLocks noChangeAspect="1"/>
          </p:cNvPicPr>
          <p:nvPr/>
        </p:nvPicPr>
        <p:blipFill>
          <a:blip r:embed="rId6"/>
          <a:stretch>
            <a:fillRect/>
          </a:stretch>
        </p:blipFill>
        <p:spPr>
          <a:xfrm>
            <a:off x="5223053" y="4171493"/>
            <a:ext cx="252374" cy="252374"/>
          </a:xfrm>
          <a:prstGeom prst="rect">
            <a:avLst/>
          </a:prstGeom>
        </p:spPr>
      </p:pic>
      <p:sp>
        <p:nvSpPr>
          <p:cNvPr id="33" name="Stage title"/>
          <p:cNvSpPr txBox="1"/>
          <p:nvPr/>
        </p:nvSpPr>
        <p:spPr>
          <a:xfrm>
            <a:off x="5760720" y="4023360"/>
            <a:ext cx="1463040" cy="548640"/>
          </a:xfrm>
          <a:prstGeom prst="rect">
            <a:avLst/>
          </a:prstGeom>
          <a:noFill/>
          <a:ln/>
        </p:spPr>
        <p:txBody>
          <a:bodyPr wrap="square" lIns="0" tIns="0" rIns="0" bIns="0" rtlCol="0" anchor="ctr"/>
          <a:lstStyle/>
          <a:p>
            <a:pPr indent="0" marL="0">
              <a:buNone/>
            </a:pPr>
            <a:r>
              <a:rPr lang="en-US" sz="1700" b="1" dirty="0">
                <a:solidFill>
                  <a:schemeClr val="bg1"/>
                </a:solidFill>
              </a:rPr>
              <a:t>Deep analysis</a:t>
            </a:r>
            <a:endParaRPr lang="en-US" sz="1700" dirty="0"/>
          </a:p>
        </p:txBody>
      </p:sp>
      <p:sp>
        <p:nvSpPr>
          <p:cNvPr id="34" name="Stage text"/>
          <p:cNvSpPr txBox="1"/>
          <p:nvPr/>
        </p:nvSpPr>
        <p:spPr>
          <a:xfrm>
            <a:off x="5074920" y="4709160"/>
            <a:ext cx="2103120" cy="731520"/>
          </a:xfrm>
          <a:prstGeom prst="rect">
            <a:avLst/>
          </a:prstGeom>
          <a:noFill/>
          <a:ln/>
        </p:spPr>
        <p:txBody>
          <a:bodyPr wrap="square" lIns="0" tIns="0" rIns="0" bIns="0" rtlCol="0" anchor="t"/>
          <a:lstStyle/>
          <a:p>
            <a:pPr indent="0" marL="0">
              <a:buNone/>
            </a:pPr>
            <a:r>
              <a:rPr lang="en-US" sz="1400" dirty="0">
                <a:solidFill>
                  <a:schemeClr val="bg1"/>
                </a:solidFill>
              </a:rPr>
              <a:t>Llama returns structured score, flags, exposure</a:t>
            </a:r>
            <a:endParaRPr lang="en-US" sz="1400" dirty="0"/>
          </a:p>
        </p:txBody>
      </p:sp>
      <p:sp>
        <p:nvSpPr>
          <p:cNvPr id="35" name="Arrow"/>
          <p:cNvSpPr/>
          <p:nvPr/>
        </p:nvSpPr>
        <p:spPr>
          <a:xfrm>
            <a:off x="2414016" y="3749040"/>
            <a:ext cx="292608" cy="0"/>
          </a:xfrm>
          <a:prstGeom prst="line">
            <a:avLst/>
          </a:prstGeom>
          <a:noFill/>
          <a:ln w="25400">
            <a:solidFill>
              <a:srgbClr val="78716C"/>
            </a:solidFill>
            <a:prstDash val="solid"/>
            <a:tailEnd type="triangle"/>
          </a:ln>
        </p:spPr>
      </p:sp>
      <p:sp>
        <p:nvSpPr>
          <p:cNvPr id="36" name="Arrow"/>
          <p:cNvSpPr/>
          <p:nvPr/>
        </p:nvSpPr>
        <p:spPr>
          <a:xfrm>
            <a:off x="4517136" y="2788920"/>
            <a:ext cx="292608" cy="0"/>
          </a:xfrm>
          <a:prstGeom prst="line">
            <a:avLst/>
          </a:prstGeom>
          <a:noFill/>
          <a:ln w="25400">
            <a:solidFill>
              <a:srgbClr val="0F766E"/>
            </a:solidFill>
            <a:prstDash val="solid"/>
            <a:tailEnd type="triangle"/>
          </a:ln>
        </p:spPr>
      </p:sp>
      <p:sp>
        <p:nvSpPr>
          <p:cNvPr id="37" name="Arrow"/>
          <p:cNvSpPr/>
          <p:nvPr/>
        </p:nvSpPr>
        <p:spPr>
          <a:xfrm>
            <a:off x="4517136" y="4663440"/>
            <a:ext cx="292608" cy="0"/>
          </a:xfrm>
          <a:prstGeom prst="line">
            <a:avLst/>
          </a:prstGeom>
          <a:noFill/>
          <a:ln w="25400">
            <a:solidFill>
              <a:srgbClr val="B8862B"/>
            </a:solidFill>
            <a:prstDash val="solid"/>
            <a:tailEnd type="triangle"/>
          </a:ln>
        </p:spPr>
      </p:sp>
      <p:sp>
        <p:nvSpPr>
          <p:cNvPr id="38" name="Arrow"/>
          <p:cNvSpPr/>
          <p:nvPr/>
        </p:nvSpPr>
        <p:spPr>
          <a:xfrm>
            <a:off x="7351776" y="2788920"/>
            <a:ext cx="292608" cy="0"/>
          </a:xfrm>
          <a:prstGeom prst="line">
            <a:avLst/>
          </a:prstGeom>
          <a:noFill/>
          <a:ln w="25400">
            <a:solidFill>
              <a:srgbClr val="0F766E"/>
            </a:solidFill>
            <a:prstDash val="solid"/>
            <a:tailEnd type="triangle"/>
          </a:ln>
        </p:spPr>
      </p:sp>
      <p:sp>
        <p:nvSpPr>
          <p:cNvPr id="39" name="Arrow"/>
          <p:cNvSpPr/>
          <p:nvPr/>
        </p:nvSpPr>
        <p:spPr>
          <a:xfrm>
            <a:off x="7351776" y="4663440"/>
            <a:ext cx="292608" cy="0"/>
          </a:xfrm>
          <a:prstGeom prst="line">
            <a:avLst/>
          </a:prstGeom>
          <a:noFill/>
          <a:ln w="25400">
            <a:solidFill>
              <a:srgbClr val="B8862B"/>
            </a:solidFill>
            <a:prstDash val="solid"/>
            <a:tailEnd type="triangle"/>
          </a:ln>
        </p:spPr>
      </p:sp>
      <p:sp>
        <p:nvSpPr>
          <p:cNvPr id="40" name="Arrow"/>
          <p:cNvSpPr/>
          <p:nvPr/>
        </p:nvSpPr>
        <p:spPr>
          <a:xfrm>
            <a:off x="9454896" y="3749040"/>
            <a:ext cx="292608" cy="0"/>
          </a:xfrm>
          <a:prstGeom prst="line">
            <a:avLst/>
          </a:prstGeom>
          <a:noFill/>
          <a:ln w="25400">
            <a:solidFill>
              <a:srgbClr val="78716C"/>
            </a:solidFill>
            <a:prstDash val="solid"/>
            <a:tailEnd type="triangle"/>
          </a:ln>
        </p:spPr>
      </p:sp>
      <p:sp>
        <p:nvSpPr>
          <p:cNvPr id="41" name="Privacy note"/>
          <p:cNvSpPr txBox="1"/>
          <p:nvPr/>
        </p:nvSpPr>
        <p:spPr>
          <a:xfrm>
            <a:off x="640080" y="5806440"/>
            <a:ext cx="10911535" cy="365760"/>
          </a:xfrm>
          <a:prstGeom prst="rect">
            <a:avLst/>
          </a:prstGeom>
          <a:noFill/>
          <a:ln/>
        </p:spPr>
        <p:txBody>
          <a:bodyPr wrap="square" lIns="0" tIns="0" rIns="0" bIns="0" rtlCol="0" anchor="t"/>
          <a:lstStyle/>
          <a:p>
            <a:pPr indent="0" marL="0">
              <a:buNone/>
            </a:pPr>
            <a:r>
              <a:rPr lang="en-US" sz="1400" dirty="0">
                <a:solidFill>
                  <a:srgbClr val="57534E"/>
                </a:solidFill>
              </a:rPr>
              <a:t>Processing is transient: nothing is stored unless a signed-in user chooses to save the contract.</a:t>
            </a:r>
            <a:endParaRPr lang="en-US" sz="14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number"/>
          <p:cNvSpPr txBox="1"/>
          <p:nvPr/>
        </p:nvSpPr>
        <p:spPr>
          <a:xfrm>
            <a:off x="822960" y="1280160"/>
            <a:ext cx="4572000" cy="1828800"/>
          </a:xfrm>
          <a:prstGeom prst="rect">
            <a:avLst/>
          </a:prstGeom>
          <a:noFill/>
          <a:ln/>
        </p:spPr>
        <p:txBody>
          <a:bodyPr wrap="square" lIns="0" tIns="0" rIns="0" bIns="0" rtlCol="0" anchor="ctr"/>
          <a:lstStyle/>
          <a:p>
            <a:pPr indent="0" marL="0">
              <a:buNone/>
            </a:pPr>
            <a:r>
              <a:rPr lang="en-US" sz="13000" b="1" dirty="0">
                <a:solidFill>
                  <a:schemeClr val="accent1"/>
                </a:solidFill>
                <a:latin typeface="+mj-lt" pitchFamily="34" charset="0"/>
                <a:ea typeface="+mj-lt" pitchFamily="34" charset="-122"/>
                <a:cs typeface="+mj-lt" pitchFamily="34" charset="-120"/>
              </a:rPr>
              <a:t>03</a:t>
            </a:r>
            <a:endParaRPr lang="en-US" sz="13000" dirty="0"/>
          </a:p>
        </p:txBody>
      </p:sp>
      <p:sp>
        <p:nvSpPr>
          <p:cNvPr id="3" name="Text 2"/>
          <p:cNvSpPr/>
          <p:nvPr>
            <p:ph idx="102" type="title" hasCustomPrompt="1"/>
          </p:nvPr>
        </p:nvSpPr>
        <p:spPr>
          <a:xfrm>
            <a:off x="822960" y="3154680"/>
            <a:ext cx="7772400" cy="1463040"/>
          </a:xfrm>
          <a:prstGeom prst="rect">
            <a:avLst/>
          </a:prstGeom>
          <a:noFill/>
          <a:ln/>
        </p:spPr>
        <p:txBody>
          <a:bodyPr wrap="square" lIns="0" tIns="0" rIns="0" bIns="0" rtlCol="0" anchor="t"/>
          <a:lstStyle/>
          <a:p>
            <a:pPr algn="l" indent="0" marL="0">
              <a:buNone/>
            </a:pPr>
            <a:r>
              <a:rPr lang="en-US" sz="4800" b="1" dirty="0">
                <a:solidFill>
                  <a:schemeClr val="bg1"/>
                </a:solidFill>
              </a:rPr>
              <a:t>Product, Security &amp; Impact</a:t>
            </a:r>
            <a:endParaRPr lang="en-US" sz="4800" dirty="0"/>
          </a:p>
        </p:txBody>
      </p:sp>
      <p:sp>
        <p:nvSpPr>
          <p:cNvPr id="4" name="Text 2"/>
          <p:cNvSpPr/>
          <p:nvPr>
            <p:ph idx="103" type="body" hasCustomPrompt="1"/>
          </p:nvPr>
        </p:nvSpPr>
        <p:spPr>
          <a:xfrm>
            <a:off x="822960" y="4754880"/>
            <a:ext cx="6858000" cy="822960"/>
          </a:xfrm>
          <a:prstGeom prst="rect">
            <a:avLst/>
          </a:prstGeom>
          <a:noFill/>
          <a:ln/>
        </p:spPr>
        <p:txBody>
          <a:bodyPr wrap="square" lIns="0" tIns="0" rIns="0" bIns="0" rtlCol="0" anchor="t"/>
          <a:lstStyle/>
          <a:p>
            <a:pPr algn="l" indent="0" marL="0">
              <a:buNone/>
            </a:pPr>
            <a:r>
              <a:rPr lang="en-US" sz="2000" dirty="0">
                <a:solidFill>
                  <a:schemeClr val="bg2"/>
                </a:solidFill>
              </a:rPr>
              <a:t>What users actually get, and where we go next</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PRODUCT TOUR</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A Complete Contract Workspace</a:t>
            </a:r>
            <a:endParaRPr lang="en-US" sz="3600" dirty="0"/>
          </a:p>
        </p:txBody>
      </p:sp>
      <p:sp>
        <p:nvSpPr>
          <p:cNvPr id="4" name="Feature AI Risk Analyzer"/>
          <p:cNvSpPr/>
          <p:nvPr/>
        </p:nvSpPr>
        <p:spPr>
          <a:xfrm>
            <a:off x="640080" y="1600200"/>
            <a:ext cx="3454298" cy="1325880"/>
          </a:xfrm>
          <a:prstGeom prst="roundRect">
            <a:avLst>
              <a:gd name="adj" fmla="val 8276"/>
            </a:avLst>
          </a:prstGeom>
          <a:solidFill>
            <a:schemeClr val="bg2"/>
          </a:solidFill>
          <a:ln/>
        </p:spPr>
      </p:sp>
      <p:sp>
        <p:nvSpPr>
          <p:cNvPr id="5" name="AI Risk Analyzer badge"/>
          <p:cNvSpPr/>
          <p:nvPr/>
        </p:nvSpPr>
        <p:spPr>
          <a:xfrm>
            <a:off x="868680" y="1783080"/>
            <a:ext cx="566928" cy="566928"/>
          </a:xfrm>
          <a:prstGeom prst="ellipse">
            <a:avLst/>
          </a:prstGeom>
          <a:solidFill>
            <a:schemeClr val="tx1"/>
          </a:solidFill>
          <a:ln/>
        </p:spPr>
      </p:sp>
      <p:pic>
        <p:nvPicPr>
          <p:cNvPr id="6" name="Image 0" descr="AI Risk Analyzer">    </p:cNvPr>
          <p:cNvPicPr>
            <a:picLocks noChangeAspect="1"/>
          </p:cNvPicPr>
          <p:nvPr/>
        </p:nvPicPr>
        <p:blipFill>
          <a:blip r:embed="rId1"/>
          <a:stretch>
            <a:fillRect/>
          </a:stretch>
        </p:blipFill>
        <p:spPr>
          <a:xfrm>
            <a:off x="1021751" y="1936151"/>
            <a:ext cx="260787" cy="260787"/>
          </a:xfrm>
          <a:prstGeom prst="rect">
            <a:avLst/>
          </a:prstGeom>
        </p:spPr>
      </p:pic>
      <p:sp>
        <p:nvSpPr>
          <p:cNvPr id="7" name="Feature title"/>
          <p:cNvSpPr txBox="1"/>
          <p:nvPr/>
        </p:nvSpPr>
        <p:spPr>
          <a:xfrm>
            <a:off x="1600200" y="1783080"/>
            <a:ext cx="2311298" cy="566928"/>
          </a:xfrm>
          <a:prstGeom prst="rect">
            <a:avLst/>
          </a:prstGeom>
          <a:noFill/>
          <a:ln/>
        </p:spPr>
        <p:txBody>
          <a:bodyPr wrap="square" lIns="0" tIns="0" rIns="0" bIns="0" rtlCol="0" anchor="ctr"/>
          <a:lstStyle/>
          <a:p>
            <a:pPr indent="0" marL="0">
              <a:buNone/>
            </a:pPr>
            <a:r>
              <a:rPr lang="en-US" sz="1700" b="1" dirty="0">
                <a:solidFill>
                  <a:schemeClr val="tx1"/>
                </a:solidFill>
              </a:rPr>
              <a:t>AI Risk Analyzer</a:t>
            </a:r>
            <a:endParaRPr lang="en-US" sz="1700" dirty="0"/>
          </a:p>
        </p:txBody>
      </p:sp>
      <p:sp>
        <p:nvSpPr>
          <p:cNvPr id="8" name="Feature text"/>
          <p:cNvSpPr txBox="1"/>
          <p:nvPr/>
        </p:nvSpPr>
        <p:spPr>
          <a:xfrm>
            <a:off x="868680" y="2441448"/>
            <a:ext cx="2997098" cy="438912"/>
          </a:xfrm>
          <a:prstGeom prst="rect">
            <a:avLst/>
          </a:prstGeom>
          <a:noFill/>
          <a:ln/>
        </p:spPr>
        <p:txBody>
          <a:bodyPr wrap="square" lIns="0" tIns="0" rIns="0" bIns="0" rtlCol="0" anchor="t"/>
          <a:lstStyle/>
          <a:p>
            <a:pPr indent="0" marL="0">
              <a:buNone/>
            </a:pPr>
            <a:r>
              <a:rPr lang="en-US" sz="1400" dirty="0">
                <a:solidFill>
                  <a:srgbClr val="57534E"/>
                </a:solidFill>
              </a:rPr>
              <a:t>0–100 risk score, red flags and financial exposure</a:t>
            </a:r>
            <a:endParaRPr lang="en-US" sz="1400" dirty="0"/>
          </a:p>
        </p:txBody>
      </p:sp>
      <p:sp>
        <p:nvSpPr>
          <p:cNvPr id="9" name="Feature Precedent Benchmark"/>
          <p:cNvSpPr/>
          <p:nvPr/>
        </p:nvSpPr>
        <p:spPr>
          <a:xfrm>
            <a:off x="4368698" y="1600200"/>
            <a:ext cx="3454298" cy="1325880"/>
          </a:xfrm>
          <a:prstGeom prst="roundRect">
            <a:avLst>
              <a:gd name="adj" fmla="val 8276"/>
            </a:avLst>
          </a:prstGeom>
          <a:solidFill>
            <a:schemeClr val="bg2"/>
          </a:solidFill>
          <a:ln/>
        </p:spPr>
      </p:sp>
      <p:sp>
        <p:nvSpPr>
          <p:cNvPr id="10" name="Precedent Benchmark badge"/>
          <p:cNvSpPr/>
          <p:nvPr/>
        </p:nvSpPr>
        <p:spPr>
          <a:xfrm>
            <a:off x="4597298" y="1783080"/>
            <a:ext cx="566928" cy="566928"/>
          </a:xfrm>
          <a:prstGeom prst="ellipse">
            <a:avLst/>
          </a:prstGeom>
          <a:solidFill>
            <a:schemeClr val="tx1"/>
          </a:solidFill>
          <a:ln/>
        </p:spPr>
      </p:sp>
      <p:pic>
        <p:nvPicPr>
          <p:cNvPr id="11" name="Image 1" descr="Precedent Benchmark">    </p:cNvPr>
          <p:cNvPicPr>
            <a:picLocks noChangeAspect="1"/>
          </p:cNvPicPr>
          <p:nvPr/>
        </p:nvPicPr>
        <p:blipFill>
          <a:blip r:embed="rId2"/>
          <a:stretch>
            <a:fillRect/>
          </a:stretch>
        </p:blipFill>
        <p:spPr>
          <a:xfrm>
            <a:off x="4750369" y="1936151"/>
            <a:ext cx="260787" cy="260787"/>
          </a:xfrm>
          <a:prstGeom prst="rect">
            <a:avLst/>
          </a:prstGeom>
        </p:spPr>
      </p:pic>
      <p:sp>
        <p:nvSpPr>
          <p:cNvPr id="12" name="Feature title"/>
          <p:cNvSpPr txBox="1"/>
          <p:nvPr/>
        </p:nvSpPr>
        <p:spPr>
          <a:xfrm>
            <a:off x="5328818" y="1783080"/>
            <a:ext cx="2311298" cy="566928"/>
          </a:xfrm>
          <a:prstGeom prst="rect">
            <a:avLst/>
          </a:prstGeom>
          <a:noFill/>
          <a:ln/>
        </p:spPr>
        <p:txBody>
          <a:bodyPr wrap="square" lIns="0" tIns="0" rIns="0" bIns="0" rtlCol="0" anchor="ctr"/>
          <a:lstStyle/>
          <a:p>
            <a:pPr indent="0" marL="0">
              <a:buNone/>
            </a:pPr>
            <a:r>
              <a:rPr lang="en-US" sz="1700" b="1" dirty="0">
                <a:solidFill>
                  <a:schemeClr val="tx1"/>
                </a:solidFill>
              </a:rPr>
              <a:t>Precedent Benchmark</a:t>
            </a:r>
            <a:endParaRPr lang="en-US" sz="1700" dirty="0"/>
          </a:p>
        </p:txBody>
      </p:sp>
      <p:sp>
        <p:nvSpPr>
          <p:cNvPr id="13" name="Feature text"/>
          <p:cNvSpPr txBox="1"/>
          <p:nvPr/>
        </p:nvSpPr>
        <p:spPr>
          <a:xfrm>
            <a:off x="4597298" y="2441448"/>
            <a:ext cx="2997098" cy="438912"/>
          </a:xfrm>
          <a:prstGeom prst="rect">
            <a:avLst/>
          </a:prstGeom>
          <a:noFill/>
          <a:ln/>
        </p:spPr>
        <p:txBody>
          <a:bodyPr wrap="square" lIns="0" tIns="0" rIns="0" bIns="0" rtlCol="0" anchor="t"/>
          <a:lstStyle/>
          <a:p>
            <a:pPr indent="0" marL="0">
              <a:buNone/>
            </a:pPr>
            <a:r>
              <a:rPr lang="en-US" sz="1400" dirty="0">
                <a:solidFill>
                  <a:srgbClr val="57534E"/>
                </a:solidFill>
              </a:rPr>
              <a:t>Match clauses to LEDGAR precedent and see ERR</a:t>
            </a:r>
            <a:endParaRPr lang="en-US" sz="1400" dirty="0"/>
          </a:p>
        </p:txBody>
      </p:sp>
      <p:sp>
        <p:nvSpPr>
          <p:cNvPr id="14" name="Feature Drafter &amp; Redlines"/>
          <p:cNvSpPr/>
          <p:nvPr/>
        </p:nvSpPr>
        <p:spPr>
          <a:xfrm>
            <a:off x="8097317" y="1600200"/>
            <a:ext cx="3454298" cy="1325880"/>
          </a:xfrm>
          <a:prstGeom prst="roundRect">
            <a:avLst>
              <a:gd name="adj" fmla="val 8276"/>
            </a:avLst>
          </a:prstGeom>
          <a:solidFill>
            <a:schemeClr val="bg2"/>
          </a:solidFill>
          <a:ln/>
        </p:spPr>
      </p:sp>
      <p:sp>
        <p:nvSpPr>
          <p:cNvPr id="15" name="Drafter &amp; Redlines badge"/>
          <p:cNvSpPr/>
          <p:nvPr/>
        </p:nvSpPr>
        <p:spPr>
          <a:xfrm>
            <a:off x="8325917" y="1783080"/>
            <a:ext cx="566928" cy="566928"/>
          </a:xfrm>
          <a:prstGeom prst="ellipse">
            <a:avLst/>
          </a:prstGeom>
          <a:solidFill>
            <a:schemeClr val="tx1"/>
          </a:solidFill>
          <a:ln/>
        </p:spPr>
      </p:sp>
      <p:pic>
        <p:nvPicPr>
          <p:cNvPr id="16" name="Image 2" descr="Drafter &amp; Redlines">    </p:cNvPr>
          <p:cNvPicPr>
            <a:picLocks noChangeAspect="1"/>
          </p:cNvPicPr>
          <p:nvPr/>
        </p:nvPicPr>
        <p:blipFill>
          <a:blip r:embed="rId3"/>
          <a:stretch>
            <a:fillRect/>
          </a:stretch>
        </p:blipFill>
        <p:spPr>
          <a:xfrm>
            <a:off x="8478987" y="1936151"/>
            <a:ext cx="260787" cy="260787"/>
          </a:xfrm>
          <a:prstGeom prst="rect">
            <a:avLst/>
          </a:prstGeom>
        </p:spPr>
      </p:pic>
      <p:sp>
        <p:nvSpPr>
          <p:cNvPr id="17" name="Feature title"/>
          <p:cNvSpPr txBox="1"/>
          <p:nvPr/>
        </p:nvSpPr>
        <p:spPr>
          <a:xfrm>
            <a:off x="9057437" y="1783080"/>
            <a:ext cx="2311298" cy="566928"/>
          </a:xfrm>
          <a:prstGeom prst="rect">
            <a:avLst/>
          </a:prstGeom>
          <a:noFill/>
          <a:ln/>
        </p:spPr>
        <p:txBody>
          <a:bodyPr wrap="square" lIns="0" tIns="0" rIns="0" bIns="0" rtlCol="0" anchor="ctr"/>
          <a:lstStyle/>
          <a:p>
            <a:pPr indent="0" marL="0">
              <a:buNone/>
            </a:pPr>
            <a:r>
              <a:rPr lang="en-US" sz="1700" b="1" dirty="0">
                <a:solidFill>
                  <a:schemeClr val="tx1"/>
                </a:solidFill>
              </a:rPr>
              <a:t>Drafter &amp; Redlines</a:t>
            </a:r>
            <a:endParaRPr lang="en-US" sz="1700" dirty="0"/>
          </a:p>
        </p:txBody>
      </p:sp>
      <p:sp>
        <p:nvSpPr>
          <p:cNvPr id="18" name="Feature text"/>
          <p:cNvSpPr txBox="1"/>
          <p:nvPr/>
        </p:nvSpPr>
        <p:spPr>
          <a:xfrm>
            <a:off x="8325917" y="2441448"/>
            <a:ext cx="2997098" cy="438912"/>
          </a:xfrm>
          <a:prstGeom prst="rect">
            <a:avLst/>
          </a:prstGeom>
          <a:noFill/>
          <a:ln/>
        </p:spPr>
        <p:txBody>
          <a:bodyPr wrap="square" lIns="0" tIns="0" rIns="0" bIns="0" rtlCol="0" anchor="t"/>
          <a:lstStyle/>
          <a:p>
            <a:pPr indent="0" marL="0">
              <a:buNone/>
            </a:pPr>
            <a:r>
              <a:rPr lang="en-US" sz="1400" dirty="0">
                <a:solidFill>
                  <a:srgbClr val="57534E"/>
                </a:solidFill>
              </a:rPr>
              <a:t>Generate contracts and compare fairer revisions</a:t>
            </a:r>
            <a:endParaRPr lang="en-US" sz="1400" dirty="0"/>
          </a:p>
        </p:txBody>
      </p:sp>
      <p:sp>
        <p:nvSpPr>
          <p:cNvPr id="19" name="Feature Contract Chat"/>
          <p:cNvSpPr/>
          <p:nvPr/>
        </p:nvSpPr>
        <p:spPr>
          <a:xfrm>
            <a:off x="640080" y="3063240"/>
            <a:ext cx="3454298" cy="1325880"/>
          </a:xfrm>
          <a:prstGeom prst="roundRect">
            <a:avLst>
              <a:gd name="adj" fmla="val 8276"/>
            </a:avLst>
          </a:prstGeom>
          <a:solidFill>
            <a:schemeClr val="bg2"/>
          </a:solidFill>
          <a:ln/>
        </p:spPr>
      </p:sp>
      <p:sp>
        <p:nvSpPr>
          <p:cNvPr id="20" name="Contract Chat badge"/>
          <p:cNvSpPr/>
          <p:nvPr/>
        </p:nvSpPr>
        <p:spPr>
          <a:xfrm>
            <a:off x="868680" y="3246120"/>
            <a:ext cx="566928" cy="566928"/>
          </a:xfrm>
          <a:prstGeom prst="ellipse">
            <a:avLst/>
          </a:prstGeom>
          <a:solidFill>
            <a:schemeClr val="tx1"/>
          </a:solidFill>
          <a:ln/>
        </p:spPr>
      </p:sp>
      <p:pic>
        <p:nvPicPr>
          <p:cNvPr id="21" name="Image 3" descr="Contract Chat">    </p:cNvPr>
          <p:cNvPicPr>
            <a:picLocks noChangeAspect="1"/>
          </p:cNvPicPr>
          <p:nvPr/>
        </p:nvPicPr>
        <p:blipFill>
          <a:blip r:embed="rId4"/>
          <a:stretch>
            <a:fillRect/>
          </a:stretch>
        </p:blipFill>
        <p:spPr>
          <a:xfrm>
            <a:off x="1021751" y="3399191"/>
            <a:ext cx="260787" cy="260787"/>
          </a:xfrm>
          <a:prstGeom prst="rect">
            <a:avLst/>
          </a:prstGeom>
        </p:spPr>
      </p:pic>
      <p:sp>
        <p:nvSpPr>
          <p:cNvPr id="22" name="Feature title"/>
          <p:cNvSpPr txBox="1"/>
          <p:nvPr/>
        </p:nvSpPr>
        <p:spPr>
          <a:xfrm>
            <a:off x="1600200" y="3246120"/>
            <a:ext cx="2311298" cy="566928"/>
          </a:xfrm>
          <a:prstGeom prst="rect">
            <a:avLst/>
          </a:prstGeom>
          <a:noFill/>
          <a:ln/>
        </p:spPr>
        <p:txBody>
          <a:bodyPr wrap="square" lIns="0" tIns="0" rIns="0" bIns="0" rtlCol="0" anchor="ctr"/>
          <a:lstStyle/>
          <a:p>
            <a:pPr indent="0" marL="0">
              <a:buNone/>
            </a:pPr>
            <a:r>
              <a:rPr lang="en-US" sz="1700" b="1" dirty="0">
                <a:solidFill>
                  <a:schemeClr val="tx1"/>
                </a:solidFill>
              </a:rPr>
              <a:t>Contract Chat</a:t>
            </a:r>
            <a:endParaRPr lang="en-US" sz="1700" dirty="0"/>
          </a:p>
        </p:txBody>
      </p:sp>
      <p:sp>
        <p:nvSpPr>
          <p:cNvPr id="23" name="Feature text"/>
          <p:cNvSpPr txBox="1"/>
          <p:nvPr/>
        </p:nvSpPr>
        <p:spPr>
          <a:xfrm>
            <a:off x="868680" y="3904488"/>
            <a:ext cx="2997098" cy="438912"/>
          </a:xfrm>
          <a:prstGeom prst="rect">
            <a:avLst/>
          </a:prstGeom>
          <a:noFill/>
          <a:ln/>
        </p:spPr>
        <p:txBody>
          <a:bodyPr wrap="square" lIns="0" tIns="0" rIns="0" bIns="0" rtlCol="0" anchor="t"/>
          <a:lstStyle/>
          <a:p>
            <a:pPr indent="0" marL="0">
              <a:buNone/>
            </a:pPr>
            <a:r>
              <a:rPr lang="en-US" sz="1400" dirty="0">
                <a:solidFill>
                  <a:srgbClr val="57534E"/>
                </a:solidFill>
              </a:rPr>
              <a:t>Ask questions grounded in your own document</a:t>
            </a:r>
            <a:endParaRPr lang="en-US" sz="1400" dirty="0"/>
          </a:p>
        </p:txBody>
      </p:sp>
      <p:sp>
        <p:nvSpPr>
          <p:cNvPr id="24" name="Feature Obligation Tracker"/>
          <p:cNvSpPr/>
          <p:nvPr/>
        </p:nvSpPr>
        <p:spPr>
          <a:xfrm>
            <a:off x="4368698" y="3063240"/>
            <a:ext cx="3454298" cy="1325880"/>
          </a:xfrm>
          <a:prstGeom prst="roundRect">
            <a:avLst>
              <a:gd name="adj" fmla="val 8276"/>
            </a:avLst>
          </a:prstGeom>
          <a:solidFill>
            <a:schemeClr val="bg2"/>
          </a:solidFill>
          <a:ln/>
        </p:spPr>
      </p:sp>
      <p:sp>
        <p:nvSpPr>
          <p:cNvPr id="25" name="Obligation Tracker badge"/>
          <p:cNvSpPr/>
          <p:nvPr/>
        </p:nvSpPr>
        <p:spPr>
          <a:xfrm>
            <a:off x="4597298" y="3246120"/>
            <a:ext cx="566928" cy="566928"/>
          </a:xfrm>
          <a:prstGeom prst="ellipse">
            <a:avLst/>
          </a:prstGeom>
          <a:solidFill>
            <a:schemeClr val="tx1"/>
          </a:solidFill>
          <a:ln/>
        </p:spPr>
      </p:sp>
      <p:pic>
        <p:nvPicPr>
          <p:cNvPr id="26" name="Image 4" descr="Obligation Tracker">    </p:cNvPr>
          <p:cNvPicPr>
            <a:picLocks noChangeAspect="1"/>
          </p:cNvPicPr>
          <p:nvPr/>
        </p:nvPicPr>
        <p:blipFill>
          <a:blip r:embed="rId5"/>
          <a:stretch>
            <a:fillRect/>
          </a:stretch>
        </p:blipFill>
        <p:spPr>
          <a:xfrm>
            <a:off x="4750369" y="3399191"/>
            <a:ext cx="260787" cy="260787"/>
          </a:xfrm>
          <a:prstGeom prst="rect">
            <a:avLst/>
          </a:prstGeom>
        </p:spPr>
      </p:pic>
      <p:sp>
        <p:nvSpPr>
          <p:cNvPr id="27" name="Feature title"/>
          <p:cNvSpPr txBox="1"/>
          <p:nvPr/>
        </p:nvSpPr>
        <p:spPr>
          <a:xfrm>
            <a:off x="5328818" y="3246120"/>
            <a:ext cx="2311298" cy="566928"/>
          </a:xfrm>
          <a:prstGeom prst="rect">
            <a:avLst/>
          </a:prstGeom>
          <a:noFill/>
          <a:ln/>
        </p:spPr>
        <p:txBody>
          <a:bodyPr wrap="square" lIns="0" tIns="0" rIns="0" bIns="0" rtlCol="0" anchor="ctr"/>
          <a:lstStyle/>
          <a:p>
            <a:pPr indent="0" marL="0">
              <a:buNone/>
            </a:pPr>
            <a:r>
              <a:rPr lang="en-US" sz="1700" b="1" dirty="0">
                <a:solidFill>
                  <a:schemeClr val="tx1"/>
                </a:solidFill>
              </a:rPr>
              <a:t>Obligation Tracker</a:t>
            </a:r>
            <a:endParaRPr lang="en-US" sz="1700" dirty="0"/>
          </a:p>
        </p:txBody>
      </p:sp>
      <p:sp>
        <p:nvSpPr>
          <p:cNvPr id="28" name="Feature text"/>
          <p:cNvSpPr txBox="1"/>
          <p:nvPr/>
        </p:nvSpPr>
        <p:spPr>
          <a:xfrm>
            <a:off x="4597298" y="3904488"/>
            <a:ext cx="2997098" cy="438912"/>
          </a:xfrm>
          <a:prstGeom prst="rect">
            <a:avLst/>
          </a:prstGeom>
          <a:noFill/>
          <a:ln/>
        </p:spPr>
        <p:txBody>
          <a:bodyPr wrap="square" lIns="0" tIns="0" rIns="0" bIns="0" rtlCol="0" anchor="t"/>
          <a:lstStyle/>
          <a:p>
            <a:pPr indent="0" marL="0">
              <a:buNone/>
            </a:pPr>
            <a:r>
              <a:rPr lang="en-US" sz="1400" dirty="0">
                <a:solidFill>
                  <a:srgbClr val="57534E"/>
                </a:solidFill>
              </a:rPr>
              <a:t>Deadlines, notice periods and renewal alerts</a:t>
            </a:r>
            <a:endParaRPr lang="en-US" sz="1400" dirty="0"/>
          </a:p>
        </p:txBody>
      </p:sp>
      <p:sp>
        <p:nvSpPr>
          <p:cNvPr id="29" name="Feature Compliance Scanner"/>
          <p:cNvSpPr/>
          <p:nvPr/>
        </p:nvSpPr>
        <p:spPr>
          <a:xfrm>
            <a:off x="8097317" y="3063240"/>
            <a:ext cx="3454298" cy="1325880"/>
          </a:xfrm>
          <a:prstGeom prst="roundRect">
            <a:avLst>
              <a:gd name="adj" fmla="val 8276"/>
            </a:avLst>
          </a:prstGeom>
          <a:solidFill>
            <a:schemeClr val="bg2"/>
          </a:solidFill>
          <a:ln/>
        </p:spPr>
      </p:sp>
      <p:sp>
        <p:nvSpPr>
          <p:cNvPr id="30" name="Compliance Scanner badge"/>
          <p:cNvSpPr/>
          <p:nvPr/>
        </p:nvSpPr>
        <p:spPr>
          <a:xfrm>
            <a:off x="8325917" y="3246120"/>
            <a:ext cx="566928" cy="566928"/>
          </a:xfrm>
          <a:prstGeom prst="ellipse">
            <a:avLst/>
          </a:prstGeom>
          <a:solidFill>
            <a:schemeClr val="tx1"/>
          </a:solidFill>
          <a:ln/>
        </p:spPr>
      </p:sp>
      <p:pic>
        <p:nvPicPr>
          <p:cNvPr id="31" name="Image 5" descr="Compliance Scanner">    </p:cNvPr>
          <p:cNvPicPr>
            <a:picLocks noChangeAspect="1"/>
          </p:cNvPicPr>
          <p:nvPr/>
        </p:nvPicPr>
        <p:blipFill>
          <a:blip r:embed="rId6"/>
          <a:stretch>
            <a:fillRect/>
          </a:stretch>
        </p:blipFill>
        <p:spPr>
          <a:xfrm>
            <a:off x="8478987" y="3399191"/>
            <a:ext cx="260787" cy="260787"/>
          </a:xfrm>
          <a:prstGeom prst="rect">
            <a:avLst/>
          </a:prstGeom>
        </p:spPr>
      </p:pic>
      <p:sp>
        <p:nvSpPr>
          <p:cNvPr id="32" name="Feature title"/>
          <p:cNvSpPr txBox="1"/>
          <p:nvPr/>
        </p:nvSpPr>
        <p:spPr>
          <a:xfrm>
            <a:off x="9057437" y="3246120"/>
            <a:ext cx="2311298" cy="566928"/>
          </a:xfrm>
          <a:prstGeom prst="rect">
            <a:avLst/>
          </a:prstGeom>
          <a:noFill/>
          <a:ln/>
        </p:spPr>
        <p:txBody>
          <a:bodyPr wrap="square" lIns="0" tIns="0" rIns="0" bIns="0" rtlCol="0" anchor="ctr"/>
          <a:lstStyle/>
          <a:p>
            <a:pPr indent="0" marL="0">
              <a:buNone/>
            </a:pPr>
            <a:r>
              <a:rPr lang="en-US" sz="1700" b="1" dirty="0">
                <a:solidFill>
                  <a:schemeClr val="tx1"/>
                </a:solidFill>
              </a:rPr>
              <a:t>Compliance Scanner</a:t>
            </a:r>
            <a:endParaRPr lang="en-US" sz="1700" dirty="0"/>
          </a:p>
        </p:txBody>
      </p:sp>
      <p:sp>
        <p:nvSpPr>
          <p:cNvPr id="33" name="Feature text"/>
          <p:cNvSpPr txBox="1"/>
          <p:nvPr/>
        </p:nvSpPr>
        <p:spPr>
          <a:xfrm>
            <a:off x="8325917" y="3904488"/>
            <a:ext cx="2997098" cy="438912"/>
          </a:xfrm>
          <a:prstGeom prst="rect">
            <a:avLst/>
          </a:prstGeom>
          <a:noFill/>
          <a:ln/>
        </p:spPr>
        <p:txBody>
          <a:bodyPr wrap="square" lIns="0" tIns="0" rIns="0" bIns="0" rtlCol="0" anchor="t"/>
          <a:lstStyle/>
          <a:p>
            <a:pPr indent="0" marL="0">
              <a:buNone/>
            </a:pPr>
            <a:r>
              <a:rPr lang="en-US" sz="1400" dirty="0">
                <a:solidFill>
                  <a:srgbClr val="57534E"/>
                </a:solidFill>
              </a:rPr>
              <a:t>GDPR, CCPA, HIPAA and SOC 2 checks</a:t>
            </a:r>
            <a:endParaRPr lang="en-US" sz="1400" dirty="0"/>
          </a:p>
        </p:txBody>
      </p:sp>
      <p:sp>
        <p:nvSpPr>
          <p:cNvPr id="34" name="Feature E-Signature"/>
          <p:cNvSpPr/>
          <p:nvPr/>
        </p:nvSpPr>
        <p:spPr>
          <a:xfrm>
            <a:off x="640080" y="4526280"/>
            <a:ext cx="3454298" cy="1325880"/>
          </a:xfrm>
          <a:prstGeom prst="roundRect">
            <a:avLst>
              <a:gd name="adj" fmla="val 8276"/>
            </a:avLst>
          </a:prstGeom>
          <a:solidFill>
            <a:schemeClr val="bg2"/>
          </a:solidFill>
          <a:ln/>
        </p:spPr>
      </p:sp>
      <p:sp>
        <p:nvSpPr>
          <p:cNvPr id="35" name="E-Signature badge"/>
          <p:cNvSpPr/>
          <p:nvPr/>
        </p:nvSpPr>
        <p:spPr>
          <a:xfrm>
            <a:off x="868680" y="4709160"/>
            <a:ext cx="566928" cy="566928"/>
          </a:xfrm>
          <a:prstGeom prst="ellipse">
            <a:avLst/>
          </a:prstGeom>
          <a:solidFill>
            <a:schemeClr val="tx1"/>
          </a:solidFill>
          <a:ln/>
        </p:spPr>
      </p:sp>
      <p:pic>
        <p:nvPicPr>
          <p:cNvPr id="36" name="Image 6" descr="E-Signature">    </p:cNvPr>
          <p:cNvPicPr>
            <a:picLocks noChangeAspect="1"/>
          </p:cNvPicPr>
          <p:nvPr/>
        </p:nvPicPr>
        <p:blipFill>
          <a:blip r:embed="rId7"/>
          <a:stretch>
            <a:fillRect/>
          </a:stretch>
        </p:blipFill>
        <p:spPr>
          <a:xfrm>
            <a:off x="1021751" y="4862231"/>
            <a:ext cx="260787" cy="260787"/>
          </a:xfrm>
          <a:prstGeom prst="rect">
            <a:avLst/>
          </a:prstGeom>
        </p:spPr>
      </p:pic>
      <p:sp>
        <p:nvSpPr>
          <p:cNvPr id="37" name="Feature title"/>
          <p:cNvSpPr txBox="1"/>
          <p:nvPr/>
        </p:nvSpPr>
        <p:spPr>
          <a:xfrm>
            <a:off x="1600200" y="4709160"/>
            <a:ext cx="2311298" cy="566928"/>
          </a:xfrm>
          <a:prstGeom prst="rect">
            <a:avLst/>
          </a:prstGeom>
          <a:noFill/>
          <a:ln/>
        </p:spPr>
        <p:txBody>
          <a:bodyPr wrap="square" lIns="0" tIns="0" rIns="0" bIns="0" rtlCol="0" anchor="ctr"/>
          <a:lstStyle/>
          <a:p>
            <a:pPr indent="0" marL="0">
              <a:buNone/>
            </a:pPr>
            <a:r>
              <a:rPr lang="en-US" sz="1700" b="1" dirty="0">
                <a:solidFill>
                  <a:schemeClr val="tx1"/>
                </a:solidFill>
              </a:rPr>
              <a:t>E-Signature</a:t>
            </a:r>
            <a:endParaRPr lang="en-US" sz="1700" dirty="0"/>
          </a:p>
        </p:txBody>
      </p:sp>
      <p:sp>
        <p:nvSpPr>
          <p:cNvPr id="38" name="Feature text"/>
          <p:cNvSpPr txBox="1"/>
          <p:nvPr/>
        </p:nvSpPr>
        <p:spPr>
          <a:xfrm>
            <a:off x="868680" y="5367528"/>
            <a:ext cx="2997098" cy="438912"/>
          </a:xfrm>
          <a:prstGeom prst="rect">
            <a:avLst/>
          </a:prstGeom>
          <a:noFill/>
          <a:ln/>
        </p:spPr>
        <p:txBody>
          <a:bodyPr wrap="square" lIns="0" tIns="0" rIns="0" bIns="0" rtlCol="0" anchor="t"/>
          <a:lstStyle/>
          <a:p>
            <a:pPr indent="0" marL="0">
              <a:buNone/>
            </a:pPr>
            <a:r>
              <a:rPr lang="en-US" sz="1400" dirty="0">
                <a:solidFill>
                  <a:srgbClr val="57534E"/>
                </a:solidFill>
              </a:rPr>
              <a:t>In-browser signing with a SHA-256 fingerprint</a:t>
            </a:r>
            <a:endParaRPr lang="en-US" sz="1400" dirty="0"/>
          </a:p>
        </p:txBody>
      </p:sp>
      <p:sp>
        <p:nvSpPr>
          <p:cNvPr id="39" name="Feature PDF Toolkit"/>
          <p:cNvSpPr/>
          <p:nvPr/>
        </p:nvSpPr>
        <p:spPr>
          <a:xfrm>
            <a:off x="4368698" y="4526280"/>
            <a:ext cx="3454298" cy="1325880"/>
          </a:xfrm>
          <a:prstGeom prst="roundRect">
            <a:avLst>
              <a:gd name="adj" fmla="val 8276"/>
            </a:avLst>
          </a:prstGeom>
          <a:solidFill>
            <a:schemeClr val="bg2"/>
          </a:solidFill>
          <a:ln/>
        </p:spPr>
      </p:sp>
      <p:sp>
        <p:nvSpPr>
          <p:cNvPr id="40" name="PDF Toolkit badge"/>
          <p:cNvSpPr/>
          <p:nvPr/>
        </p:nvSpPr>
        <p:spPr>
          <a:xfrm>
            <a:off x="4597298" y="4709160"/>
            <a:ext cx="566928" cy="566928"/>
          </a:xfrm>
          <a:prstGeom prst="ellipse">
            <a:avLst/>
          </a:prstGeom>
          <a:solidFill>
            <a:schemeClr val="tx1"/>
          </a:solidFill>
          <a:ln/>
        </p:spPr>
      </p:sp>
      <p:pic>
        <p:nvPicPr>
          <p:cNvPr id="41" name="Image 7" descr="PDF Toolkit">    </p:cNvPr>
          <p:cNvPicPr>
            <a:picLocks noChangeAspect="1"/>
          </p:cNvPicPr>
          <p:nvPr/>
        </p:nvPicPr>
        <p:blipFill>
          <a:blip r:embed="rId8"/>
          <a:stretch>
            <a:fillRect/>
          </a:stretch>
        </p:blipFill>
        <p:spPr>
          <a:xfrm>
            <a:off x="4750369" y="4862231"/>
            <a:ext cx="260787" cy="260787"/>
          </a:xfrm>
          <a:prstGeom prst="rect">
            <a:avLst/>
          </a:prstGeom>
        </p:spPr>
      </p:pic>
      <p:sp>
        <p:nvSpPr>
          <p:cNvPr id="42" name="Feature title"/>
          <p:cNvSpPr txBox="1"/>
          <p:nvPr/>
        </p:nvSpPr>
        <p:spPr>
          <a:xfrm>
            <a:off x="5328818" y="4709160"/>
            <a:ext cx="2311298" cy="566928"/>
          </a:xfrm>
          <a:prstGeom prst="rect">
            <a:avLst/>
          </a:prstGeom>
          <a:noFill/>
          <a:ln/>
        </p:spPr>
        <p:txBody>
          <a:bodyPr wrap="square" lIns="0" tIns="0" rIns="0" bIns="0" rtlCol="0" anchor="ctr"/>
          <a:lstStyle/>
          <a:p>
            <a:pPr indent="0" marL="0">
              <a:buNone/>
            </a:pPr>
            <a:r>
              <a:rPr lang="en-US" sz="1700" b="1" dirty="0">
                <a:solidFill>
                  <a:schemeClr val="tx1"/>
                </a:solidFill>
              </a:rPr>
              <a:t>PDF Toolkit</a:t>
            </a:r>
            <a:endParaRPr lang="en-US" sz="1700" dirty="0"/>
          </a:p>
        </p:txBody>
      </p:sp>
      <p:sp>
        <p:nvSpPr>
          <p:cNvPr id="43" name="Feature text"/>
          <p:cNvSpPr txBox="1"/>
          <p:nvPr/>
        </p:nvSpPr>
        <p:spPr>
          <a:xfrm>
            <a:off x="4597298" y="5367528"/>
            <a:ext cx="2997098" cy="438912"/>
          </a:xfrm>
          <a:prstGeom prst="rect">
            <a:avLst/>
          </a:prstGeom>
          <a:noFill/>
          <a:ln/>
        </p:spPr>
        <p:txBody>
          <a:bodyPr wrap="square" lIns="0" tIns="0" rIns="0" bIns="0" rtlCol="0" anchor="t"/>
          <a:lstStyle/>
          <a:p>
            <a:pPr indent="0" marL="0">
              <a:buNone/>
            </a:pPr>
            <a:r>
              <a:rPr lang="en-US" sz="1400" dirty="0">
                <a:solidFill>
                  <a:srgbClr val="57534E"/>
                </a:solidFill>
              </a:rPr>
              <a:t>Merge, split, rotate and convert, client-side</a:t>
            </a:r>
            <a:endParaRPr lang="en-US" sz="1400" dirty="0"/>
          </a:p>
        </p:txBody>
      </p:sp>
      <p:sp>
        <p:nvSpPr>
          <p:cNvPr id="44" name="Feature Lawyer Marketplace"/>
          <p:cNvSpPr/>
          <p:nvPr/>
        </p:nvSpPr>
        <p:spPr>
          <a:xfrm>
            <a:off x="8097317" y="4526280"/>
            <a:ext cx="3454298" cy="1325880"/>
          </a:xfrm>
          <a:prstGeom prst="roundRect">
            <a:avLst>
              <a:gd name="adj" fmla="val 8276"/>
            </a:avLst>
          </a:prstGeom>
          <a:solidFill>
            <a:schemeClr val="bg2"/>
          </a:solidFill>
          <a:ln/>
        </p:spPr>
      </p:sp>
      <p:sp>
        <p:nvSpPr>
          <p:cNvPr id="45" name="Lawyer Marketplace badge"/>
          <p:cNvSpPr/>
          <p:nvPr/>
        </p:nvSpPr>
        <p:spPr>
          <a:xfrm>
            <a:off x="8325917" y="4709160"/>
            <a:ext cx="566928" cy="566928"/>
          </a:xfrm>
          <a:prstGeom prst="ellipse">
            <a:avLst/>
          </a:prstGeom>
          <a:solidFill>
            <a:schemeClr val="tx1"/>
          </a:solidFill>
          <a:ln/>
        </p:spPr>
      </p:sp>
      <p:pic>
        <p:nvPicPr>
          <p:cNvPr id="46" name="Image 8" descr="Lawyer Marketplace">    </p:cNvPr>
          <p:cNvPicPr>
            <a:picLocks noChangeAspect="1"/>
          </p:cNvPicPr>
          <p:nvPr/>
        </p:nvPicPr>
        <p:blipFill>
          <a:blip r:embed="rId9"/>
          <a:stretch>
            <a:fillRect/>
          </a:stretch>
        </p:blipFill>
        <p:spPr>
          <a:xfrm>
            <a:off x="8478987" y="4862231"/>
            <a:ext cx="260787" cy="260787"/>
          </a:xfrm>
          <a:prstGeom prst="rect">
            <a:avLst/>
          </a:prstGeom>
        </p:spPr>
      </p:pic>
      <p:sp>
        <p:nvSpPr>
          <p:cNvPr id="47" name="Feature title"/>
          <p:cNvSpPr txBox="1"/>
          <p:nvPr/>
        </p:nvSpPr>
        <p:spPr>
          <a:xfrm>
            <a:off x="9057437" y="4709160"/>
            <a:ext cx="2311298" cy="566928"/>
          </a:xfrm>
          <a:prstGeom prst="rect">
            <a:avLst/>
          </a:prstGeom>
          <a:noFill/>
          <a:ln/>
        </p:spPr>
        <p:txBody>
          <a:bodyPr wrap="square" lIns="0" tIns="0" rIns="0" bIns="0" rtlCol="0" anchor="ctr"/>
          <a:lstStyle/>
          <a:p>
            <a:pPr indent="0" marL="0">
              <a:buNone/>
            </a:pPr>
            <a:r>
              <a:rPr lang="en-US" sz="1700" b="1" dirty="0">
                <a:solidFill>
                  <a:schemeClr val="tx1"/>
                </a:solidFill>
              </a:rPr>
              <a:t>Lawyer Marketplace</a:t>
            </a:r>
            <a:endParaRPr lang="en-US" sz="1700" dirty="0"/>
          </a:p>
        </p:txBody>
      </p:sp>
      <p:sp>
        <p:nvSpPr>
          <p:cNvPr id="48" name="Feature text"/>
          <p:cNvSpPr txBox="1"/>
          <p:nvPr/>
        </p:nvSpPr>
        <p:spPr>
          <a:xfrm>
            <a:off x="8325917" y="5367528"/>
            <a:ext cx="2997098" cy="438912"/>
          </a:xfrm>
          <a:prstGeom prst="rect">
            <a:avLst/>
          </a:prstGeom>
          <a:noFill/>
          <a:ln/>
        </p:spPr>
        <p:txBody>
          <a:bodyPr wrap="square" lIns="0" tIns="0" rIns="0" bIns="0" rtlCol="0" anchor="t"/>
          <a:lstStyle/>
          <a:p>
            <a:pPr indent="0" marL="0">
              <a:buNone/>
            </a:pPr>
            <a:r>
              <a:rPr lang="en-US" sz="1400" dirty="0">
                <a:solidFill>
                  <a:srgbClr val="57534E"/>
                </a:solidFill>
              </a:rPr>
              <a:t>Book verified lawyers for complex issues</a:t>
            </a:r>
            <a:endParaRPr lang="en-US" sz="1400" dirty="0"/>
          </a:p>
        </p:txBody>
      </p:sp>
      <p:sp>
        <p:nvSpPr>
          <p:cNvPr id="49" name="Feature footnote"/>
          <p:cNvSpPr txBox="1"/>
          <p:nvPr/>
        </p:nvSpPr>
        <p:spPr>
          <a:xfrm>
            <a:off x="640080" y="5989320"/>
            <a:ext cx="10911535" cy="274320"/>
          </a:xfrm>
          <a:prstGeom prst="rect">
            <a:avLst/>
          </a:prstGeom>
          <a:noFill/>
          <a:ln/>
        </p:spPr>
        <p:txBody>
          <a:bodyPr wrap="square" lIns="0" tIns="0" rIns="0" bIns="0" rtlCol="0" anchor="t"/>
          <a:lstStyle/>
          <a:p>
            <a:pPr indent="0" marL="0">
              <a:buNone/>
            </a:pPr>
            <a:r>
              <a:rPr lang="en-US" sz="1200" dirty="0">
                <a:solidFill>
                  <a:srgbClr val="57534E"/>
                </a:solidFill>
              </a:rPr>
              <a:t>Plus templates, a template builder, clause library, 50+ languages, voice drafting and team collaboration: 48 pages in total.</a:t>
            </a:r>
            <a:endParaRPr lang="en-US" sz="12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CORE FEATURE</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AI Contract Risk Analyzer</a:t>
            </a:r>
            <a:endParaRPr lang="en-US" sz="3600" dirty="0"/>
          </a:p>
        </p:txBody>
      </p:sp>
      <p:sp>
        <p:nvSpPr>
          <p:cNvPr id="4" name="Band CRITICAL"/>
          <p:cNvSpPr/>
          <p:nvPr/>
        </p:nvSpPr>
        <p:spPr>
          <a:xfrm>
            <a:off x="640080" y="1691640"/>
            <a:ext cx="6217920" cy="960120"/>
          </a:xfrm>
          <a:prstGeom prst="roundRect">
            <a:avLst>
              <a:gd name="adj" fmla="val 11429"/>
            </a:avLst>
          </a:prstGeom>
          <a:solidFill>
            <a:schemeClr val="bg2"/>
          </a:solidFill>
          <a:ln/>
        </p:spPr>
      </p:sp>
      <p:sp>
        <p:nvSpPr>
          <p:cNvPr id="5" name="Pill CRITICAL"/>
          <p:cNvSpPr/>
          <p:nvPr/>
        </p:nvSpPr>
        <p:spPr>
          <a:xfrm>
            <a:off x="868680" y="1965960"/>
            <a:ext cx="1371600" cy="411480"/>
          </a:xfrm>
          <a:prstGeom prst="roundRect">
            <a:avLst>
              <a:gd name="adj" fmla="val 50000"/>
            </a:avLst>
          </a:prstGeom>
          <a:solidFill>
            <a:schemeClr val="accent2"/>
          </a:solidFill>
          <a:ln/>
        </p:spPr>
      </p:sp>
      <p:sp>
        <p:nvSpPr>
          <p:cNvPr id="6" name="Pill label CRITICAL"/>
          <p:cNvSpPr txBox="1"/>
          <p:nvPr/>
        </p:nvSpPr>
        <p:spPr>
          <a:xfrm>
            <a:off x="868680" y="1965960"/>
            <a:ext cx="1371600" cy="411480"/>
          </a:xfrm>
          <a:prstGeom prst="rect">
            <a:avLst/>
          </a:prstGeom>
          <a:noFill/>
          <a:ln/>
        </p:spPr>
        <p:txBody>
          <a:bodyPr wrap="square" lIns="0" tIns="0" rIns="0" bIns="0" rtlCol="0" anchor="ctr"/>
          <a:lstStyle/>
          <a:p>
            <a:pPr algn="ctr" indent="0" marL="0">
              <a:buNone/>
            </a:pPr>
            <a:r>
              <a:rPr lang="en-US" sz="1200" b="1" spc="100" kern="0" dirty="0">
                <a:solidFill>
                  <a:schemeClr val="bg1"/>
                </a:solidFill>
              </a:rPr>
              <a:t>CRITICAL</a:t>
            </a:r>
            <a:endParaRPr lang="en-US" sz="1200" dirty="0"/>
          </a:p>
        </p:txBody>
      </p:sp>
      <p:sp>
        <p:nvSpPr>
          <p:cNvPr id="7" name="Band text"/>
          <p:cNvSpPr txBox="1"/>
          <p:nvPr/>
        </p:nvSpPr>
        <p:spPr>
          <a:xfrm>
            <a:off x="2468880" y="1691640"/>
            <a:ext cx="4206240" cy="960120"/>
          </a:xfrm>
          <a:prstGeom prst="rect">
            <a:avLst/>
          </a:prstGeom>
          <a:noFill/>
          <a:ln/>
        </p:spPr>
        <p:txBody>
          <a:bodyPr wrap="square" lIns="0" tIns="0" rIns="0" bIns="0" rtlCol="0" anchor="ctr"/>
          <a:lstStyle/>
          <a:p>
            <a:pPr indent="0" marL="0">
              <a:buNone/>
            </a:pPr>
            <a:r>
              <a:rPr lang="en-US" sz="1400" dirty="0">
                <a:solidFill>
                  <a:schemeClr val="tx1"/>
                </a:solidFill>
              </a:rPr>
              <a:t>Unilateral indemnification, severe liability traps, perpetual non-competes</a:t>
            </a:r>
            <a:endParaRPr lang="en-US" sz="1400" dirty="0"/>
          </a:p>
        </p:txBody>
      </p:sp>
      <p:sp>
        <p:nvSpPr>
          <p:cNvPr id="8" name="Band HIGH"/>
          <p:cNvSpPr/>
          <p:nvPr/>
        </p:nvSpPr>
        <p:spPr>
          <a:xfrm>
            <a:off x="640080" y="2788920"/>
            <a:ext cx="6217920" cy="960120"/>
          </a:xfrm>
          <a:prstGeom prst="roundRect">
            <a:avLst>
              <a:gd name="adj" fmla="val 11429"/>
            </a:avLst>
          </a:prstGeom>
          <a:solidFill>
            <a:schemeClr val="bg2"/>
          </a:solidFill>
          <a:ln/>
        </p:spPr>
      </p:sp>
      <p:sp>
        <p:nvSpPr>
          <p:cNvPr id="9" name="Pill HIGH"/>
          <p:cNvSpPr/>
          <p:nvPr/>
        </p:nvSpPr>
        <p:spPr>
          <a:xfrm>
            <a:off x="868680" y="3063240"/>
            <a:ext cx="1371600" cy="411480"/>
          </a:xfrm>
          <a:prstGeom prst="roundRect">
            <a:avLst>
              <a:gd name="adj" fmla="val 50000"/>
            </a:avLst>
          </a:prstGeom>
          <a:solidFill>
            <a:schemeClr val="accent3"/>
          </a:solidFill>
          <a:ln/>
        </p:spPr>
      </p:sp>
      <p:sp>
        <p:nvSpPr>
          <p:cNvPr id="10" name="Pill label HIGH"/>
          <p:cNvSpPr txBox="1"/>
          <p:nvPr/>
        </p:nvSpPr>
        <p:spPr>
          <a:xfrm>
            <a:off x="868680" y="3063240"/>
            <a:ext cx="1371600" cy="411480"/>
          </a:xfrm>
          <a:prstGeom prst="rect">
            <a:avLst/>
          </a:prstGeom>
          <a:noFill/>
          <a:ln/>
        </p:spPr>
        <p:txBody>
          <a:bodyPr wrap="square" lIns="0" tIns="0" rIns="0" bIns="0" rtlCol="0" anchor="ctr"/>
          <a:lstStyle/>
          <a:p>
            <a:pPr algn="ctr" indent="0" marL="0">
              <a:buNone/>
            </a:pPr>
            <a:r>
              <a:rPr lang="en-US" sz="1200" b="1" spc="100" kern="0" dirty="0">
                <a:solidFill>
                  <a:schemeClr val="tx1"/>
                </a:solidFill>
              </a:rPr>
              <a:t>HIGH</a:t>
            </a:r>
            <a:endParaRPr lang="en-US" sz="1200" dirty="0"/>
          </a:p>
        </p:txBody>
      </p:sp>
      <p:sp>
        <p:nvSpPr>
          <p:cNvPr id="11" name="Band text"/>
          <p:cNvSpPr txBox="1"/>
          <p:nvPr/>
        </p:nvSpPr>
        <p:spPr>
          <a:xfrm>
            <a:off x="2468880" y="2788920"/>
            <a:ext cx="4206240" cy="960120"/>
          </a:xfrm>
          <a:prstGeom prst="rect">
            <a:avLst/>
          </a:prstGeom>
          <a:noFill/>
          <a:ln/>
        </p:spPr>
        <p:txBody>
          <a:bodyPr wrap="square" lIns="0" tIns="0" rIns="0" bIns="0" rtlCol="0" anchor="ctr"/>
          <a:lstStyle/>
          <a:p>
            <a:pPr indent="0" marL="0">
              <a:buNone/>
            </a:pPr>
            <a:r>
              <a:rPr lang="en-US" sz="1400" dirty="0">
                <a:solidFill>
                  <a:schemeClr val="tx1"/>
                </a:solidFill>
              </a:rPr>
              <a:t>Onerous termination penalties, uncapped damages, ambiguous IP assignment</a:t>
            </a:r>
            <a:endParaRPr lang="en-US" sz="1400" dirty="0"/>
          </a:p>
        </p:txBody>
      </p:sp>
      <p:sp>
        <p:nvSpPr>
          <p:cNvPr id="12" name="Band MEDIUM"/>
          <p:cNvSpPr/>
          <p:nvPr/>
        </p:nvSpPr>
        <p:spPr>
          <a:xfrm>
            <a:off x="640080" y="3886200"/>
            <a:ext cx="6217920" cy="960120"/>
          </a:xfrm>
          <a:prstGeom prst="roundRect">
            <a:avLst>
              <a:gd name="adj" fmla="val 11429"/>
            </a:avLst>
          </a:prstGeom>
          <a:solidFill>
            <a:schemeClr val="bg2"/>
          </a:solidFill>
          <a:ln/>
        </p:spPr>
      </p:sp>
      <p:sp>
        <p:nvSpPr>
          <p:cNvPr id="13" name="Pill MEDIUM"/>
          <p:cNvSpPr/>
          <p:nvPr/>
        </p:nvSpPr>
        <p:spPr>
          <a:xfrm>
            <a:off x="868680" y="4160520"/>
            <a:ext cx="1371600" cy="411480"/>
          </a:xfrm>
          <a:prstGeom prst="roundRect">
            <a:avLst>
              <a:gd name="adj" fmla="val 50000"/>
            </a:avLst>
          </a:prstGeom>
          <a:solidFill>
            <a:schemeClr val="accent4"/>
          </a:solidFill>
          <a:ln/>
        </p:spPr>
      </p:sp>
      <p:sp>
        <p:nvSpPr>
          <p:cNvPr id="14" name="Pill label MEDIUM"/>
          <p:cNvSpPr txBox="1"/>
          <p:nvPr/>
        </p:nvSpPr>
        <p:spPr>
          <a:xfrm>
            <a:off x="868680" y="4160520"/>
            <a:ext cx="1371600" cy="411480"/>
          </a:xfrm>
          <a:prstGeom prst="rect">
            <a:avLst/>
          </a:prstGeom>
          <a:noFill/>
          <a:ln/>
        </p:spPr>
        <p:txBody>
          <a:bodyPr wrap="square" lIns="0" tIns="0" rIns="0" bIns="0" rtlCol="0" anchor="ctr"/>
          <a:lstStyle/>
          <a:p>
            <a:pPr algn="ctr" indent="0" marL="0">
              <a:buNone/>
            </a:pPr>
            <a:r>
              <a:rPr lang="en-US" sz="1200" b="1" spc="100" kern="0" dirty="0">
                <a:solidFill>
                  <a:schemeClr val="tx1"/>
                </a:solidFill>
              </a:rPr>
              <a:t>MEDIUM</a:t>
            </a:r>
            <a:endParaRPr lang="en-US" sz="1200" dirty="0"/>
          </a:p>
        </p:txBody>
      </p:sp>
      <p:sp>
        <p:nvSpPr>
          <p:cNvPr id="15" name="Band text"/>
          <p:cNvSpPr txBox="1"/>
          <p:nvPr/>
        </p:nvSpPr>
        <p:spPr>
          <a:xfrm>
            <a:off x="2468880" y="3886200"/>
            <a:ext cx="4206240" cy="960120"/>
          </a:xfrm>
          <a:prstGeom prst="rect">
            <a:avLst/>
          </a:prstGeom>
          <a:noFill/>
          <a:ln/>
        </p:spPr>
        <p:txBody>
          <a:bodyPr wrap="square" lIns="0" tIns="0" rIns="0" bIns="0" rtlCol="0" anchor="ctr"/>
          <a:lstStyle/>
          <a:p>
            <a:pPr indent="0" marL="0">
              <a:buNone/>
            </a:pPr>
            <a:r>
              <a:rPr lang="en-US" sz="1400" dirty="0">
                <a:solidFill>
                  <a:schemeClr val="tx1"/>
                </a:solidFill>
              </a:rPr>
              <a:t>Unbalanced payment terms, vague service SLAs, broad audit rights</a:t>
            </a:r>
            <a:endParaRPr lang="en-US" sz="1400" dirty="0"/>
          </a:p>
        </p:txBody>
      </p:sp>
      <p:sp>
        <p:nvSpPr>
          <p:cNvPr id="16" name="Band LOW / FAIR"/>
          <p:cNvSpPr/>
          <p:nvPr/>
        </p:nvSpPr>
        <p:spPr>
          <a:xfrm>
            <a:off x="640080" y="4983480"/>
            <a:ext cx="6217920" cy="960120"/>
          </a:xfrm>
          <a:prstGeom prst="roundRect">
            <a:avLst>
              <a:gd name="adj" fmla="val 11429"/>
            </a:avLst>
          </a:prstGeom>
          <a:solidFill>
            <a:schemeClr val="bg2"/>
          </a:solidFill>
          <a:ln/>
        </p:spPr>
      </p:sp>
      <p:sp>
        <p:nvSpPr>
          <p:cNvPr id="17" name="Pill LOW / FAIR"/>
          <p:cNvSpPr/>
          <p:nvPr/>
        </p:nvSpPr>
        <p:spPr>
          <a:xfrm>
            <a:off x="868680" y="5257800"/>
            <a:ext cx="1371600" cy="411480"/>
          </a:xfrm>
          <a:prstGeom prst="roundRect">
            <a:avLst>
              <a:gd name="adj" fmla="val 50000"/>
            </a:avLst>
          </a:prstGeom>
          <a:solidFill>
            <a:schemeClr val="accent5"/>
          </a:solidFill>
          <a:ln/>
        </p:spPr>
      </p:sp>
      <p:sp>
        <p:nvSpPr>
          <p:cNvPr id="18" name="Pill label LOW / FAIR"/>
          <p:cNvSpPr txBox="1"/>
          <p:nvPr/>
        </p:nvSpPr>
        <p:spPr>
          <a:xfrm>
            <a:off x="868680" y="5257800"/>
            <a:ext cx="1371600" cy="411480"/>
          </a:xfrm>
          <a:prstGeom prst="rect">
            <a:avLst/>
          </a:prstGeom>
          <a:noFill/>
          <a:ln/>
        </p:spPr>
        <p:txBody>
          <a:bodyPr wrap="square" lIns="0" tIns="0" rIns="0" bIns="0" rtlCol="0" anchor="ctr"/>
          <a:lstStyle/>
          <a:p>
            <a:pPr algn="ctr" indent="0" marL="0">
              <a:buNone/>
            </a:pPr>
            <a:r>
              <a:rPr lang="en-US" sz="1200" b="1" spc="100" kern="0" dirty="0">
                <a:solidFill>
                  <a:schemeClr val="tx1"/>
                </a:solidFill>
              </a:rPr>
              <a:t>LOW / FAIR</a:t>
            </a:r>
            <a:endParaRPr lang="en-US" sz="1200" dirty="0"/>
          </a:p>
        </p:txBody>
      </p:sp>
      <p:sp>
        <p:nvSpPr>
          <p:cNvPr id="19" name="Band text"/>
          <p:cNvSpPr txBox="1"/>
          <p:nvPr/>
        </p:nvSpPr>
        <p:spPr>
          <a:xfrm>
            <a:off x="2468880" y="4983480"/>
            <a:ext cx="4206240" cy="960120"/>
          </a:xfrm>
          <a:prstGeom prst="rect">
            <a:avLst/>
          </a:prstGeom>
          <a:noFill/>
          <a:ln/>
        </p:spPr>
        <p:txBody>
          <a:bodyPr wrap="square" lIns="0" tIns="0" rIns="0" bIns="0" rtlCol="0" anchor="ctr"/>
          <a:lstStyle/>
          <a:p>
            <a:pPr indent="0" marL="0">
              <a:buNone/>
            </a:pPr>
            <a:r>
              <a:rPr lang="en-US" sz="1400" dirty="0">
                <a:solidFill>
                  <a:schemeClr val="tx1"/>
                </a:solidFill>
              </a:rPr>
              <a:t>Standard bilateral protections and ordinary boilerplate</a:t>
            </a:r>
            <a:endParaRPr lang="en-US" sz="1400" dirty="0"/>
          </a:p>
        </p:txBody>
      </p:sp>
      <p:sp>
        <p:nvSpPr>
          <p:cNvPr id="20" name="Outputs card"/>
          <p:cNvSpPr/>
          <p:nvPr/>
        </p:nvSpPr>
        <p:spPr>
          <a:xfrm>
            <a:off x="7132320" y="1691640"/>
            <a:ext cx="4416552" cy="4251960"/>
          </a:xfrm>
          <a:prstGeom prst="roundRect">
            <a:avLst>
              <a:gd name="adj" fmla="val 2581"/>
            </a:avLst>
          </a:prstGeom>
          <a:solidFill>
            <a:schemeClr val="tx1"/>
          </a:solidFill>
          <a:ln/>
        </p:spPr>
      </p:sp>
      <p:sp>
        <p:nvSpPr>
          <p:cNvPr id="21" name="Outputs heading"/>
          <p:cNvSpPr txBox="1"/>
          <p:nvPr/>
        </p:nvSpPr>
        <p:spPr>
          <a:xfrm>
            <a:off x="7452360" y="1874520"/>
            <a:ext cx="36576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WHAT YOU GET</a:t>
            </a:r>
            <a:endParaRPr lang="en-US" sz="1200" dirty="0"/>
          </a:p>
        </p:txBody>
      </p:sp>
      <p:sp>
        <p:nvSpPr>
          <p:cNvPr id="22" name="Check badge"/>
          <p:cNvSpPr/>
          <p:nvPr/>
        </p:nvSpPr>
        <p:spPr>
          <a:xfrm>
            <a:off x="7452360" y="2487168"/>
            <a:ext cx="365760" cy="365760"/>
          </a:xfrm>
          <a:prstGeom prst="ellipse">
            <a:avLst/>
          </a:prstGeom>
          <a:solidFill>
            <a:schemeClr val="tx2"/>
          </a:solidFill>
          <a:ln/>
        </p:spPr>
      </p:sp>
      <p:pic>
        <p:nvPicPr>
          <p:cNvPr id="23" name="Image 0" descr="Check">    </p:cNvPr>
          <p:cNvPicPr>
            <a:picLocks noChangeAspect="1"/>
          </p:cNvPicPr>
          <p:nvPr/>
        </p:nvPicPr>
        <p:blipFill>
          <a:blip r:embed="rId1"/>
          <a:stretch>
            <a:fillRect/>
          </a:stretch>
        </p:blipFill>
        <p:spPr>
          <a:xfrm>
            <a:off x="7551115" y="2585923"/>
            <a:ext cx="168250" cy="168250"/>
          </a:xfrm>
          <a:prstGeom prst="rect">
            <a:avLst/>
          </a:prstGeom>
        </p:spPr>
      </p:pic>
      <p:sp>
        <p:nvSpPr>
          <p:cNvPr id="24" name="Output item"/>
          <p:cNvSpPr txBox="1"/>
          <p:nvPr/>
        </p:nvSpPr>
        <p:spPr>
          <a:xfrm>
            <a:off x="8001000" y="2377440"/>
            <a:ext cx="3383280" cy="594360"/>
          </a:xfrm>
          <a:prstGeom prst="rect">
            <a:avLst/>
          </a:prstGeom>
          <a:noFill/>
          <a:ln/>
        </p:spPr>
        <p:txBody>
          <a:bodyPr wrap="square" lIns="0" tIns="0" rIns="0" bIns="0" rtlCol="0" anchor="ctr"/>
          <a:lstStyle/>
          <a:p>
            <a:pPr indent="0" marL="0">
              <a:buNone/>
            </a:pPr>
            <a:r>
              <a:rPr lang="en-US" sz="1500" dirty="0">
                <a:solidFill>
                  <a:schemeClr val="bg1"/>
                </a:solidFill>
              </a:rPr>
              <a:t>Plain-English summary of every clause</a:t>
            </a:r>
            <a:endParaRPr lang="en-US" sz="1500" dirty="0"/>
          </a:p>
        </p:txBody>
      </p:sp>
      <p:sp>
        <p:nvSpPr>
          <p:cNvPr id="25" name="Check badge"/>
          <p:cNvSpPr/>
          <p:nvPr/>
        </p:nvSpPr>
        <p:spPr>
          <a:xfrm>
            <a:off x="7452360" y="3191256"/>
            <a:ext cx="365760" cy="365760"/>
          </a:xfrm>
          <a:prstGeom prst="ellipse">
            <a:avLst/>
          </a:prstGeom>
          <a:solidFill>
            <a:schemeClr val="tx2"/>
          </a:solidFill>
          <a:ln/>
        </p:spPr>
      </p:sp>
      <p:pic>
        <p:nvPicPr>
          <p:cNvPr id="26" name="Image 1" descr="Check">    </p:cNvPr>
          <p:cNvPicPr>
            <a:picLocks noChangeAspect="1"/>
          </p:cNvPicPr>
          <p:nvPr/>
        </p:nvPicPr>
        <p:blipFill>
          <a:blip r:embed="rId2"/>
          <a:stretch>
            <a:fillRect/>
          </a:stretch>
        </p:blipFill>
        <p:spPr>
          <a:xfrm>
            <a:off x="7551115" y="3290011"/>
            <a:ext cx="168250" cy="168250"/>
          </a:xfrm>
          <a:prstGeom prst="rect">
            <a:avLst/>
          </a:prstGeom>
        </p:spPr>
      </p:pic>
      <p:sp>
        <p:nvSpPr>
          <p:cNvPr id="27" name="Output item"/>
          <p:cNvSpPr txBox="1"/>
          <p:nvPr/>
        </p:nvSpPr>
        <p:spPr>
          <a:xfrm>
            <a:off x="8001000" y="3081528"/>
            <a:ext cx="3383280" cy="594360"/>
          </a:xfrm>
          <a:prstGeom prst="rect">
            <a:avLst/>
          </a:prstGeom>
          <a:noFill/>
          <a:ln/>
        </p:spPr>
        <p:txBody>
          <a:bodyPr wrap="square" lIns="0" tIns="0" rIns="0" bIns="0" rtlCol="0" anchor="ctr"/>
          <a:lstStyle/>
          <a:p>
            <a:pPr indent="0" marL="0">
              <a:buNone/>
            </a:pPr>
            <a:r>
              <a:rPr lang="en-US" sz="1500" dirty="0">
                <a:solidFill>
                  <a:schemeClr val="bg1"/>
                </a:solidFill>
              </a:rPr>
              <a:t>Worst-case financial exposure estimate</a:t>
            </a:r>
            <a:endParaRPr lang="en-US" sz="1500" dirty="0"/>
          </a:p>
        </p:txBody>
      </p:sp>
      <p:sp>
        <p:nvSpPr>
          <p:cNvPr id="28" name="Check badge"/>
          <p:cNvSpPr/>
          <p:nvPr/>
        </p:nvSpPr>
        <p:spPr>
          <a:xfrm>
            <a:off x="7452360" y="3895344"/>
            <a:ext cx="365760" cy="365760"/>
          </a:xfrm>
          <a:prstGeom prst="ellipse">
            <a:avLst/>
          </a:prstGeom>
          <a:solidFill>
            <a:schemeClr val="tx2"/>
          </a:solidFill>
          <a:ln/>
        </p:spPr>
      </p:sp>
      <p:pic>
        <p:nvPicPr>
          <p:cNvPr id="29" name="Image 2" descr="Check">    </p:cNvPr>
          <p:cNvPicPr>
            <a:picLocks noChangeAspect="1"/>
          </p:cNvPicPr>
          <p:nvPr/>
        </p:nvPicPr>
        <p:blipFill>
          <a:blip r:embed="rId3"/>
          <a:stretch>
            <a:fillRect/>
          </a:stretch>
        </p:blipFill>
        <p:spPr>
          <a:xfrm>
            <a:off x="7551115" y="3994099"/>
            <a:ext cx="168250" cy="168250"/>
          </a:xfrm>
          <a:prstGeom prst="rect">
            <a:avLst/>
          </a:prstGeom>
        </p:spPr>
      </p:pic>
      <p:sp>
        <p:nvSpPr>
          <p:cNvPr id="30" name="Output item"/>
          <p:cNvSpPr txBox="1"/>
          <p:nvPr/>
        </p:nvSpPr>
        <p:spPr>
          <a:xfrm>
            <a:off x="8001000" y="3785616"/>
            <a:ext cx="3383280" cy="594360"/>
          </a:xfrm>
          <a:prstGeom prst="rect">
            <a:avLst/>
          </a:prstGeom>
          <a:noFill/>
          <a:ln/>
        </p:spPr>
        <p:txBody>
          <a:bodyPr wrap="square" lIns="0" tIns="0" rIns="0" bIns="0" rtlCol="0" anchor="ctr"/>
          <a:lstStyle/>
          <a:p>
            <a:pPr indent="0" marL="0">
              <a:buNone/>
            </a:pPr>
            <a:r>
              <a:rPr lang="en-US" sz="1500" dirty="0">
                <a:solidFill>
                  <a:schemeClr val="bg1"/>
                </a:solidFill>
              </a:rPr>
              <a:t>Safer counter-clause for each red flag</a:t>
            </a:r>
            <a:endParaRPr lang="en-US" sz="1500" dirty="0"/>
          </a:p>
        </p:txBody>
      </p:sp>
      <p:sp>
        <p:nvSpPr>
          <p:cNvPr id="31" name="Check badge"/>
          <p:cNvSpPr/>
          <p:nvPr/>
        </p:nvSpPr>
        <p:spPr>
          <a:xfrm>
            <a:off x="7452360" y="4599432"/>
            <a:ext cx="365760" cy="365760"/>
          </a:xfrm>
          <a:prstGeom prst="ellipse">
            <a:avLst/>
          </a:prstGeom>
          <a:solidFill>
            <a:schemeClr val="tx2"/>
          </a:solidFill>
          <a:ln/>
        </p:spPr>
      </p:sp>
      <p:pic>
        <p:nvPicPr>
          <p:cNvPr id="32" name="Image 3" descr="Check">    </p:cNvPr>
          <p:cNvPicPr>
            <a:picLocks noChangeAspect="1"/>
          </p:cNvPicPr>
          <p:nvPr/>
        </p:nvPicPr>
        <p:blipFill>
          <a:blip r:embed="rId4"/>
          <a:stretch>
            <a:fillRect/>
          </a:stretch>
        </p:blipFill>
        <p:spPr>
          <a:xfrm>
            <a:off x="7551115" y="4698187"/>
            <a:ext cx="168250" cy="168250"/>
          </a:xfrm>
          <a:prstGeom prst="rect">
            <a:avLst/>
          </a:prstGeom>
        </p:spPr>
      </p:pic>
      <p:sp>
        <p:nvSpPr>
          <p:cNvPr id="33" name="Output item"/>
          <p:cNvSpPr txBox="1"/>
          <p:nvPr/>
        </p:nvSpPr>
        <p:spPr>
          <a:xfrm>
            <a:off x="8001000" y="4489704"/>
            <a:ext cx="3383280" cy="594360"/>
          </a:xfrm>
          <a:prstGeom prst="rect">
            <a:avLst/>
          </a:prstGeom>
          <a:noFill/>
          <a:ln/>
        </p:spPr>
        <p:txBody>
          <a:bodyPr wrap="square" lIns="0" tIns="0" rIns="0" bIns="0" rtlCol="0" anchor="ctr"/>
          <a:lstStyle/>
          <a:p>
            <a:pPr indent="0" marL="0">
              <a:buNone/>
            </a:pPr>
            <a:r>
              <a:rPr lang="en-US" sz="1500" dirty="0">
                <a:solidFill>
                  <a:schemeClr val="bg1"/>
                </a:solidFill>
              </a:rPr>
              <a:t>Export to PDF, DOCX, JSON or Markdown</a:t>
            </a:r>
            <a:endParaRPr lang="en-US" sz="1500" dirty="0"/>
          </a:p>
        </p:txBody>
      </p:sp>
      <p:sp>
        <p:nvSpPr>
          <p:cNvPr id="34" name="Check badge"/>
          <p:cNvSpPr/>
          <p:nvPr/>
        </p:nvSpPr>
        <p:spPr>
          <a:xfrm>
            <a:off x="7452360" y="5303520"/>
            <a:ext cx="365760" cy="365760"/>
          </a:xfrm>
          <a:prstGeom prst="ellipse">
            <a:avLst/>
          </a:prstGeom>
          <a:solidFill>
            <a:schemeClr val="tx2"/>
          </a:solidFill>
          <a:ln/>
        </p:spPr>
      </p:sp>
      <p:pic>
        <p:nvPicPr>
          <p:cNvPr id="35" name="Image 4" descr="Check">    </p:cNvPr>
          <p:cNvPicPr>
            <a:picLocks noChangeAspect="1"/>
          </p:cNvPicPr>
          <p:nvPr/>
        </p:nvPicPr>
        <p:blipFill>
          <a:blip r:embed="rId5"/>
          <a:stretch>
            <a:fillRect/>
          </a:stretch>
        </p:blipFill>
        <p:spPr>
          <a:xfrm>
            <a:off x="7551115" y="5402275"/>
            <a:ext cx="168250" cy="168250"/>
          </a:xfrm>
          <a:prstGeom prst="rect">
            <a:avLst/>
          </a:prstGeom>
        </p:spPr>
      </p:pic>
      <p:sp>
        <p:nvSpPr>
          <p:cNvPr id="36" name="Output item"/>
          <p:cNvSpPr txBox="1"/>
          <p:nvPr/>
        </p:nvSpPr>
        <p:spPr>
          <a:xfrm>
            <a:off x="8001000" y="5193792"/>
            <a:ext cx="3383280" cy="594360"/>
          </a:xfrm>
          <a:prstGeom prst="rect">
            <a:avLst/>
          </a:prstGeom>
          <a:noFill/>
          <a:ln/>
        </p:spPr>
        <p:txBody>
          <a:bodyPr wrap="square" lIns="0" tIns="0" rIns="0" bIns="0" rtlCol="0" anchor="ctr"/>
          <a:lstStyle/>
          <a:p>
            <a:pPr indent="0" marL="0">
              <a:buNone/>
            </a:pPr>
            <a:r>
              <a:rPr lang="en-US" sz="1500" dirty="0">
                <a:solidFill>
                  <a:schemeClr val="bg1"/>
                </a:solidFill>
              </a:rPr>
              <a:t>Ask follow-ups in document-grounded chat</a:t>
            </a:r>
            <a:endParaRPr lang="en-US" sz="15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CHROME EXTENSION</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Grammarly for Contracts</a:t>
            </a:r>
            <a:endParaRPr lang="en-US" sz="3600" dirty="0"/>
          </a:p>
        </p:txBody>
      </p:sp>
      <p:sp>
        <p:nvSpPr>
          <p:cNvPr id="4" name="Browser mock"/>
          <p:cNvSpPr/>
          <p:nvPr/>
        </p:nvSpPr>
        <p:spPr>
          <a:xfrm>
            <a:off x="640080" y="1645920"/>
            <a:ext cx="6583680" cy="4434840"/>
          </a:xfrm>
          <a:prstGeom prst="roundRect">
            <a:avLst>
              <a:gd name="adj" fmla="val 2474"/>
            </a:avLst>
          </a:prstGeom>
          <a:solidFill>
            <a:schemeClr val="bg1"/>
          </a:solidFill>
          <a:ln w="12700">
            <a:solidFill>
              <a:srgbClr val="D6D3D1"/>
            </a:solidFill>
            <a:prstDash val="solid"/>
          </a:ln>
          <a:effectLst>
            <a:outerShdw sx="100000" sy="100000" kx="0" ky="0" algn="bl" rotWithShape="0" blurRad="203200" dist="63500" dir="5400000">
              <a:srgbClr val="000000">
                <a:alpha val="28000"/>
              </a:srgbClr>
            </a:outerShdw>
          </a:effectLst>
        </p:spPr>
      </p:sp>
      <p:sp>
        <p:nvSpPr>
          <p:cNvPr id="5" name="Browser bar"/>
          <p:cNvSpPr/>
          <p:nvPr/>
        </p:nvSpPr>
        <p:spPr>
          <a:xfrm>
            <a:off x="640080" y="1645920"/>
            <a:ext cx="6583680" cy="502920"/>
          </a:xfrm>
          <a:prstGeom prst="roundRect">
            <a:avLst>
              <a:gd name="adj" fmla="val 21818"/>
            </a:avLst>
          </a:prstGeom>
          <a:solidFill>
            <a:schemeClr val="bg2"/>
          </a:solidFill>
          <a:ln/>
        </p:spPr>
      </p:sp>
      <p:sp>
        <p:nvSpPr>
          <p:cNvPr id="6" name="Window dot"/>
          <p:cNvSpPr/>
          <p:nvPr/>
        </p:nvSpPr>
        <p:spPr>
          <a:xfrm>
            <a:off x="868680" y="1828800"/>
            <a:ext cx="137160" cy="137160"/>
          </a:xfrm>
          <a:prstGeom prst="ellipse">
            <a:avLst/>
          </a:prstGeom>
          <a:solidFill>
            <a:srgbClr val="D6D3D1"/>
          </a:solidFill>
          <a:ln/>
        </p:spPr>
      </p:sp>
      <p:sp>
        <p:nvSpPr>
          <p:cNvPr id="7" name="Window dot"/>
          <p:cNvSpPr/>
          <p:nvPr/>
        </p:nvSpPr>
        <p:spPr>
          <a:xfrm>
            <a:off x="1097280" y="1828800"/>
            <a:ext cx="137160" cy="137160"/>
          </a:xfrm>
          <a:prstGeom prst="ellipse">
            <a:avLst/>
          </a:prstGeom>
          <a:solidFill>
            <a:srgbClr val="D6D3D1"/>
          </a:solidFill>
          <a:ln/>
        </p:spPr>
      </p:sp>
      <p:sp>
        <p:nvSpPr>
          <p:cNvPr id="8" name="Window dot"/>
          <p:cNvSpPr/>
          <p:nvPr/>
        </p:nvSpPr>
        <p:spPr>
          <a:xfrm>
            <a:off x="1325880" y="1828800"/>
            <a:ext cx="137160" cy="137160"/>
          </a:xfrm>
          <a:prstGeom prst="ellipse">
            <a:avLst/>
          </a:prstGeom>
          <a:solidFill>
            <a:srgbClr val="D6D3D1"/>
          </a:solidFill>
          <a:ln/>
        </p:spPr>
      </p:sp>
      <p:sp>
        <p:nvSpPr>
          <p:cNvPr id="9" name="URL bar"/>
          <p:cNvSpPr/>
          <p:nvPr/>
        </p:nvSpPr>
        <p:spPr>
          <a:xfrm>
            <a:off x="1737360" y="1755648"/>
            <a:ext cx="4206240" cy="274320"/>
          </a:xfrm>
          <a:prstGeom prst="roundRect">
            <a:avLst>
              <a:gd name="adj" fmla="val 50000"/>
            </a:avLst>
          </a:prstGeom>
          <a:solidFill>
            <a:schemeClr val="bg1"/>
          </a:solidFill>
          <a:ln/>
        </p:spPr>
      </p:sp>
      <p:sp>
        <p:nvSpPr>
          <p:cNvPr id="10" name="URL"/>
          <p:cNvSpPr txBox="1"/>
          <p:nvPr/>
        </p:nvSpPr>
        <p:spPr>
          <a:xfrm>
            <a:off x="1965960" y="1755648"/>
            <a:ext cx="3840480" cy="274320"/>
          </a:xfrm>
          <a:prstGeom prst="rect">
            <a:avLst/>
          </a:prstGeom>
          <a:noFill/>
          <a:ln/>
        </p:spPr>
        <p:txBody>
          <a:bodyPr wrap="square" lIns="0" tIns="0" rIns="0" bIns="0" rtlCol="0" anchor="ctr"/>
          <a:lstStyle/>
          <a:p>
            <a:pPr indent="0" marL="0">
              <a:buNone/>
            </a:pPr>
            <a:r>
              <a:rPr lang="en-US" sz="1100" dirty="0">
                <a:solidFill>
                  <a:srgbClr val="57534E"/>
                </a:solidFill>
              </a:rPr>
              <a:t>example.com/terms-of-service</a:t>
            </a:r>
            <a:endParaRPr lang="en-US" sz="1100" dirty="0"/>
          </a:p>
        </p:txBody>
      </p:sp>
      <p:sp>
        <p:nvSpPr>
          <p:cNvPr id="11" name="Mock contract text"/>
          <p:cNvSpPr txBox="1"/>
          <p:nvPr/>
        </p:nvSpPr>
        <p:spPr>
          <a:xfrm>
            <a:off x="1005840" y="2423160"/>
            <a:ext cx="5852160" cy="1737360"/>
          </a:xfrm>
          <a:prstGeom prst="rect">
            <a:avLst/>
          </a:prstGeom>
          <a:noFill/>
          <a:ln/>
        </p:spPr>
        <p:txBody>
          <a:bodyPr wrap="square" lIns="0" tIns="0" rIns="0" bIns="0" rtlCol="0" anchor="t"/>
          <a:lstStyle/>
          <a:p>
            <a:pPr indent="0" marL="0">
              <a:lnSpc>
                <a:spcPct val="130000"/>
              </a:lnSpc>
              <a:buNone/>
            </a:pPr>
            <a:r>
              <a:rPr lang="en-US" sz="1700" dirty="0">
                <a:solidFill>
                  <a:schemeClr val="tx2"/>
                </a:solidFill>
              </a:rPr>
              <a:t>By using the Service you agree that the Company's </a:t>
            </a:r>
            <a:pPr indent="0" marL="0">
              <a:lnSpc>
                <a:spcPct val="130000"/>
              </a:lnSpc>
              <a:buNone/>
            </a:pPr>
            <a:r>
              <a:rPr lang="en-US" sz="1700" u="wavy" dirty="0">
                <a:solidFill>
                  <a:schemeClr val="tx2"/>
                </a:solidFill>
                <a:highlight>
                  <a:srgbClr val="FECACA"/>
                </a:highlight>
                <a:uFill>
                  <a:solidFill>
                    <a:srgbClr val="DC2626"/>
                  </a:solidFill>
                </a:uFill>
              </a:rPr>
              <a:t>liability is unlimited</a:t>
            </a:r>
            <a:pPr indent="0" marL="0">
              <a:lnSpc>
                <a:spcPct val="130000"/>
              </a:lnSpc>
              <a:buNone/>
            </a:pPr>
            <a:r>
              <a:rPr lang="en-US" sz="1700" dirty="0">
                <a:solidFill>
                  <a:schemeClr val="tx2"/>
                </a:solidFill>
              </a:rPr>
              <a:t>, and that your subscription will </a:t>
            </a:r>
            <a:pPr indent="0" marL="0">
              <a:lnSpc>
                <a:spcPct val="130000"/>
              </a:lnSpc>
              <a:buNone/>
            </a:pPr>
            <a:r>
              <a:rPr lang="en-US" sz="1700" u="wavy" dirty="0">
                <a:solidFill>
                  <a:schemeClr val="tx2"/>
                </a:solidFill>
                <a:highlight>
                  <a:srgbClr val="FED7AA"/>
                </a:highlight>
                <a:uFill>
                  <a:solidFill>
                    <a:srgbClr val="EA7B1A"/>
                  </a:solidFill>
                </a:uFill>
              </a:rPr>
              <a:t>auto-renew every 12 months</a:t>
            </a:r>
            <a:pPr indent="0" marL="0">
              <a:lnSpc>
                <a:spcPct val="130000"/>
              </a:lnSpc>
              <a:buNone/>
            </a:pPr>
            <a:r>
              <a:rPr lang="en-US" sz="1700" dirty="0">
                <a:solidFill>
                  <a:schemeClr val="tx2"/>
                </a:solidFill>
              </a:rPr>
              <a:t> unless cancelled in writing 90 days before renewal. You also grant the Company a </a:t>
            </a:r>
            <a:pPr indent="0" marL="0">
              <a:lnSpc>
                <a:spcPct val="130000"/>
              </a:lnSpc>
              <a:buNone/>
            </a:pPr>
            <a:r>
              <a:rPr lang="en-US" sz="1700" u="wavy" dirty="0">
                <a:solidFill>
                  <a:schemeClr val="tx2"/>
                </a:solidFill>
                <a:highlight>
                  <a:srgbClr val="FEF08A"/>
                </a:highlight>
                <a:uFill>
                  <a:solidFill>
                    <a:srgbClr val="E3B505"/>
                  </a:solidFill>
                </a:uFill>
              </a:rPr>
              <a:t>perpetual, irrevocable licence</a:t>
            </a:r>
            <a:pPr indent="0" marL="0">
              <a:lnSpc>
                <a:spcPct val="130000"/>
              </a:lnSpc>
              <a:buNone/>
            </a:pPr>
            <a:r>
              <a:rPr lang="en-US" sz="1700" dirty="0">
                <a:solidFill>
                  <a:schemeClr val="tx2"/>
                </a:solidFill>
              </a:rPr>
              <a:t> to everything you submit.</a:t>
            </a:r>
            <a:endParaRPr lang="en-US" sz="1700" dirty="0"/>
          </a:p>
        </p:txBody>
      </p:sp>
      <p:sp>
        <p:nvSpPr>
          <p:cNvPr id="12" name="Tooltip"/>
          <p:cNvSpPr/>
          <p:nvPr/>
        </p:nvSpPr>
        <p:spPr>
          <a:xfrm>
            <a:off x="1005840" y="4297680"/>
            <a:ext cx="4114800" cy="1554480"/>
          </a:xfrm>
          <a:prstGeom prst="roundRect">
            <a:avLst>
              <a:gd name="adj" fmla="val 7059"/>
            </a:avLst>
          </a:prstGeom>
          <a:solidFill>
            <a:schemeClr val="tx1"/>
          </a:solidFill>
          <a:ln/>
          <a:effectLst>
            <a:outerShdw sx="100000" sy="100000" kx="0" ky="0" algn="bl" rotWithShape="0" blurRad="203200" dist="63500" dir="5400000">
              <a:srgbClr val="000000">
                <a:alpha val="28000"/>
              </a:srgbClr>
            </a:outerShdw>
          </a:effectLst>
        </p:spPr>
      </p:sp>
      <p:sp>
        <p:nvSpPr>
          <p:cNvPr id="13" name="Pill HIGH"/>
          <p:cNvSpPr/>
          <p:nvPr/>
        </p:nvSpPr>
        <p:spPr>
          <a:xfrm>
            <a:off x="1234440" y="4480560"/>
            <a:ext cx="777240" cy="274320"/>
          </a:xfrm>
          <a:prstGeom prst="roundRect">
            <a:avLst>
              <a:gd name="adj" fmla="val 50000"/>
            </a:avLst>
          </a:prstGeom>
          <a:solidFill>
            <a:schemeClr val="accent3"/>
          </a:solidFill>
          <a:ln/>
        </p:spPr>
      </p:sp>
      <p:sp>
        <p:nvSpPr>
          <p:cNvPr id="14" name="Pill label HIGH"/>
          <p:cNvSpPr txBox="1"/>
          <p:nvPr/>
        </p:nvSpPr>
        <p:spPr>
          <a:xfrm>
            <a:off x="1234440" y="4480560"/>
            <a:ext cx="777240"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rPr>
              <a:t>HIGH</a:t>
            </a:r>
            <a:endParaRPr lang="en-US" sz="1000" dirty="0"/>
          </a:p>
        </p:txBody>
      </p:sp>
      <p:sp>
        <p:nvSpPr>
          <p:cNvPr id="15" name="Tooltip title"/>
          <p:cNvSpPr txBox="1"/>
          <p:nvPr/>
        </p:nvSpPr>
        <p:spPr>
          <a:xfrm>
            <a:off x="2148840" y="4480560"/>
            <a:ext cx="2834640" cy="274320"/>
          </a:xfrm>
          <a:prstGeom prst="rect">
            <a:avLst/>
          </a:prstGeom>
          <a:noFill/>
          <a:ln/>
        </p:spPr>
        <p:txBody>
          <a:bodyPr wrap="square" lIns="0" tIns="0" rIns="0" bIns="0" rtlCol="0" anchor="ctr"/>
          <a:lstStyle/>
          <a:p>
            <a:pPr indent="0" marL="0">
              <a:buNone/>
            </a:pPr>
            <a:r>
              <a:rPr lang="en-US" sz="1500" b="1" dirty="0">
                <a:solidFill>
                  <a:schemeClr val="bg1"/>
                </a:solidFill>
              </a:rPr>
              <a:t>Auto-renewal with 90-day notice</a:t>
            </a:r>
            <a:endParaRPr lang="en-US" sz="1500" dirty="0"/>
          </a:p>
        </p:txBody>
      </p:sp>
      <p:sp>
        <p:nvSpPr>
          <p:cNvPr id="16" name="Tooltip text"/>
          <p:cNvSpPr txBox="1"/>
          <p:nvPr/>
        </p:nvSpPr>
        <p:spPr>
          <a:xfrm>
            <a:off x="1234440" y="4892040"/>
            <a:ext cx="3657600" cy="868680"/>
          </a:xfrm>
          <a:prstGeom prst="rect">
            <a:avLst/>
          </a:prstGeom>
          <a:noFill/>
          <a:ln/>
        </p:spPr>
        <p:txBody>
          <a:bodyPr wrap="square" lIns="0" tIns="0" rIns="0" bIns="0" rtlCol="0" anchor="t"/>
          <a:lstStyle/>
          <a:p>
            <a:pPr indent="0" marL="0">
              <a:buNone/>
            </a:pPr>
            <a:r>
              <a:rPr lang="en-US" sz="1500" dirty="0">
                <a:solidFill>
                  <a:schemeClr val="bg2"/>
                </a:solidFill>
              </a:rPr>
              <a:t>Locks you in for another term if you miss the window. Safer: 30 days' notice by email.</a:t>
            </a:r>
            <a:endParaRPr lang="en-US" sz="1500" dirty="0"/>
          </a:p>
        </p:txBody>
      </p:sp>
      <p:sp>
        <p:nvSpPr>
          <p:cNvPr id="17" name="Page risk card"/>
          <p:cNvSpPr/>
          <p:nvPr/>
        </p:nvSpPr>
        <p:spPr>
          <a:xfrm>
            <a:off x="5349240" y="4297680"/>
            <a:ext cx="1508760" cy="1554480"/>
          </a:xfrm>
          <a:prstGeom prst="roundRect">
            <a:avLst>
              <a:gd name="adj" fmla="val 7273"/>
            </a:avLst>
          </a:prstGeom>
          <a:solidFill>
            <a:schemeClr val="bg2"/>
          </a:solidFill>
          <a:ln/>
        </p:spPr>
      </p:sp>
      <p:sp>
        <p:nvSpPr>
          <p:cNvPr id="18" name="Page risk"/>
          <p:cNvSpPr txBox="1"/>
          <p:nvPr/>
        </p:nvSpPr>
        <p:spPr>
          <a:xfrm>
            <a:off x="5349240" y="4434840"/>
            <a:ext cx="1508760" cy="777240"/>
          </a:xfrm>
          <a:prstGeom prst="rect">
            <a:avLst/>
          </a:prstGeom>
          <a:noFill/>
          <a:ln/>
        </p:spPr>
        <p:txBody>
          <a:bodyPr wrap="square" lIns="0" tIns="0" rIns="0" bIns="0" rtlCol="0" anchor="ctr"/>
          <a:lstStyle/>
          <a:p>
            <a:pPr algn="ctr" indent="0" marL="0">
              <a:buNone/>
            </a:pPr>
            <a:r>
              <a:rPr lang="en-US" sz="4000" b="1" dirty="0">
                <a:solidFill>
                  <a:schemeClr val="accent3"/>
                </a:solidFill>
                <a:latin typeface="+mj-lt" pitchFamily="34" charset="0"/>
                <a:ea typeface="+mj-lt" pitchFamily="34" charset="-122"/>
                <a:cs typeface="+mj-lt" pitchFamily="34" charset="-120"/>
              </a:rPr>
              <a:t>72</a:t>
            </a:r>
            <a:endParaRPr lang="en-US" sz="4000" dirty="0"/>
          </a:p>
        </p:txBody>
      </p:sp>
      <p:sp>
        <p:nvSpPr>
          <p:cNvPr id="19" name="Page risk label"/>
          <p:cNvSpPr txBox="1"/>
          <p:nvPr/>
        </p:nvSpPr>
        <p:spPr>
          <a:xfrm>
            <a:off x="5349240" y="5257800"/>
            <a:ext cx="1508760" cy="274320"/>
          </a:xfrm>
          <a:prstGeom prst="rect">
            <a:avLst/>
          </a:prstGeom>
          <a:noFill/>
          <a:ln/>
        </p:spPr>
        <p:txBody>
          <a:bodyPr wrap="square" lIns="0" tIns="0" rIns="0" bIns="0" rtlCol="0" anchor="t"/>
          <a:lstStyle/>
          <a:p>
            <a:pPr algn="ctr" indent="0" marL="0">
              <a:buNone/>
            </a:pPr>
            <a:r>
              <a:rPr lang="en-US" sz="1000" b="1" spc="200" kern="0" dirty="0">
                <a:solidFill>
                  <a:srgbClr val="57534E"/>
                </a:solidFill>
              </a:rPr>
              <a:t>PAGE RISK</a:t>
            </a:r>
            <a:endParaRPr lang="en-US" sz="1000" dirty="0"/>
          </a:p>
        </p:txBody>
      </p:sp>
      <p:sp>
        <p:nvSpPr>
          <p:cNvPr id="20" name="Extension feature badge"/>
          <p:cNvSpPr/>
          <p:nvPr/>
        </p:nvSpPr>
        <p:spPr>
          <a:xfrm>
            <a:off x="7589520" y="1783080"/>
            <a:ext cx="548640" cy="548640"/>
          </a:xfrm>
          <a:prstGeom prst="ellipse">
            <a:avLst/>
          </a:prstGeom>
          <a:solidFill>
            <a:schemeClr val="tx1"/>
          </a:solidFill>
          <a:ln/>
        </p:spPr>
      </p:sp>
      <p:pic>
        <p:nvPicPr>
          <p:cNvPr id="21" name="Image 0" descr="Extension feature">    </p:cNvPr>
          <p:cNvPicPr>
            <a:picLocks noChangeAspect="1"/>
          </p:cNvPicPr>
          <p:nvPr/>
        </p:nvPicPr>
        <p:blipFill>
          <a:blip r:embed="rId1"/>
          <a:stretch>
            <a:fillRect/>
          </a:stretch>
        </p:blipFill>
        <p:spPr>
          <a:xfrm>
            <a:off x="7737653" y="1931213"/>
            <a:ext cx="252374" cy="252374"/>
          </a:xfrm>
          <a:prstGeom prst="rect">
            <a:avLst/>
          </a:prstGeom>
        </p:spPr>
      </p:pic>
      <p:sp>
        <p:nvSpPr>
          <p:cNvPr id="22" name="Extension feature text"/>
          <p:cNvSpPr txBox="1"/>
          <p:nvPr/>
        </p:nvSpPr>
        <p:spPr>
          <a:xfrm>
            <a:off x="8321040" y="1691640"/>
            <a:ext cx="3227832" cy="731520"/>
          </a:xfrm>
          <a:prstGeom prst="rect">
            <a:avLst/>
          </a:prstGeom>
          <a:noFill/>
          <a:ln/>
        </p:spPr>
        <p:txBody>
          <a:bodyPr wrap="square" lIns="0" tIns="0" rIns="0" bIns="0" rtlCol="0" anchor="ctr"/>
          <a:lstStyle/>
          <a:p>
            <a:pPr indent="0" marL="0">
              <a:buNone/>
            </a:pPr>
            <a:r>
              <a:rPr lang="en-US" sz="1400" dirty="0">
                <a:solidFill>
                  <a:schemeClr val="tx1"/>
                </a:solidFill>
              </a:rPr>
              <a:t>Wavy underlines flag risky clauses: red, orange or yellow by severity</a:t>
            </a:r>
            <a:endParaRPr lang="en-US" sz="1400" dirty="0"/>
          </a:p>
        </p:txBody>
      </p:sp>
      <p:sp>
        <p:nvSpPr>
          <p:cNvPr id="23" name="Extension feature badge"/>
          <p:cNvSpPr/>
          <p:nvPr/>
        </p:nvSpPr>
        <p:spPr>
          <a:xfrm>
            <a:off x="7589520" y="2670048"/>
            <a:ext cx="548640" cy="548640"/>
          </a:xfrm>
          <a:prstGeom prst="ellipse">
            <a:avLst/>
          </a:prstGeom>
          <a:solidFill>
            <a:schemeClr val="tx1"/>
          </a:solidFill>
          <a:ln/>
        </p:spPr>
      </p:sp>
      <p:pic>
        <p:nvPicPr>
          <p:cNvPr id="24" name="Image 1" descr="Extension feature">    </p:cNvPr>
          <p:cNvPicPr>
            <a:picLocks noChangeAspect="1"/>
          </p:cNvPicPr>
          <p:nvPr/>
        </p:nvPicPr>
        <p:blipFill>
          <a:blip r:embed="rId2"/>
          <a:stretch>
            <a:fillRect/>
          </a:stretch>
        </p:blipFill>
        <p:spPr>
          <a:xfrm>
            <a:off x="7737653" y="2818181"/>
            <a:ext cx="252374" cy="252374"/>
          </a:xfrm>
          <a:prstGeom prst="rect">
            <a:avLst/>
          </a:prstGeom>
        </p:spPr>
      </p:pic>
      <p:sp>
        <p:nvSpPr>
          <p:cNvPr id="25" name="Extension feature text"/>
          <p:cNvSpPr txBox="1"/>
          <p:nvPr/>
        </p:nvSpPr>
        <p:spPr>
          <a:xfrm>
            <a:off x="8321040" y="2578608"/>
            <a:ext cx="3227832" cy="731520"/>
          </a:xfrm>
          <a:prstGeom prst="rect">
            <a:avLst/>
          </a:prstGeom>
          <a:noFill/>
          <a:ln/>
        </p:spPr>
        <p:txBody>
          <a:bodyPr wrap="square" lIns="0" tIns="0" rIns="0" bIns="0" rtlCol="0" anchor="ctr"/>
          <a:lstStyle/>
          <a:p>
            <a:pPr indent="0" marL="0">
              <a:buNone/>
            </a:pPr>
            <a:r>
              <a:rPr lang="en-US" sz="1400" dirty="0">
                <a:solidFill>
                  <a:schemeClr val="tx1"/>
                </a:solidFill>
              </a:rPr>
              <a:t>Hover tooltips give the plain-English meaning and safer wording</a:t>
            </a:r>
            <a:endParaRPr lang="en-US" sz="1400" dirty="0"/>
          </a:p>
        </p:txBody>
      </p:sp>
      <p:sp>
        <p:nvSpPr>
          <p:cNvPr id="26" name="Extension feature badge"/>
          <p:cNvSpPr/>
          <p:nvPr/>
        </p:nvSpPr>
        <p:spPr>
          <a:xfrm>
            <a:off x="7589520" y="3557016"/>
            <a:ext cx="548640" cy="548640"/>
          </a:xfrm>
          <a:prstGeom prst="ellipse">
            <a:avLst/>
          </a:prstGeom>
          <a:solidFill>
            <a:schemeClr val="tx1"/>
          </a:solidFill>
          <a:ln/>
        </p:spPr>
      </p:sp>
      <p:pic>
        <p:nvPicPr>
          <p:cNvPr id="27" name="Image 2" descr="Extension feature">    </p:cNvPr>
          <p:cNvPicPr>
            <a:picLocks noChangeAspect="1"/>
          </p:cNvPicPr>
          <p:nvPr/>
        </p:nvPicPr>
        <p:blipFill>
          <a:blip r:embed="rId3"/>
          <a:stretch>
            <a:fillRect/>
          </a:stretch>
        </p:blipFill>
        <p:spPr>
          <a:xfrm>
            <a:off x="7737653" y="3705149"/>
            <a:ext cx="252374" cy="252374"/>
          </a:xfrm>
          <a:prstGeom prst="rect">
            <a:avLst/>
          </a:prstGeom>
        </p:spPr>
      </p:pic>
      <p:sp>
        <p:nvSpPr>
          <p:cNvPr id="28" name="Extension feature text"/>
          <p:cNvSpPr txBox="1"/>
          <p:nvPr/>
        </p:nvSpPr>
        <p:spPr>
          <a:xfrm>
            <a:off x="8321040" y="3465576"/>
            <a:ext cx="3227832" cy="731520"/>
          </a:xfrm>
          <a:prstGeom prst="rect">
            <a:avLst/>
          </a:prstGeom>
          <a:noFill/>
          <a:ln/>
        </p:spPr>
        <p:txBody>
          <a:bodyPr wrap="square" lIns="0" tIns="0" rIns="0" bIns="0" rtlCol="0" anchor="ctr"/>
          <a:lstStyle/>
          <a:p>
            <a:pPr indent="0" marL="0">
              <a:buNone/>
            </a:pPr>
            <a:r>
              <a:rPr lang="en-US" sz="1400" dirty="0">
                <a:solidFill>
                  <a:schemeClr val="tx1"/>
                </a:solidFill>
              </a:rPr>
              <a:t>The popup shows the page's aggregate risk index</a:t>
            </a:r>
            <a:endParaRPr lang="en-US" sz="1400" dirty="0"/>
          </a:p>
        </p:txBody>
      </p:sp>
      <p:sp>
        <p:nvSpPr>
          <p:cNvPr id="29" name="Extension feature badge"/>
          <p:cNvSpPr/>
          <p:nvPr/>
        </p:nvSpPr>
        <p:spPr>
          <a:xfrm>
            <a:off x="7589520" y="4443984"/>
            <a:ext cx="548640" cy="548640"/>
          </a:xfrm>
          <a:prstGeom prst="ellipse">
            <a:avLst/>
          </a:prstGeom>
          <a:solidFill>
            <a:schemeClr val="tx1"/>
          </a:solidFill>
          <a:ln/>
        </p:spPr>
      </p:sp>
      <p:pic>
        <p:nvPicPr>
          <p:cNvPr id="30" name="Image 3" descr="Extension feature">    </p:cNvPr>
          <p:cNvPicPr>
            <a:picLocks noChangeAspect="1"/>
          </p:cNvPicPr>
          <p:nvPr/>
        </p:nvPicPr>
        <p:blipFill>
          <a:blip r:embed="rId4"/>
          <a:stretch>
            <a:fillRect/>
          </a:stretch>
        </p:blipFill>
        <p:spPr>
          <a:xfrm>
            <a:off x="7737653" y="4592117"/>
            <a:ext cx="252374" cy="252374"/>
          </a:xfrm>
          <a:prstGeom prst="rect">
            <a:avLst/>
          </a:prstGeom>
        </p:spPr>
      </p:pic>
      <p:sp>
        <p:nvSpPr>
          <p:cNvPr id="31" name="Extension feature text"/>
          <p:cNvSpPr txBox="1"/>
          <p:nvPr/>
        </p:nvSpPr>
        <p:spPr>
          <a:xfrm>
            <a:off x="8321040" y="4352544"/>
            <a:ext cx="3227832" cy="731520"/>
          </a:xfrm>
          <a:prstGeom prst="rect">
            <a:avLst/>
          </a:prstGeom>
          <a:noFill/>
          <a:ln/>
        </p:spPr>
        <p:txBody>
          <a:bodyPr wrap="square" lIns="0" tIns="0" rIns="0" bIns="0" rtlCol="0" anchor="ctr"/>
          <a:lstStyle/>
          <a:p>
            <a:pPr indent="0" marL="0">
              <a:buNone/>
            </a:pPr>
            <a:r>
              <a:rPr lang="en-US" sz="1400" dirty="0">
                <a:solidFill>
                  <a:schemeClr val="tx1"/>
                </a:solidFill>
              </a:rPr>
              <a:t>Manifest V3: lightweight content script and service worker</a:t>
            </a:r>
            <a:endParaRPr lang="en-US" sz="1400" dirty="0"/>
          </a:p>
        </p:txBody>
      </p:sp>
      <p:sp>
        <p:nvSpPr>
          <p:cNvPr id="32" name="Shortcut Ctrl + Shift + B"/>
          <p:cNvSpPr/>
          <p:nvPr/>
        </p:nvSpPr>
        <p:spPr>
          <a:xfrm>
            <a:off x="7589520" y="5349240"/>
            <a:ext cx="1874520" cy="731520"/>
          </a:xfrm>
          <a:prstGeom prst="roundRect">
            <a:avLst>
              <a:gd name="adj" fmla="val 15000"/>
            </a:avLst>
          </a:prstGeom>
          <a:solidFill>
            <a:schemeClr val="tx1"/>
          </a:solidFill>
          <a:ln/>
        </p:spPr>
      </p:sp>
      <p:sp>
        <p:nvSpPr>
          <p:cNvPr id="33" name="Shortcut keys"/>
          <p:cNvSpPr txBox="1"/>
          <p:nvPr/>
        </p:nvSpPr>
        <p:spPr>
          <a:xfrm>
            <a:off x="7589520" y="5422392"/>
            <a:ext cx="1874520" cy="320040"/>
          </a:xfrm>
          <a:prstGeom prst="rect">
            <a:avLst/>
          </a:prstGeom>
          <a:noFill/>
          <a:ln/>
        </p:spPr>
        <p:txBody>
          <a:bodyPr wrap="square" lIns="0" tIns="0" rIns="0" bIns="0" rtlCol="0" anchor="ctr"/>
          <a:lstStyle/>
          <a:p>
            <a:pPr algn="ctr" indent="0" marL="0">
              <a:buNone/>
            </a:pPr>
            <a:r>
              <a:rPr lang="en-US" sz="1300" b="1" dirty="0">
                <a:solidFill>
                  <a:schemeClr val="accent1"/>
                </a:solidFill>
              </a:rPr>
              <a:t>Ctrl + Shift + B</a:t>
            </a:r>
            <a:endParaRPr lang="en-US" sz="1300" dirty="0"/>
          </a:p>
        </p:txBody>
      </p:sp>
      <p:sp>
        <p:nvSpPr>
          <p:cNvPr id="34" name="Shortcut action"/>
          <p:cNvSpPr txBox="1"/>
          <p:nvPr/>
        </p:nvSpPr>
        <p:spPr>
          <a:xfrm>
            <a:off x="7589520" y="5742432"/>
            <a:ext cx="1874520" cy="274320"/>
          </a:xfrm>
          <a:prstGeom prst="rect">
            <a:avLst/>
          </a:prstGeom>
          <a:noFill/>
          <a:ln/>
        </p:spPr>
        <p:txBody>
          <a:bodyPr wrap="square" lIns="0" tIns="0" rIns="0" bIns="0" rtlCol="0" anchor="ctr"/>
          <a:lstStyle/>
          <a:p>
            <a:pPr algn="ctr" indent="0" marL="0">
              <a:buNone/>
            </a:pPr>
            <a:r>
              <a:rPr lang="en-US" sz="1200" dirty="0">
                <a:solidFill>
                  <a:srgbClr val="A8A29E"/>
                </a:solidFill>
              </a:rPr>
              <a:t>Re-analyse page</a:t>
            </a:r>
            <a:endParaRPr lang="en-US" sz="1200" dirty="0"/>
          </a:p>
        </p:txBody>
      </p:sp>
      <p:sp>
        <p:nvSpPr>
          <p:cNvPr id="35" name="Shortcut Ctrl + Shift + H"/>
          <p:cNvSpPr/>
          <p:nvPr/>
        </p:nvSpPr>
        <p:spPr>
          <a:xfrm>
            <a:off x="9601200" y="5349240"/>
            <a:ext cx="1874520" cy="731520"/>
          </a:xfrm>
          <a:prstGeom prst="roundRect">
            <a:avLst>
              <a:gd name="adj" fmla="val 15000"/>
            </a:avLst>
          </a:prstGeom>
          <a:solidFill>
            <a:schemeClr val="tx1"/>
          </a:solidFill>
          <a:ln/>
        </p:spPr>
      </p:sp>
      <p:sp>
        <p:nvSpPr>
          <p:cNvPr id="36" name="Shortcut keys"/>
          <p:cNvSpPr txBox="1"/>
          <p:nvPr/>
        </p:nvSpPr>
        <p:spPr>
          <a:xfrm>
            <a:off x="9601200" y="5422392"/>
            <a:ext cx="1874520" cy="320040"/>
          </a:xfrm>
          <a:prstGeom prst="rect">
            <a:avLst/>
          </a:prstGeom>
          <a:noFill/>
          <a:ln/>
        </p:spPr>
        <p:txBody>
          <a:bodyPr wrap="square" lIns="0" tIns="0" rIns="0" bIns="0" rtlCol="0" anchor="ctr"/>
          <a:lstStyle/>
          <a:p>
            <a:pPr algn="ctr" indent="0" marL="0">
              <a:buNone/>
            </a:pPr>
            <a:r>
              <a:rPr lang="en-US" sz="1300" b="1" dirty="0">
                <a:solidFill>
                  <a:schemeClr val="accent1"/>
                </a:solidFill>
              </a:rPr>
              <a:t>Ctrl + Shift + H</a:t>
            </a:r>
            <a:endParaRPr lang="en-US" sz="1300" dirty="0"/>
          </a:p>
        </p:txBody>
      </p:sp>
      <p:sp>
        <p:nvSpPr>
          <p:cNvPr id="37" name="Shortcut action"/>
          <p:cNvSpPr txBox="1"/>
          <p:nvPr/>
        </p:nvSpPr>
        <p:spPr>
          <a:xfrm>
            <a:off x="9601200" y="5742432"/>
            <a:ext cx="1874520" cy="274320"/>
          </a:xfrm>
          <a:prstGeom prst="rect">
            <a:avLst/>
          </a:prstGeom>
          <a:noFill/>
          <a:ln/>
        </p:spPr>
        <p:txBody>
          <a:bodyPr wrap="square" lIns="0" tIns="0" rIns="0" bIns="0" rtlCol="0" anchor="ctr"/>
          <a:lstStyle/>
          <a:p>
            <a:pPr algn="ctr" indent="0" marL="0">
              <a:buNone/>
            </a:pPr>
            <a:r>
              <a:rPr lang="en-US" sz="1200" dirty="0">
                <a:solidFill>
                  <a:srgbClr val="A8A29E"/>
                </a:solidFill>
              </a:rPr>
              <a:t>Toggle highlights</a:t>
            </a:r>
            <a:endParaRPr lang="en-US" sz="12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TRUST</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Privacy &amp; Security by Design</a:t>
            </a:r>
            <a:endParaRPr lang="en-US" sz="3600" dirty="0"/>
          </a:p>
        </p:txBody>
      </p:sp>
      <p:sp>
        <p:nvSpPr>
          <p:cNvPr id="4" name="Security Transient processing"/>
          <p:cNvSpPr/>
          <p:nvPr/>
        </p:nvSpPr>
        <p:spPr>
          <a:xfrm>
            <a:off x="640080" y="1691640"/>
            <a:ext cx="5321808" cy="2011680"/>
          </a:xfrm>
          <a:prstGeom prst="roundRect">
            <a:avLst>
              <a:gd name="adj" fmla="val 5455"/>
            </a:avLst>
          </a:prstGeom>
          <a:solidFill>
            <a:schemeClr val="bg2"/>
          </a:solidFill>
          <a:ln/>
        </p:spPr>
      </p:sp>
      <p:sp>
        <p:nvSpPr>
          <p:cNvPr id="5" name="Transient processing badge"/>
          <p:cNvSpPr/>
          <p:nvPr/>
        </p:nvSpPr>
        <p:spPr>
          <a:xfrm>
            <a:off x="960120" y="2057400"/>
            <a:ext cx="731520" cy="731520"/>
          </a:xfrm>
          <a:prstGeom prst="ellipse">
            <a:avLst/>
          </a:prstGeom>
          <a:solidFill>
            <a:schemeClr val="tx1"/>
          </a:solidFill>
          <a:ln/>
        </p:spPr>
      </p:sp>
      <p:pic>
        <p:nvPicPr>
          <p:cNvPr id="6" name="Image 0" descr="Transient processing">    </p:cNvPr>
          <p:cNvPicPr>
            <a:picLocks noChangeAspect="1"/>
          </p:cNvPicPr>
          <p:nvPr/>
        </p:nvPicPr>
        <p:blipFill>
          <a:blip r:embed="rId1"/>
          <a:stretch>
            <a:fillRect/>
          </a:stretch>
        </p:blipFill>
        <p:spPr>
          <a:xfrm>
            <a:off x="1157630" y="2254910"/>
            <a:ext cx="336499" cy="336499"/>
          </a:xfrm>
          <a:prstGeom prst="rect">
            <a:avLst/>
          </a:prstGeom>
        </p:spPr>
      </p:pic>
      <p:sp>
        <p:nvSpPr>
          <p:cNvPr id="7" name="Security title"/>
          <p:cNvSpPr txBox="1"/>
          <p:nvPr/>
        </p:nvSpPr>
        <p:spPr>
          <a:xfrm>
            <a:off x="1965960" y="1965960"/>
            <a:ext cx="3749040" cy="365760"/>
          </a:xfrm>
          <a:prstGeom prst="rect">
            <a:avLst/>
          </a:prstGeom>
          <a:noFill/>
          <a:ln/>
        </p:spPr>
        <p:txBody>
          <a:bodyPr wrap="square" lIns="0" tIns="0" rIns="0" bIns="0" rtlCol="0" anchor="t"/>
          <a:lstStyle/>
          <a:p>
            <a:pPr indent="0" marL="0">
              <a:buNone/>
            </a:pPr>
            <a:r>
              <a:rPr lang="en-US" sz="2000" b="1" dirty="0">
                <a:solidFill>
                  <a:schemeClr val="tx1"/>
                </a:solidFill>
              </a:rPr>
              <a:t>Transient processing</a:t>
            </a:r>
            <a:endParaRPr lang="en-US" sz="2000" dirty="0"/>
          </a:p>
        </p:txBody>
      </p:sp>
      <p:sp>
        <p:nvSpPr>
          <p:cNvPr id="8" name="Security text"/>
          <p:cNvSpPr txBox="1"/>
          <p:nvPr/>
        </p:nvSpPr>
        <p:spPr>
          <a:xfrm>
            <a:off x="1965960" y="2423160"/>
            <a:ext cx="3749040" cy="1143000"/>
          </a:xfrm>
          <a:prstGeom prst="rect">
            <a:avLst/>
          </a:prstGeom>
          <a:noFill/>
          <a:ln/>
        </p:spPr>
        <p:txBody>
          <a:bodyPr wrap="square" lIns="0" tIns="0" rIns="0" bIns="0" rtlCol="0" anchor="t"/>
          <a:lstStyle/>
          <a:p>
            <a:pPr indent="0" marL="0">
              <a:buNone/>
            </a:pPr>
            <a:r>
              <a:rPr lang="en-US" sz="1500" dirty="0">
                <a:solidFill>
                  <a:srgbClr val="57534E"/>
                </a:solidFill>
              </a:rPr>
              <a:t>Contract text is analysed in memory and not retained unless a signed-in user chooses to save it.</a:t>
            </a:r>
            <a:endParaRPr lang="en-US" sz="1500" dirty="0"/>
          </a:p>
        </p:txBody>
      </p:sp>
      <p:sp>
        <p:nvSpPr>
          <p:cNvPr id="9" name="Security Client-side PDF engine"/>
          <p:cNvSpPr/>
          <p:nvPr/>
        </p:nvSpPr>
        <p:spPr>
          <a:xfrm>
            <a:off x="6227064" y="1691640"/>
            <a:ext cx="5321808" cy="2011680"/>
          </a:xfrm>
          <a:prstGeom prst="roundRect">
            <a:avLst>
              <a:gd name="adj" fmla="val 5455"/>
            </a:avLst>
          </a:prstGeom>
          <a:solidFill>
            <a:schemeClr val="bg2"/>
          </a:solidFill>
          <a:ln/>
        </p:spPr>
      </p:sp>
      <p:sp>
        <p:nvSpPr>
          <p:cNvPr id="10" name="Client-side PDF engine badge"/>
          <p:cNvSpPr/>
          <p:nvPr/>
        </p:nvSpPr>
        <p:spPr>
          <a:xfrm>
            <a:off x="6547104" y="2057400"/>
            <a:ext cx="731520" cy="731520"/>
          </a:xfrm>
          <a:prstGeom prst="ellipse">
            <a:avLst/>
          </a:prstGeom>
          <a:solidFill>
            <a:schemeClr val="tx1"/>
          </a:solidFill>
          <a:ln/>
        </p:spPr>
      </p:sp>
      <p:pic>
        <p:nvPicPr>
          <p:cNvPr id="11" name="Image 1" descr="Client-side PDF engine">    </p:cNvPr>
          <p:cNvPicPr>
            <a:picLocks noChangeAspect="1"/>
          </p:cNvPicPr>
          <p:nvPr/>
        </p:nvPicPr>
        <p:blipFill>
          <a:blip r:embed="rId2"/>
          <a:stretch>
            <a:fillRect/>
          </a:stretch>
        </p:blipFill>
        <p:spPr>
          <a:xfrm>
            <a:off x="6744614" y="2254910"/>
            <a:ext cx="336499" cy="336499"/>
          </a:xfrm>
          <a:prstGeom prst="rect">
            <a:avLst/>
          </a:prstGeom>
        </p:spPr>
      </p:pic>
      <p:sp>
        <p:nvSpPr>
          <p:cNvPr id="12" name="Security title"/>
          <p:cNvSpPr txBox="1"/>
          <p:nvPr/>
        </p:nvSpPr>
        <p:spPr>
          <a:xfrm>
            <a:off x="7552944" y="1965960"/>
            <a:ext cx="3749040" cy="365760"/>
          </a:xfrm>
          <a:prstGeom prst="rect">
            <a:avLst/>
          </a:prstGeom>
          <a:noFill/>
          <a:ln/>
        </p:spPr>
        <p:txBody>
          <a:bodyPr wrap="square" lIns="0" tIns="0" rIns="0" bIns="0" rtlCol="0" anchor="t"/>
          <a:lstStyle/>
          <a:p>
            <a:pPr indent="0" marL="0">
              <a:buNone/>
            </a:pPr>
            <a:r>
              <a:rPr lang="en-US" sz="2000" b="1" dirty="0">
                <a:solidFill>
                  <a:schemeClr val="tx1"/>
                </a:solidFill>
              </a:rPr>
              <a:t>Client-side PDF engine</a:t>
            </a:r>
            <a:endParaRPr lang="en-US" sz="2000" dirty="0"/>
          </a:p>
        </p:txBody>
      </p:sp>
      <p:sp>
        <p:nvSpPr>
          <p:cNvPr id="13" name="Security text"/>
          <p:cNvSpPr txBox="1"/>
          <p:nvPr/>
        </p:nvSpPr>
        <p:spPr>
          <a:xfrm>
            <a:off x="7552944" y="2423160"/>
            <a:ext cx="3749040" cy="1143000"/>
          </a:xfrm>
          <a:prstGeom prst="rect">
            <a:avLst/>
          </a:prstGeom>
          <a:noFill/>
          <a:ln/>
        </p:spPr>
        <p:txBody>
          <a:bodyPr wrap="square" lIns="0" tIns="0" rIns="0" bIns="0" rtlCol="0" anchor="t"/>
          <a:lstStyle/>
          <a:p>
            <a:pPr indent="0" marL="0">
              <a:buNone/>
            </a:pPr>
            <a:r>
              <a:rPr lang="en-US" sz="1500" dirty="0">
                <a:solidFill>
                  <a:srgbClr val="57534E"/>
                </a:solidFill>
              </a:rPr>
              <a:t>Merge, split and rotate run in the browser with pdf-lib and Canvas, so files never leave the device.</a:t>
            </a:r>
            <a:endParaRPr lang="en-US" sz="1500" dirty="0"/>
          </a:p>
        </p:txBody>
      </p:sp>
      <p:sp>
        <p:nvSpPr>
          <p:cNvPr id="14" name="Security Secret isolation"/>
          <p:cNvSpPr/>
          <p:nvPr/>
        </p:nvSpPr>
        <p:spPr>
          <a:xfrm>
            <a:off x="640080" y="3886200"/>
            <a:ext cx="5321808" cy="2011680"/>
          </a:xfrm>
          <a:prstGeom prst="roundRect">
            <a:avLst>
              <a:gd name="adj" fmla="val 5455"/>
            </a:avLst>
          </a:prstGeom>
          <a:solidFill>
            <a:schemeClr val="bg2"/>
          </a:solidFill>
          <a:ln/>
        </p:spPr>
      </p:sp>
      <p:sp>
        <p:nvSpPr>
          <p:cNvPr id="15" name="Secret isolation badge"/>
          <p:cNvSpPr/>
          <p:nvPr/>
        </p:nvSpPr>
        <p:spPr>
          <a:xfrm>
            <a:off x="960120" y="4251960"/>
            <a:ext cx="731520" cy="731520"/>
          </a:xfrm>
          <a:prstGeom prst="ellipse">
            <a:avLst/>
          </a:prstGeom>
          <a:solidFill>
            <a:schemeClr val="tx1"/>
          </a:solidFill>
          <a:ln/>
        </p:spPr>
      </p:sp>
      <p:pic>
        <p:nvPicPr>
          <p:cNvPr id="16" name="Image 2" descr="Secret isolation">    </p:cNvPr>
          <p:cNvPicPr>
            <a:picLocks noChangeAspect="1"/>
          </p:cNvPicPr>
          <p:nvPr/>
        </p:nvPicPr>
        <p:blipFill>
          <a:blip r:embed="rId3"/>
          <a:stretch>
            <a:fillRect/>
          </a:stretch>
        </p:blipFill>
        <p:spPr>
          <a:xfrm>
            <a:off x="1157630" y="4449470"/>
            <a:ext cx="336499" cy="336499"/>
          </a:xfrm>
          <a:prstGeom prst="rect">
            <a:avLst/>
          </a:prstGeom>
        </p:spPr>
      </p:pic>
      <p:sp>
        <p:nvSpPr>
          <p:cNvPr id="17" name="Security title"/>
          <p:cNvSpPr txBox="1"/>
          <p:nvPr/>
        </p:nvSpPr>
        <p:spPr>
          <a:xfrm>
            <a:off x="1965960" y="4160520"/>
            <a:ext cx="3749040" cy="365760"/>
          </a:xfrm>
          <a:prstGeom prst="rect">
            <a:avLst/>
          </a:prstGeom>
          <a:noFill/>
          <a:ln/>
        </p:spPr>
        <p:txBody>
          <a:bodyPr wrap="square" lIns="0" tIns="0" rIns="0" bIns="0" rtlCol="0" anchor="t"/>
          <a:lstStyle/>
          <a:p>
            <a:pPr indent="0" marL="0">
              <a:buNone/>
            </a:pPr>
            <a:r>
              <a:rPr lang="en-US" sz="2000" b="1" dirty="0">
                <a:solidFill>
                  <a:schemeClr val="tx1"/>
                </a:solidFill>
              </a:rPr>
              <a:t>Secret isolation</a:t>
            </a:r>
            <a:endParaRPr lang="en-US" sz="2000" dirty="0"/>
          </a:p>
        </p:txBody>
      </p:sp>
      <p:sp>
        <p:nvSpPr>
          <p:cNvPr id="18" name="Security text"/>
          <p:cNvSpPr txBox="1"/>
          <p:nvPr/>
        </p:nvSpPr>
        <p:spPr>
          <a:xfrm>
            <a:off x="1965960" y="4617720"/>
            <a:ext cx="3749040" cy="1143000"/>
          </a:xfrm>
          <a:prstGeom prst="rect">
            <a:avLst/>
          </a:prstGeom>
          <a:noFill/>
          <a:ln/>
        </p:spPr>
        <p:txBody>
          <a:bodyPr wrap="square" lIns="0" tIns="0" rIns="0" bIns="0" rtlCol="0" anchor="t"/>
          <a:lstStyle/>
          <a:p>
            <a:pPr indent="0" marL="0">
              <a:buNone/>
            </a:pPr>
            <a:r>
              <a:rPr lang="en-US" sz="1500" dirty="0">
                <a:solidFill>
                  <a:srgbClr val="57534E"/>
                </a:solidFill>
              </a:rPr>
              <a:t>NVIDIA, Google and Supabase keys stay on the server; every third-party call goes through route handlers.</a:t>
            </a:r>
            <a:endParaRPr lang="en-US" sz="1500" dirty="0"/>
          </a:p>
        </p:txBody>
      </p:sp>
      <p:sp>
        <p:nvSpPr>
          <p:cNvPr id="19" name="Security Tamper-evident signing"/>
          <p:cNvSpPr/>
          <p:nvPr/>
        </p:nvSpPr>
        <p:spPr>
          <a:xfrm>
            <a:off x="6227064" y="3886200"/>
            <a:ext cx="5321808" cy="2011680"/>
          </a:xfrm>
          <a:prstGeom prst="roundRect">
            <a:avLst>
              <a:gd name="adj" fmla="val 5455"/>
            </a:avLst>
          </a:prstGeom>
          <a:solidFill>
            <a:schemeClr val="bg2"/>
          </a:solidFill>
          <a:ln/>
        </p:spPr>
      </p:sp>
      <p:sp>
        <p:nvSpPr>
          <p:cNvPr id="20" name="Tamper-evident signing badge"/>
          <p:cNvSpPr/>
          <p:nvPr/>
        </p:nvSpPr>
        <p:spPr>
          <a:xfrm>
            <a:off x="6547104" y="4251960"/>
            <a:ext cx="731520" cy="731520"/>
          </a:xfrm>
          <a:prstGeom prst="ellipse">
            <a:avLst/>
          </a:prstGeom>
          <a:solidFill>
            <a:schemeClr val="tx1"/>
          </a:solidFill>
          <a:ln/>
        </p:spPr>
      </p:sp>
      <p:pic>
        <p:nvPicPr>
          <p:cNvPr id="21" name="Image 3" descr="Tamper-evident signing">    </p:cNvPr>
          <p:cNvPicPr>
            <a:picLocks noChangeAspect="1"/>
          </p:cNvPicPr>
          <p:nvPr/>
        </p:nvPicPr>
        <p:blipFill>
          <a:blip r:embed="rId4"/>
          <a:stretch>
            <a:fillRect/>
          </a:stretch>
        </p:blipFill>
        <p:spPr>
          <a:xfrm>
            <a:off x="6744614" y="4449470"/>
            <a:ext cx="336499" cy="336499"/>
          </a:xfrm>
          <a:prstGeom prst="rect">
            <a:avLst/>
          </a:prstGeom>
        </p:spPr>
      </p:pic>
      <p:sp>
        <p:nvSpPr>
          <p:cNvPr id="22" name="Security title"/>
          <p:cNvSpPr txBox="1"/>
          <p:nvPr/>
        </p:nvSpPr>
        <p:spPr>
          <a:xfrm>
            <a:off x="7552944" y="4160520"/>
            <a:ext cx="3749040" cy="365760"/>
          </a:xfrm>
          <a:prstGeom prst="rect">
            <a:avLst/>
          </a:prstGeom>
          <a:noFill/>
          <a:ln/>
        </p:spPr>
        <p:txBody>
          <a:bodyPr wrap="square" lIns="0" tIns="0" rIns="0" bIns="0" rtlCol="0" anchor="t"/>
          <a:lstStyle/>
          <a:p>
            <a:pPr indent="0" marL="0">
              <a:buNone/>
            </a:pPr>
            <a:r>
              <a:rPr lang="en-US" sz="2000" b="1" dirty="0">
                <a:solidFill>
                  <a:schemeClr val="tx1"/>
                </a:solidFill>
              </a:rPr>
              <a:t>Tamper-evident signing</a:t>
            </a:r>
            <a:endParaRPr lang="en-US" sz="2000" dirty="0"/>
          </a:p>
        </p:txBody>
      </p:sp>
      <p:sp>
        <p:nvSpPr>
          <p:cNvPr id="23" name="Security text"/>
          <p:cNvSpPr txBox="1"/>
          <p:nvPr/>
        </p:nvSpPr>
        <p:spPr>
          <a:xfrm>
            <a:off x="7552944" y="4617720"/>
            <a:ext cx="3749040" cy="1143000"/>
          </a:xfrm>
          <a:prstGeom prst="rect">
            <a:avLst/>
          </a:prstGeom>
          <a:noFill/>
          <a:ln/>
        </p:spPr>
        <p:txBody>
          <a:bodyPr wrap="square" lIns="0" tIns="0" rIns="0" bIns="0" rtlCol="0" anchor="t"/>
          <a:lstStyle/>
          <a:p>
            <a:pPr indent="0" marL="0">
              <a:buNone/>
            </a:pPr>
            <a:r>
              <a:rPr lang="en-US" sz="1500" dirty="0">
                <a:solidFill>
                  <a:srgbClr val="57534E"/>
                </a:solidFill>
              </a:rPr>
              <a:t>Executed documents are hashed with SHA-256 in the browser, so any later change is detectable.</a:t>
            </a:r>
            <a:endParaRPr lang="en-US" sz="15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ENGINEERING</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Technology Stack</a:t>
            </a:r>
            <a:endParaRPr lang="en-US" sz="3600" dirty="0"/>
          </a:p>
        </p:txBody>
      </p:sp>
      <p:graphicFrame>
        <p:nvGraphicFramePr>
          <p:cNvPr id="22" name="Tech stack table"/>
          <p:cNvGraphicFramePr>
            <a:graphicFrameLocks noGrp="1"/>
          </p:cNvGraphicFramePr>
          <p:nvPr>
            <p:extLst>
              <p:ext uri="{D42A27DB-BD31-4B8C-83A1-F6EECF244321}">
                <p14:modId xmlns:p14="http://schemas.microsoft.com/office/powerpoint/2010/main" val="1579011935"/>
              </p:ext>
            </p:extLst>
          </p:nvPr>
        </p:nvGraphicFramePr>
        <p:xfrm>
          <a:off x="640080" y="1600200"/>
          <a:ext cx="10911535" cy="914400"/>
        </p:xfrm>
        <a:graphic>
          <a:graphicData uri="http://schemas.openxmlformats.org/drawingml/2006/table">
            <a:tbl>
              <a:tblPr/>
              <a:tblGrid>
                <a:gridCol w="2011680"/>
                <a:gridCol w="4937760"/>
                <a:gridCol w="3959352"/>
              </a:tblGrid>
              <a:tr h="411480">
                <a:tc>
                  <a:txBody>
                    <a:bodyPr/>
                    <a:lstStyle/>
                    <a:p>
                      <a:pPr indent="0" marL="0">
                        <a:buNone/>
                      </a:pPr>
                      <a:r>
                        <a:rPr lang="en-US" sz="1300" b="1" dirty="0">
                          <a:solidFill>
                            <a:srgbClr val="FFFFFF"/>
                          </a:solidFill>
                        </a:rPr>
                        <a:t>LAYER</a:t>
                      </a:r>
                      <a:endParaRPr lang="en-US" sz="13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1C1917"/>
                    </a:solidFill>
                  </a:tcPr>
                </a:tc>
                <a:tc>
                  <a:txBody>
                    <a:bodyPr/>
                    <a:lstStyle/>
                    <a:p>
                      <a:pPr indent="0" marL="0">
                        <a:buNone/>
                      </a:pPr>
                      <a:r>
                        <a:rPr lang="en-US" sz="1300" b="1" dirty="0">
                          <a:solidFill>
                            <a:srgbClr val="FFFFFF"/>
                          </a:solidFill>
                        </a:rPr>
                        <a:t>TECHNOLOGIES</a:t>
                      </a:r>
                      <a:endParaRPr lang="en-US" sz="13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1C1917"/>
                    </a:solidFill>
                  </a:tcPr>
                </a:tc>
                <a:tc>
                  <a:txBody>
                    <a:bodyPr/>
                    <a:lstStyle/>
                    <a:p>
                      <a:pPr indent="0" marL="0">
                        <a:buNone/>
                      </a:pPr>
                      <a:r>
                        <a:rPr lang="en-US" sz="1300" b="1" dirty="0">
                          <a:solidFill>
                            <a:srgbClr val="FFFFFF"/>
                          </a:solidFill>
                        </a:rPr>
                        <a:t>WHY IT FITS</a:t>
                      </a:r>
                      <a:endParaRPr lang="en-US" sz="13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1C1917"/>
                    </a:solidFill>
                  </a:tcPr>
                </a:tc>
              </a:tr>
              <a:tr h="566928">
                <a:tc>
                  <a:txBody>
                    <a:bodyPr/>
                    <a:lstStyle/>
                    <a:p>
                      <a:pPr indent="0" marL="0">
                        <a:buNone/>
                      </a:pPr>
                      <a:r>
                        <a:rPr lang="en-US" sz="1400" b="1" dirty="0">
                          <a:solidFill>
                            <a:srgbClr val="1C1917"/>
                          </a:solidFill>
                        </a:rPr>
                        <a:t>Frontend</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4F4F5"/>
                    </a:solidFill>
                  </a:tcPr>
                </a:tc>
                <a:tc>
                  <a:txBody>
                    <a:bodyPr/>
                    <a:lstStyle/>
                    <a:p>
                      <a:pPr indent="0" marL="0">
                        <a:buNone/>
                      </a:pPr>
                      <a:r>
                        <a:rPr lang="en-US" sz="1400" dirty="0">
                          <a:solidFill>
                            <a:srgbClr val="1C1917"/>
                          </a:solidFill>
                        </a:rPr>
                        <a:t>Next.js 16 · React 19 · TypeScript 5 · Tailwind CSS v4</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4F4F5"/>
                    </a:solidFill>
                  </a:tcPr>
                </a:tc>
                <a:tc>
                  <a:txBody>
                    <a:bodyPr/>
                    <a:lstStyle/>
                    <a:p>
                      <a:pPr indent="0" marL="0">
                        <a:buNone/>
                      </a:pPr>
                      <a:r>
                        <a:rPr lang="en-US" sz="1400" dirty="0">
                          <a:solidFill>
                            <a:srgbClr val="57534E"/>
                          </a:solidFill>
                        </a:rPr>
                        <a:t>Server components, fast rendering, type safety</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4F4F5"/>
                    </a:solidFill>
                  </a:tcPr>
                </a:tc>
              </a:tr>
              <a:tr h="566928">
                <a:tc>
                  <a:txBody>
                    <a:bodyPr/>
                    <a:lstStyle/>
                    <a:p>
                      <a:pPr indent="0" marL="0">
                        <a:buNone/>
                      </a:pPr>
                      <a:r>
                        <a:rPr lang="en-US" sz="1400" b="1" dirty="0">
                          <a:solidFill>
                            <a:srgbClr val="1C1917"/>
                          </a:solidFill>
                        </a:rPr>
                        <a:t>Generative AI</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1C1917"/>
                          </a:solidFill>
                        </a:rPr>
                        <a:t>NVIDIA NIM (Llama 3.3 70B, 3.1 8B) · Google Gemini</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57534E"/>
                          </a:solidFill>
                        </a:rPr>
                        <a:t>Strong reasoning, OpenAI-compatible SDK, fallback</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400" b="1" dirty="0">
                          <a:solidFill>
                            <a:srgbClr val="1C1917"/>
                          </a:solidFill>
                        </a:rPr>
                        <a:t>Local ML</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4F4F5"/>
                    </a:solidFill>
                  </a:tcPr>
                </a:tc>
                <a:tc>
                  <a:txBody>
                    <a:bodyPr/>
                    <a:lstStyle/>
                    <a:p>
                      <a:pPr indent="0" marL="0">
                        <a:buNone/>
                      </a:pPr>
                      <a:r>
                        <a:rPr lang="en-US" sz="1400" dirty="0">
                          <a:solidFill>
                            <a:srgbClr val="1C1917"/>
                          </a:solidFill>
                        </a:rPr>
                        <a:t>Transformers.js (ONNX) · all-MiniLM-L6-v2</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4F4F5"/>
                    </a:solidFill>
                  </a:tcPr>
                </a:tc>
                <a:tc>
                  <a:txBody>
                    <a:bodyPr/>
                    <a:lstStyle/>
                    <a:p>
                      <a:pPr indent="0" marL="0">
                        <a:buNone/>
                      </a:pPr>
                      <a:r>
                        <a:rPr lang="en-US" sz="1400" dirty="0">
                          <a:solidFill>
                            <a:srgbClr val="57534E"/>
                          </a:solidFill>
                        </a:rPr>
                        <a:t>Zero-API-cost 384-d embeddings in Node.js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4F4F5"/>
                    </a:solidFill>
                  </a:tcPr>
                </a:tc>
              </a:tr>
              <a:tr h="566928">
                <a:tc>
                  <a:txBody>
                    <a:bodyPr/>
                    <a:lstStyle/>
                    <a:p>
                      <a:pPr indent="0" marL="0">
                        <a:buNone/>
                      </a:pPr>
                      <a:r>
                        <a:rPr lang="en-US" sz="1400" b="1" dirty="0">
                          <a:solidFill>
                            <a:srgbClr val="1C1917"/>
                          </a:solidFill>
                        </a:rPr>
                        <a:t>Documents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1C1917"/>
                          </a:solidFill>
                        </a:rPr>
                        <a:t>pdf-lib · pdf-parse · mammoth · docx · jsPDF</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57534E"/>
                          </a:solidFill>
                        </a:rPr>
                        <a:t>Reliable parsing and export of PDF and Word</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400" b="1" dirty="0">
                          <a:solidFill>
                            <a:srgbClr val="1C1917"/>
                          </a:solidFill>
                        </a:rPr>
                        <a:t>Data</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4F4F5"/>
                    </a:solidFill>
                  </a:tcPr>
                </a:tc>
                <a:tc>
                  <a:txBody>
                    <a:bodyPr/>
                    <a:lstStyle/>
                    <a:p>
                      <a:pPr indent="0" marL="0">
                        <a:buNone/>
                      </a:pPr>
                      <a:r>
                        <a:rPr lang="en-US" sz="1400" dirty="0">
                          <a:solidFill>
                            <a:srgbClr val="1C1917"/>
                          </a:solidFill>
                        </a:rPr>
                        <a:t>Prisma ORM · PostgreSQL (Supabase)</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4F4F5"/>
                    </a:solidFill>
                  </a:tcPr>
                </a:tc>
                <a:tc>
                  <a:txBody>
                    <a:bodyPr/>
                    <a:lstStyle/>
                    <a:p>
                      <a:pPr indent="0" marL="0">
                        <a:buNone/>
                      </a:pPr>
                      <a:r>
                        <a:rPr lang="en-US" sz="1400" dirty="0">
                          <a:solidFill>
                            <a:srgbClr val="57534E"/>
                          </a:solidFill>
                        </a:rPr>
                        <a:t>Type-safe queries, relational integrity</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4F4F5"/>
                    </a:solidFill>
                  </a:tcPr>
                </a:tc>
              </a:tr>
              <a:tr h="566928">
                <a:tc>
                  <a:txBody>
                    <a:bodyPr/>
                    <a:lstStyle/>
                    <a:p>
                      <a:pPr indent="0" marL="0">
                        <a:buNone/>
                      </a:pPr>
                      <a:r>
                        <a:rPr lang="en-US" sz="1400" b="1" dirty="0">
                          <a:solidFill>
                            <a:srgbClr val="1C1917"/>
                          </a:solidFill>
                        </a:rPr>
                        <a:t>Auth</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1C1917"/>
                          </a:solidFill>
                        </a:rPr>
                        <a:t>Clerk · NextAuth.js</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57534E"/>
                          </a:solidFill>
                        </a:rPr>
                        <a:t>Session security and OAuth</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400" b="1" dirty="0">
                          <a:solidFill>
                            <a:srgbClr val="1C1917"/>
                          </a:solidFill>
                        </a:rPr>
                        <a:t>Quality &amp; deploy</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4F4F5"/>
                    </a:solidFill>
                  </a:tcPr>
                </a:tc>
                <a:tc>
                  <a:txBody>
                    <a:bodyPr/>
                    <a:lstStyle/>
                    <a:p>
                      <a:pPr indent="0" marL="0">
                        <a:buNone/>
                      </a:pPr>
                      <a:r>
                        <a:rPr lang="en-US" sz="1400" dirty="0">
                          <a:solidFill>
                            <a:srgbClr val="1C1917"/>
                          </a:solidFill>
                        </a:rPr>
                        <a:t>Playwright · ESLint 9 · Vercel</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4F4F5"/>
                    </a:solidFill>
                  </a:tcPr>
                </a:tc>
                <a:tc>
                  <a:txBody>
                    <a:bodyPr/>
                    <a:lstStyle/>
                    <a:p>
                      <a:pPr indent="0" marL="0">
                        <a:buNone/>
                      </a:pPr>
                      <a:r>
                        <a:rPr lang="en-US" sz="1400" dirty="0">
                          <a:solidFill>
                            <a:srgbClr val="57534E"/>
                          </a:solidFill>
                        </a:rPr>
                        <a:t>Automated checks, simple production hosting</a:t>
                      </a:r>
                      <a:endParaRPr lang="en-US" sz="1400" dirty="0"/>
                    </a:p>
                  </a:txBody>
                  <a:tcPr marL="137160" marR="137160" marT="45720" marB="45720" anchor="ctr">
                    <a:lnL w="0" cap="flat" cmpd="sng" algn="ctr">
                      <a:noFill/>
                    </a:lnL>
                    <a:lnR w="0" cap="flat" cmpd="sng" algn="ctr">
                      <a:noFill/>
                    </a:lnR>
                    <a:lnT w="0" cap="flat" cmpd="sng" algn="ctr">
                      <a:noFill/>
                    </a:lnT>
                    <a:lnB w="0" cap="flat" cmpd="sng" algn="ctr">
                      <a:noFill/>
                    </a:lnB>
                    <a:solidFill>
                      <a:srgbClr val="F4F4F5"/>
                    </a:solidFill>
                  </a:tcPr>
                </a:tc>
              </a:tr>
            </a:tbl>
          </a:graphicData>
        </a:graphic>
      </p:graphicFrame>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ENGINEERING</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Engineering by the Numbers</a:t>
            </a:r>
            <a:endParaRPr lang="en-US" sz="3600" dirty="0"/>
          </a:p>
        </p:txBody>
      </p:sp>
      <p:sp>
        <p:nvSpPr>
          <p:cNvPr id="4" name="Metric App pages"/>
          <p:cNvSpPr/>
          <p:nvPr/>
        </p:nvSpPr>
        <p:spPr>
          <a:xfrm>
            <a:off x="640080" y="1645920"/>
            <a:ext cx="3454298" cy="2057400"/>
          </a:xfrm>
          <a:prstGeom prst="roundRect">
            <a:avLst>
              <a:gd name="adj" fmla="val 5333"/>
            </a:avLst>
          </a:prstGeom>
          <a:solidFill>
            <a:schemeClr val="bg2"/>
          </a:solidFill>
          <a:ln/>
        </p:spPr>
      </p:sp>
      <p:sp>
        <p:nvSpPr>
          <p:cNvPr id="5" name="Metric value"/>
          <p:cNvSpPr txBox="1"/>
          <p:nvPr/>
        </p:nvSpPr>
        <p:spPr>
          <a:xfrm>
            <a:off x="960120" y="1874520"/>
            <a:ext cx="2194560" cy="914400"/>
          </a:xfrm>
          <a:prstGeom prst="rect">
            <a:avLst/>
          </a:prstGeom>
          <a:noFill/>
          <a:ln/>
        </p:spPr>
        <p:txBody>
          <a:bodyPr wrap="square" lIns="0" tIns="0" rIns="0" bIns="0" rtlCol="0" anchor="ctr"/>
          <a:lstStyle/>
          <a:p>
            <a:pPr indent="0" marL="0">
              <a:buNone/>
            </a:pPr>
            <a:r>
              <a:rPr lang="en-US" sz="5400" b="1" dirty="0">
                <a:solidFill>
                  <a:schemeClr val="tx1"/>
                </a:solidFill>
                <a:latin typeface="+mj-lt" pitchFamily="34" charset="0"/>
                <a:ea typeface="+mj-lt" pitchFamily="34" charset="-122"/>
                <a:cs typeface="+mj-lt" pitchFamily="34" charset="-120"/>
              </a:rPr>
              <a:t>48</a:t>
            </a:r>
            <a:endParaRPr lang="en-US" sz="5400" dirty="0"/>
          </a:p>
        </p:txBody>
      </p:sp>
      <p:sp>
        <p:nvSpPr>
          <p:cNvPr id="6" name="App pages badge"/>
          <p:cNvSpPr/>
          <p:nvPr/>
        </p:nvSpPr>
        <p:spPr>
          <a:xfrm>
            <a:off x="3225698" y="1965960"/>
            <a:ext cx="548640" cy="548640"/>
          </a:xfrm>
          <a:prstGeom prst="ellipse">
            <a:avLst/>
          </a:prstGeom>
          <a:solidFill>
            <a:schemeClr val="tx1"/>
          </a:solidFill>
          <a:ln/>
        </p:spPr>
      </p:sp>
      <p:pic>
        <p:nvPicPr>
          <p:cNvPr id="7" name="Image 0" descr="App pages">    </p:cNvPr>
          <p:cNvPicPr>
            <a:picLocks noChangeAspect="1"/>
          </p:cNvPicPr>
          <p:nvPr/>
        </p:nvPicPr>
        <p:blipFill>
          <a:blip r:embed="rId1"/>
          <a:stretch>
            <a:fillRect/>
          </a:stretch>
        </p:blipFill>
        <p:spPr>
          <a:xfrm>
            <a:off x="3373831" y="2114093"/>
            <a:ext cx="252374" cy="252374"/>
          </a:xfrm>
          <a:prstGeom prst="rect">
            <a:avLst/>
          </a:prstGeom>
        </p:spPr>
      </p:pic>
      <p:sp>
        <p:nvSpPr>
          <p:cNvPr id="8" name="Metric label"/>
          <p:cNvSpPr txBox="1"/>
          <p:nvPr/>
        </p:nvSpPr>
        <p:spPr>
          <a:xfrm>
            <a:off x="960120" y="2834640"/>
            <a:ext cx="2814218" cy="365760"/>
          </a:xfrm>
          <a:prstGeom prst="rect">
            <a:avLst/>
          </a:prstGeom>
          <a:noFill/>
          <a:ln/>
        </p:spPr>
        <p:txBody>
          <a:bodyPr wrap="square" lIns="0" tIns="0" rIns="0" bIns="0" rtlCol="0" anchor="t"/>
          <a:lstStyle/>
          <a:p>
            <a:pPr indent="0" marL="0">
              <a:buNone/>
            </a:pPr>
            <a:r>
              <a:rPr lang="en-US" sz="1800" b="1" dirty="0">
                <a:solidFill>
                  <a:schemeClr val="tx1"/>
                </a:solidFill>
              </a:rPr>
              <a:t>App pages</a:t>
            </a:r>
            <a:endParaRPr lang="en-US" sz="1800" dirty="0"/>
          </a:p>
        </p:txBody>
      </p:sp>
      <p:sp>
        <p:nvSpPr>
          <p:cNvPr id="9" name="Metric note"/>
          <p:cNvSpPr txBox="1"/>
          <p:nvPr/>
        </p:nvSpPr>
        <p:spPr>
          <a:xfrm>
            <a:off x="960120" y="3218688"/>
            <a:ext cx="2814218" cy="320040"/>
          </a:xfrm>
          <a:prstGeom prst="rect">
            <a:avLst/>
          </a:prstGeom>
          <a:noFill/>
          <a:ln/>
        </p:spPr>
        <p:txBody>
          <a:bodyPr wrap="square" lIns="0" tIns="0" rIns="0" bIns="0" rtlCol="0" anchor="t"/>
          <a:lstStyle/>
          <a:p>
            <a:pPr indent="0" marL="0">
              <a:buNone/>
            </a:pPr>
            <a:r>
              <a:rPr lang="en-US" sz="1400" dirty="0">
                <a:solidFill>
                  <a:srgbClr val="57534E"/>
                </a:solidFill>
              </a:rPr>
              <a:t>routes in the Next.js App Router</a:t>
            </a:r>
            <a:endParaRPr lang="en-US" sz="1400" dirty="0"/>
          </a:p>
        </p:txBody>
      </p:sp>
      <p:sp>
        <p:nvSpPr>
          <p:cNvPr id="10" name="Metric REST endpoints"/>
          <p:cNvSpPr/>
          <p:nvPr/>
        </p:nvSpPr>
        <p:spPr>
          <a:xfrm>
            <a:off x="4368698" y="1645920"/>
            <a:ext cx="3454298" cy="2057400"/>
          </a:xfrm>
          <a:prstGeom prst="roundRect">
            <a:avLst>
              <a:gd name="adj" fmla="val 5333"/>
            </a:avLst>
          </a:prstGeom>
          <a:solidFill>
            <a:schemeClr val="bg2"/>
          </a:solidFill>
          <a:ln/>
        </p:spPr>
      </p:sp>
      <p:sp>
        <p:nvSpPr>
          <p:cNvPr id="11" name="Metric value"/>
          <p:cNvSpPr txBox="1"/>
          <p:nvPr/>
        </p:nvSpPr>
        <p:spPr>
          <a:xfrm>
            <a:off x="4688738" y="1874520"/>
            <a:ext cx="2194560" cy="914400"/>
          </a:xfrm>
          <a:prstGeom prst="rect">
            <a:avLst/>
          </a:prstGeom>
          <a:noFill/>
          <a:ln/>
        </p:spPr>
        <p:txBody>
          <a:bodyPr wrap="square" lIns="0" tIns="0" rIns="0" bIns="0" rtlCol="0" anchor="ctr"/>
          <a:lstStyle/>
          <a:p>
            <a:pPr indent="0" marL="0">
              <a:buNone/>
            </a:pPr>
            <a:r>
              <a:rPr lang="en-US" sz="5400" b="1" dirty="0">
                <a:solidFill>
                  <a:schemeClr val="tx1"/>
                </a:solidFill>
                <a:latin typeface="+mj-lt" pitchFamily="34" charset="0"/>
                <a:ea typeface="+mj-lt" pitchFamily="34" charset="-122"/>
                <a:cs typeface="+mj-lt" pitchFamily="34" charset="-120"/>
              </a:rPr>
              <a:t>32</a:t>
            </a:r>
            <a:endParaRPr lang="en-US" sz="5400" dirty="0"/>
          </a:p>
        </p:txBody>
      </p:sp>
      <p:sp>
        <p:nvSpPr>
          <p:cNvPr id="12" name="REST endpoints badge"/>
          <p:cNvSpPr/>
          <p:nvPr/>
        </p:nvSpPr>
        <p:spPr>
          <a:xfrm>
            <a:off x="6954317" y="1965960"/>
            <a:ext cx="548640" cy="548640"/>
          </a:xfrm>
          <a:prstGeom prst="ellipse">
            <a:avLst/>
          </a:prstGeom>
          <a:solidFill>
            <a:schemeClr val="tx1"/>
          </a:solidFill>
          <a:ln/>
        </p:spPr>
      </p:sp>
      <p:pic>
        <p:nvPicPr>
          <p:cNvPr id="13" name="Image 1" descr="REST endpoints">    </p:cNvPr>
          <p:cNvPicPr>
            <a:picLocks noChangeAspect="1"/>
          </p:cNvPicPr>
          <p:nvPr/>
        </p:nvPicPr>
        <p:blipFill>
          <a:blip r:embed="rId2"/>
          <a:stretch>
            <a:fillRect/>
          </a:stretch>
        </p:blipFill>
        <p:spPr>
          <a:xfrm>
            <a:off x="7102450" y="2114093"/>
            <a:ext cx="252374" cy="252374"/>
          </a:xfrm>
          <a:prstGeom prst="rect">
            <a:avLst/>
          </a:prstGeom>
        </p:spPr>
      </p:pic>
      <p:sp>
        <p:nvSpPr>
          <p:cNvPr id="14" name="Metric label"/>
          <p:cNvSpPr txBox="1"/>
          <p:nvPr/>
        </p:nvSpPr>
        <p:spPr>
          <a:xfrm>
            <a:off x="4688738" y="2834640"/>
            <a:ext cx="2814218" cy="365760"/>
          </a:xfrm>
          <a:prstGeom prst="rect">
            <a:avLst/>
          </a:prstGeom>
          <a:noFill/>
          <a:ln/>
        </p:spPr>
        <p:txBody>
          <a:bodyPr wrap="square" lIns="0" tIns="0" rIns="0" bIns="0" rtlCol="0" anchor="t"/>
          <a:lstStyle/>
          <a:p>
            <a:pPr indent="0" marL="0">
              <a:buNone/>
            </a:pPr>
            <a:r>
              <a:rPr lang="en-US" sz="1800" b="1" dirty="0">
                <a:solidFill>
                  <a:schemeClr val="tx1"/>
                </a:solidFill>
              </a:rPr>
              <a:t>REST endpoints</a:t>
            </a:r>
            <a:endParaRPr lang="en-US" sz="1800" dirty="0"/>
          </a:p>
        </p:txBody>
      </p:sp>
      <p:sp>
        <p:nvSpPr>
          <p:cNvPr id="15" name="Metric note"/>
          <p:cNvSpPr txBox="1"/>
          <p:nvPr/>
        </p:nvSpPr>
        <p:spPr>
          <a:xfrm>
            <a:off x="4688738" y="3218688"/>
            <a:ext cx="2814218" cy="320040"/>
          </a:xfrm>
          <a:prstGeom prst="rect">
            <a:avLst/>
          </a:prstGeom>
          <a:noFill/>
          <a:ln/>
        </p:spPr>
        <p:txBody>
          <a:bodyPr wrap="square" lIns="0" tIns="0" rIns="0" bIns="0" rtlCol="0" anchor="t"/>
          <a:lstStyle/>
          <a:p>
            <a:pPr indent="0" marL="0">
              <a:buNone/>
            </a:pPr>
            <a:r>
              <a:rPr lang="en-US" sz="1400" dirty="0">
                <a:solidFill>
                  <a:srgbClr val="57534E"/>
                </a:solidFill>
              </a:rPr>
              <a:t>serverless /api route handlers</a:t>
            </a:r>
            <a:endParaRPr lang="en-US" sz="1400" dirty="0"/>
          </a:p>
        </p:txBody>
      </p:sp>
      <p:sp>
        <p:nvSpPr>
          <p:cNvPr id="16" name="Metric UI components"/>
          <p:cNvSpPr/>
          <p:nvPr/>
        </p:nvSpPr>
        <p:spPr>
          <a:xfrm>
            <a:off x="8097317" y="1645920"/>
            <a:ext cx="3454298" cy="2057400"/>
          </a:xfrm>
          <a:prstGeom prst="roundRect">
            <a:avLst>
              <a:gd name="adj" fmla="val 5333"/>
            </a:avLst>
          </a:prstGeom>
          <a:solidFill>
            <a:schemeClr val="bg2"/>
          </a:solidFill>
          <a:ln/>
        </p:spPr>
      </p:sp>
      <p:sp>
        <p:nvSpPr>
          <p:cNvPr id="17" name="Metric value"/>
          <p:cNvSpPr txBox="1"/>
          <p:nvPr/>
        </p:nvSpPr>
        <p:spPr>
          <a:xfrm>
            <a:off x="8417357" y="1874520"/>
            <a:ext cx="2194560" cy="914400"/>
          </a:xfrm>
          <a:prstGeom prst="rect">
            <a:avLst/>
          </a:prstGeom>
          <a:noFill/>
          <a:ln/>
        </p:spPr>
        <p:txBody>
          <a:bodyPr wrap="square" lIns="0" tIns="0" rIns="0" bIns="0" rtlCol="0" anchor="ctr"/>
          <a:lstStyle/>
          <a:p>
            <a:pPr indent="0" marL="0">
              <a:buNone/>
            </a:pPr>
            <a:r>
              <a:rPr lang="en-US" sz="5400" b="1" dirty="0">
                <a:solidFill>
                  <a:schemeClr val="tx1"/>
                </a:solidFill>
                <a:latin typeface="+mj-lt" pitchFamily="34" charset="0"/>
                <a:ea typeface="+mj-lt" pitchFamily="34" charset="-122"/>
                <a:cs typeface="+mj-lt" pitchFamily="34" charset="-120"/>
              </a:rPr>
              <a:t>53</a:t>
            </a:r>
            <a:endParaRPr lang="en-US" sz="5400" dirty="0"/>
          </a:p>
        </p:txBody>
      </p:sp>
      <p:sp>
        <p:nvSpPr>
          <p:cNvPr id="18" name="UI components badge"/>
          <p:cNvSpPr/>
          <p:nvPr/>
        </p:nvSpPr>
        <p:spPr>
          <a:xfrm>
            <a:off x="10682935" y="1965960"/>
            <a:ext cx="548640" cy="548640"/>
          </a:xfrm>
          <a:prstGeom prst="ellipse">
            <a:avLst/>
          </a:prstGeom>
          <a:solidFill>
            <a:schemeClr val="tx1"/>
          </a:solidFill>
          <a:ln/>
        </p:spPr>
      </p:sp>
      <p:pic>
        <p:nvPicPr>
          <p:cNvPr id="19" name="Image 2" descr="UI components">    </p:cNvPr>
          <p:cNvPicPr>
            <a:picLocks noChangeAspect="1"/>
          </p:cNvPicPr>
          <p:nvPr/>
        </p:nvPicPr>
        <p:blipFill>
          <a:blip r:embed="rId3"/>
          <a:stretch>
            <a:fillRect/>
          </a:stretch>
        </p:blipFill>
        <p:spPr>
          <a:xfrm>
            <a:off x="10831068" y="2114093"/>
            <a:ext cx="252374" cy="252374"/>
          </a:xfrm>
          <a:prstGeom prst="rect">
            <a:avLst/>
          </a:prstGeom>
        </p:spPr>
      </p:pic>
      <p:sp>
        <p:nvSpPr>
          <p:cNvPr id="20" name="Metric label"/>
          <p:cNvSpPr txBox="1"/>
          <p:nvPr/>
        </p:nvSpPr>
        <p:spPr>
          <a:xfrm>
            <a:off x="8417357" y="2834640"/>
            <a:ext cx="2814218" cy="365760"/>
          </a:xfrm>
          <a:prstGeom prst="rect">
            <a:avLst/>
          </a:prstGeom>
          <a:noFill/>
          <a:ln/>
        </p:spPr>
        <p:txBody>
          <a:bodyPr wrap="square" lIns="0" tIns="0" rIns="0" bIns="0" rtlCol="0" anchor="t"/>
          <a:lstStyle/>
          <a:p>
            <a:pPr indent="0" marL="0">
              <a:buNone/>
            </a:pPr>
            <a:r>
              <a:rPr lang="en-US" sz="1800" b="1" dirty="0">
                <a:solidFill>
                  <a:schemeClr val="tx1"/>
                </a:solidFill>
              </a:rPr>
              <a:t>UI components</a:t>
            </a:r>
            <a:endParaRPr lang="en-US" sz="1800" dirty="0"/>
          </a:p>
        </p:txBody>
      </p:sp>
      <p:sp>
        <p:nvSpPr>
          <p:cNvPr id="21" name="Metric note"/>
          <p:cNvSpPr txBox="1"/>
          <p:nvPr/>
        </p:nvSpPr>
        <p:spPr>
          <a:xfrm>
            <a:off x="8417357" y="3218688"/>
            <a:ext cx="2814218" cy="320040"/>
          </a:xfrm>
          <a:prstGeom prst="rect">
            <a:avLst/>
          </a:prstGeom>
          <a:noFill/>
          <a:ln/>
        </p:spPr>
        <p:txBody>
          <a:bodyPr wrap="square" lIns="0" tIns="0" rIns="0" bIns="0" rtlCol="0" anchor="t"/>
          <a:lstStyle/>
          <a:p>
            <a:pPr indent="0" marL="0">
              <a:buNone/>
            </a:pPr>
            <a:r>
              <a:rPr lang="en-US" sz="1400" dirty="0">
                <a:solidFill>
                  <a:srgbClr val="57534E"/>
                </a:solidFill>
              </a:rPr>
              <a:t>reusable React components</a:t>
            </a:r>
            <a:endParaRPr lang="en-US" sz="1400" dirty="0"/>
          </a:p>
        </p:txBody>
      </p:sp>
      <p:sp>
        <p:nvSpPr>
          <p:cNvPr id="22" name="Metric Library modules"/>
          <p:cNvSpPr/>
          <p:nvPr/>
        </p:nvSpPr>
        <p:spPr>
          <a:xfrm>
            <a:off x="640080" y="3886200"/>
            <a:ext cx="3454298" cy="2057400"/>
          </a:xfrm>
          <a:prstGeom prst="roundRect">
            <a:avLst>
              <a:gd name="adj" fmla="val 5333"/>
            </a:avLst>
          </a:prstGeom>
          <a:solidFill>
            <a:schemeClr val="bg2"/>
          </a:solidFill>
          <a:ln/>
        </p:spPr>
      </p:sp>
      <p:sp>
        <p:nvSpPr>
          <p:cNvPr id="23" name="Metric value"/>
          <p:cNvSpPr txBox="1"/>
          <p:nvPr/>
        </p:nvSpPr>
        <p:spPr>
          <a:xfrm>
            <a:off x="960120" y="4114800"/>
            <a:ext cx="2194560" cy="914400"/>
          </a:xfrm>
          <a:prstGeom prst="rect">
            <a:avLst/>
          </a:prstGeom>
          <a:noFill/>
          <a:ln/>
        </p:spPr>
        <p:txBody>
          <a:bodyPr wrap="square" lIns="0" tIns="0" rIns="0" bIns="0" rtlCol="0" anchor="ctr"/>
          <a:lstStyle/>
          <a:p>
            <a:pPr indent="0" marL="0">
              <a:buNone/>
            </a:pPr>
            <a:r>
              <a:rPr lang="en-US" sz="5400" b="1" dirty="0">
                <a:solidFill>
                  <a:schemeClr val="tx1"/>
                </a:solidFill>
                <a:latin typeface="+mj-lt" pitchFamily="34" charset="0"/>
                <a:ea typeface="+mj-lt" pitchFamily="34" charset="-122"/>
                <a:cs typeface="+mj-lt" pitchFamily="34" charset="-120"/>
              </a:rPr>
              <a:t>88</a:t>
            </a:r>
            <a:endParaRPr lang="en-US" sz="5400" dirty="0"/>
          </a:p>
        </p:txBody>
      </p:sp>
      <p:sp>
        <p:nvSpPr>
          <p:cNvPr id="24" name="Library modules badge"/>
          <p:cNvSpPr/>
          <p:nvPr/>
        </p:nvSpPr>
        <p:spPr>
          <a:xfrm>
            <a:off x="3225698" y="4206240"/>
            <a:ext cx="548640" cy="548640"/>
          </a:xfrm>
          <a:prstGeom prst="ellipse">
            <a:avLst/>
          </a:prstGeom>
          <a:solidFill>
            <a:schemeClr val="tx1"/>
          </a:solidFill>
          <a:ln/>
        </p:spPr>
      </p:sp>
      <p:pic>
        <p:nvPicPr>
          <p:cNvPr id="25" name="Image 3" descr="Library modules">    </p:cNvPr>
          <p:cNvPicPr>
            <a:picLocks noChangeAspect="1"/>
          </p:cNvPicPr>
          <p:nvPr/>
        </p:nvPicPr>
        <p:blipFill>
          <a:blip r:embed="rId4"/>
          <a:stretch>
            <a:fillRect/>
          </a:stretch>
        </p:blipFill>
        <p:spPr>
          <a:xfrm>
            <a:off x="3373831" y="4354373"/>
            <a:ext cx="252374" cy="252374"/>
          </a:xfrm>
          <a:prstGeom prst="rect">
            <a:avLst/>
          </a:prstGeom>
        </p:spPr>
      </p:pic>
      <p:sp>
        <p:nvSpPr>
          <p:cNvPr id="26" name="Metric label"/>
          <p:cNvSpPr txBox="1"/>
          <p:nvPr/>
        </p:nvSpPr>
        <p:spPr>
          <a:xfrm>
            <a:off x="960120" y="5074920"/>
            <a:ext cx="2814218" cy="365760"/>
          </a:xfrm>
          <a:prstGeom prst="rect">
            <a:avLst/>
          </a:prstGeom>
          <a:noFill/>
          <a:ln/>
        </p:spPr>
        <p:txBody>
          <a:bodyPr wrap="square" lIns="0" tIns="0" rIns="0" bIns="0" rtlCol="0" anchor="t"/>
          <a:lstStyle/>
          <a:p>
            <a:pPr indent="0" marL="0">
              <a:buNone/>
            </a:pPr>
            <a:r>
              <a:rPr lang="en-US" sz="1800" b="1" dirty="0">
                <a:solidFill>
                  <a:schemeClr val="tx1"/>
                </a:solidFill>
              </a:rPr>
              <a:t>Library modules</a:t>
            </a:r>
            <a:endParaRPr lang="en-US" sz="1800" dirty="0"/>
          </a:p>
        </p:txBody>
      </p:sp>
      <p:sp>
        <p:nvSpPr>
          <p:cNvPr id="27" name="Metric note"/>
          <p:cNvSpPr txBox="1"/>
          <p:nvPr/>
        </p:nvSpPr>
        <p:spPr>
          <a:xfrm>
            <a:off x="960120" y="5458968"/>
            <a:ext cx="2814218" cy="320040"/>
          </a:xfrm>
          <a:prstGeom prst="rect">
            <a:avLst/>
          </a:prstGeom>
          <a:noFill/>
          <a:ln/>
        </p:spPr>
        <p:txBody>
          <a:bodyPr wrap="square" lIns="0" tIns="0" rIns="0" bIns="0" rtlCol="0" anchor="t"/>
          <a:lstStyle/>
          <a:p>
            <a:pPr indent="0" marL="0">
              <a:buNone/>
            </a:pPr>
            <a:r>
              <a:rPr lang="en-US" sz="1400" dirty="0">
                <a:solidFill>
                  <a:srgbClr val="57534E"/>
                </a:solidFill>
              </a:rPr>
              <a:t>analysers, engines and utilities</a:t>
            </a:r>
            <a:endParaRPr lang="en-US" sz="1400" dirty="0"/>
          </a:p>
        </p:txBody>
      </p:sp>
      <p:sp>
        <p:nvSpPr>
          <p:cNvPr id="28" name="Metric Lines of TypeScript"/>
          <p:cNvSpPr/>
          <p:nvPr/>
        </p:nvSpPr>
        <p:spPr>
          <a:xfrm>
            <a:off x="4368698" y="3886200"/>
            <a:ext cx="3454298" cy="2057400"/>
          </a:xfrm>
          <a:prstGeom prst="roundRect">
            <a:avLst>
              <a:gd name="adj" fmla="val 5333"/>
            </a:avLst>
          </a:prstGeom>
          <a:solidFill>
            <a:schemeClr val="bg2"/>
          </a:solidFill>
          <a:ln/>
        </p:spPr>
      </p:sp>
      <p:sp>
        <p:nvSpPr>
          <p:cNvPr id="29" name="Metric value"/>
          <p:cNvSpPr txBox="1"/>
          <p:nvPr/>
        </p:nvSpPr>
        <p:spPr>
          <a:xfrm>
            <a:off x="4688738" y="4114800"/>
            <a:ext cx="2194560" cy="914400"/>
          </a:xfrm>
          <a:prstGeom prst="rect">
            <a:avLst/>
          </a:prstGeom>
          <a:noFill/>
          <a:ln/>
        </p:spPr>
        <p:txBody>
          <a:bodyPr wrap="square" lIns="0" tIns="0" rIns="0" bIns="0" rtlCol="0" anchor="ctr"/>
          <a:lstStyle/>
          <a:p>
            <a:pPr indent="0" marL="0">
              <a:buNone/>
            </a:pPr>
            <a:r>
              <a:rPr lang="en-US" sz="5400" b="1" dirty="0">
                <a:solidFill>
                  <a:schemeClr val="tx1"/>
                </a:solidFill>
                <a:latin typeface="+mj-lt" pitchFamily="34" charset="0"/>
                <a:ea typeface="+mj-lt" pitchFamily="34" charset="-122"/>
                <a:cs typeface="+mj-lt" pitchFamily="34" charset="-120"/>
              </a:rPr>
              <a:t>~63K</a:t>
            </a:r>
            <a:endParaRPr lang="en-US" sz="5400" dirty="0"/>
          </a:p>
        </p:txBody>
      </p:sp>
      <p:sp>
        <p:nvSpPr>
          <p:cNvPr id="30" name="Lines of TypeScript badge"/>
          <p:cNvSpPr/>
          <p:nvPr/>
        </p:nvSpPr>
        <p:spPr>
          <a:xfrm>
            <a:off x="6954317" y="4206240"/>
            <a:ext cx="548640" cy="548640"/>
          </a:xfrm>
          <a:prstGeom prst="ellipse">
            <a:avLst/>
          </a:prstGeom>
          <a:solidFill>
            <a:schemeClr val="tx1"/>
          </a:solidFill>
          <a:ln/>
        </p:spPr>
      </p:sp>
      <p:pic>
        <p:nvPicPr>
          <p:cNvPr id="31" name="Image 4" descr="Lines of TypeScript">    </p:cNvPr>
          <p:cNvPicPr>
            <a:picLocks noChangeAspect="1"/>
          </p:cNvPicPr>
          <p:nvPr/>
        </p:nvPicPr>
        <p:blipFill>
          <a:blip r:embed="rId5"/>
          <a:stretch>
            <a:fillRect/>
          </a:stretch>
        </p:blipFill>
        <p:spPr>
          <a:xfrm>
            <a:off x="7102450" y="4354373"/>
            <a:ext cx="252374" cy="252374"/>
          </a:xfrm>
          <a:prstGeom prst="rect">
            <a:avLst/>
          </a:prstGeom>
        </p:spPr>
      </p:pic>
      <p:sp>
        <p:nvSpPr>
          <p:cNvPr id="32" name="Metric label"/>
          <p:cNvSpPr txBox="1"/>
          <p:nvPr/>
        </p:nvSpPr>
        <p:spPr>
          <a:xfrm>
            <a:off x="4688738" y="5074920"/>
            <a:ext cx="2814218" cy="365760"/>
          </a:xfrm>
          <a:prstGeom prst="rect">
            <a:avLst/>
          </a:prstGeom>
          <a:noFill/>
          <a:ln/>
        </p:spPr>
        <p:txBody>
          <a:bodyPr wrap="square" lIns="0" tIns="0" rIns="0" bIns="0" rtlCol="0" anchor="t"/>
          <a:lstStyle/>
          <a:p>
            <a:pPr indent="0" marL="0">
              <a:buNone/>
            </a:pPr>
            <a:r>
              <a:rPr lang="en-US" sz="1800" b="1" dirty="0">
                <a:solidFill>
                  <a:schemeClr val="tx1"/>
                </a:solidFill>
              </a:rPr>
              <a:t>Lines of TypeScript</a:t>
            </a:r>
            <a:endParaRPr lang="en-US" sz="1800" dirty="0"/>
          </a:p>
        </p:txBody>
      </p:sp>
      <p:sp>
        <p:nvSpPr>
          <p:cNvPr id="33" name="Metric note"/>
          <p:cNvSpPr txBox="1"/>
          <p:nvPr/>
        </p:nvSpPr>
        <p:spPr>
          <a:xfrm>
            <a:off x="4688738" y="5458968"/>
            <a:ext cx="2814218" cy="320040"/>
          </a:xfrm>
          <a:prstGeom prst="rect">
            <a:avLst/>
          </a:prstGeom>
          <a:noFill/>
          <a:ln/>
        </p:spPr>
        <p:txBody>
          <a:bodyPr wrap="square" lIns="0" tIns="0" rIns="0" bIns="0" rtlCol="0" anchor="t"/>
          <a:lstStyle/>
          <a:p>
            <a:pPr indent="0" marL="0">
              <a:buNone/>
            </a:pPr>
            <a:r>
              <a:rPr lang="en-US" sz="1400" dirty="0">
                <a:solidFill>
                  <a:srgbClr val="57534E"/>
                </a:solidFill>
              </a:rPr>
              <a:t>across app, components and lib</a:t>
            </a:r>
            <a:endParaRPr lang="en-US" sz="1400" dirty="0"/>
          </a:p>
        </p:txBody>
      </p:sp>
      <p:sp>
        <p:nvSpPr>
          <p:cNvPr id="34" name="Metric Database models"/>
          <p:cNvSpPr/>
          <p:nvPr/>
        </p:nvSpPr>
        <p:spPr>
          <a:xfrm>
            <a:off x="8097317" y="3886200"/>
            <a:ext cx="3454298" cy="2057400"/>
          </a:xfrm>
          <a:prstGeom prst="roundRect">
            <a:avLst>
              <a:gd name="adj" fmla="val 5333"/>
            </a:avLst>
          </a:prstGeom>
          <a:solidFill>
            <a:schemeClr val="bg2"/>
          </a:solidFill>
          <a:ln/>
        </p:spPr>
      </p:sp>
      <p:sp>
        <p:nvSpPr>
          <p:cNvPr id="35" name="Metric value"/>
          <p:cNvSpPr txBox="1"/>
          <p:nvPr/>
        </p:nvSpPr>
        <p:spPr>
          <a:xfrm>
            <a:off x="8417357" y="4114800"/>
            <a:ext cx="2194560" cy="914400"/>
          </a:xfrm>
          <a:prstGeom prst="rect">
            <a:avLst/>
          </a:prstGeom>
          <a:noFill/>
          <a:ln/>
        </p:spPr>
        <p:txBody>
          <a:bodyPr wrap="square" lIns="0" tIns="0" rIns="0" bIns="0" rtlCol="0" anchor="ctr"/>
          <a:lstStyle/>
          <a:p>
            <a:pPr indent="0" marL="0">
              <a:buNone/>
            </a:pPr>
            <a:r>
              <a:rPr lang="en-US" sz="5400" b="1" dirty="0">
                <a:solidFill>
                  <a:schemeClr val="tx1"/>
                </a:solidFill>
                <a:latin typeface="+mj-lt" pitchFamily="34" charset="0"/>
                <a:ea typeface="+mj-lt" pitchFamily="34" charset="-122"/>
                <a:cs typeface="+mj-lt" pitchFamily="34" charset="-120"/>
              </a:rPr>
              <a:t>22</a:t>
            </a:r>
            <a:endParaRPr lang="en-US" sz="5400" dirty="0"/>
          </a:p>
        </p:txBody>
      </p:sp>
      <p:sp>
        <p:nvSpPr>
          <p:cNvPr id="36" name="Database models badge"/>
          <p:cNvSpPr/>
          <p:nvPr/>
        </p:nvSpPr>
        <p:spPr>
          <a:xfrm>
            <a:off x="10682935" y="4206240"/>
            <a:ext cx="548640" cy="548640"/>
          </a:xfrm>
          <a:prstGeom prst="ellipse">
            <a:avLst/>
          </a:prstGeom>
          <a:solidFill>
            <a:schemeClr val="tx1"/>
          </a:solidFill>
          <a:ln/>
        </p:spPr>
      </p:sp>
      <p:pic>
        <p:nvPicPr>
          <p:cNvPr id="37" name="Image 5" descr="Database models">    </p:cNvPr>
          <p:cNvPicPr>
            <a:picLocks noChangeAspect="1"/>
          </p:cNvPicPr>
          <p:nvPr/>
        </p:nvPicPr>
        <p:blipFill>
          <a:blip r:embed="rId6"/>
          <a:stretch>
            <a:fillRect/>
          </a:stretch>
        </p:blipFill>
        <p:spPr>
          <a:xfrm>
            <a:off x="10831068" y="4354373"/>
            <a:ext cx="252374" cy="252374"/>
          </a:xfrm>
          <a:prstGeom prst="rect">
            <a:avLst/>
          </a:prstGeom>
        </p:spPr>
      </p:pic>
      <p:sp>
        <p:nvSpPr>
          <p:cNvPr id="38" name="Metric label"/>
          <p:cNvSpPr txBox="1"/>
          <p:nvPr/>
        </p:nvSpPr>
        <p:spPr>
          <a:xfrm>
            <a:off x="8417357" y="5074920"/>
            <a:ext cx="2814218" cy="365760"/>
          </a:xfrm>
          <a:prstGeom prst="rect">
            <a:avLst/>
          </a:prstGeom>
          <a:noFill/>
          <a:ln/>
        </p:spPr>
        <p:txBody>
          <a:bodyPr wrap="square" lIns="0" tIns="0" rIns="0" bIns="0" rtlCol="0" anchor="t"/>
          <a:lstStyle/>
          <a:p>
            <a:pPr indent="0" marL="0">
              <a:buNone/>
            </a:pPr>
            <a:r>
              <a:rPr lang="en-US" sz="1800" b="1" dirty="0">
                <a:solidFill>
                  <a:schemeClr val="tx1"/>
                </a:solidFill>
              </a:rPr>
              <a:t>Database models</a:t>
            </a:r>
            <a:endParaRPr lang="en-US" sz="1800" dirty="0"/>
          </a:p>
        </p:txBody>
      </p:sp>
      <p:sp>
        <p:nvSpPr>
          <p:cNvPr id="39" name="Metric note"/>
          <p:cNvSpPr txBox="1"/>
          <p:nvPr/>
        </p:nvSpPr>
        <p:spPr>
          <a:xfrm>
            <a:off x="8417357" y="5458968"/>
            <a:ext cx="2814218" cy="320040"/>
          </a:xfrm>
          <a:prstGeom prst="rect">
            <a:avLst/>
          </a:prstGeom>
          <a:noFill/>
          <a:ln/>
        </p:spPr>
        <p:txBody>
          <a:bodyPr wrap="square" lIns="0" tIns="0" rIns="0" bIns="0" rtlCol="0" anchor="t"/>
          <a:lstStyle/>
          <a:p>
            <a:pPr indent="0" marL="0">
              <a:buNone/>
            </a:pPr>
            <a:r>
              <a:rPr lang="en-US" sz="1400" dirty="0">
                <a:solidFill>
                  <a:srgbClr val="57534E"/>
                </a:solidFill>
              </a:rPr>
              <a:t>entities in the Prisma schema</a:t>
            </a:r>
            <a:endParaRPr lang="en-US" sz="14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LIVE DEMO</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Demo Walkthrough</a:t>
            </a:r>
            <a:endParaRPr lang="en-US" sz="3600" dirty="0"/>
          </a:p>
        </p:txBody>
      </p:sp>
      <p:sp>
        <p:nvSpPr>
          <p:cNvPr id="4" name="Demo step 1"/>
          <p:cNvSpPr/>
          <p:nvPr/>
        </p:nvSpPr>
        <p:spPr>
          <a:xfrm>
            <a:off x="640080" y="1691640"/>
            <a:ext cx="5943600" cy="640080"/>
          </a:xfrm>
          <a:prstGeom prst="roundRect">
            <a:avLst>
              <a:gd name="adj" fmla="val 17143"/>
            </a:avLst>
          </a:prstGeom>
          <a:solidFill>
            <a:schemeClr val="bg2"/>
          </a:solidFill>
          <a:ln/>
        </p:spPr>
      </p:sp>
      <p:sp>
        <p:nvSpPr>
          <p:cNvPr id="5" name="Step 1"/>
          <p:cNvSpPr/>
          <p:nvPr/>
        </p:nvSpPr>
        <p:spPr>
          <a:xfrm>
            <a:off x="804672" y="1783080"/>
            <a:ext cx="457200" cy="457200"/>
          </a:xfrm>
          <a:prstGeom prst="ellipse">
            <a:avLst/>
          </a:prstGeom>
          <a:solidFill>
            <a:schemeClr val="accent1"/>
          </a:solidFill>
          <a:ln/>
        </p:spPr>
      </p:sp>
      <p:sp>
        <p:nvSpPr>
          <p:cNvPr id="6" name="Step number 1"/>
          <p:cNvSpPr txBox="1"/>
          <p:nvPr/>
        </p:nvSpPr>
        <p:spPr>
          <a:xfrm>
            <a:off x="804672" y="1783080"/>
            <a:ext cx="457200" cy="457200"/>
          </a:xfrm>
          <a:prstGeom prst="rect">
            <a:avLst/>
          </a:prstGeom>
          <a:no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7" name="Demo step text"/>
          <p:cNvSpPr txBox="1"/>
          <p:nvPr/>
        </p:nvSpPr>
        <p:spPr>
          <a:xfrm>
            <a:off x="1463040" y="1691640"/>
            <a:ext cx="5029200" cy="640080"/>
          </a:xfrm>
          <a:prstGeom prst="rect">
            <a:avLst/>
          </a:prstGeom>
          <a:noFill/>
          <a:ln/>
        </p:spPr>
        <p:txBody>
          <a:bodyPr wrap="square" lIns="0" tIns="0" rIns="0" bIns="0" rtlCol="0" anchor="ctr"/>
          <a:lstStyle/>
          <a:p>
            <a:pPr indent="0" marL="0">
              <a:buNone/>
            </a:pPr>
            <a:r>
              <a:rPr lang="en-US" sz="1500" dirty="0">
                <a:solidFill>
                  <a:schemeClr val="tx1"/>
                </a:solidFill>
              </a:rPr>
              <a:t>Open /analyze and upload a contract, or pick a sample</a:t>
            </a:r>
            <a:endParaRPr lang="en-US" sz="1500" dirty="0"/>
          </a:p>
        </p:txBody>
      </p:sp>
      <p:sp>
        <p:nvSpPr>
          <p:cNvPr id="8" name="Demo step 2"/>
          <p:cNvSpPr/>
          <p:nvPr/>
        </p:nvSpPr>
        <p:spPr>
          <a:xfrm>
            <a:off x="640080" y="2423160"/>
            <a:ext cx="5943600" cy="640080"/>
          </a:xfrm>
          <a:prstGeom prst="roundRect">
            <a:avLst>
              <a:gd name="adj" fmla="val 17143"/>
            </a:avLst>
          </a:prstGeom>
          <a:solidFill>
            <a:schemeClr val="bg2"/>
          </a:solidFill>
          <a:ln/>
        </p:spPr>
      </p:sp>
      <p:sp>
        <p:nvSpPr>
          <p:cNvPr id="9" name="Step 2"/>
          <p:cNvSpPr/>
          <p:nvPr/>
        </p:nvSpPr>
        <p:spPr>
          <a:xfrm>
            <a:off x="804672" y="2514600"/>
            <a:ext cx="457200" cy="457200"/>
          </a:xfrm>
          <a:prstGeom prst="ellipse">
            <a:avLst/>
          </a:prstGeom>
          <a:solidFill>
            <a:schemeClr val="accent1"/>
          </a:solidFill>
          <a:ln/>
        </p:spPr>
      </p:sp>
      <p:sp>
        <p:nvSpPr>
          <p:cNvPr id="10" name="Step number 2"/>
          <p:cNvSpPr txBox="1"/>
          <p:nvPr/>
        </p:nvSpPr>
        <p:spPr>
          <a:xfrm>
            <a:off x="804672" y="2514600"/>
            <a:ext cx="457200" cy="457200"/>
          </a:xfrm>
          <a:prstGeom prst="rect">
            <a:avLst/>
          </a:prstGeom>
          <a:no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11" name="Demo step text"/>
          <p:cNvSpPr txBox="1"/>
          <p:nvPr/>
        </p:nvSpPr>
        <p:spPr>
          <a:xfrm>
            <a:off x="1463040" y="2423160"/>
            <a:ext cx="5029200" cy="640080"/>
          </a:xfrm>
          <a:prstGeom prst="rect">
            <a:avLst/>
          </a:prstGeom>
          <a:noFill/>
          <a:ln/>
        </p:spPr>
        <p:txBody>
          <a:bodyPr wrap="square" lIns="0" tIns="0" rIns="0" bIns="0" rtlCol="0" anchor="ctr"/>
          <a:lstStyle/>
          <a:p>
            <a:pPr indent="0" marL="0">
              <a:buNone/>
            </a:pPr>
            <a:r>
              <a:rPr lang="en-US" sz="1500" dirty="0">
                <a:solidFill>
                  <a:schemeClr val="tx1"/>
                </a:solidFill>
              </a:rPr>
              <a:t>Text is extracted in memory and clauses are parsed</a:t>
            </a:r>
            <a:endParaRPr lang="en-US" sz="1500" dirty="0"/>
          </a:p>
        </p:txBody>
      </p:sp>
      <p:sp>
        <p:nvSpPr>
          <p:cNvPr id="12" name="Demo step 3"/>
          <p:cNvSpPr/>
          <p:nvPr/>
        </p:nvSpPr>
        <p:spPr>
          <a:xfrm>
            <a:off x="640080" y="3154680"/>
            <a:ext cx="5943600" cy="640080"/>
          </a:xfrm>
          <a:prstGeom prst="roundRect">
            <a:avLst>
              <a:gd name="adj" fmla="val 17143"/>
            </a:avLst>
          </a:prstGeom>
          <a:solidFill>
            <a:schemeClr val="bg2"/>
          </a:solidFill>
          <a:ln/>
        </p:spPr>
      </p:sp>
      <p:sp>
        <p:nvSpPr>
          <p:cNvPr id="13" name="Step 3"/>
          <p:cNvSpPr/>
          <p:nvPr/>
        </p:nvSpPr>
        <p:spPr>
          <a:xfrm>
            <a:off x="804672" y="3246120"/>
            <a:ext cx="457200" cy="457200"/>
          </a:xfrm>
          <a:prstGeom prst="ellipse">
            <a:avLst/>
          </a:prstGeom>
          <a:solidFill>
            <a:schemeClr val="accent1"/>
          </a:solidFill>
          <a:ln/>
        </p:spPr>
      </p:sp>
      <p:sp>
        <p:nvSpPr>
          <p:cNvPr id="14" name="Step number 3"/>
          <p:cNvSpPr txBox="1"/>
          <p:nvPr/>
        </p:nvSpPr>
        <p:spPr>
          <a:xfrm>
            <a:off x="804672" y="3246120"/>
            <a:ext cx="457200" cy="457200"/>
          </a:xfrm>
          <a:prstGeom prst="rect">
            <a:avLst/>
          </a:prstGeom>
          <a:no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5" name="Demo step text"/>
          <p:cNvSpPr txBox="1"/>
          <p:nvPr/>
        </p:nvSpPr>
        <p:spPr>
          <a:xfrm>
            <a:off x="1463040" y="3154680"/>
            <a:ext cx="5029200" cy="640080"/>
          </a:xfrm>
          <a:prstGeom prst="rect">
            <a:avLst/>
          </a:prstGeom>
          <a:noFill/>
          <a:ln/>
        </p:spPr>
        <p:txBody>
          <a:bodyPr wrap="square" lIns="0" tIns="0" rIns="0" bIns="0" rtlCol="0" anchor="ctr"/>
          <a:lstStyle/>
          <a:p>
            <a:pPr indent="0" marL="0">
              <a:buNone/>
            </a:pPr>
            <a:r>
              <a:rPr lang="en-US" sz="1500" dirty="0">
                <a:solidFill>
                  <a:schemeClr val="tx1"/>
                </a:solidFill>
              </a:rPr>
              <a:t>The ML benchmark returns precedents in under 150 ms</a:t>
            </a:r>
            <a:endParaRPr lang="en-US" sz="1500" dirty="0"/>
          </a:p>
        </p:txBody>
      </p:sp>
      <p:sp>
        <p:nvSpPr>
          <p:cNvPr id="16" name="Demo step 4"/>
          <p:cNvSpPr/>
          <p:nvPr/>
        </p:nvSpPr>
        <p:spPr>
          <a:xfrm>
            <a:off x="640080" y="3886200"/>
            <a:ext cx="5943600" cy="640080"/>
          </a:xfrm>
          <a:prstGeom prst="roundRect">
            <a:avLst>
              <a:gd name="adj" fmla="val 17143"/>
            </a:avLst>
          </a:prstGeom>
          <a:solidFill>
            <a:schemeClr val="bg2"/>
          </a:solidFill>
          <a:ln/>
        </p:spPr>
      </p:sp>
      <p:sp>
        <p:nvSpPr>
          <p:cNvPr id="17" name="Step 4"/>
          <p:cNvSpPr/>
          <p:nvPr/>
        </p:nvSpPr>
        <p:spPr>
          <a:xfrm>
            <a:off x="804672" y="3977640"/>
            <a:ext cx="457200" cy="457200"/>
          </a:xfrm>
          <a:prstGeom prst="ellipse">
            <a:avLst/>
          </a:prstGeom>
          <a:solidFill>
            <a:schemeClr val="accent1"/>
          </a:solidFill>
          <a:ln/>
        </p:spPr>
      </p:sp>
      <p:sp>
        <p:nvSpPr>
          <p:cNvPr id="18" name="Step number 4"/>
          <p:cNvSpPr txBox="1"/>
          <p:nvPr/>
        </p:nvSpPr>
        <p:spPr>
          <a:xfrm>
            <a:off x="804672" y="3977640"/>
            <a:ext cx="457200" cy="457200"/>
          </a:xfrm>
          <a:prstGeom prst="rect">
            <a:avLst/>
          </a:prstGeom>
          <a:no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19" name="Demo step text"/>
          <p:cNvSpPr txBox="1"/>
          <p:nvPr/>
        </p:nvSpPr>
        <p:spPr>
          <a:xfrm>
            <a:off x="1463040" y="3886200"/>
            <a:ext cx="5029200" cy="640080"/>
          </a:xfrm>
          <a:prstGeom prst="rect">
            <a:avLst/>
          </a:prstGeom>
          <a:noFill/>
          <a:ln/>
        </p:spPr>
        <p:txBody>
          <a:bodyPr wrap="square" lIns="0" tIns="0" rIns="0" bIns="0" rtlCol="0" anchor="ctr"/>
          <a:lstStyle/>
          <a:p>
            <a:pPr indent="0" marL="0">
              <a:buNone/>
            </a:pPr>
            <a:r>
              <a:rPr lang="en-US" sz="1500" dirty="0">
                <a:solidFill>
                  <a:schemeClr val="tx1"/>
                </a:solidFill>
              </a:rPr>
              <a:t>Llama returns a risk score, red flags and exposure</a:t>
            </a:r>
            <a:endParaRPr lang="en-US" sz="1500" dirty="0"/>
          </a:p>
        </p:txBody>
      </p:sp>
      <p:sp>
        <p:nvSpPr>
          <p:cNvPr id="20" name="Demo step 5"/>
          <p:cNvSpPr/>
          <p:nvPr/>
        </p:nvSpPr>
        <p:spPr>
          <a:xfrm>
            <a:off x="640080" y="4617720"/>
            <a:ext cx="5943600" cy="640080"/>
          </a:xfrm>
          <a:prstGeom prst="roundRect">
            <a:avLst>
              <a:gd name="adj" fmla="val 17143"/>
            </a:avLst>
          </a:prstGeom>
          <a:solidFill>
            <a:schemeClr val="bg2"/>
          </a:solidFill>
          <a:ln/>
        </p:spPr>
      </p:sp>
      <p:sp>
        <p:nvSpPr>
          <p:cNvPr id="21" name="Step 5"/>
          <p:cNvSpPr/>
          <p:nvPr/>
        </p:nvSpPr>
        <p:spPr>
          <a:xfrm>
            <a:off x="804672" y="4709160"/>
            <a:ext cx="457200" cy="457200"/>
          </a:xfrm>
          <a:prstGeom prst="ellipse">
            <a:avLst/>
          </a:prstGeom>
          <a:solidFill>
            <a:schemeClr val="accent1"/>
          </a:solidFill>
          <a:ln/>
        </p:spPr>
      </p:sp>
      <p:sp>
        <p:nvSpPr>
          <p:cNvPr id="22" name="Step number 5"/>
          <p:cNvSpPr txBox="1"/>
          <p:nvPr/>
        </p:nvSpPr>
        <p:spPr>
          <a:xfrm>
            <a:off x="804672" y="4709160"/>
            <a:ext cx="457200" cy="457200"/>
          </a:xfrm>
          <a:prstGeom prst="rect">
            <a:avLst/>
          </a:prstGeom>
          <a:no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23" name="Demo step text"/>
          <p:cNvSpPr txBox="1"/>
          <p:nvPr/>
        </p:nvSpPr>
        <p:spPr>
          <a:xfrm>
            <a:off x="1463040" y="4617720"/>
            <a:ext cx="5029200" cy="640080"/>
          </a:xfrm>
          <a:prstGeom prst="rect">
            <a:avLst/>
          </a:prstGeom>
          <a:noFill/>
          <a:ln/>
        </p:spPr>
        <p:txBody>
          <a:bodyPr wrap="square" lIns="0" tIns="0" rIns="0" bIns="0" rtlCol="0" anchor="ctr"/>
          <a:lstStyle/>
          <a:p>
            <a:pPr indent="0" marL="0">
              <a:buNone/>
            </a:pPr>
            <a:r>
              <a:rPr lang="en-US" sz="1500" dirty="0">
                <a:solidFill>
                  <a:schemeClr val="tx1"/>
                </a:solidFill>
              </a:rPr>
              <a:t>Compare redlines and read the negotiation playbook</a:t>
            </a:r>
            <a:endParaRPr lang="en-US" sz="1500" dirty="0"/>
          </a:p>
        </p:txBody>
      </p:sp>
      <p:sp>
        <p:nvSpPr>
          <p:cNvPr id="24" name="Demo step 6"/>
          <p:cNvSpPr/>
          <p:nvPr/>
        </p:nvSpPr>
        <p:spPr>
          <a:xfrm>
            <a:off x="640080" y="5349240"/>
            <a:ext cx="5943600" cy="640080"/>
          </a:xfrm>
          <a:prstGeom prst="roundRect">
            <a:avLst>
              <a:gd name="adj" fmla="val 17143"/>
            </a:avLst>
          </a:prstGeom>
          <a:solidFill>
            <a:schemeClr val="bg2"/>
          </a:solidFill>
          <a:ln/>
        </p:spPr>
      </p:sp>
      <p:sp>
        <p:nvSpPr>
          <p:cNvPr id="25" name="Step 6"/>
          <p:cNvSpPr/>
          <p:nvPr/>
        </p:nvSpPr>
        <p:spPr>
          <a:xfrm>
            <a:off x="804672" y="5440680"/>
            <a:ext cx="457200" cy="457200"/>
          </a:xfrm>
          <a:prstGeom prst="ellipse">
            <a:avLst/>
          </a:prstGeom>
          <a:solidFill>
            <a:schemeClr val="accent1"/>
          </a:solidFill>
          <a:ln/>
        </p:spPr>
      </p:sp>
      <p:sp>
        <p:nvSpPr>
          <p:cNvPr id="26" name="Step number 6"/>
          <p:cNvSpPr txBox="1"/>
          <p:nvPr/>
        </p:nvSpPr>
        <p:spPr>
          <a:xfrm>
            <a:off x="804672" y="5440680"/>
            <a:ext cx="457200" cy="457200"/>
          </a:xfrm>
          <a:prstGeom prst="rect">
            <a:avLst/>
          </a:prstGeom>
          <a:noFill/>
          <a:ln/>
        </p:spPr>
        <p:txBody>
          <a:bodyPr wrap="square" lIns="0" tIns="0" rIns="0" bIns="0" rtlCol="0" anchor="ctr"/>
          <a:lstStyle/>
          <a:p>
            <a:pPr algn="ctr" indent="0" marL="0">
              <a:buNone/>
            </a:pPr>
            <a:r>
              <a:rPr lang="en-US" sz="1500" b="1" dirty="0">
                <a:solidFill>
                  <a:schemeClr val="tx1"/>
                </a:solidFill>
              </a:rPr>
              <a:t>6</a:t>
            </a:r>
            <a:endParaRPr lang="en-US" sz="1500" dirty="0"/>
          </a:p>
        </p:txBody>
      </p:sp>
      <p:sp>
        <p:nvSpPr>
          <p:cNvPr id="27" name="Demo step text"/>
          <p:cNvSpPr txBox="1"/>
          <p:nvPr/>
        </p:nvSpPr>
        <p:spPr>
          <a:xfrm>
            <a:off x="1463040" y="5349240"/>
            <a:ext cx="5029200" cy="640080"/>
          </a:xfrm>
          <a:prstGeom prst="rect">
            <a:avLst/>
          </a:prstGeom>
          <a:noFill/>
          <a:ln/>
        </p:spPr>
        <p:txBody>
          <a:bodyPr wrap="square" lIns="0" tIns="0" rIns="0" bIns="0" rtlCol="0" anchor="ctr"/>
          <a:lstStyle/>
          <a:p>
            <a:pPr indent="0" marL="0">
              <a:buNone/>
            </a:pPr>
            <a:r>
              <a:rPr lang="en-US" sz="1500" dirty="0">
                <a:solidFill>
                  <a:schemeClr val="tx1"/>
                </a:solidFill>
              </a:rPr>
              <a:t>Export a report, then sign with a SHA-256 hash</a:t>
            </a:r>
            <a:endParaRPr lang="en-US" sz="1500" dirty="0"/>
          </a:p>
        </p:txBody>
      </p:sp>
      <p:sp>
        <p:nvSpPr>
          <p:cNvPr id="28" name="Samples label"/>
          <p:cNvSpPr txBox="1"/>
          <p:nvPr/>
        </p:nvSpPr>
        <p:spPr>
          <a:xfrm>
            <a:off x="7040880" y="1691640"/>
            <a:ext cx="4480560" cy="274320"/>
          </a:xfrm>
          <a:prstGeom prst="rect">
            <a:avLst/>
          </a:prstGeom>
          <a:noFill/>
          <a:ln/>
        </p:spPr>
        <p:txBody>
          <a:bodyPr wrap="square" lIns="0" tIns="0" rIns="0" bIns="0" rtlCol="0" anchor="t"/>
          <a:lstStyle/>
          <a:p>
            <a:pPr indent="0" marL="0">
              <a:buNone/>
            </a:pPr>
            <a:r>
              <a:rPr lang="en-US" sz="1200" b="1" spc="300" kern="0" dirty="0">
                <a:solidFill>
                  <a:srgbClr val="8A6414"/>
                </a:solidFill>
              </a:rPr>
              <a:t>SAMPLE CONTRACTS INCLUDED</a:t>
            </a:r>
            <a:endParaRPr lang="en-US" sz="1200" dirty="0"/>
          </a:p>
        </p:txBody>
      </p:sp>
      <p:sp>
        <p:nvSpPr>
          <p:cNvPr id="29" name="Sample SaaS agreement"/>
          <p:cNvSpPr/>
          <p:nvPr/>
        </p:nvSpPr>
        <p:spPr>
          <a:xfrm>
            <a:off x="7040880" y="2103120"/>
            <a:ext cx="4507992" cy="868680"/>
          </a:xfrm>
          <a:prstGeom prst="roundRect">
            <a:avLst>
              <a:gd name="adj" fmla="val 12632"/>
            </a:avLst>
          </a:prstGeom>
          <a:solidFill>
            <a:schemeClr val="tx1"/>
          </a:solidFill>
          <a:ln/>
        </p:spPr>
      </p:sp>
      <p:sp>
        <p:nvSpPr>
          <p:cNvPr id="30" name="Sample name"/>
          <p:cNvSpPr txBox="1"/>
          <p:nvPr/>
        </p:nvSpPr>
        <p:spPr>
          <a:xfrm>
            <a:off x="7269480" y="2231136"/>
            <a:ext cx="2377440" cy="320040"/>
          </a:xfrm>
          <a:prstGeom prst="rect">
            <a:avLst/>
          </a:prstGeom>
          <a:noFill/>
          <a:ln/>
        </p:spPr>
        <p:txBody>
          <a:bodyPr wrap="square" lIns="0" tIns="0" rIns="0" bIns="0" rtlCol="0" anchor="t"/>
          <a:lstStyle/>
          <a:p>
            <a:pPr indent="0" marL="0">
              <a:buNone/>
            </a:pPr>
            <a:r>
              <a:rPr lang="en-US" sz="1600" b="1" dirty="0">
                <a:solidFill>
                  <a:schemeClr val="bg1"/>
                </a:solidFill>
              </a:rPr>
              <a:t>SaaS agreement</a:t>
            </a:r>
            <a:endParaRPr lang="en-US" sz="1600" dirty="0"/>
          </a:p>
        </p:txBody>
      </p:sp>
      <p:sp>
        <p:nvSpPr>
          <p:cNvPr id="31" name="Sample file"/>
          <p:cNvSpPr txBox="1"/>
          <p:nvPr/>
        </p:nvSpPr>
        <p:spPr>
          <a:xfrm>
            <a:off x="7269480" y="2578608"/>
            <a:ext cx="2651760" cy="274320"/>
          </a:xfrm>
          <a:prstGeom prst="rect">
            <a:avLst/>
          </a:prstGeom>
          <a:noFill/>
          <a:ln/>
        </p:spPr>
        <p:txBody>
          <a:bodyPr wrap="square" lIns="0" tIns="0" rIns="0" bIns="0" rtlCol="0" anchor="t"/>
          <a:lstStyle/>
          <a:p>
            <a:pPr indent="0" marL="0">
              <a:buNone/>
            </a:pPr>
            <a:r>
              <a:rPr lang="en-US" sz="1200" dirty="0">
                <a:solidFill>
                  <a:srgbClr val="A8A29E"/>
                </a:solidFill>
              </a:rPr>
              <a:t>sample-saas-unfair.txt</a:t>
            </a:r>
            <a:endParaRPr lang="en-US" sz="1200" dirty="0"/>
          </a:p>
        </p:txBody>
      </p:sp>
      <p:sp>
        <p:nvSpPr>
          <p:cNvPr id="32" name="Pill UNFAIR"/>
          <p:cNvSpPr/>
          <p:nvPr/>
        </p:nvSpPr>
        <p:spPr>
          <a:xfrm>
            <a:off x="9829800" y="2331720"/>
            <a:ext cx="1508760" cy="411480"/>
          </a:xfrm>
          <a:prstGeom prst="roundRect">
            <a:avLst>
              <a:gd name="adj" fmla="val 50000"/>
            </a:avLst>
          </a:prstGeom>
          <a:solidFill>
            <a:schemeClr val="accent3"/>
          </a:solidFill>
          <a:ln/>
        </p:spPr>
      </p:sp>
      <p:sp>
        <p:nvSpPr>
          <p:cNvPr id="33" name="Pill label UNFAIR"/>
          <p:cNvSpPr txBox="1"/>
          <p:nvPr/>
        </p:nvSpPr>
        <p:spPr>
          <a:xfrm>
            <a:off x="9829800" y="2331720"/>
            <a:ext cx="1508760" cy="411480"/>
          </a:xfrm>
          <a:prstGeom prst="rect">
            <a:avLst/>
          </a:prstGeom>
          <a:noFill/>
          <a:ln/>
        </p:spPr>
        <p:txBody>
          <a:bodyPr wrap="square" lIns="0" tIns="0" rIns="0" bIns="0" rtlCol="0" anchor="ctr"/>
          <a:lstStyle/>
          <a:p>
            <a:pPr algn="ctr" indent="0" marL="0">
              <a:buNone/>
            </a:pPr>
            <a:r>
              <a:rPr lang="en-US" sz="1100" b="1" spc="100" kern="0" dirty="0">
                <a:solidFill>
                  <a:schemeClr val="tx1"/>
                </a:solidFill>
              </a:rPr>
              <a:t>UNFAIR</a:t>
            </a:r>
            <a:endParaRPr lang="en-US" sz="1100" dirty="0"/>
          </a:p>
        </p:txBody>
      </p:sp>
      <p:sp>
        <p:nvSpPr>
          <p:cNvPr id="34" name="Sample Commercial lease"/>
          <p:cNvSpPr/>
          <p:nvPr/>
        </p:nvSpPr>
        <p:spPr>
          <a:xfrm>
            <a:off x="7040880" y="3090672"/>
            <a:ext cx="4507992" cy="868680"/>
          </a:xfrm>
          <a:prstGeom prst="roundRect">
            <a:avLst>
              <a:gd name="adj" fmla="val 12632"/>
            </a:avLst>
          </a:prstGeom>
          <a:solidFill>
            <a:schemeClr val="tx1"/>
          </a:solidFill>
          <a:ln/>
        </p:spPr>
      </p:sp>
      <p:sp>
        <p:nvSpPr>
          <p:cNvPr id="35" name="Sample name"/>
          <p:cNvSpPr txBox="1"/>
          <p:nvPr/>
        </p:nvSpPr>
        <p:spPr>
          <a:xfrm>
            <a:off x="7269480" y="3218688"/>
            <a:ext cx="2377440" cy="320040"/>
          </a:xfrm>
          <a:prstGeom prst="rect">
            <a:avLst/>
          </a:prstGeom>
          <a:noFill/>
          <a:ln/>
        </p:spPr>
        <p:txBody>
          <a:bodyPr wrap="square" lIns="0" tIns="0" rIns="0" bIns="0" rtlCol="0" anchor="t"/>
          <a:lstStyle/>
          <a:p>
            <a:pPr indent="0" marL="0">
              <a:buNone/>
            </a:pPr>
            <a:r>
              <a:rPr lang="en-US" sz="1600" b="1" dirty="0">
                <a:solidFill>
                  <a:schemeClr val="bg1"/>
                </a:solidFill>
              </a:rPr>
              <a:t>Commercial lease</a:t>
            </a:r>
            <a:endParaRPr lang="en-US" sz="1600" dirty="0"/>
          </a:p>
        </p:txBody>
      </p:sp>
      <p:sp>
        <p:nvSpPr>
          <p:cNvPr id="36" name="Sample file"/>
          <p:cNvSpPr txBox="1"/>
          <p:nvPr/>
        </p:nvSpPr>
        <p:spPr>
          <a:xfrm>
            <a:off x="7269480" y="3566160"/>
            <a:ext cx="2651760" cy="274320"/>
          </a:xfrm>
          <a:prstGeom prst="rect">
            <a:avLst/>
          </a:prstGeom>
          <a:noFill/>
          <a:ln/>
        </p:spPr>
        <p:txBody>
          <a:bodyPr wrap="square" lIns="0" tIns="0" rIns="0" bIns="0" rtlCol="0" anchor="t"/>
          <a:lstStyle/>
          <a:p>
            <a:pPr indent="0" marL="0">
              <a:buNone/>
            </a:pPr>
            <a:r>
              <a:rPr lang="en-US" sz="1200" dirty="0">
                <a:solidFill>
                  <a:srgbClr val="A8A29E"/>
                </a:solidFill>
              </a:rPr>
              <a:t>sample-lease-aggressive.txt</a:t>
            </a:r>
            <a:endParaRPr lang="en-US" sz="1200" dirty="0"/>
          </a:p>
        </p:txBody>
      </p:sp>
      <p:sp>
        <p:nvSpPr>
          <p:cNvPr id="37" name="Pill AGGRESSIVE"/>
          <p:cNvSpPr/>
          <p:nvPr/>
        </p:nvSpPr>
        <p:spPr>
          <a:xfrm>
            <a:off x="9829800" y="3319272"/>
            <a:ext cx="1508760" cy="411480"/>
          </a:xfrm>
          <a:prstGeom prst="roundRect">
            <a:avLst>
              <a:gd name="adj" fmla="val 50000"/>
            </a:avLst>
          </a:prstGeom>
          <a:solidFill>
            <a:schemeClr val="accent3"/>
          </a:solidFill>
          <a:ln/>
        </p:spPr>
      </p:sp>
      <p:sp>
        <p:nvSpPr>
          <p:cNvPr id="38" name="Pill label AGGRESSIVE"/>
          <p:cNvSpPr txBox="1"/>
          <p:nvPr/>
        </p:nvSpPr>
        <p:spPr>
          <a:xfrm>
            <a:off x="9829800" y="3319272"/>
            <a:ext cx="1508760" cy="411480"/>
          </a:xfrm>
          <a:prstGeom prst="rect">
            <a:avLst/>
          </a:prstGeom>
          <a:noFill/>
          <a:ln/>
        </p:spPr>
        <p:txBody>
          <a:bodyPr wrap="square" lIns="0" tIns="0" rIns="0" bIns="0" rtlCol="0" anchor="ctr"/>
          <a:lstStyle/>
          <a:p>
            <a:pPr algn="ctr" indent="0" marL="0">
              <a:buNone/>
            </a:pPr>
            <a:r>
              <a:rPr lang="en-US" sz="1100" b="1" spc="100" kern="0" dirty="0">
                <a:solidFill>
                  <a:schemeClr val="tx1"/>
                </a:solidFill>
              </a:rPr>
              <a:t>AGGRESSIVE</a:t>
            </a:r>
            <a:endParaRPr lang="en-US" sz="1100" dirty="0"/>
          </a:p>
        </p:txBody>
      </p:sp>
      <p:sp>
        <p:nvSpPr>
          <p:cNvPr id="39" name="Sample Employment contract"/>
          <p:cNvSpPr/>
          <p:nvPr/>
        </p:nvSpPr>
        <p:spPr>
          <a:xfrm>
            <a:off x="7040880" y="4078224"/>
            <a:ext cx="4507992" cy="868680"/>
          </a:xfrm>
          <a:prstGeom prst="roundRect">
            <a:avLst>
              <a:gd name="adj" fmla="val 12632"/>
            </a:avLst>
          </a:prstGeom>
          <a:solidFill>
            <a:schemeClr val="tx1"/>
          </a:solidFill>
          <a:ln/>
        </p:spPr>
      </p:sp>
      <p:sp>
        <p:nvSpPr>
          <p:cNvPr id="40" name="Sample name"/>
          <p:cNvSpPr txBox="1"/>
          <p:nvPr/>
        </p:nvSpPr>
        <p:spPr>
          <a:xfrm>
            <a:off x="7269480" y="4206240"/>
            <a:ext cx="2377440" cy="320040"/>
          </a:xfrm>
          <a:prstGeom prst="rect">
            <a:avLst/>
          </a:prstGeom>
          <a:noFill/>
          <a:ln/>
        </p:spPr>
        <p:txBody>
          <a:bodyPr wrap="square" lIns="0" tIns="0" rIns="0" bIns="0" rtlCol="0" anchor="t"/>
          <a:lstStyle/>
          <a:p>
            <a:pPr indent="0" marL="0">
              <a:buNone/>
            </a:pPr>
            <a:r>
              <a:rPr lang="en-US" sz="1600" b="1" dirty="0">
                <a:solidFill>
                  <a:schemeClr val="bg1"/>
                </a:solidFill>
              </a:rPr>
              <a:t>Employment contract</a:t>
            </a:r>
            <a:endParaRPr lang="en-US" sz="1600" dirty="0"/>
          </a:p>
        </p:txBody>
      </p:sp>
      <p:sp>
        <p:nvSpPr>
          <p:cNvPr id="41" name="Sample file"/>
          <p:cNvSpPr txBox="1"/>
          <p:nvPr/>
        </p:nvSpPr>
        <p:spPr>
          <a:xfrm>
            <a:off x="7269480" y="4553712"/>
            <a:ext cx="2651760" cy="274320"/>
          </a:xfrm>
          <a:prstGeom prst="rect">
            <a:avLst/>
          </a:prstGeom>
          <a:noFill/>
          <a:ln/>
        </p:spPr>
        <p:txBody>
          <a:bodyPr wrap="square" lIns="0" tIns="0" rIns="0" bIns="0" rtlCol="0" anchor="t"/>
          <a:lstStyle/>
          <a:p>
            <a:pPr indent="0" marL="0">
              <a:buNone/>
            </a:pPr>
            <a:r>
              <a:rPr lang="en-US" sz="1200" dirty="0">
                <a:solidFill>
                  <a:srgbClr val="A8A29E"/>
                </a:solidFill>
              </a:rPr>
              <a:t>sample-employment-predatory.txt</a:t>
            </a:r>
            <a:endParaRPr lang="en-US" sz="1200" dirty="0"/>
          </a:p>
        </p:txBody>
      </p:sp>
      <p:sp>
        <p:nvSpPr>
          <p:cNvPr id="42" name="Pill PREDATORY"/>
          <p:cNvSpPr/>
          <p:nvPr/>
        </p:nvSpPr>
        <p:spPr>
          <a:xfrm>
            <a:off x="9829800" y="4306824"/>
            <a:ext cx="1508760" cy="411480"/>
          </a:xfrm>
          <a:prstGeom prst="roundRect">
            <a:avLst>
              <a:gd name="adj" fmla="val 50000"/>
            </a:avLst>
          </a:prstGeom>
          <a:solidFill>
            <a:schemeClr val="accent2"/>
          </a:solidFill>
          <a:ln/>
        </p:spPr>
      </p:sp>
      <p:sp>
        <p:nvSpPr>
          <p:cNvPr id="43" name="Pill label PREDATORY"/>
          <p:cNvSpPr txBox="1"/>
          <p:nvPr/>
        </p:nvSpPr>
        <p:spPr>
          <a:xfrm>
            <a:off x="9829800" y="4306824"/>
            <a:ext cx="1508760" cy="411480"/>
          </a:xfrm>
          <a:prstGeom prst="rect">
            <a:avLst/>
          </a:prstGeom>
          <a:noFill/>
          <a:ln/>
        </p:spPr>
        <p:txBody>
          <a:bodyPr wrap="square" lIns="0" tIns="0" rIns="0" bIns="0" rtlCol="0" anchor="ctr"/>
          <a:lstStyle/>
          <a:p>
            <a:pPr algn="ctr" indent="0" marL="0">
              <a:buNone/>
            </a:pPr>
            <a:r>
              <a:rPr lang="en-US" sz="1100" b="1" spc="100" kern="0" dirty="0">
                <a:solidFill>
                  <a:schemeClr val="bg1"/>
                </a:solidFill>
              </a:rPr>
              <a:t>PREDATORY</a:t>
            </a:r>
            <a:endParaRPr lang="en-US" sz="1100" dirty="0"/>
          </a:p>
        </p:txBody>
      </p:sp>
      <p:sp>
        <p:nvSpPr>
          <p:cNvPr id="44" name="Sample Freelance agreement"/>
          <p:cNvSpPr/>
          <p:nvPr/>
        </p:nvSpPr>
        <p:spPr>
          <a:xfrm>
            <a:off x="7040880" y="5065776"/>
            <a:ext cx="4507992" cy="868680"/>
          </a:xfrm>
          <a:prstGeom prst="roundRect">
            <a:avLst>
              <a:gd name="adj" fmla="val 12632"/>
            </a:avLst>
          </a:prstGeom>
          <a:solidFill>
            <a:schemeClr val="tx1"/>
          </a:solidFill>
          <a:ln/>
        </p:spPr>
      </p:sp>
      <p:sp>
        <p:nvSpPr>
          <p:cNvPr id="45" name="Sample name"/>
          <p:cNvSpPr txBox="1"/>
          <p:nvPr/>
        </p:nvSpPr>
        <p:spPr>
          <a:xfrm>
            <a:off x="7269480" y="5193792"/>
            <a:ext cx="2377440" cy="320040"/>
          </a:xfrm>
          <a:prstGeom prst="rect">
            <a:avLst/>
          </a:prstGeom>
          <a:noFill/>
          <a:ln/>
        </p:spPr>
        <p:txBody>
          <a:bodyPr wrap="square" lIns="0" tIns="0" rIns="0" bIns="0" rtlCol="0" anchor="t"/>
          <a:lstStyle/>
          <a:p>
            <a:pPr indent="0" marL="0">
              <a:buNone/>
            </a:pPr>
            <a:r>
              <a:rPr lang="en-US" sz="1600" b="1" dirty="0">
                <a:solidFill>
                  <a:schemeClr val="bg1"/>
                </a:solidFill>
              </a:rPr>
              <a:t>Freelance agreement</a:t>
            </a:r>
            <a:endParaRPr lang="en-US" sz="1600" dirty="0"/>
          </a:p>
        </p:txBody>
      </p:sp>
      <p:sp>
        <p:nvSpPr>
          <p:cNvPr id="46" name="Sample file"/>
          <p:cNvSpPr txBox="1"/>
          <p:nvPr/>
        </p:nvSpPr>
        <p:spPr>
          <a:xfrm>
            <a:off x="7269480" y="5541264"/>
            <a:ext cx="2651760" cy="274320"/>
          </a:xfrm>
          <a:prstGeom prst="rect">
            <a:avLst/>
          </a:prstGeom>
          <a:noFill/>
          <a:ln/>
        </p:spPr>
        <p:txBody>
          <a:bodyPr wrap="square" lIns="0" tIns="0" rIns="0" bIns="0" rtlCol="0" anchor="t"/>
          <a:lstStyle/>
          <a:p>
            <a:pPr indent="0" marL="0">
              <a:buNone/>
            </a:pPr>
            <a:r>
              <a:rPr lang="en-US" sz="1200" dirty="0">
                <a:solidFill>
                  <a:srgbClr val="A8A29E"/>
                </a:solidFill>
              </a:rPr>
              <a:t>sample-freelance-balanced.txt</a:t>
            </a:r>
            <a:endParaRPr lang="en-US" sz="1200" dirty="0"/>
          </a:p>
        </p:txBody>
      </p:sp>
      <p:sp>
        <p:nvSpPr>
          <p:cNvPr id="47" name="Pill BALANCED"/>
          <p:cNvSpPr/>
          <p:nvPr/>
        </p:nvSpPr>
        <p:spPr>
          <a:xfrm>
            <a:off x="9829800" y="5294376"/>
            <a:ext cx="1508760" cy="411480"/>
          </a:xfrm>
          <a:prstGeom prst="roundRect">
            <a:avLst>
              <a:gd name="adj" fmla="val 50000"/>
            </a:avLst>
          </a:prstGeom>
          <a:solidFill>
            <a:schemeClr val="accent5"/>
          </a:solidFill>
          <a:ln/>
        </p:spPr>
      </p:sp>
      <p:sp>
        <p:nvSpPr>
          <p:cNvPr id="48" name="Pill label BALANCED"/>
          <p:cNvSpPr txBox="1"/>
          <p:nvPr/>
        </p:nvSpPr>
        <p:spPr>
          <a:xfrm>
            <a:off x="9829800" y="5294376"/>
            <a:ext cx="1508760" cy="411480"/>
          </a:xfrm>
          <a:prstGeom prst="rect">
            <a:avLst/>
          </a:prstGeom>
          <a:noFill/>
          <a:ln/>
        </p:spPr>
        <p:txBody>
          <a:bodyPr wrap="square" lIns="0" tIns="0" rIns="0" bIns="0" rtlCol="0" anchor="ctr"/>
          <a:lstStyle/>
          <a:p>
            <a:pPr algn="ctr" indent="0" marL="0">
              <a:buNone/>
            </a:pPr>
            <a:r>
              <a:rPr lang="en-US" sz="1100" b="1" spc="100" kern="0" dirty="0">
                <a:solidFill>
                  <a:schemeClr val="tx1"/>
                </a:solidFill>
              </a:rPr>
              <a:t>BALANCED</a:t>
            </a:r>
            <a:endParaRPr lang="en-US" sz="11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rgbClr val="8A6414"/>
                </a:solidFill>
              </a:rPr>
              <a:t>LOOKING AHEAD</a:t>
            </a:r>
            <a:endParaRPr lang="en-US" sz="1200" dirty="0"/>
          </a:p>
        </p:txBody>
      </p:sp>
      <p:sp>
        <p:nvSpPr>
          <p:cNvPr id="3" name="Text 1"/>
          <p:cNvSpPr/>
          <p:nvPr>
            <p:ph idx="101"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tx1"/>
                </a:solidFill>
              </a:rPr>
              <a:t>Limitations &amp; Future Scope</a:t>
            </a:r>
            <a:endParaRPr lang="en-US" sz="3600" dirty="0"/>
          </a:p>
        </p:txBody>
      </p:sp>
      <p:sp>
        <p:nvSpPr>
          <p:cNvPr id="4" name="Limitations card"/>
          <p:cNvSpPr/>
          <p:nvPr/>
        </p:nvSpPr>
        <p:spPr>
          <a:xfrm>
            <a:off x="640080" y="1645920"/>
            <a:ext cx="5321808" cy="4434840"/>
          </a:xfrm>
          <a:prstGeom prst="roundRect">
            <a:avLst>
              <a:gd name="adj" fmla="val 2474"/>
            </a:avLst>
          </a:prstGeom>
          <a:solidFill>
            <a:schemeClr val="bg2"/>
          </a:solidFill>
          <a:ln/>
        </p:spPr>
      </p:sp>
      <p:sp>
        <p:nvSpPr>
          <p:cNvPr id="5" name="Limitations badge"/>
          <p:cNvSpPr/>
          <p:nvPr/>
        </p:nvSpPr>
        <p:spPr>
          <a:xfrm>
            <a:off x="960120" y="1874520"/>
            <a:ext cx="548640" cy="548640"/>
          </a:xfrm>
          <a:prstGeom prst="ellipse">
            <a:avLst/>
          </a:prstGeom>
          <a:solidFill>
            <a:schemeClr val="tx1"/>
          </a:solidFill>
          <a:ln/>
        </p:spPr>
      </p:sp>
      <p:pic>
        <p:nvPicPr>
          <p:cNvPr id="6" name="Image 0" descr="Limitations">    </p:cNvPr>
          <p:cNvPicPr>
            <a:picLocks noChangeAspect="1"/>
          </p:cNvPicPr>
          <p:nvPr/>
        </p:nvPicPr>
        <p:blipFill>
          <a:blip r:embed="rId1"/>
          <a:stretch>
            <a:fillRect/>
          </a:stretch>
        </p:blipFill>
        <p:spPr>
          <a:xfrm>
            <a:off x="1108253" y="2022653"/>
            <a:ext cx="252374" cy="252374"/>
          </a:xfrm>
          <a:prstGeom prst="rect">
            <a:avLst/>
          </a:prstGeom>
        </p:spPr>
      </p:pic>
      <p:sp>
        <p:nvSpPr>
          <p:cNvPr id="7" name="Limitations heading"/>
          <p:cNvSpPr txBox="1"/>
          <p:nvPr/>
        </p:nvSpPr>
        <p:spPr>
          <a:xfrm>
            <a:off x="1691640" y="1874520"/>
            <a:ext cx="3931920" cy="548640"/>
          </a:xfrm>
          <a:prstGeom prst="rect">
            <a:avLst/>
          </a:prstGeom>
          <a:noFill/>
          <a:ln/>
        </p:spPr>
        <p:txBody>
          <a:bodyPr wrap="square" lIns="0" tIns="0" rIns="0" bIns="0" rtlCol="0" anchor="ctr"/>
          <a:lstStyle/>
          <a:p>
            <a:pPr indent="0" marL="0">
              <a:buNone/>
            </a:pPr>
            <a:r>
              <a:rPr lang="en-US" sz="1400" b="1" spc="300" kern="0" dirty="0">
                <a:solidFill>
                  <a:schemeClr val="tx1"/>
                </a:solidFill>
              </a:rPr>
              <a:t>HONEST LIMITATIONS</a:t>
            </a:r>
            <a:endParaRPr lang="en-US" sz="1400" dirty="0"/>
          </a:p>
        </p:txBody>
      </p:sp>
      <p:sp>
        <p:nvSpPr>
          <p:cNvPr id="8" name="Bullet"/>
          <p:cNvSpPr/>
          <p:nvPr/>
        </p:nvSpPr>
        <p:spPr>
          <a:xfrm>
            <a:off x="1005840" y="2807208"/>
            <a:ext cx="146304" cy="146304"/>
          </a:xfrm>
          <a:prstGeom prst="ellipse">
            <a:avLst/>
          </a:prstGeom>
          <a:solidFill>
            <a:schemeClr val="accent2"/>
          </a:solidFill>
          <a:ln/>
        </p:spPr>
      </p:sp>
      <p:sp>
        <p:nvSpPr>
          <p:cNvPr id="9" name="Limitation"/>
          <p:cNvSpPr txBox="1"/>
          <p:nvPr/>
        </p:nvSpPr>
        <p:spPr>
          <a:xfrm>
            <a:off x="1371600" y="2697480"/>
            <a:ext cx="4297680" cy="731520"/>
          </a:xfrm>
          <a:prstGeom prst="rect">
            <a:avLst/>
          </a:prstGeom>
          <a:noFill/>
          <a:ln/>
        </p:spPr>
        <p:txBody>
          <a:bodyPr wrap="square" lIns="0" tIns="0" rIns="0" bIns="0" rtlCol="0" anchor="t"/>
          <a:lstStyle/>
          <a:p>
            <a:pPr indent="0" marL="0">
              <a:buNone/>
            </a:pPr>
            <a:r>
              <a:rPr lang="en-US" sz="1500" dirty="0">
                <a:solidFill>
                  <a:schemeClr val="tx1"/>
                </a:solidFill>
              </a:rPr>
              <a:t>Small corpus: 250 clauses, with 56.8% accuracy statistically tied with BM25</a:t>
            </a:r>
            <a:endParaRPr lang="en-US" sz="1500" dirty="0"/>
          </a:p>
        </p:txBody>
      </p:sp>
      <p:sp>
        <p:nvSpPr>
          <p:cNvPr id="10" name="Bullet"/>
          <p:cNvSpPr/>
          <p:nvPr/>
        </p:nvSpPr>
        <p:spPr>
          <a:xfrm>
            <a:off x="1005840" y="3630168"/>
            <a:ext cx="146304" cy="146304"/>
          </a:xfrm>
          <a:prstGeom prst="ellipse">
            <a:avLst/>
          </a:prstGeom>
          <a:solidFill>
            <a:schemeClr val="accent2"/>
          </a:solidFill>
          <a:ln/>
        </p:spPr>
      </p:sp>
      <p:sp>
        <p:nvSpPr>
          <p:cNvPr id="11" name="Limitation"/>
          <p:cNvSpPr txBox="1"/>
          <p:nvPr/>
        </p:nvSpPr>
        <p:spPr>
          <a:xfrm>
            <a:off x="1371600" y="3520440"/>
            <a:ext cx="4297680" cy="731520"/>
          </a:xfrm>
          <a:prstGeom prst="rect">
            <a:avLst/>
          </a:prstGeom>
          <a:noFill/>
          <a:ln/>
        </p:spPr>
        <p:txBody>
          <a:bodyPr wrap="square" lIns="0" tIns="0" rIns="0" bIns="0" rtlCol="0" anchor="t"/>
          <a:lstStyle/>
          <a:p>
            <a:pPr indent="0" marL="0">
              <a:buNone/>
            </a:pPr>
            <a:r>
              <a:rPr lang="en-US" sz="1500" dirty="0">
                <a:solidFill>
                  <a:schemeClr val="tx1"/>
                </a:solidFill>
              </a:rPr>
              <a:t>Risk benchmarks are assigned per category, not derived per clause</a:t>
            </a:r>
            <a:endParaRPr lang="en-US" sz="1500" dirty="0"/>
          </a:p>
        </p:txBody>
      </p:sp>
      <p:sp>
        <p:nvSpPr>
          <p:cNvPr id="12" name="Bullet"/>
          <p:cNvSpPr/>
          <p:nvPr/>
        </p:nvSpPr>
        <p:spPr>
          <a:xfrm>
            <a:off x="1005840" y="4453128"/>
            <a:ext cx="146304" cy="146304"/>
          </a:xfrm>
          <a:prstGeom prst="ellipse">
            <a:avLst/>
          </a:prstGeom>
          <a:solidFill>
            <a:schemeClr val="accent2"/>
          </a:solidFill>
          <a:ln/>
        </p:spPr>
      </p:sp>
      <p:sp>
        <p:nvSpPr>
          <p:cNvPr id="13" name="Limitation"/>
          <p:cNvSpPr txBox="1"/>
          <p:nvPr/>
        </p:nvSpPr>
        <p:spPr>
          <a:xfrm>
            <a:off x="1371600" y="4343400"/>
            <a:ext cx="4297680" cy="731520"/>
          </a:xfrm>
          <a:prstGeom prst="rect">
            <a:avLst/>
          </a:prstGeom>
          <a:noFill/>
          <a:ln/>
        </p:spPr>
        <p:txBody>
          <a:bodyPr wrap="square" lIns="0" tIns="0" rIns="0" bIns="0" rtlCol="0" anchor="t"/>
          <a:lstStyle/>
          <a:p>
            <a:pPr indent="0" marL="0">
              <a:buNone/>
            </a:pPr>
            <a:r>
              <a:rPr lang="en-US" sz="1500" dirty="0">
                <a:solidFill>
                  <a:schemeClr val="tx1"/>
                </a:solidFill>
              </a:rPr>
              <a:t>Precedents come from US SEC filings; other jurisdictions are not covered yet</a:t>
            </a:r>
            <a:endParaRPr lang="en-US" sz="1500" dirty="0"/>
          </a:p>
        </p:txBody>
      </p:sp>
      <p:sp>
        <p:nvSpPr>
          <p:cNvPr id="14" name="Bullet"/>
          <p:cNvSpPr/>
          <p:nvPr/>
        </p:nvSpPr>
        <p:spPr>
          <a:xfrm>
            <a:off x="1005840" y="5276088"/>
            <a:ext cx="146304" cy="146304"/>
          </a:xfrm>
          <a:prstGeom prst="ellipse">
            <a:avLst/>
          </a:prstGeom>
          <a:solidFill>
            <a:schemeClr val="accent2"/>
          </a:solidFill>
          <a:ln/>
        </p:spPr>
      </p:sp>
      <p:sp>
        <p:nvSpPr>
          <p:cNvPr id="15" name="Limitation"/>
          <p:cNvSpPr txBox="1"/>
          <p:nvPr/>
        </p:nvSpPr>
        <p:spPr>
          <a:xfrm>
            <a:off x="1371600" y="5166360"/>
            <a:ext cx="4297680" cy="731520"/>
          </a:xfrm>
          <a:prstGeom prst="rect">
            <a:avLst/>
          </a:prstGeom>
          <a:noFill/>
          <a:ln/>
        </p:spPr>
        <p:txBody>
          <a:bodyPr wrap="square" lIns="0" tIns="0" rIns="0" bIns="0" rtlCol="0" anchor="t"/>
          <a:lstStyle/>
          <a:p>
            <a:pPr indent="0" marL="0">
              <a:buNone/>
            </a:pPr>
            <a:r>
              <a:rPr lang="en-US" sz="1500" dirty="0">
                <a:solidFill>
                  <a:schemeClr val="tx1"/>
                </a:solidFill>
              </a:rPr>
              <a:t>AI output can be wrong: a decision aid, not legal advice</a:t>
            </a:r>
            <a:endParaRPr lang="en-US" sz="1500" dirty="0"/>
          </a:p>
        </p:txBody>
      </p:sp>
      <p:sp>
        <p:nvSpPr>
          <p:cNvPr id="16" name="Roadmap card"/>
          <p:cNvSpPr/>
          <p:nvPr/>
        </p:nvSpPr>
        <p:spPr>
          <a:xfrm>
            <a:off x="6227064" y="1645920"/>
            <a:ext cx="5321808" cy="4434840"/>
          </a:xfrm>
          <a:prstGeom prst="roundRect">
            <a:avLst>
              <a:gd name="adj" fmla="val 2474"/>
            </a:avLst>
          </a:prstGeom>
          <a:solidFill>
            <a:schemeClr val="tx1"/>
          </a:solidFill>
          <a:ln/>
        </p:spPr>
      </p:sp>
      <p:sp>
        <p:nvSpPr>
          <p:cNvPr id="17" name="Roadmap badge"/>
          <p:cNvSpPr/>
          <p:nvPr/>
        </p:nvSpPr>
        <p:spPr>
          <a:xfrm>
            <a:off x="6547104" y="1874520"/>
            <a:ext cx="548640" cy="548640"/>
          </a:xfrm>
          <a:prstGeom prst="ellipse">
            <a:avLst/>
          </a:prstGeom>
          <a:solidFill>
            <a:schemeClr val="tx2"/>
          </a:solidFill>
          <a:ln/>
        </p:spPr>
      </p:sp>
      <p:pic>
        <p:nvPicPr>
          <p:cNvPr id="18" name="Image 1" descr="Roadmap">    </p:cNvPr>
          <p:cNvPicPr>
            <a:picLocks noChangeAspect="1"/>
          </p:cNvPicPr>
          <p:nvPr/>
        </p:nvPicPr>
        <p:blipFill>
          <a:blip r:embed="rId2"/>
          <a:stretch>
            <a:fillRect/>
          </a:stretch>
        </p:blipFill>
        <p:spPr>
          <a:xfrm>
            <a:off x="6695237" y="2022653"/>
            <a:ext cx="252374" cy="252374"/>
          </a:xfrm>
          <a:prstGeom prst="rect">
            <a:avLst/>
          </a:prstGeom>
        </p:spPr>
      </p:pic>
      <p:sp>
        <p:nvSpPr>
          <p:cNvPr id="19" name="Roadmap heading"/>
          <p:cNvSpPr txBox="1"/>
          <p:nvPr/>
        </p:nvSpPr>
        <p:spPr>
          <a:xfrm>
            <a:off x="7278624" y="1874520"/>
            <a:ext cx="3931920" cy="548640"/>
          </a:xfrm>
          <a:prstGeom prst="rect">
            <a:avLst/>
          </a:prstGeom>
          <a:noFill/>
          <a:ln/>
        </p:spPr>
        <p:txBody>
          <a:bodyPr wrap="square" lIns="0" tIns="0" rIns="0" bIns="0" rtlCol="0" anchor="ctr"/>
          <a:lstStyle/>
          <a:p>
            <a:pPr indent="0" marL="0">
              <a:buNone/>
            </a:pPr>
            <a:r>
              <a:rPr lang="en-US" sz="1400" b="1" spc="300" kern="0" dirty="0">
                <a:solidFill>
                  <a:schemeClr val="accent1"/>
                </a:solidFill>
              </a:rPr>
              <a:t>ROADMAP</a:t>
            </a:r>
            <a:endParaRPr lang="en-US" sz="1400" dirty="0"/>
          </a:p>
        </p:txBody>
      </p:sp>
      <p:sp>
        <p:nvSpPr>
          <p:cNvPr id="20" name="Bullet"/>
          <p:cNvSpPr/>
          <p:nvPr/>
        </p:nvSpPr>
        <p:spPr>
          <a:xfrm>
            <a:off x="6592824" y="2761488"/>
            <a:ext cx="146304" cy="146304"/>
          </a:xfrm>
          <a:prstGeom prst="ellipse">
            <a:avLst/>
          </a:prstGeom>
          <a:solidFill>
            <a:schemeClr val="accent5"/>
          </a:solidFill>
          <a:ln/>
        </p:spPr>
      </p:sp>
      <p:sp>
        <p:nvSpPr>
          <p:cNvPr id="21" name="Roadmap item"/>
          <p:cNvSpPr txBox="1"/>
          <p:nvPr/>
        </p:nvSpPr>
        <p:spPr>
          <a:xfrm>
            <a:off x="6958584" y="2651760"/>
            <a:ext cx="4297680" cy="640080"/>
          </a:xfrm>
          <a:prstGeom prst="rect">
            <a:avLst/>
          </a:prstGeom>
          <a:noFill/>
          <a:ln/>
        </p:spPr>
        <p:txBody>
          <a:bodyPr wrap="square" lIns="0" tIns="0" rIns="0" bIns="0" rtlCol="0" anchor="t"/>
          <a:lstStyle/>
          <a:p>
            <a:pPr indent="0" marL="0">
              <a:buNone/>
            </a:pPr>
            <a:r>
              <a:rPr lang="en-US" sz="1500" dirty="0">
                <a:solidFill>
                  <a:schemeClr val="bg1"/>
                </a:solidFill>
              </a:rPr>
              <a:t>Scale the LEDGAR corpus and re-evaluate against BM25</a:t>
            </a:r>
            <a:endParaRPr lang="en-US" sz="1500" dirty="0"/>
          </a:p>
        </p:txBody>
      </p:sp>
      <p:sp>
        <p:nvSpPr>
          <p:cNvPr id="22" name="Bullet"/>
          <p:cNvSpPr/>
          <p:nvPr/>
        </p:nvSpPr>
        <p:spPr>
          <a:xfrm>
            <a:off x="6592824" y="3438144"/>
            <a:ext cx="146304" cy="146304"/>
          </a:xfrm>
          <a:prstGeom prst="ellipse">
            <a:avLst/>
          </a:prstGeom>
          <a:solidFill>
            <a:schemeClr val="accent5"/>
          </a:solidFill>
          <a:ln/>
        </p:spPr>
      </p:sp>
      <p:sp>
        <p:nvSpPr>
          <p:cNvPr id="23" name="Roadmap item"/>
          <p:cNvSpPr txBox="1"/>
          <p:nvPr/>
        </p:nvSpPr>
        <p:spPr>
          <a:xfrm>
            <a:off x="6958584" y="3328416"/>
            <a:ext cx="4297680" cy="640080"/>
          </a:xfrm>
          <a:prstGeom prst="rect">
            <a:avLst/>
          </a:prstGeom>
          <a:noFill/>
          <a:ln/>
        </p:spPr>
        <p:txBody>
          <a:bodyPr wrap="square" lIns="0" tIns="0" rIns="0" bIns="0" rtlCol="0" anchor="t"/>
          <a:lstStyle/>
          <a:p>
            <a:pPr indent="0" marL="0">
              <a:buNone/>
            </a:pPr>
            <a:r>
              <a:rPr lang="en-US" sz="1500" dirty="0">
                <a:solidFill>
                  <a:schemeClr val="bg1"/>
                </a:solidFill>
              </a:rPr>
              <a:t>Per-clause empirical risk scoring</a:t>
            </a:r>
            <a:endParaRPr lang="en-US" sz="1500" dirty="0"/>
          </a:p>
        </p:txBody>
      </p:sp>
      <p:sp>
        <p:nvSpPr>
          <p:cNvPr id="24" name="Bullet"/>
          <p:cNvSpPr/>
          <p:nvPr/>
        </p:nvSpPr>
        <p:spPr>
          <a:xfrm>
            <a:off x="6592824" y="4114800"/>
            <a:ext cx="146304" cy="146304"/>
          </a:xfrm>
          <a:prstGeom prst="ellipse">
            <a:avLst/>
          </a:prstGeom>
          <a:solidFill>
            <a:schemeClr val="accent5"/>
          </a:solidFill>
          <a:ln/>
        </p:spPr>
      </p:sp>
      <p:sp>
        <p:nvSpPr>
          <p:cNvPr id="25" name="Roadmap item"/>
          <p:cNvSpPr txBox="1"/>
          <p:nvPr/>
        </p:nvSpPr>
        <p:spPr>
          <a:xfrm>
            <a:off x="6958584" y="4005072"/>
            <a:ext cx="4297680" cy="640080"/>
          </a:xfrm>
          <a:prstGeom prst="rect">
            <a:avLst/>
          </a:prstGeom>
          <a:noFill/>
          <a:ln/>
        </p:spPr>
        <p:txBody>
          <a:bodyPr wrap="square" lIns="0" tIns="0" rIns="0" bIns="0" rtlCol="0" anchor="t"/>
          <a:lstStyle/>
          <a:p>
            <a:pPr indent="0" marL="0">
              <a:buNone/>
            </a:pPr>
            <a:r>
              <a:rPr lang="en-US" sz="1500" dirty="0">
                <a:solidFill>
                  <a:schemeClr val="bg1"/>
                </a:solidFill>
              </a:rPr>
              <a:t>Multi-agent negotiation simulation to find compromise points</a:t>
            </a:r>
            <a:endParaRPr lang="en-US" sz="1500" dirty="0"/>
          </a:p>
        </p:txBody>
      </p:sp>
      <p:sp>
        <p:nvSpPr>
          <p:cNvPr id="26" name="Bullet"/>
          <p:cNvSpPr/>
          <p:nvPr/>
        </p:nvSpPr>
        <p:spPr>
          <a:xfrm>
            <a:off x="6592824" y="4791456"/>
            <a:ext cx="146304" cy="146304"/>
          </a:xfrm>
          <a:prstGeom prst="ellipse">
            <a:avLst/>
          </a:prstGeom>
          <a:solidFill>
            <a:schemeClr val="accent5"/>
          </a:solidFill>
          <a:ln/>
        </p:spPr>
      </p:sp>
      <p:sp>
        <p:nvSpPr>
          <p:cNvPr id="27" name="Roadmap item"/>
          <p:cNvSpPr txBox="1"/>
          <p:nvPr/>
        </p:nvSpPr>
        <p:spPr>
          <a:xfrm>
            <a:off x="6958584" y="4681728"/>
            <a:ext cx="4297680" cy="640080"/>
          </a:xfrm>
          <a:prstGeom prst="rect">
            <a:avLst/>
          </a:prstGeom>
          <a:noFill/>
          <a:ln/>
        </p:spPr>
        <p:txBody>
          <a:bodyPr wrap="square" lIns="0" tIns="0" rIns="0" bIns="0" rtlCol="0" anchor="t"/>
          <a:lstStyle/>
          <a:p>
            <a:pPr indent="0" marL="0">
              <a:buNone/>
            </a:pPr>
            <a:r>
              <a:rPr lang="en-US" sz="1500" dirty="0">
                <a:solidFill>
                  <a:schemeClr val="bg1"/>
                </a:solidFill>
              </a:rPr>
              <a:t>Jurisdiction modules (US states, EU AI Act, UK) and mobile OCR scanning</a:t>
            </a:r>
            <a:endParaRPr lang="en-US" sz="1500" dirty="0"/>
          </a:p>
        </p:txBody>
      </p:sp>
      <p:sp>
        <p:nvSpPr>
          <p:cNvPr id="28" name="Bullet"/>
          <p:cNvSpPr/>
          <p:nvPr/>
        </p:nvSpPr>
        <p:spPr>
          <a:xfrm>
            <a:off x="6592824" y="5468112"/>
            <a:ext cx="146304" cy="146304"/>
          </a:xfrm>
          <a:prstGeom prst="ellipse">
            <a:avLst/>
          </a:prstGeom>
          <a:solidFill>
            <a:schemeClr val="accent5"/>
          </a:solidFill>
          <a:ln/>
        </p:spPr>
      </p:sp>
      <p:sp>
        <p:nvSpPr>
          <p:cNvPr id="29" name="Roadmap item"/>
          <p:cNvSpPr txBox="1"/>
          <p:nvPr/>
        </p:nvSpPr>
        <p:spPr>
          <a:xfrm>
            <a:off x="6958584" y="5358384"/>
            <a:ext cx="4297680" cy="640080"/>
          </a:xfrm>
          <a:prstGeom prst="rect">
            <a:avLst/>
          </a:prstGeom>
          <a:noFill/>
          <a:ln/>
        </p:spPr>
        <p:txBody>
          <a:bodyPr wrap="square" lIns="0" tIns="0" rIns="0" bIns="0" rtlCol="0" anchor="t"/>
          <a:lstStyle/>
          <a:p>
            <a:pPr indent="0" marL="0">
              <a:buNone/>
            </a:pPr>
            <a:r>
              <a:rPr lang="en-US" sz="1500" dirty="0">
                <a:solidFill>
                  <a:schemeClr val="bg1"/>
                </a:solidFill>
              </a:rPr>
              <a:t>Salesforce, DocuSign, Slack and Google Workspace connectors</a:t>
            </a:r>
            <a:endParaRPr lang="en-US" sz="15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8716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ection kicker"/>
          <p:cNvSpPr txBox="1"/>
          <p:nvPr/>
        </p:nvSpPr>
        <p:spPr>
          <a:xfrm>
            <a:off x="640080" y="365760"/>
            <a:ext cx="82296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SUMMARY</a:t>
            </a:r>
            <a:endParaRPr lang="en-US" sz="1200" dirty="0"/>
          </a:p>
        </p:txBody>
      </p:sp>
      <p:sp>
        <p:nvSpPr>
          <p:cNvPr id="3" name="Text 2"/>
          <p:cNvSpPr/>
          <p:nvPr>
            <p:ph idx="102" type="title" hasCustomPrompt="1"/>
          </p:nvPr>
        </p:nvSpPr>
        <p:spPr>
          <a:xfrm>
            <a:off x="640080" y="658368"/>
            <a:ext cx="10911535" cy="685800"/>
          </a:xfrm>
          <a:prstGeom prst="rect">
            <a:avLst/>
          </a:prstGeom>
          <a:noFill/>
          <a:ln/>
        </p:spPr>
        <p:txBody>
          <a:bodyPr wrap="square" lIns="0" tIns="0" rIns="0" bIns="0" rtlCol="0" anchor="ctr"/>
          <a:lstStyle/>
          <a:p>
            <a:pPr algn="l" indent="0" marL="0">
              <a:buNone/>
            </a:pPr>
            <a:r>
              <a:rPr lang="en-US" sz="3600" b="1" dirty="0">
                <a:solidFill>
                  <a:schemeClr val="bg1"/>
                </a:solidFill>
              </a:rPr>
              <a:t>Key Takeaways</a:t>
            </a:r>
            <a:endParaRPr lang="en-US" sz="3600" dirty="0"/>
          </a:p>
        </p:txBody>
      </p:sp>
      <p:sp>
        <p:nvSpPr>
          <p:cNvPr id="4" name="Takeaway 1"/>
          <p:cNvSpPr/>
          <p:nvPr/>
        </p:nvSpPr>
        <p:spPr>
          <a:xfrm>
            <a:off x="640080" y="1691640"/>
            <a:ext cx="5321808" cy="2011680"/>
          </a:xfrm>
          <a:prstGeom prst="roundRect">
            <a:avLst>
              <a:gd name="adj" fmla="val 5455"/>
            </a:avLst>
          </a:prstGeom>
          <a:solidFill>
            <a:schemeClr val="tx2"/>
          </a:solidFill>
          <a:ln/>
        </p:spPr>
      </p:sp>
      <p:sp>
        <p:nvSpPr>
          <p:cNvPr id="5" name="Takeaway number"/>
          <p:cNvSpPr txBox="1"/>
          <p:nvPr/>
        </p:nvSpPr>
        <p:spPr>
          <a:xfrm>
            <a:off x="960120" y="1965960"/>
            <a:ext cx="1097280" cy="914400"/>
          </a:xfrm>
          <a:prstGeom prst="rect">
            <a:avLst/>
          </a:prstGeom>
          <a:noFill/>
          <a:ln/>
        </p:spPr>
        <p:txBody>
          <a:bodyPr wrap="square" lIns="0" tIns="0" rIns="0" bIns="0" rtlCol="0" anchor="ctr"/>
          <a:lstStyle/>
          <a:p>
            <a:pPr indent="0" marL="0">
              <a:buNone/>
            </a:pPr>
            <a:r>
              <a:rPr lang="en-US" sz="4800" b="1" dirty="0">
                <a:solidFill>
                  <a:schemeClr val="accent1"/>
                </a:solidFill>
                <a:latin typeface="+mj-lt" pitchFamily="34" charset="0"/>
                <a:ea typeface="+mj-lt" pitchFamily="34" charset="-122"/>
                <a:cs typeface="+mj-lt" pitchFamily="34" charset="-120"/>
              </a:rPr>
              <a:t>01</a:t>
            </a:r>
            <a:endParaRPr lang="en-US" sz="4800" dirty="0"/>
          </a:p>
        </p:txBody>
      </p:sp>
      <p:sp>
        <p:nvSpPr>
          <p:cNvPr id="6" name="Takeaway title"/>
          <p:cNvSpPr txBox="1"/>
          <p:nvPr/>
        </p:nvSpPr>
        <p:spPr>
          <a:xfrm>
            <a:off x="2194560" y="2011680"/>
            <a:ext cx="3566160" cy="411480"/>
          </a:xfrm>
          <a:prstGeom prst="rect">
            <a:avLst/>
          </a:prstGeom>
          <a:noFill/>
          <a:ln/>
        </p:spPr>
        <p:txBody>
          <a:bodyPr wrap="square" lIns="0" tIns="0" rIns="0" bIns="0" rtlCol="0" anchor="t"/>
          <a:lstStyle/>
          <a:p>
            <a:pPr indent="0" marL="0">
              <a:buNone/>
            </a:pPr>
            <a:r>
              <a:rPr lang="en-US" sz="2000" b="1" dirty="0">
                <a:solidFill>
                  <a:schemeClr val="bg1"/>
                </a:solidFill>
              </a:rPr>
              <a:t>Asymmetry, addressed</a:t>
            </a:r>
            <a:endParaRPr lang="en-US" sz="2000" dirty="0"/>
          </a:p>
        </p:txBody>
      </p:sp>
      <p:sp>
        <p:nvSpPr>
          <p:cNvPr id="7" name="Takeaway text"/>
          <p:cNvSpPr txBox="1"/>
          <p:nvPr/>
        </p:nvSpPr>
        <p:spPr>
          <a:xfrm>
            <a:off x="2194560" y="2514600"/>
            <a:ext cx="3566160" cy="1005840"/>
          </a:xfrm>
          <a:prstGeom prst="rect">
            <a:avLst/>
          </a:prstGeom>
          <a:noFill/>
          <a:ln/>
        </p:spPr>
        <p:txBody>
          <a:bodyPr wrap="square" lIns="0" tIns="0" rIns="0" bIns="0" rtlCol="0" anchor="t"/>
          <a:lstStyle/>
          <a:p>
            <a:pPr indent="0" marL="0">
              <a:buNone/>
            </a:pPr>
            <a:r>
              <a:rPr lang="en-US" sz="1500" dirty="0">
                <a:solidFill>
                  <a:schemeClr val="bg2"/>
                </a:solidFill>
              </a:rPr>
              <a:t>Plain-English risk scores, exposure and counter-clauses for people without counsel.</a:t>
            </a:r>
            <a:endParaRPr lang="en-US" sz="1500" dirty="0"/>
          </a:p>
        </p:txBody>
      </p:sp>
      <p:sp>
        <p:nvSpPr>
          <p:cNvPr id="8" name="Takeaway 2"/>
          <p:cNvSpPr/>
          <p:nvPr/>
        </p:nvSpPr>
        <p:spPr>
          <a:xfrm>
            <a:off x="6227064" y="1691640"/>
            <a:ext cx="5321808" cy="2011680"/>
          </a:xfrm>
          <a:prstGeom prst="roundRect">
            <a:avLst>
              <a:gd name="adj" fmla="val 5455"/>
            </a:avLst>
          </a:prstGeom>
          <a:solidFill>
            <a:schemeClr val="tx2"/>
          </a:solidFill>
          <a:ln/>
        </p:spPr>
      </p:sp>
      <p:sp>
        <p:nvSpPr>
          <p:cNvPr id="9" name="Takeaway number"/>
          <p:cNvSpPr txBox="1"/>
          <p:nvPr/>
        </p:nvSpPr>
        <p:spPr>
          <a:xfrm>
            <a:off x="6547104" y="1965960"/>
            <a:ext cx="1097280" cy="914400"/>
          </a:xfrm>
          <a:prstGeom prst="rect">
            <a:avLst/>
          </a:prstGeom>
          <a:noFill/>
          <a:ln/>
        </p:spPr>
        <p:txBody>
          <a:bodyPr wrap="square" lIns="0" tIns="0" rIns="0" bIns="0" rtlCol="0" anchor="ctr"/>
          <a:lstStyle/>
          <a:p>
            <a:pPr indent="0" marL="0">
              <a:buNone/>
            </a:pPr>
            <a:r>
              <a:rPr lang="en-US" sz="4800" b="1" dirty="0">
                <a:solidFill>
                  <a:schemeClr val="accent1"/>
                </a:solidFill>
                <a:latin typeface="+mj-lt" pitchFamily="34" charset="0"/>
                <a:ea typeface="+mj-lt" pitchFamily="34" charset="-122"/>
                <a:cs typeface="+mj-lt" pitchFamily="34" charset="-120"/>
              </a:rPr>
              <a:t>02</a:t>
            </a:r>
            <a:endParaRPr lang="en-US" sz="4800" dirty="0"/>
          </a:p>
        </p:txBody>
      </p:sp>
      <p:sp>
        <p:nvSpPr>
          <p:cNvPr id="10" name="Takeaway title"/>
          <p:cNvSpPr txBox="1"/>
          <p:nvPr/>
        </p:nvSpPr>
        <p:spPr>
          <a:xfrm>
            <a:off x="7781544" y="2011680"/>
            <a:ext cx="3566160" cy="411480"/>
          </a:xfrm>
          <a:prstGeom prst="rect">
            <a:avLst/>
          </a:prstGeom>
          <a:noFill/>
          <a:ln/>
        </p:spPr>
        <p:txBody>
          <a:bodyPr wrap="square" lIns="0" tIns="0" rIns="0" bIns="0" rtlCol="0" anchor="t"/>
          <a:lstStyle/>
          <a:p>
            <a:pPr indent="0" marL="0">
              <a:buNone/>
            </a:pPr>
            <a:r>
              <a:rPr lang="en-US" sz="2000" b="1" dirty="0">
                <a:solidFill>
                  <a:schemeClr val="bg1"/>
                </a:solidFill>
              </a:rPr>
              <a:t>Two pipelines, one report</a:t>
            </a:r>
            <a:endParaRPr lang="en-US" sz="2000" dirty="0"/>
          </a:p>
        </p:txBody>
      </p:sp>
      <p:sp>
        <p:nvSpPr>
          <p:cNvPr id="11" name="Takeaway text"/>
          <p:cNvSpPr txBox="1"/>
          <p:nvPr/>
        </p:nvSpPr>
        <p:spPr>
          <a:xfrm>
            <a:off x="7781544" y="2514600"/>
            <a:ext cx="3566160" cy="1005840"/>
          </a:xfrm>
          <a:prstGeom prst="rect">
            <a:avLst/>
          </a:prstGeom>
          <a:noFill/>
          <a:ln/>
        </p:spPr>
        <p:txBody>
          <a:bodyPr wrap="square" lIns="0" tIns="0" rIns="0" bIns="0" rtlCol="0" anchor="t"/>
          <a:lstStyle/>
          <a:p>
            <a:pPr indent="0" marL="0">
              <a:buNone/>
            </a:pPr>
            <a:r>
              <a:rPr lang="en-US" sz="1500" dirty="0">
                <a:solidFill>
                  <a:schemeClr val="bg2"/>
                </a:solidFill>
              </a:rPr>
              <a:t>Deterministic edge ML grounds the generative LLM instead of replacing it.</a:t>
            </a:r>
            <a:endParaRPr lang="en-US" sz="1500" dirty="0"/>
          </a:p>
        </p:txBody>
      </p:sp>
      <p:sp>
        <p:nvSpPr>
          <p:cNvPr id="12" name="Takeaway 3"/>
          <p:cNvSpPr/>
          <p:nvPr/>
        </p:nvSpPr>
        <p:spPr>
          <a:xfrm>
            <a:off x="640080" y="3886200"/>
            <a:ext cx="5321808" cy="2011680"/>
          </a:xfrm>
          <a:prstGeom prst="roundRect">
            <a:avLst>
              <a:gd name="adj" fmla="val 5455"/>
            </a:avLst>
          </a:prstGeom>
          <a:solidFill>
            <a:schemeClr val="tx2"/>
          </a:solidFill>
          <a:ln/>
        </p:spPr>
      </p:sp>
      <p:sp>
        <p:nvSpPr>
          <p:cNvPr id="13" name="Takeaway number"/>
          <p:cNvSpPr txBox="1"/>
          <p:nvPr/>
        </p:nvSpPr>
        <p:spPr>
          <a:xfrm>
            <a:off x="960120" y="4160520"/>
            <a:ext cx="1097280" cy="914400"/>
          </a:xfrm>
          <a:prstGeom prst="rect">
            <a:avLst/>
          </a:prstGeom>
          <a:noFill/>
          <a:ln/>
        </p:spPr>
        <p:txBody>
          <a:bodyPr wrap="square" lIns="0" tIns="0" rIns="0" bIns="0" rtlCol="0" anchor="ctr"/>
          <a:lstStyle/>
          <a:p>
            <a:pPr indent="0" marL="0">
              <a:buNone/>
            </a:pPr>
            <a:r>
              <a:rPr lang="en-US" sz="4800" b="1" dirty="0">
                <a:solidFill>
                  <a:schemeClr val="accent1"/>
                </a:solidFill>
                <a:latin typeface="+mj-lt" pitchFamily="34" charset="0"/>
                <a:ea typeface="+mj-lt" pitchFamily="34" charset="-122"/>
                <a:cs typeface="+mj-lt" pitchFamily="34" charset="-120"/>
              </a:rPr>
              <a:t>03</a:t>
            </a:r>
            <a:endParaRPr lang="en-US" sz="4800" dirty="0"/>
          </a:p>
        </p:txBody>
      </p:sp>
      <p:sp>
        <p:nvSpPr>
          <p:cNvPr id="14" name="Takeaway title"/>
          <p:cNvSpPr txBox="1"/>
          <p:nvPr/>
        </p:nvSpPr>
        <p:spPr>
          <a:xfrm>
            <a:off x="2194560" y="4206240"/>
            <a:ext cx="3566160" cy="411480"/>
          </a:xfrm>
          <a:prstGeom prst="rect">
            <a:avLst/>
          </a:prstGeom>
          <a:noFill/>
          <a:ln/>
        </p:spPr>
        <p:txBody>
          <a:bodyPr wrap="square" lIns="0" tIns="0" rIns="0" bIns="0" rtlCol="0" anchor="t"/>
          <a:lstStyle/>
          <a:p>
            <a:pPr indent="0" marL="0">
              <a:buNone/>
            </a:pPr>
            <a:r>
              <a:rPr lang="en-US" sz="2000" b="1" dirty="0">
                <a:solidFill>
                  <a:schemeClr val="bg1"/>
                </a:solidFill>
              </a:rPr>
              <a:t>Evidence over hype</a:t>
            </a:r>
            <a:endParaRPr lang="en-US" sz="2000" dirty="0"/>
          </a:p>
        </p:txBody>
      </p:sp>
      <p:sp>
        <p:nvSpPr>
          <p:cNvPr id="15" name="Takeaway text"/>
          <p:cNvSpPr txBox="1"/>
          <p:nvPr/>
        </p:nvSpPr>
        <p:spPr>
          <a:xfrm>
            <a:off x="2194560" y="4709160"/>
            <a:ext cx="3566160" cy="1005840"/>
          </a:xfrm>
          <a:prstGeom prst="rect">
            <a:avLst/>
          </a:prstGeom>
          <a:noFill/>
          <a:ln/>
        </p:spPr>
        <p:txBody>
          <a:bodyPr wrap="square" lIns="0" tIns="0" rIns="0" bIns="0" rtlCol="0" anchor="t"/>
          <a:lstStyle/>
          <a:p>
            <a:pPr indent="0" marL="0">
              <a:buNone/>
            </a:pPr>
            <a:r>
              <a:rPr lang="en-US" sz="1500" dirty="0">
                <a:solidFill>
                  <a:schemeClr val="bg2"/>
                </a:solidFill>
              </a:rPr>
              <a:t>56.8% vs a 36.4% baseline, but tied with BM25: reported honestly.</a:t>
            </a:r>
            <a:endParaRPr lang="en-US" sz="1500" dirty="0"/>
          </a:p>
        </p:txBody>
      </p:sp>
      <p:sp>
        <p:nvSpPr>
          <p:cNvPr id="16" name="Takeaway 4"/>
          <p:cNvSpPr/>
          <p:nvPr/>
        </p:nvSpPr>
        <p:spPr>
          <a:xfrm>
            <a:off x="6227064" y="3886200"/>
            <a:ext cx="5321808" cy="2011680"/>
          </a:xfrm>
          <a:prstGeom prst="roundRect">
            <a:avLst>
              <a:gd name="adj" fmla="val 5455"/>
            </a:avLst>
          </a:prstGeom>
          <a:solidFill>
            <a:schemeClr val="tx2"/>
          </a:solidFill>
          <a:ln/>
        </p:spPr>
      </p:sp>
      <p:sp>
        <p:nvSpPr>
          <p:cNvPr id="17" name="Takeaway number"/>
          <p:cNvSpPr txBox="1"/>
          <p:nvPr/>
        </p:nvSpPr>
        <p:spPr>
          <a:xfrm>
            <a:off x="6547104" y="4160520"/>
            <a:ext cx="1097280" cy="914400"/>
          </a:xfrm>
          <a:prstGeom prst="rect">
            <a:avLst/>
          </a:prstGeom>
          <a:noFill/>
          <a:ln/>
        </p:spPr>
        <p:txBody>
          <a:bodyPr wrap="square" lIns="0" tIns="0" rIns="0" bIns="0" rtlCol="0" anchor="ctr"/>
          <a:lstStyle/>
          <a:p>
            <a:pPr indent="0" marL="0">
              <a:buNone/>
            </a:pPr>
            <a:r>
              <a:rPr lang="en-US" sz="4800" b="1" dirty="0">
                <a:solidFill>
                  <a:schemeClr val="accent1"/>
                </a:solidFill>
                <a:latin typeface="+mj-lt" pitchFamily="34" charset="0"/>
                <a:ea typeface="+mj-lt" pitchFamily="34" charset="-122"/>
                <a:cs typeface="+mj-lt" pitchFamily="34" charset="-120"/>
              </a:rPr>
              <a:t>04</a:t>
            </a:r>
            <a:endParaRPr lang="en-US" sz="4800" dirty="0"/>
          </a:p>
        </p:txBody>
      </p:sp>
      <p:sp>
        <p:nvSpPr>
          <p:cNvPr id="18" name="Takeaway title"/>
          <p:cNvSpPr txBox="1"/>
          <p:nvPr/>
        </p:nvSpPr>
        <p:spPr>
          <a:xfrm>
            <a:off x="7781544" y="4206240"/>
            <a:ext cx="3566160" cy="411480"/>
          </a:xfrm>
          <a:prstGeom prst="rect">
            <a:avLst/>
          </a:prstGeom>
          <a:noFill/>
          <a:ln/>
        </p:spPr>
        <p:txBody>
          <a:bodyPr wrap="square" lIns="0" tIns="0" rIns="0" bIns="0" rtlCol="0" anchor="t"/>
          <a:lstStyle/>
          <a:p>
            <a:pPr indent="0" marL="0">
              <a:buNone/>
            </a:pPr>
            <a:r>
              <a:rPr lang="en-US" sz="2000" b="1" dirty="0">
                <a:solidFill>
                  <a:schemeClr val="bg1"/>
                </a:solidFill>
              </a:rPr>
              <a:t>Production-ready</a:t>
            </a:r>
            <a:endParaRPr lang="en-US" sz="2000" dirty="0"/>
          </a:p>
        </p:txBody>
      </p:sp>
      <p:sp>
        <p:nvSpPr>
          <p:cNvPr id="19" name="Takeaway text"/>
          <p:cNvSpPr txBox="1"/>
          <p:nvPr/>
        </p:nvSpPr>
        <p:spPr>
          <a:xfrm>
            <a:off x="7781544" y="4709160"/>
            <a:ext cx="3566160" cy="1005840"/>
          </a:xfrm>
          <a:prstGeom prst="rect">
            <a:avLst/>
          </a:prstGeom>
          <a:noFill/>
          <a:ln/>
        </p:spPr>
        <p:txBody>
          <a:bodyPr wrap="square" lIns="0" tIns="0" rIns="0" bIns="0" rtlCol="0" anchor="t"/>
          <a:lstStyle/>
          <a:p>
            <a:pPr indent="0" marL="0">
              <a:buNone/>
            </a:pPr>
            <a:r>
              <a:rPr lang="en-US" sz="1500" dirty="0">
                <a:solidFill>
                  <a:schemeClr val="bg2"/>
                </a:solidFill>
              </a:rPr>
              <a:t>Live on Vercel with 48 pages, 32 APIs, a Chrome extension and privacy-first tools.</a:t>
            </a:r>
            <a:endParaRPr lang="en-US" sz="15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A29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822960" y="1371600"/>
            <a:ext cx="6858000" cy="320040"/>
          </a:xfrm>
          <a:prstGeom prst="rect">
            <a:avLst/>
          </a:prstGeom>
          <a:noFill/>
          <a:ln/>
        </p:spPr>
        <p:txBody>
          <a:bodyPr wrap="square" lIns="0" tIns="0" rIns="0" bIns="0" rtlCol="0" anchor="t"/>
          <a:lstStyle/>
          <a:p>
            <a:pPr indent="0" marL="0">
              <a:buNone/>
            </a:pPr>
            <a:r>
              <a:rPr lang="en-US" sz="1300" b="1" spc="300" kern="0" dirty="0">
                <a:solidFill>
                  <a:schemeClr val="accent1"/>
                </a:solidFill>
              </a:rPr>
              <a:t>QUESTIONS &amp; DISCUSSION</a:t>
            </a:r>
            <a:endParaRPr lang="en-US" sz="1300" dirty="0"/>
          </a:p>
        </p:txBody>
      </p:sp>
      <p:sp>
        <p:nvSpPr>
          <p:cNvPr id="3" name="Text 1"/>
          <p:cNvSpPr/>
          <p:nvPr>
            <p:ph idx="101" type="title" hasCustomPrompt="1"/>
          </p:nvPr>
        </p:nvSpPr>
        <p:spPr>
          <a:xfrm>
            <a:off x="822960" y="2057400"/>
            <a:ext cx="6583680" cy="1371600"/>
          </a:xfrm>
          <a:prstGeom prst="rect">
            <a:avLst/>
          </a:prstGeom>
          <a:noFill/>
          <a:ln/>
        </p:spPr>
        <p:txBody>
          <a:bodyPr wrap="square" lIns="0" tIns="0" rIns="0" bIns="0" rtlCol="0" anchor="t"/>
          <a:lstStyle/>
          <a:p>
            <a:pPr algn="l" indent="0" marL="0">
              <a:buNone/>
            </a:pPr>
            <a:r>
              <a:rPr lang="en-US" sz="6000" b="1" dirty="0">
                <a:solidFill>
                  <a:schemeClr val="bg1"/>
                </a:solidFill>
              </a:rPr>
              <a:t>Thank You</a:t>
            </a:r>
            <a:endParaRPr lang="en-US" sz="6000" dirty="0"/>
          </a:p>
        </p:txBody>
      </p:sp>
      <p:sp>
        <p:nvSpPr>
          <p:cNvPr id="4" name="Text 1"/>
          <p:cNvSpPr/>
          <p:nvPr>
            <p:ph idx="102" type="body" hasCustomPrompt="1"/>
          </p:nvPr>
        </p:nvSpPr>
        <p:spPr>
          <a:xfrm>
            <a:off x="822960" y="3520440"/>
            <a:ext cx="6309360" cy="1188720"/>
          </a:xfrm>
          <a:prstGeom prst="rect">
            <a:avLst/>
          </a:prstGeom>
          <a:noFill/>
          <a:ln/>
        </p:spPr>
        <p:txBody>
          <a:bodyPr wrap="square" lIns="0" tIns="0" rIns="0" bIns="0" rtlCol="0" anchor="t"/>
          <a:lstStyle/>
          <a:p>
            <a:pPr algn="l" indent="0" marL="0">
              <a:buNone/>
            </a:pPr>
            <a:r>
              <a:rPr lang="en-US" sz="2000" dirty="0">
                <a:solidFill>
                  <a:schemeClr val="bg2"/>
                </a:solidFill>
              </a:rPr>
              <a:t>Try it live, read the code, or get in touch.</a:t>
            </a:r>
            <a:endParaRPr lang="en-US" sz="2000" dirty="0"/>
          </a:p>
        </p:txBody>
      </p:sp>
      <p:sp>
        <p:nvSpPr>
          <p:cNvPr id="5" name="beforeyousign.vercel.app badge"/>
          <p:cNvSpPr/>
          <p:nvPr/>
        </p:nvSpPr>
        <p:spPr>
          <a:xfrm>
            <a:off x="822960" y="4160520"/>
            <a:ext cx="457200" cy="457200"/>
          </a:xfrm>
          <a:prstGeom prst="ellipse">
            <a:avLst/>
          </a:prstGeom>
          <a:solidFill>
            <a:schemeClr val="tx2"/>
          </a:solidFill>
          <a:ln/>
        </p:spPr>
      </p:sp>
      <p:pic>
        <p:nvPicPr>
          <p:cNvPr id="6" name="Image 0" descr="beforeyousign.vercel.app">    </p:cNvPr>
          <p:cNvPicPr>
            <a:picLocks noChangeAspect="1"/>
          </p:cNvPicPr>
          <p:nvPr/>
        </p:nvPicPr>
        <p:blipFill>
          <a:blip r:embed="rId1"/>
          <a:stretch>
            <a:fillRect/>
          </a:stretch>
        </p:blipFill>
        <p:spPr>
          <a:xfrm>
            <a:off x="946404" y="4283964"/>
            <a:ext cx="210312" cy="210312"/>
          </a:xfrm>
          <a:prstGeom prst="rect">
            <a:avLst/>
          </a:prstGeom>
        </p:spPr>
      </p:pic>
      <p:sp>
        <p:nvSpPr>
          <p:cNvPr id="7" name="Link text"/>
          <p:cNvSpPr txBox="1"/>
          <p:nvPr/>
        </p:nvSpPr>
        <p:spPr>
          <a:xfrm>
            <a:off x="1463040" y="4160520"/>
            <a:ext cx="5943600" cy="457200"/>
          </a:xfrm>
          <a:prstGeom prst="rect">
            <a:avLst/>
          </a:prstGeom>
          <a:noFill/>
          <a:ln/>
        </p:spPr>
        <p:txBody>
          <a:bodyPr wrap="square" lIns="0" tIns="0" rIns="0" bIns="0" rtlCol="0" anchor="ctr"/>
          <a:lstStyle/>
          <a:p>
            <a:pPr indent="0" marL="0">
              <a:buNone/>
            </a:pPr>
            <a:r>
              <a:rPr lang="en-US" sz="1800" dirty="0">
                <a:solidFill>
                  <a:schemeClr val="bg1"/>
                </a:solidFill>
              </a:rPr>
              <a:t>beforeyousign.vercel.app</a:t>
            </a:r>
            <a:endParaRPr lang="en-US" sz="1800" dirty="0"/>
          </a:p>
        </p:txBody>
      </p:sp>
      <p:sp>
        <p:nvSpPr>
          <p:cNvPr id="8" name="github.com/srinivasjangiti/Beforeyousign badge"/>
          <p:cNvSpPr/>
          <p:nvPr/>
        </p:nvSpPr>
        <p:spPr>
          <a:xfrm>
            <a:off x="822960" y="4800600"/>
            <a:ext cx="457200" cy="457200"/>
          </a:xfrm>
          <a:prstGeom prst="ellipse">
            <a:avLst/>
          </a:prstGeom>
          <a:solidFill>
            <a:schemeClr val="tx2"/>
          </a:solidFill>
          <a:ln/>
        </p:spPr>
      </p:sp>
      <p:pic>
        <p:nvPicPr>
          <p:cNvPr id="9" name="Image 1" descr="github.com/srinivasjangiti/Beforeyousign">    </p:cNvPr>
          <p:cNvPicPr>
            <a:picLocks noChangeAspect="1"/>
          </p:cNvPicPr>
          <p:nvPr/>
        </p:nvPicPr>
        <p:blipFill>
          <a:blip r:embed="rId2"/>
          <a:stretch>
            <a:fillRect/>
          </a:stretch>
        </p:blipFill>
        <p:spPr>
          <a:xfrm>
            <a:off x="946404" y="4924044"/>
            <a:ext cx="210312" cy="210312"/>
          </a:xfrm>
          <a:prstGeom prst="rect">
            <a:avLst/>
          </a:prstGeom>
        </p:spPr>
      </p:pic>
      <p:sp>
        <p:nvSpPr>
          <p:cNvPr id="10" name="Link text"/>
          <p:cNvSpPr txBox="1"/>
          <p:nvPr/>
        </p:nvSpPr>
        <p:spPr>
          <a:xfrm>
            <a:off x="1463040" y="4800600"/>
            <a:ext cx="5943600" cy="457200"/>
          </a:xfrm>
          <a:prstGeom prst="rect">
            <a:avLst/>
          </a:prstGeom>
          <a:noFill/>
          <a:ln/>
        </p:spPr>
        <p:txBody>
          <a:bodyPr wrap="square" lIns="0" tIns="0" rIns="0" bIns="0" rtlCol="0" anchor="ctr"/>
          <a:lstStyle/>
          <a:p>
            <a:pPr indent="0" marL="0">
              <a:buNone/>
            </a:pPr>
            <a:r>
              <a:rPr lang="en-US" sz="1800" dirty="0">
                <a:solidFill>
                  <a:schemeClr val="bg1"/>
                </a:solidFill>
              </a:rPr>
              <a:t>github.com/srinivasjangiti/Beforeyousign</a:t>
            </a:r>
            <a:endParaRPr lang="en-US" sz="1800" dirty="0"/>
          </a:p>
        </p:txBody>
      </p:sp>
      <p:sp>
        <p:nvSpPr>
          <p:cNvPr id="11" name="srinivasajan.work@gmail.com badge"/>
          <p:cNvSpPr/>
          <p:nvPr/>
        </p:nvSpPr>
        <p:spPr>
          <a:xfrm>
            <a:off x="822960" y="5440680"/>
            <a:ext cx="457200" cy="457200"/>
          </a:xfrm>
          <a:prstGeom prst="ellipse">
            <a:avLst/>
          </a:prstGeom>
          <a:solidFill>
            <a:schemeClr val="tx2"/>
          </a:solidFill>
          <a:ln/>
        </p:spPr>
      </p:sp>
      <p:pic>
        <p:nvPicPr>
          <p:cNvPr id="12" name="Image 2" descr="srinivasajan.work@gmail.com">    </p:cNvPr>
          <p:cNvPicPr>
            <a:picLocks noChangeAspect="1"/>
          </p:cNvPicPr>
          <p:nvPr/>
        </p:nvPicPr>
        <p:blipFill>
          <a:blip r:embed="rId3"/>
          <a:stretch>
            <a:fillRect/>
          </a:stretch>
        </p:blipFill>
        <p:spPr>
          <a:xfrm>
            <a:off x="946404" y="5564124"/>
            <a:ext cx="210312" cy="210312"/>
          </a:xfrm>
          <a:prstGeom prst="rect">
            <a:avLst/>
          </a:prstGeom>
        </p:spPr>
      </p:pic>
      <p:sp>
        <p:nvSpPr>
          <p:cNvPr id="13" name="Link text"/>
          <p:cNvSpPr txBox="1"/>
          <p:nvPr/>
        </p:nvSpPr>
        <p:spPr>
          <a:xfrm>
            <a:off x="1463040" y="5440680"/>
            <a:ext cx="5943600" cy="457200"/>
          </a:xfrm>
          <a:prstGeom prst="rect">
            <a:avLst/>
          </a:prstGeom>
          <a:noFill/>
          <a:ln/>
        </p:spPr>
        <p:txBody>
          <a:bodyPr wrap="square" lIns="0" tIns="0" rIns="0" bIns="0" rtlCol="0" anchor="ctr"/>
          <a:lstStyle/>
          <a:p>
            <a:pPr indent="0" marL="0">
              <a:buNone/>
            </a:pPr>
            <a:r>
              <a:rPr lang="en-US" sz="1800" dirty="0">
                <a:solidFill>
                  <a:schemeClr val="bg1"/>
                </a:solidFill>
              </a:rPr>
              <a:t>srinivasajan.work@gmail.com</a:t>
            </a:r>
            <a:endParaRPr lang="en-US" sz="1800" dirty="0"/>
          </a:p>
        </p:txBody>
      </p:sp>
      <p:sp>
        <p:nvSpPr>
          <p:cNvPr id="14" name="Credits"/>
          <p:cNvSpPr txBox="1"/>
          <p:nvPr/>
        </p:nvSpPr>
        <p:spPr>
          <a:xfrm>
            <a:off x="822960" y="6217920"/>
            <a:ext cx="7315200" cy="274320"/>
          </a:xfrm>
          <a:prstGeom prst="rect">
            <a:avLst/>
          </a:prstGeom>
          <a:noFill/>
          <a:ln/>
        </p:spPr>
        <p:txBody>
          <a:bodyPr wrap="square" lIns="0" tIns="0" rIns="0" bIns="0" rtlCol="0" anchor="t"/>
          <a:lstStyle/>
          <a:p>
            <a:pPr indent="0" marL="0">
              <a:buNone/>
            </a:pPr>
            <a:r>
              <a:rPr lang="en-US" sz="1300" dirty="0">
                <a:solidFill>
                  <a:srgbClr val="A8A29E"/>
                </a:solidFill>
              </a:rPr>
              <a:t>Srinivas Jangiti  ·  Amit Sahani  ·  Vineet Gorule     Guide: Prof. Arnika Patel</a:t>
            </a:r>
            <a:endParaRPr lang="en-US" sz="1300" dirty="0"/>
          </a:p>
        </p:txBody>
      </p:sp>
      <p:sp>
        <p:nvSpPr>
          <p:cNvPr id="15" name="QR card"/>
          <p:cNvSpPr/>
          <p:nvPr/>
        </p:nvSpPr>
        <p:spPr>
          <a:xfrm>
            <a:off x="8229600" y="1371600"/>
            <a:ext cx="3200400" cy="3840480"/>
          </a:xfrm>
          <a:prstGeom prst="roundRect">
            <a:avLst>
              <a:gd name="adj" fmla="val 4571"/>
            </a:avLst>
          </a:prstGeom>
          <a:solidFill>
            <a:schemeClr val="bg1"/>
          </a:solidFill>
          <a:ln/>
          <a:effectLst>
            <a:outerShdw sx="100000" sy="100000" kx="0" ky="0" algn="bl" rotWithShape="0" blurRad="203200" dist="63500" dir="5400000">
              <a:srgbClr val="000000">
                <a:alpha val="28000"/>
              </a:srgbClr>
            </a:outerShdw>
          </a:effectLst>
        </p:spPr>
      </p:sp>
      <p:pic>
        <p:nvPicPr>
          <p:cNvPr id="16" name="Image 3" descr="QR code linking to beforeyousign.vercel.app">    </p:cNvPr>
          <p:cNvPicPr>
            <a:picLocks noChangeAspect="1"/>
          </p:cNvPicPr>
          <p:nvPr/>
        </p:nvPicPr>
        <p:blipFill>
          <a:blip r:embed="rId4"/>
          <a:stretch>
            <a:fillRect/>
          </a:stretch>
        </p:blipFill>
        <p:spPr>
          <a:xfrm>
            <a:off x="8503920" y="1645920"/>
            <a:ext cx="2651760" cy="2651760"/>
          </a:xfrm>
          <a:prstGeom prst="rect">
            <a:avLst/>
          </a:prstGeom>
        </p:spPr>
      </p:pic>
      <p:sp>
        <p:nvSpPr>
          <p:cNvPr id="17" name="QR caption"/>
          <p:cNvSpPr txBox="1"/>
          <p:nvPr/>
        </p:nvSpPr>
        <p:spPr>
          <a:xfrm>
            <a:off x="8229600" y="4434840"/>
            <a:ext cx="3200400" cy="457200"/>
          </a:xfrm>
          <a:prstGeom prst="rect">
            <a:avLst/>
          </a:prstGeom>
          <a:noFill/>
          <a:ln/>
        </p:spPr>
        <p:txBody>
          <a:bodyPr wrap="square" lIns="0" tIns="0" rIns="0" bIns="0" rtlCol="0" anchor="ctr"/>
          <a:lstStyle/>
          <a:p>
            <a:pPr algn="ctr" indent="0" marL="0">
              <a:buNone/>
            </a:pPr>
            <a:r>
              <a:rPr lang="en-US" sz="1600" b="1" dirty="0">
                <a:solidFill>
                  <a:schemeClr val="tx1"/>
                </a:solidFill>
              </a:rPr>
              <a:t>Scan to try it live</a:t>
            </a:r>
            <a:endParaRPr lang="en-US" sz="1600" dirty="0"/>
          </a:p>
        </p:txBody>
      </p:sp>
    </p:spTree>
  </p:cSld>
  <p:clrMapOvr>
    <a:masterClrMapping/>
  </p:clrMapOvr>
</p:sld>
</file>

<file path=ppt/theme/theme1.xml><?xml version="1.0" encoding="utf-8"?>
<a:theme xmlns:a="http://schemas.openxmlformats.org/drawingml/2006/main" name="BeforeYouSign Ink &amp; Brass">
  <a:themeElements>
    <a:clrScheme name="BeforeYouSign Ink &amp; Brass">
      <a:dk1>
        <a:srgbClr val="1C1917"/>
      </a:dk1>
      <a:lt1>
        <a:srgbClr val="FFFFFF"/>
      </a:lt1>
      <a:dk2>
        <a:srgbClr val="292524"/>
      </a:dk2>
      <a:lt2>
        <a:srgbClr val="F4F4F5"/>
      </a:lt2>
      <a:accent1>
        <a:srgbClr val="B8862B"/>
      </a:accent1>
      <a:accent2>
        <a:srgbClr val="DC2626"/>
      </a:accent2>
      <a:accent3>
        <a:srgbClr val="EA7B1A"/>
      </a:accent3>
      <a:accent4>
        <a:srgbClr val="E3B505"/>
      </a:accent4>
      <a:accent5>
        <a:srgbClr val="16A34A"/>
      </a:accent5>
      <a:accent6>
        <a:srgbClr val="0F766E"/>
      </a:accent6>
      <a:hlink>
        <a:srgbClr val="B8862B"/>
      </a:hlink>
      <a:folHlink>
        <a:srgbClr val="78716C"/>
      </a:folHlink>
    </a:clrScheme>
    <a:fontScheme name="BeforeYouSign Ink &amp; Bra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Parul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BeforeYouSign — The Intelligent Legal Operating System</dc:title>
  <dc:subject>B.Tech project presentation</dc:subject>
  <dc:creator>Srinivas Jangiti</dc:creator>
  <cp:lastModifiedBy>Srinivas Jangiti</cp:lastModifiedBy>
  <cp:revision>1</cp:revision>
  <dcterms:created xsi:type="dcterms:W3CDTF">2026-10-07T18:53:45Z</dcterms:created>
  <dcterms:modified xsi:type="dcterms:W3CDTF">2026-10-07T18:53:45Z</dcterms:modified>
</cp:coreProperties>
</file>