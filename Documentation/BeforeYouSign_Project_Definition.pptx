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7405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00929" y="487094"/>
            <a:ext cx="8229600" cy="731520"/>
          </a:xfrm>
          <a:prstGeom prst="rect">
            <a:avLst/>
          </a:prstGeom>
          <a:noFill/>
          <a:ln/>
        </p:spPr>
        <p:txBody>
          <a:bodyPr wrap="square"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BeforeYouSign</a:t>
            </a:r>
            <a:endParaRPr lang="en-US" sz="5400" dirty="0"/>
          </a:p>
        </p:txBody>
      </p:sp>
      <p:sp>
        <p:nvSpPr>
          <p:cNvPr id="3" name="Text 1"/>
          <p:cNvSpPr/>
          <p:nvPr/>
        </p:nvSpPr>
        <p:spPr>
          <a:xfrm>
            <a:off x="457200" y="1440180"/>
            <a:ext cx="8229600" cy="457200"/>
          </a:xfrm>
          <a:prstGeom prst="rect">
            <a:avLst/>
          </a:prstGeom>
          <a:noFill/>
          <a:ln/>
        </p:spPr>
        <p:txBody>
          <a:bodyPr wrap="square" rtlCol="0" anchor="ctr"/>
          <a:lstStyle/>
          <a:p>
            <a:pPr marL="0" indent="0" algn="ctr">
              <a:buNone/>
            </a:pPr>
            <a:r>
              <a:rPr lang="en-US" sz="2400" dirty="0">
                <a:solidFill>
                  <a:srgbClr val="02C39A"/>
                </a:solidFill>
                <a:latin typeface="Calibri" pitchFamily="34" charset="0"/>
                <a:ea typeface="Calibri" pitchFamily="34" charset="-122"/>
                <a:cs typeface="Calibri" pitchFamily="34" charset="-120"/>
              </a:rPr>
              <a:t>Executive Contract Intelligence Platform</a:t>
            </a:r>
            <a:endParaRPr lang="en-US" sz="2400" dirty="0"/>
          </a:p>
        </p:txBody>
      </p:sp>
      <p:sp>
        <p:nvSpPr>
          <p:cNvPr id="4" name="Shape 2"/>
          <p:cNvSpPr/>
          <p:nvPr/>
        </p:nvSpPr>
        <p:spPr>
          <a:xfrm>
            <a:off x="3144129" y="1984424"/>
            <a:ext cx="2743200" cy="45720"/>
          </a:xfrm>
          <a:prstGeom prst="rect">
            <a:avLst/>
          </a:prstGeom>
          <a:solidFill>
            <a:srgbClr val="028090"/>
          </a:solidFill>
          <a:ln/>
        </p:spPr>
      </p:sp>
      <p:sp>
        <p:nvSpPr>
          <p:cNvPr id="5" name="Text 3"/>
          <p:cNvSpPr/>
          <p:nvPr/>
        </p:nvSpPr>
        <p:spPr>
          <a:xfrm>
            <a:off x="400929" y="3026752"/>
            <a:ext cx="8229600" cy="365760"/>
          </a:xfrm>
          <a:prstGeom prst="rect">
            <a:avLst/>
          </a:prstGeom>
          <a:noFill/>
          <a:ln/>
        </p:spPr>
        <p:txBody>
          <a:bodyPr wrap="square" rtlCol="0" anchor="ctr"/>
          <a:lstStyle/>
          <a:p>
            <a:pPr marL="0" indent="0" algn="ctr">
              <a:buNone/>
            </a:pPr>
            <a:r>
              <a:rPr lang="en-US" sz="1800" dirty="0">
                <a:solidFill>
                  <a:srgbClr val="F5F5F5"/>
                </a:solidFill>
                <a:latin typeface="Calibri" pitchFamily="34" charset="0"/>
                <a:ea typeface="Calibri" pitchFamily="34" charset="-122"/>
                <a:cs typeface="Calibri" pitchFamily="34" charset="-120"/>
              </a:rPr>
              <a:t>Project Definition Finalization</a:t>
            </a:r>
          </a:p>
          <a:p>
            <a:pPr marL="0" indent="0" algn="ctr">
              <a:buNone/>
            </a:pPr>
            <a:endParaRPr lang="en-US" dirty="0">
              <a:solidFill>
                <a:srgbClr val="F5F5F5"/>
              </a:solidFill>
              <a:latin typeface="Calibri" pitchFamily="34" charset="0"/>
              <a:ea typeface="Calibri" pitchFamily="34" charset="-122"/>
              <a:cs typeface="Calibri" pitchFamily="34" charset="-120"/>
            </a:endParaRPr>
          </a:p>
          <a:p>
            <a:pPr marL="0" indent="0" algn="ctr">
              <a:buNone/>
            </a:pPr>
            <a:endParaRPr lang="en-US" sz="1800" dirty="0">
              <a:solidFill>
                <a:srgbClr val="F5F5F5"/>
              </a:solidFill>
              <a:latin typeface="Calibri" pitchFamily="34" charset="0"/>
              <a:ea typeface="Calibri" pitchFamily="34" charset="-122"/>
              <a:cs typeface="Calibri" pitchFamily="34" charset="-120"/>
            </a:endParaRPr>
          </a:p>
          <a:p>
            <a:pPr marL="0" indent="0" algn="ctr">
              <a:buNone/>
            </a:pPr>
            <a:endParaRPr lang="en-US" sz="1800" dirty="0">
              <a:solidFill>
                <a:srgbClr val="F5F5F5"/>
              </a:solidFill>
              <a:latin typeface="Calibri" pitchFamily="34" charset="0"/>
              <a:ea typeface="Calibri" pitchFamily="34" charset="-122"/>
              <a:cs typeface="Calibri" pitchFamily="34" charset="-120"/>
            </a:endParaRPr>
          </a:p>
          <a:p>
            <a:pPr algn="ctr"/>
            <a:r>
              <a:rPr lang="en-GB" dirty="0">
                <a:solidFill>
                  <a:schemeClr val="bg1"/>
                </a:solidFill>
              </a:rPr>
              <a:t>Presented by:</a:t>
            </a:r>
          </a:p>
          <a:p>
            <a:pPr algn="ctr"/>
            <a:r>
              <a:rPr lang="en-GB" dirty="0">
                <a:solidFill>
                  <a:schemeClr val="bg1"/>
                </a:solidFill>
              </a:rPr>
              <a:t>Srinivas Jangiti</a:t>
            </a:r>
          </a:p>
          <a:p>
            <a:pPr algn="ctr"/>
            <a:r>
              <a:rPr lang="en-GB" dirty="0">
                <a:solidFill>
                  <a:schemeClr val="bg1"/>
                </a:solidFill>
              </a:rPr>
              <a:t>srinivasajangiti@gmail.com  |  +91 8767505121</a:t>
            </a:r>
            <a:endParaRPr lang="en-US" sz="1800" dirty="0">
              <a:solidFill>
                <a:schemeClr val="bg1"/>
              </a:solidFill>
            </a:endParaRPr>
          </a:p>
        </p:txBody>
      </p:sp>
      <p:sp>
        <p:nvSpPr>
          <p:cNvPr id="6" name="Text 4"/>
          <p:cNvSpPr/>
          <p:nvPr/>
        </p:nvSpPr>
        <p:spPr>
          <a:xfrm>
            <a:off x="457200" y="4389120"/>
            <a:ext cx="8229600" cy="274320"/>
          </a:xfrm>
          <a:prstGeom prst="rect">
            <a:avLst/>
          </a:prstGeom>
          <a:noFill/>
          <a:ln/>
        </p:spPr>
        <p:txBody>
          <a:bodyPr wrap="square"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Presentation Date: December 31,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The Problem: Systemic Legal Asymmetry</a:t>
            </a:r>
            <a:endParaRPr lang="en-US" sz="3600" dirty="0"/>
          </a:p>
        </p:txBody>
      </p:sp>
      <p:sp>
        <p:nvSpPr>
          <p:cNvPr id="3" name="Shape 1"/>
          <p:cNvSpPr/>
          <p:nvPr/>
        </p:nvSpPr>
        <p:spPr>
          <a:xfrm>
            <a:off x="457200" y="1005840"/>
            <a:ext cx="73152" cy="3474720"/>
          </a:xfrm>
          <a:prstGeom prst="rect">
            <a:avLst/>
          </a:prstGeom>
          <a:solidFill>
            <a:srgbClr val="028090"/>
          </a:solidFill>
          <a:ln/>
        </p:spPr>
      </p:sp>
      <p:sp>
        <p:nvSpPr>
          <p:cNvPr id="4" name="Text 2"/>
          <p:cNvSpPr/>
          <p:nvPr/>
        </p:nvSpPr>
        <p:spPr>
          <a:xfrm>
            <a:off x="640080" y="1097280"/>
            <a:ext cx="8046720" cy="3474720"/>
          </a:xfrm>
          <a:prstGeom prst="rect">
            <a:avLst/>
          </a:prstGeom>
          <a:noFill/>
          <a:ln/>
        </p:spPr>
        <p:txBody>
          <a:bodyPr wrap="square" rtlCol="0" anchor="t"/>
          <a:lstStyle/>
          <a:p>
            <a:pPr marL="0" indent="0">
              <a:buNone/>
            </a:pPr>
            <a:r>
              <a:rPr lang="en-US" sz="2000" b="1" dirty="0">
                <a:solidFill>
                  <a:srgbClr val="1E2761"/>
                </a:solidFill>
                <a:latin typeface="Calibri" pitchFamily="34" charset="0"/>
                <a:ea typeface="Calibri" pitchFamily="34" charset="-122"/>
                <a:cs typeface="Calibri" pitchFamily="34" charset="-120"/>
              </a:rPr>
              <a:t>Economic Impossibility</a:t>
            </a:r>
            <a:endParaRPr lang="en-US" sz="2000" dirty="0"/>
          </a:p>
          <a:p>
            <a:pPr marL="0" indent="0">
              <a:buNone/>
            </a:pPr>
            <a:r>
              <a:rPr lang="en-US" sz="1400" dirty="0">
                <a:solidFill>
                  <a:srgbClr val="2D3748"/>
                </a:solidFill>
                <a:latin typeface="Calibri" pitchFamily="34" charset="0"/>
                <a:ea typeface="Calibri" pitchFamily="34" charset="-122"/>
                <a:cs typeface="Calibri" pitchFamily="34" charset="-120"/>
              </a:rPr>
              <a:t>Hiring a lawyer for every contract is financially unfeasible for individuals and small businesses. The stronger party has institutional knowledge; the weaker party relies on intuition and hope.</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t>
            </a:r>
            <a:endParaRPr lang="en-US" sz="2000" dirty="0"/>
          </a:p>
          <a:p>
            <a:pPr marL="0" indent="0">
              <a:buNone/>
            </a:pPr>
            <a:r>
              <a:rPr lang="en-US" sz="2000" b="1" dirty="0">
                <a:solidFill>
                  <a:srgbClr val="1E2761"/>
                </a:solidFill>
                <a:latin typeface="Calibri" pitchFamily="34" charset="0"/>
                <a:ea typeface="Calibri" pitchFamily="34" charset="-122"/>
                <a:cs typeface="Calibri" pitchFamily="34" charset="-120"/>
              </a:rPr>
              <a:t>Hidden Consequences</a:t>
            </a:r>
            <a:endParaRPr lang="en-US" sz="2000" dirty="0"/>
          </a:p>
          <a:p>
            <a:pPr marL="0" indent="0">
              <a:buNone/>
            </a:pPr>
            <a:r>
              <a:rPr lang="en-US" sz="1400" dirty="0">
                <a:solidFill>
                  <a:srgbClr val="2D3748"/>
                </a:solidFill>
                <a:latin typeface="Calibri" pitchFamily="34" charset="0"/>
                <a:ea typeface="Calibri" pitchFamily="34" charset="-122"/>
                <a:cs typeface="Calibri" pitchFamily="34" charset="-120"/>
              </a:rPr>
              <a:t>Critical provisions buried in legalese shift risk in ways most people never detect - IP transfers, unlimited liability, auto-renewals, and hidden penalties.</a:t>
            </a:r>
            <a:endParaRPr lang="en-US" sz="2000" dirty="0"/>
          </a:p>
          <a:p>
            <a:pPr marL="0" indent="0">
              <a:buNone/>
            </a:pPr>
            <a:r>
              <a:rPr lang="en-US" sz="2000" dirty="0">
                <a:solidFill>
                  <a:srgbClr val="000000"/>
                </a:solidFill>
                <a:latin typeface="Calibri" pitchFamily="34" charset="0"/>
                <a:ea typeface="Calibri" pitchFamily="34" charset="-122"/>
                <a:cs typeface="Calibri" pitchFamily="34" charset="-120"/>
              </a:rPr>
              <a:t>
</a:t>
            </a:r>
            <a:endParaRPr lang="en-US" sz="2000" dirty="0"/>
          </a:p>
          <a:p>
            <a:pPr marL="0" indent="0">
              <a:buNone/>
            </a:pPr>
            <a:r>
              <a:rPr lang="en-US" sz="2000" b="1" dirty="0">
                <a:solidFill>
                  <a:srgbClr val="1E2761"/>
                </a:solidFill>
                <a:latin typeface="Calibri" pitchFamily="34" charset="0"/>
                <a:ea typeface="Calibri" pitchFamily="34" charset="-122"/>
                <a:cs typeface="Calibri" pitchFamily="34" charset="-120"/>
              </a:rPr>
              <a:t>Unbalanced Negotiations</a:t>
            </a:r>
            <a:endParaRPr lang="en-US" sz="2000" dirty="0"/>
          </a:p>
          <a:p>
            <a:pPr marL="0" indent="0">
              <a:buNone/>
            </a:pPr>
            <a:r>
              <a:rPr lang="en-US" sz="1400" dirty="0">
                <a:solidFill>
                  <a:srgbClr val="2D3748"/>
                </a:solidFill>
                <a:latin typeface="Calibri" pitchFamily="34" charset="0"/>
                <a:ea typeface="Calibri" pitchFamily="34" charset="-122"/>
                <a:cs typeface="Calibri" pitchFamily="34" charset="-120"/>
              </a:rPr>
              <a:t>One party with expert counsel understands every word; the other party understands almost none, creating fundamentally unfair agreements.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Project Title &amp; Problem Statement</a:t>
            </a:r>
            <a:endParaRPr lang="en-US" sz="3600" dirty="0"/>
          </a:p>
        </p:txBody>
      </p:sp>
      <p:sp>
        <p:nvSpPr>
          <p:cNvPr id="3" name="Shape 1"/>
          <p:cNvSpPr/>
          <p:nvPr/>
        </p:nvSpPr>
        <p:spPr>
          <a:xfrm>
            <a:off x="914400" y="1188720"/>
            <a:ext cx="7315200" cy="1097280"/>
          </a:xfrm>
          <a:prstGeom prst="rect">
            <a:avLst/>
          </a:prstGeom>
          <a:solidFill>
            <a:srgbClr val="FFFFFF"/>
          </a:solidFill>
          <a:ln w="25400">
            <a:solidFill>
              <a:srgbClr val="028090"/>
            </a:solidFill>
            <a:prstDash val="solid"/>
          </a:ln>
        </p:spPr>
      </p:sp>
      <p:sp>
        <p:nvSpPr>
          <p:cNvPr id="4" name="Text 2"/>
          <p:cNvSpPr/>
          <p:nvPr/>
        </p:nvSpPr>
        <p:spPr>
          <a:xfrm>
            <a:off x="1188720" y="1325880"/>
            <a:ext cx="6766560" cy="274320"/>
          </a:xfrm>
          <a:prstGeom prst="rect">
            <a:avLst/>
          </a:prstGeom>
          <a:noFill/>
          <a:ln/>
        </p:spPr>
        <p:txBody>
          <a:bodyPr wrap="square"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Project Title</a:t>
            </a:r>
            <a:endParaRPr lang="en-US" sz="1600" dirty="0"/>
          </a:p>
        </p:txBody>
      </p:sp>
      <p:sp>
        <p:nvSpPr>
          <p:cNvPr id="5" name="Text 3"/>
          <p:cNvSpPr/>
          <p:nvPr/>
        </p:nvSpPr>
        <p:spPr>
          <a:xfrm>
            <a:off x="1188720" y="1645920"/>
            <a:ext cx="6766560" cy="45720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BeforeYouSign: AI-Powered Executive Contract Intelligence Platform</a:t>
            </a:r>
            <a:endParaRPr lang="en-US" sz="2000" dirty="0"/>
          </a:p>
        </p:txBody>
      </p:sp>
      <p:sp>
        <p:nvSpPr>
          <p:cNvPr id="6" name="Shape 4"/>
          <p:cNvSpPr/>
          <p:nvPr/>
        </p:nvSpPr>
        <p:spPr>
          <a:xfrm>
            <a:off x="914400" y="2468880"/>
            <a:ext cx="7315200" cy="2011680"/>
          </a:xfrm>
          <a:prstGeom prst="rect">
            <a:avLst/>
          </a:prstGeom>
          <a:solidFill>
            <a:srgbClr val="FFFFFF"/>
          </a:solidFill>
          <a:ln w="25400">
            <a:solidFill>
              <a:srgbClr val="00A896"/>
            </a:solidFill>
            <a:prstDash val="solid"/>
          </a:ln>
        </p:spPr>
      </p:sp>
      <p:sp>
        <p:nvSpPr>
          <p:cNvPr id="7" name="Text 5"/>
          <p:cNvSpPr/>
          <p:nvPr/>
        </p:nvSpPr>
        <p:spPr>
          <a:xfrm>
            <a:off x="1188720" y="2606040"/>
            <a:ext cx="6766560" cy="274320"/>
          </a:xfrm>
          <a:prstGeom prst="rect">
            <a:avLst/>
          </a:prstGeom>
          <a:noFill/>
          <a:ln/>
        </p:spPr>
        <p:txBody>
          <a:bodyPr wrap="square" rtlCol="0" anchor="ctr"/>
          <a:lstStyle/>
          <a:p>
            <a:pPr marL="0" indent="0">
              <a:buNone/>
            </a:pPr>
            <a:r>
              <a:rPr lang="en-US" sz="1600" b="1" dirty="0">
                <a:solidFill>
                  <a:srgbClr val="00A896"/>
                </a:solidFill>
                <a:latin typeface="Calibri" pitchFamily="34" charset="0"/>
                <a:ea typeface="Calibri" pitchFamily="34" charset="-122"/>
                <a:cs typeface="Calibri" pitchFamily="34" charset="-120"/>
              </a:rPr>
              <a:t>Problem Statement</a:t>
            </a:r>
            <a:endParaRPr lang="en-US" sz="1600" dirty="0"/>
          </a:p>
        </p:txBody>
      </p:sp>
      <p:sp>
        <p:nvSpPr>
          <p:cNvPr id="8" name="Text 6"/>
          <p:cNvSpPr/>
          <p:nvPr/>
        </p:nvSpPr>
        <p:spPr>
          <a:xfrm>
            <a:off x="1188720" y="2926080"/>
            <a:ext cx="6766560" cy="1371600"/>
          </a:xfrm>
          <a:prstGeom prst="rect">
            <a:avLst/>
          </a:prstGeom>
          <a:noFill/>
          <a:ln/>
        </p:spPr>
        <p:txBody>
          <a:bodyPr wrap="square" rtlCol="0" anchor="t"/>
          <a:lstStyle/>
          <a:p>
            <a:pPr marL="0" indent="0">
              <a:buNone/>
            </a:pPr>
            <a:r>
              <a:rPr lang="en-US" sz="1400" dirty="0">
                <a:solidFill>
                  <a:srgbClr val="2D3748"/>
                </a:solidFill>
                <a:latin typeface="Calibri" pitchFamily="34" charset="0"/>
                <a:ea typeface="Calibri" pitchFamily="34" charset="-122"/>
                <a:cs typeface="Calibri" pitchFamily="34" charset="-120"/>
              </a:rPr>
              <a:t>Individuals and small businesses lack access to affordable legal expertise when reviewing contracts, leading to acceptance of unfavorable terms, hidden liabilities, and lost negotiation leverage. This systemic asymmetry results in trillions in avoidable costs globally and fundamentally unbalanced agreements that favor parties with institutional legal resources.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Project Objectives</a:t>
            </a:r>
            <a:endParaRPr lang="en-US" sz="3600" dirty="0"/>
          </a:p>
        </p:txBody>
      </p:sp>
      <p:sp>
        <p:nvSpPr>
          <p:cNvPr id="3" name="Shape 1"/>
          <p:cNvSpPr/>
          <p:nvPr/>
        </p:nvSpPr>
        <p:spPr>
          <a:xfrm>
            <a:off x="640080" y="1143000"/>
            <a:ext cx="365760" cy="365760"/>
          </a:xfrm>
          <a:prstGeom prst="ellipse">
            <a:avLst/>
          </a:prstGeom>
          <a:solidFill>
            <a:srgbClr val="028090"/>
          </a:solidFill>
          <a:ln/>
        </p:spPr>
      </p:sp>
      <p:sp>
        <p:nvSpPr>
          <p:cNvPr id="4" name="Text 2"/>
          <p:cNvSpPr/>
          <p:nvPr/>
        </p:nvSpPr>
        <p:spPr>
          <a:xfrm>
            <a:off x="640080" y="1143000"/>
            <a:ext cx="365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5" name="Text 3"/>
          <p:cNvSpPr/>
          <p:nvPr/>
        </p:nvSpPr>
        <p:spPr>
          <a:xfrm>
            <a:off x="1188720" y="1161288"/>
            <a:ext cx="7498080" cy="54864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Democratize Legal Comprehension</a:t>
            </a:r>
            <a:endParaRPr lang="en-US" sz="1600" dirty="0"/>
          </a:p>
          <a:p>
            <a:pPr marL="0" indent="0">
              <a:buNone/>
            </a:pPr>
            <a:r>
              <a:rPr lang="en-US" sz="1200" dirty="0">
                <a:solidFill>
                  <a:srgbClr val="2D3748"/>
                </a:solidFill>
                <a:latin typeface="Calibri" pitchFamily="34" charset="0"/>
                <a:ea typeface="Calibri" pitchFamily="34" charset="-122"/>
                <a:cs typeface="Calibri" pitchFamily="34" charset="-120"/>
              </a:rPr>
              <a:t>Provide institutional-grade contract analysis accessible to individuals and small businesses without legal fees</a:t>
            </a:r>
            <a:endParaRPr lang="en-US" sz="1600" dirty="0"/>
          </a:p>
        </p:txBody>
      </p:sp>
      <p:sp>
        <p:nvSpPr>
          <p:cNvPr id="6" name="Shape 4"/>
          <p:cNvSpPr/>
          <p:nvPr/>
        </p:nvSpPr>
        <p:spPr>
          <a:xfrm>
            <a:off x="640080" y="1828800"/>
            <a:ext cx="365760" cy="365760"/>
          </a:xfrm>
          <a:prstGeom prst="ellipse">
            <a:avLst/>
          </a:prstGeom>
          <a:solidFill>
            <a:srgbClr val="028090"/>
          </a:solidFill>
          <a:ln/>
        </p:spPr>
      </p:sp>
      <p:sp>
        <p:nvSpPr>
          <p:cNvPr id="7" name="Text 5"/>
          <p:cNvSpPr/>
          <p:nvPr/>
        </p:nvSpPr>
        <p:spPr>
          <a:xfrm>
            <a:off x="640080" y="1828800"/>
            <a:ext cx="365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8" name="Text 6"/>
          <p:cNvSpPr/>
          <p:nvPr/>
        </p:nvSpPr>
        <p:spPr>
          <a:xfrm>
            <a:off x="1188720" y="1847088"/>
            <a:ext cx="7498080" cy="54864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Automated Risk Detection</a:t>
            </a:r>
            <a:endParaRPr lang="en-US" sz="1600" dirty="0"/>
          </a:p>
          <a:p>
            <a:pPr marL="0" indent="0">
              <a:buNone/>
            </a:pPr>
            <a:r>
              <a:rPr lang="en-US" sz="1200" dirty="0">
                <a:solidFill>
                  <a:srgbClr val="2D3748"/>
                </a:solidFill>
                <a:latin typeface="Calibri" pitchFamily="34" charset="0"/>
                <a:ea typeface="Calibri" pitchFamily="34" charset="-122"/>
                <a:cs typeface="Calibri" pitchFamily="34" charset="-120"/>
              </a:rPr>
              <a:t>Identify hidden risks including IP transfers, unlimited liability, auto-renewals, and penalty clauses using AI</a:t>
            </a:r>
            <a:endParaRPr lang="en-US" sz="1600" dirty="0"/>
          </a:p>
        </p:txBody>
      </p:sp>
      <p:sp>
        <p:nvSpPr>
          <p:cNvPr id="9" name="Shape 7"/>
          <p:cNvSpPr/>
          <p:nvPr/>
        </p:nvSpPr>
        <p:spPr>
          <a:xfrm>
            <a:off x="640080" y="2514600"/>
            <a:ext cx="365760" cy="365760"/>
          </a:xfrm>
          <a:prstGeom prst="ellipse">
            <a:avLst/>
          </a:prstGeom>
          <a:solidFill>
            <a:srgbClr val="028090"/>
          </a:solidFill>
          <a:ln/>
        </p:spPr>
      </p:sp>
      <p:sp>
        <p:nvSpPr>
          <p:cNvPr id="10" name="Text 8"/>
          <p:cNvSpPr/>
          <p:nvPr/>
        </p:nvSpPr>
        <p:spPr>
          <a:xfrm>
            <a:off x="640080" y="2514600"/>
            <a:ext cx="365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1" name="Text 9"/>
          <p:cNvSpPr/>
          <p:nvPr/>
        </p:nvSpPr>
        <p:spPr>
          <a:xfrm>
            <a:off x="1188720" y="2532888"/>
            <a:ext cx="7498080" cy="54864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Plain Language Translation</a:t>
            </a:r>
            <a:endParaRPr lang="en-US" sz="1600" dirty="0"/>
          </a:p>
          <a:p>
            <a:pPr marL="0" indent="0">
              <a:buNone/>
            </a:pPr>
            <a:r>
              <a:rPr lang="en-US" sz="1200" dirty="0">
                <a:solidFill>
                  <a:srgbClr val="2D3748"/>
                </a:solidFill>
                <a:latin typeface="Calibri" pitchFamily="34" charset="0"/>
                <a:ea typeface="Calibri" pitchFamily="34" charset="-122"/>
                <a:cs typeface="Calibri" pitchFamily="34" charset="-120"/>
              </a:rPr>
              <a:t>Convert complex legalese into clear, understandable explanations that reveal actual agreement terms</a:t>
            </a:r>
            <a:endParaRPr lang="en-US" sz="1600" dirty="0"/>
          </a:p>
        </p:txBody>
      </p:sp>
      <p:sp>
        <p:nvSpPr>
          <p:cNvPr id="12" name="Shape 10"/>
          <p:cNvSpPr/>
          <p:nvPr/>
        </p:nvSpPr>
        <p:spPr>
          <a:xfrm>
            <a:off x="640080" y="3200400"/>
            <a:ext cx="365760" cy="365760"/>
          </a:xfrm>
          <a:prstGeom prst="ellipse">
            <a:avLst/>
          </a:prstGeom>
          <a:solidFill>
            <a:srgbClr val="028090"/>
          </a:solidFill>
          <a:ln/>
        </p:spPr>
      </p:sp>
      <p:sp>
        <p:nvSpPr>
          <p:cNvPr id="13" name="Text 11"/>
          <p:cNvSpPr/>
          <p:nvPr/>
        </p:nvSpPr>
        <p:spPr>
          <a:xfrm>
            <a:off x="640080" y="3200400"/>
            <a:ext cx="365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14" name="Text 12"/>
          <p:cNvSpPr/>
          <p:nvPr/>
        </p:nvSpPr>
        <p:spPr>
          <a:xfrm>
            <a:off x="1188720" y="3218688"/>
            <a:ext cx="7498080" cy="54864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Strategic Negotiation Support</a:t>
            </a:r>
            <a:endParaRPr lang="en-US" sz="1600" dirty="0"/>
          </a:p>
          <a:p>
            <a:pPr marL="0" indent="0">
              <a:buNone/>
            </a:pPr>
            <a:r>
              <a:rPr lang="en-US" sz="1200" dirty="0">
                <a:solidFill>
                  <a:srgbClr val="2D3748"/>
                </a:solidFill>
                <a:latin typeface="Calibri" pitchFamily="34" charset="0"/>
                <a:ea typeface="Calibri" pitchFamily="34" charset="-122"/>
                <a:cs typeface="Calibri" pitchFamily="34" charset="-120"/>
              </a:rPr>
              <a:t>Generate specific negotiation points and protective measures to level the playing field</a:t>
            </a:r>
            <a:endParaRPr lang="en-US" sz="1600" dirty="0"/>
          </a:p>
        </p:txBody>
      </p:sp>
      <p:sp>
        <p:nvSpPr>
          <p:cNvPr id="15" name="Shape 13"/>
          <p:cNvSpPr/>
          <p:nvPr/>
        </p:nvSpPr>
        <p:spPr>
          <a:xfrm>
            <a:off x="640080" y="3886200"/>
            <a:ext cx="365760" cy="365760"/>
          </a:xfrm>
          <a:prstGeom prst="ellipse">
            <a:avLst/>
          </a:prstGeom>
          <a:solidFill>
            <a:srgbClr val="028090"/>
          </a:solidFill>
          <a:ln/>
        </p:spPr>
      </p:sp>
      <p:sp>
        <p:nvSpPr>
          <p:cNvPr id="16" name="Text 14"/>
          <p:cNvSpPr/>
          <p:nvPr/>
        </p:nvSpPr>
        <p:spPr>
          <a:xfrm>
            <a:off x="640080" y="3886200"/>
            <a:ext cx="365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17" name="Text 15"/>
          <p:cNvSpPr/>
          <p:nvPr/>
        </p:nvSpPr>
        <p:spPr>
          <a:xfrm>
            <a:off x="1188720" y="3904488"/>
            <a:ext cx="7498080" cy="54864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Real-Time Analysis</a:t>
            </a:r>
            <a:endParaRPr lang="en-US" sz="1600" dirty="0"/>
          </a:p>
          <a:p>
            <a:pPr marL="0" indent="0">
              <a:buNone/>
            </a:pPr>
            <a:r>
              <a:rPr lang="en-US" sz="1200" dirty="0">
                <a:solidFill>
                  <a:srgbClr val="2D3748"/>
                </a:solidFill>
                <a:latin typeface="Calibri" pitchFamily="34" charset="0"/>
                <a:ea typeface="Calibri" pitchFamily="34" charset="-122"/>
                <a:cs typeface="Calibri" pitchFamily="34" charset="-120"/>
              </a:rPr>
              <a:t>Deliver comprehensive contract analysis in under 30 seconds with actionable insights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Project Scope: Core Features</a:t>
            </a:r>
            <a:endParaRPr lang="en-US" sz="3600" dirty="0"/>
          </a:p>
        </p:txBody>
      </p:sp>
      <p:sp>
        <p:nvSpPr>
          <p:cNvPr id="3" name="Shape 1"/>
          <p:cNvSpPr/>
          <p:nvPr/>
        </p:nvSpPr>
        <p:spPr>
          <a:xfrm>
            <a:off x="548640" y="1280160"/>
            <a:ext cx="2560320" cy="1280160"/>
          </a:xfrm>
          <a:prstGeom prst="rect">
            <a:avLst/>
          </a:prstGeom>
          <a:solidFill>
            <a:srgbClr val="FFFFFF"/>
          </a:solidFill>
          <a:ln w="12700">
            <a:solidFill>
              <a:srgbClr val="E2E8F0"/>
            </a:solidFill>
            <a:prstDash val="solid"/>
          </a:ln>
        </p:spPr>
      </p:sp>
      <p:sp>
        <p:nvSpPr>
          <p:cNvPr id="4" name="Shape 2"/>
          <p:cNvSpPr/>
          <p:nvPr/>
        </p:nvSpPr>
        <p:spPr>
          <a:xfrm>
            <a:off x="548640" y="1280160"/>
            <a:ext cx="2560320" cy="320040"/>
          </a:xfrm>
          <a:prstGeom prst="rect">
            <a:avLst/>
          </a:prstGeom>
          <a:solidFill>
            <a:srgbClr val="028090"/>
          </a:solidFill>
          <a:ln/>
        </p:spPr>
      </p:sp>
      <p:sp>
        <p:nvSpPr>
          <p:cNvPr id="5" name="Text 3"/>
          <p:cNvSpPr/>
          <p:nvPr/>
        </p:nvSpPr>
        <p:spPr>
          <a:xfrm>
            <a:off x="685800" y="1325880"/>
            <a:ext cx="2286000" cy="2286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Contract Analysis</a:t>
            </a:r>
            <a:endParaRPr lang="en-US" sz="1400" dirty="0"/>
          </a:p>
        </p:txBody>
      </p:sp>
      <p:sp>
        <p:nvSpPr>
          <p:cNvPr id="6" name="Text 4"/>
          <p:cNvSpPr/>
          <p:nvPr/>
        </p:nvSpPr>
        <p:spPr>
          <a:xfrm>
            <a:off x="685800" y="1691640"/>
            <a:ext cx="2286000" cy="77724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AI-powered instant analysis</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Risk detection and scoring</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Plain language summaries</a:t>
            </a:r>
            <a:endParaRPr lang="en-US" sz="1100" dirty="0"/>
          </a:p>
        </p:txBody>
      </p:sp>
      <p:sp>
        <p:nvSpPr>
          <p:cNvPr id="7" name="Shape 5"/>
          <p:cNvSpPr/>
          <p:nvPr/>
        </p:nvSpPr>
        <p:spPr>
          <a:xfrm>
            <a:off x="3383280" y="1280160"/>
            <a:ext cx="2560320" cy="1280160"/>
          </a:xfrm>
          <a:prstGeom prst="rect">
            <a:avLst/>
          </a:prstGeom>
          <a:solidFill>
            <a:srgbClr val="FFFFFF"/>
          </a:solidFill>
          <a:ln w="12700">
            <a:solidFill>
              <a:srgbClr val="E2E8F0"/>
            </a:solidFill>
            <a:prstDash val="solid"/>
          </a:ln>
        </p:spPr>
      </p:sp>
      <p:sp>
        <p:nvSpPr>
          <p:cNvPr id="8" name="Shape 6"/>
          <p:cNvSpPr/>
          <p:nvPr/>
        </p:nvSpPr>
        <p:spPr>
          <a:xfrm>
            <a:off x="3383280" y="1280160"/>
            <a:ext cx="2560320" cy="320040"/>
          </a:xfrm>
          <a:prstGeom prst="rect">
            <a:avLst/>
          </a:prstGeom>
          <a:solidFill>
            <a:srgbClr val="028090"/>
          </a:solidFill>
          <a:ln/>
        </p:spPr>
      </p:sp>
      <p:sp>
        <p:nvSpPr>
          <p:cNvPr id="9" name="Text 7"/>
          <p:cNvSpPr/>
          <p:nvPr/>
        </p:nvSpPr>
        <p:spPr>
          <a:xfrm>
            <a:off x="3520440" y="1325880"/>
            <a:ext cx="2286000" cy="2286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AI Drafting</a:t>
            </a:r>
            <a:endParaRPr lang="en-US" sz="1400" dirty="0"/>
          </a:p>
        </p:txBody>
      </p:sp>
      <p:sp>
        <p:nvSpPr>
          <p:cNvPr id="10" name="Text 8"/>
          <p:cNvSpPr/>
          <p:nvPr/>
        </p:nvSpPr>
        <p:spPr>
          <a:xfrm>
            <a:off x="3520440" y="1691640"/>
            <a:ext cx="2286000" cy="77724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Voice-to-contract generation</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Template-based drafting</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Clause library (5000+)</a:t>
            </a:r>
            <a:endParaRPr lang="en-US" sz="1100" dirty="0"/>
          </a:p>
        </p:txBody>
      </p:sp>
      <p:sp>
        <p:nvSpPr>
          <p:cNvPr id="11" name="Shape 9"/>
          <p:cNvSpPr/>
          <p:nvPr/>
        </p:nvSpPr>
        <p:spPr>
          <a:xfrm>
            <a:off x="6217920" y="1280160"/>
            <a:ext cx="2560320" cy="1280160"/>
          </a:xfrm>
          <a:prstGeom prst="rect">
            <a:avLst/>
          </a:prstGeom>
          <a:solidFill>
            <a:srgbClr val="FFFFFF"/>
          </a:solidFill>
          <a:ln w="12700">
            <a:solidFill>
              <a:srgbClr val="E2E8F0"/>
            </a:solidFill>
            <a:prstDash val="solid"/>
          </a:ln>
        </p:spPr>
      </p:sp>
      <p:sp>
        <p:nvSpPr>
          <p:cNvPr id="12" name="Shape 10"/>
          <p:cNvSpPr/>
          <p:nvPr/>
        </p:nvSpPr>
        <p:spPr>
          <a:xfrm>
            <a:off x="6217920" y="1280160"/>
            <a:ext cx="2560320" cy="320040"/>
          </a:xfrm>
          <a:prstGeom prst="rect">
            <a:avLst/>
          </a:prstGeom>
          <a:solidFill>
            <a:srgbClr val="028090"/>
          </a:solidFill>
          <a:ln/>
        </p:spPr>
      </p:sp>
      <p:sp>
        <p:nvSpPr>
          <p:cNvPr id="13" name="Text 11"/>
          <p:cNvSpPr/>
          <p:nvPr/>
        </p:nvSpPr>
        <p:spPr>
          <a:xfrm>
            <a:off x="6355080" y="1325880"/>
            <a:ext cx="2286000" cy="2286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Negotiation Tools</a:t>
            </a:r>
            <a:endParaRPr lang="en-US" sz="1400" dirty="0"/>
          </a:p>
        </p:txBody>
      </p:sp>
      <p:sp>
        <p:nvSpPr>
          <p:cNvPr id="14" name="Text 12"/>
          <p:cNvSpPr/>
          <p:nvPr/>
        </p:nvSpPr>
        <p:spPr>
          <a:xfrm>
            <a:off x="6355080" y="1691640"/>
            <a:ext cx="2286000" cy="77724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AI negotiation assistant</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Counter-proposal generation</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Market benchmarking</a:t>
            </a:r>
            <a:endParaRPr lang="en-US" sz="1100" dirty="0"/>
          </a:p>
        </p:txBody>
      </p:sp>
      <p:sp>
        <p:nvSpPr>
          <p:cNvPr id="15" name="Shape 13"/>
          <p:cNvSpPr/>
          <p:nvPr/>
        </p:nvSpPr>
        <p:spPr>
          <a:xfrm>
            <a:off x="548640" y="2926080"/>
            <a:ext cx="2560320" cy="1280160"/>
          </a:xfrm>
          <a:prstGeom prst="rect">
            <a:avLst/>
          </a:prstGeom>
          <a:solidFill>
            <a:srgbClr val="FFFFFF"/>
          </a:solidFill>
          <a:ln w="12700">
            <a:solidFill>
              <a:srgbClr val="E2E8F0"/>
            </a:solidFill>
            <a:prstDash val="solid"/>
          </a:ln>
        </p:spPr>
      </p:sp>
      <p:sp>
        <p:nvSpPr>
          <p:cNvPr id="16" name="Shape 14"/>
          <p:cNvSpPr/>
          <p:nvPr/>
        </p:nvSpPr>
        <p:spPr>
          <a:xfrm>
            <a:off x="548640" y="2926080"/>
            <a:ext cx="2560320" cy="320040"/>
          </a:xfrm>
          <a:prstGeom prst="rect">
            <a:avLst/>
          </a:prstGeom>
          <a:solidFill>
            <a:srgbClr val="028090"/>
          </a:solidFill>
          <a:ln/>
        </p:spPr>
      </p:sp>
      <p:sp>
        <p:nvSpPr>
          <p:cNvPr id="17" name="Text 15"/>
          <p:cNvSpPr/>
          <p:nvPr/>
        </p:nvSpPr>
        <p:spPr>
          <a:xfrm>
            <a:off x="685800" y="2971800"/>
            <a:ext cx="2286000" cy="2286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Legal Resources</a:t>
            </a:r>
            <a:endParaRPr lang="en-US" sz="1400" dirty="0"/>
          </a:p>
        </p:txBody>
      </p:sp>
      <p:sp>
        <p:nvSpPr>
          <p:cNvPr id="18" name="Text 16"/>
          <p:cNvSpPr/>
          <p:nvPr/>
        </p:nvSpPr>
        <p:spPr>
          <a:xfrm>
            <a:off x="685800" y="3337560"/>
            <a:ext cx="2286000" cy="77724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Lawyer marketplace</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Multi-language support (50+)</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Legal document library</a:t>
            </a:r>
            <a:endParaRPr lang="en-US" sz="1100" dirty="0"/>
          </a:p>
        </p:txBody>
      </p:sp>
      <p:sp>
        <p:nvSpPr>
          <p:cNvPr id="19" name="Shape 17"/>
          <p:cNvSpPr/>
          <p:nvPr/>
        </p:nvSpPr>
        <p:spPr>
          <a:xfrm>
            <a:off x="3383280" y="2926080"/>
            <a:ext cx="2560320" cy="1280160"/>
          </a:xfrm>
          <a:prstGeom prst="rect">
            <a:avLst/>
          </a:prstGeom>
          <a:solidFill>
            <a:srgbClr val="FFFFFF"/>
          </a:solidFill>
          <a:ln w="12700">
            <a:solidFill>
              <a:srgbClr val="E2E8F0"/>
            </a:solidFill>
            <a:prstDash val="solid"/>
          </a:ln>
        </p:spPr>
      </p:sp>
      <p:sp>
        <p:nvSpPr>
          <p:cNvPr id="20" name="Shape 18"/>
          <p:cNvSpPr/>
          <p:nvPr/>
        </p:nvSpPr>
        <p:spPr>
          <a:xfrm>
            <a:off x="3383280" y="2926080"/>
            <a:ext cx="2560320" cy="320040"/>
          </a:xfrm>
          <a:prstGeom prst="rect">
            <a:avLst/>
          </a:prstGeom>
          <a:solidFill>
            <a:srgbClr val="028090"/>
          </a:solidFill>
          <a:ln/>
        </p:spPr>
      </p:sp>
      <p:sp>
        <p:nvSpPr>
          <p:cNvPr id="21" name="Text 19"/>
          <p:cNvSpPr/>
          <p:nvPr/>
        </p:nvSpPr>
        <p:spPr>
          <a:xfrm>
            <a:off x="3520440" y="2971800"/>
            <a:ext cx="2286000" cy="2286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Collaboration</a:t>
            </a:r>
            <a:endParaRPr lang="en-US" sz="1400" dirty="0"/>
          </a:p>
        </p:txBody>
      </p:sp>
      <p:sp>
        <p:nvSpPr>
          <p:cNvPr id="22" name="Text 20"/>
          <p:cNvSpPr/>
          <p:nvPr/>
        </p:nvSpPr>
        <p:spPr>
          <a:xfrm>
            <a:off x="3520440" y="3337560"/>
            <a:ext cx="2286000" cy="77724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Team sharing and feedback</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Obligation tracking</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E-signature integration</a:t>
            </a:r>
            <a:endParaRPr lang="en-US" sz="1100" dirty="0"/>
          </a:p>
        </p:txBody>
      </p:sp>
      <p:sp>
        <p:nvSpPr>
          <p:cNvPr id="23" name="Shape 21"/>
          <p:cNvSpPr/>
          <p:nvPr/>
        </p:nvSpPr>
        <p:spPr>
          <a:xfrm>
            <a:off x="6217920" y="2926080"/>
            <a:ext cx="2560320" cy="1280160"/>
          </a:xfrm>
          <a:prstGeom prst="rect">
            <a:avLst/>
          </a:prstGeom>
          <a:solidFill>
            <a:srgbClr val="FFFFFF"/>
          </a:solidFill>
          <a:ln w="12700">
            <a:solidFill>
              <a:srgbClr val="E2E8F0"/>
            </a:solidFill>
            <a:prstDash val="solid"/>
          </a:ln>
        </p:spPr>
      </p:sp>
      <p:sp>
        <p:nvSpPr>
          <p:cNvPr id="24" name="Shape 22"/>
          <p:cNvSpPr/>
          <p:nvPr/>
        </p:nvSpPr>
        <p:spPr>
          <a:xfrm>
            <a:off x="6217920" y="2926080"/>
            <a:ext cx="2560320" cy="320040"/>
          </a:xfrm>
          <a:prstGeom prst="rect">
            <a:avLst/>
          </a:prstGeom>
          <a:solidFill>
            <a:srgbClr val="028090"/>
          </a:solidFill>
          <a:ln/>
        </p:spPr>
      </p:sp>
      <p:sp>
        <p:nvSpPr>
          <p:cNvPr id="25" name="Text 23"/>
          <p:cNvSpPr/>
          <p:nvPr/>
        </p:nvSpPr>
        <p:spPr>
          <a:xfrm>
            <a:off x="6355080" y="2971800"/>
            <a:ext cx="2286000" cy="2286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Advanced Features</a:t>
            </a:r>
            <a:endParaRPr lang="en-US" sz="1400" dirty="0"/>
          </a:p>
        </p:txBody>
      </p:sp>
      <p:sp>
        <p:nvSpPr>
          <p:cNvPr id="26" name="Text 24"/>
          <p:cNvSpPr/>
          <p:nvPr/>
        </p:nvSpPr>
        <p:spPr>
          <a:xfrm>
            <a:off x="6355080" y="3337560"/>
            <a:ext cx="2286000" cy="77724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Blockchain registry</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Risk prediction (ML)</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PDF manipulation tools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Technology Stack</a:t>
            </a:r>
            <a:endParaRPr lang="en-US" sz="3600" dirty="0"/>
          </a:p>
        </p:txBody>
      </p:sp>
      <p:sp>
        <p:nvSpPr>
          <p:cNvPr id="3" name="Shape 1"/>
          <p:cNvSpPr/>
          <p:nvPr/>
        </p:nvSpPr>
        <p:spPr>
          <a:xfrm>
            <a:off x="548640" y="1280160"/>
            <a:ext cx="3840480" cy="914400"/>
          </a:xfrm>
          <a:prstGeom prst="rect">
            <a:avLst/>
          </a:prstGeom>
          <a:solidFill>
            <a:srgbClr val="FFFFFF"/>
          </a:solidFill>
          <a:ln w="12700">
            <a:solidFill>
              <a:srgbClr val="E2E8F0"/>
            </a:solidFill>
            <a:prstDash val="solid"/>
          </a:ln>
          <a:effectLst>
            <a:outerShdw blurRad="38100" dist="25400" dir="8100000" algn="bl" rotWithShape="0">
              <a:srgbClr val="000000">
                <a:alpha val="8000"/>
              </a:srgbClr>
            </a:outerShdw>
          </a:effectLst>
        </p:spPr>
      </p:sp>
      <p:sp>
        <p:nvSpPr>
          <p:cNvPr id="4" name="Shape 2"/>
          <p:cNvSpPr/>
          <p:nvPr/>
        </p:nvSpPr>
        <p:spPr>
          <a:xfrm>
            <a:off x="548640" y="1280160"/>
            <a:ext cx="73152" cy="914400"/>
          </a:xfrm>
          <a:prstGeom prst="rect">
            <a:avLst/>
          </a:prstGeom>
          <a:solidFill>
            <a:srgbClr val="028090"/>
          </a:solidFill>
          <a:ln/>
        </p:spPr>
      </p:sp>
      <p:sp>
        <p:nvSpPr>
          <p:cNvPr id="5" name="Text 3"/>
          <p:cNvSpPr/>
          <p:nvPr/>
        </p:nvSpPr>
        <p:spPr>
          <a:xfrm>
            <a:off x="777240" y="1389888"/>
            <a:ext cx="3474720" cy="2286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Frontend</a:t>
            </a:r>
            <a:endParaRPr lang="en-US" sz="1600" dirty="0"/>
          </a:p>
        </p:txBody>
      </p:sp>
      <p:sp>
        <p:nvSpPr>
          <p:cNvPr id="6" name="Text 4"/>
          <p:cNvSpPr/>
          <p:nvPr/>
        </p:nvSpPr>
        <p:spPr>
          <a:xfrm>
            <a:off x="777240" y="1664208"/>
            <a:ext cx="3474720" cy="41148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Next.js 14 (React) • TypeScript • Tailwind CSS • Shadcn/ui Components</a:t>
            </a:r>
            <a:endParaRPr lang="en-US" sz="1100" dirty="0"/>
          </a:p>
        </p:txBody>
      </p:sp>
      <p:sp>
        <p:nvSpPr>
          <p:cNvPr id="7" name="Shape 5"/>
          <p:cNvSpPr/>
          <p:nvPr/>
        </p:nvSpPr>
        <p:spPr>
          <a:xfrm>
            <a:off x="4846320" y="1280160"/>
            <a:ext cx="3840480" cy="914400"/>
          </a:xfrm>
          <a:prstGeom prst="rect">
            <a:avLst/>
          </a:prstGeom>
          <a:solidFill>
            <a:srgbClr val="FFFFFF"/>
          </a:solidFill>
          <a:ln w="12700">
            <a:solidFill>
              <a:srgbClr val="E2E8F0"/>
            </a:solidFill>
            <a:prstDash val="solid"/>
          </a:ln>
          <a:effectLst>
            <a:outerShdw blurRad="38100" dist="25400" dir="8100000" algn="bl" rotWithShape="0">
              <a:srgbClr val="000000">
                <a:alpha val="8000"/>
              </a:srgbClr>
            </a:outerShdw>
          </a:effectLst>
        </p:spPr>
      </p:sp>
      <p:sp>
        <p:nvSpPr>
          <p:cNvPr id="8" name="Shape 6"/>
          <p:cNvSpPr/>
          <p:nvPr/>
        </p:nvSpPr>
        <p:spPr>
          <a:xfrm>
            <a:off x="4846320" y="1280160"/>
            <a:ext cx="73152" cy="914400"/>
          </a:xfrm>
          <a:prstGeom prst="rect">
            <a:avLst/>
          </a:prstGeom>
          <a:solidFill>
            <a:srgbClr val="00A896"/>
          </a:solidFill>
          <a:ln/>
        </p:spPr>
      </p:sp>
      <p:sp>
        <p:nvSpPr>
          <p:cNvPr id="9" name="Text 7"/>
          <p:cNvSpPr/>
          <p:nvPr/>
        </p:nvSpPr>
        <p:spPr>
          <a:xfrm>
            <a:off x="5074920" y="1389888"/>
            <a:ext cx="3474720" cy="2286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Backend</a:t>
            </a:r>
            <a:endParaRPr lang="en-US" sz="1600" dirty="0"/>
          </a:p>
        </p:txBody>
      </p:sp>
      <p:sp>
        <p:nvSpPr>
          <p:cNvPr id="10" name="Text 8"/>
          <p:cNvSpPr/>
          <p:nvPr/>
        </p:nvSpPr>
        <p:spPr>
          <a:xfrm>
            <a:off x="5074920" y="1664208"/>
            <a:ext cx="3474720" cy="41148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Node.js • Express.js • RESTful APIs • WebSocket (Real-time)</a:t>
            </a:r>
            <a:endParaRPr lang="en-US" sz="1100" dirty="0"/>
          </a:p>
        </p:txBody>
      </p:sp>
      <p:sp>
        <p:nvSpPr>
          <p:cNvPr id="11" name="Shape 9"/>
          <p:cNvSpPr/>
          <p:nvPr/>
        </p:nvSpPr>
        <p:spPr>
          <a:xfrm>
            <a:off x="548640" y="2423160"/>
            <a:ext cx="3840480" cy="914400"/>
          </a:xfrm>
          <a:prstGeom prst="rect">
            <a:avLst/>
          </a:prstGeom>
          <a:solidFill>
            <a:srgbClr val="FFFFFF"/>
          </a:solidFill>
          <a:ln w="12700">
            <a:solidFill>
              <a:srgbClr val="E2E8F0"/>
            </a:solidFill>
            <a:prstDash val="solid"/>
          </a:ln>
          <a:effectLst>
            <a:outerShdw blurRad="38100" dist="25400" dir="8100000" algn="bl" rotWithShape="0">
              <a:srgbClr val="000000">
                <a:alpha val="8000"/>
              </a:srgbClr>
            </a:outerShdw>
          </a:effectLst>
        </p:spPr>
      </p:sp>
      <p:sp>
        <p:nvSpPr>
          <p:cNvPr id="12" name="Shape 10"/>
          <p:cNvSpPr/>
          <p:nvPr/>
        </p:nvSpPr>
        <p:spPr>
          <a:xfrm>
            <a:off x="548640" y="2423160"/>
            <a:ext cx="73152" cy="914400"/>
          </a:xfrm>
          <a:prstGeom prst="rect">
            <a:avLst/>
          </a:prstGeom>
          <a:solidFill>
            <a:srgbClr val="02C39A"/>
          </a:solidFill>
          <a:ln/>
        </p:spPr>
      </p:sp>
      <p:sp>
        <p:nvSpPr>
          <p:cNvPr id="13" name="Text 11"/>
          <p:cNvSpPr/>
          <p:nvPr/>
        </p:nvSpPr>
        <p:spPr>
          <a:xfrm>
            <a:off x="777240" y="2532888"/>
            <a:ext cx="3474720" cy="2286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AI/ML</a:t>
            </a:r>
            <a:endParaRPr lang="en-US" sz="1600" dirty="0"/>
          </a:p>
        </p:txBody>
      </p:sp>
      <p:sp>
        <p:nvSpPr>
          <p:cNvPr id="14" name="Text 12"/>
          <p:cNvSpPr/>
          <p:nvPr/>
        </p:nvSpPr>
        <p:spPr>
          <a:xfrm>
            <a:off x="777240" y="2807208"/>
            <a:ext cx="3474720" cy="41148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OpenAI GPT-4 • Claude AI • Custom NLP Models • TensorFlow/PyTorch</a:t>
            </a:r>
            <a:endParaRPr lang="en-US" sz="1100" dirty="0"/>
          </a:p>
        </p:txBody>
      </p:sp>
      <p:sp>
        <p:nvSpPr>
          <p:cNvPr id="15" name="Shape 13"/>
          <p:cNvSpPr/>
          <p:nvPr/>
        </p:nvSpPr>
        <p:spPr>
          <a:xfrm>
            <a:off x="4846320" y="2423160"/>
            <a:ext cx="3840480" cy="914400"/>
          </a:xfrm>
          <a:prstGeom prst="rect">
            <a:avLst/>
          </a:prstGeom>
          <a:solidFill>
            <a:srgbClr val="FFFFFF"/>
          </a:solidFill>
          <a:ln w="12700">
            <a:solidFill>
              <a:srgbClr val="E2E8F0"/>
            </a:solidFill>
            <a:prstDash val="solid"/>
          </a:ln>
          <a:effectLst>
            <a:outerShdw blurRad="38100" dist="25400" dir="8100000" algn="bl" rotWithShape="0">
              <a:srgbClr val="000000">
                <a:alpha val="8000"/>
              </a:srgbClr>
            </a:outerShdw>
          </a:effectLst>
        </p:spPr>
      </p:sp>
      <p:sp>
        <p:nvSpPr>
          <p:cNvPr id="16" name="Shape 14"/>
          <p:cNvSpPr/>
          <p:nvPr/>
        </p:nvSpPr>
        <p:spPr>
          <a:xfrm>
            <a:off x="4846320" y="2423160"/>
            <a:ext cx="73152" cy="914400"/>
          </a:xfrm>
          <a:prstGeom prst="rect">
            <a:avLst/>
          </a:prstGeom>
          <a:solidFill>
            <a:srgbClr val="0891B2"/>
          </a:solidFill>
          <a:ln/>
        </p:spPr>
      </p:sp>
      <p:sp>
        <p:nvSpPr>
          <p:cNvPr id="17" name="Text 15"/>
          <p:cNvSpPr/>
          <p:nvPr/>
        </p:nvSpPr>
        <p:spPr>
          <a:xfrm>
            <a:off x="5074920" y="2532888"/>
            <a:ext cx="3474720" cy="2286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Database</a:t>
            </a:r>
            <a:endParaRPr lang="en-US" sz="1600" dirty="0"/>
          </a:p>
        </p:txBody>
      </p:sp>
      <p:sp>
        <p:nvSpPr>
          <p:cNvPr id="18" name="Text 16"/>
          <p:cNvSpPr/>
          <p:nvPr/>
        </p:nvSpPr>
        <p:spPr>
          <a:xfrm>
            <a:off x="5074920" y="2807208"/>
            <a:ext cx="3474720" cy="41148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PostgreSQL • MongoDB • Redis (Caching) • Vector DB (Embeddings)</a:t>
            </a:r>
            <a:endParaRPr lang="en-US" sz="1100" dirty="0"/>
          </a:p>
        </p:txBody>
      </p:sp>
      <p:sp>
        <p:nvSpPr>
          <p:cNvPr id="19" name="Shape 17"/>
          <p:cNvSpPr/>
          <p:nvPr/>
        </p:nvSpPr>
        <p:spPr>
          <a:xfrm>
            <a:off x="548640" y="3566160"/>
            <a:ext cx="3840480" cy="914400"/>
          </a:xfrm>
          <a:prstGeom prst="rect">
            <a:avLst/>
          </a:prstGeom>
          <a:solidFill>
            <a:srgbClr val="FFFFFF"/>
          </a:solidFill>
          <a:ln w="12700">
            <a:solidFill>
              <a:srgbClr val="E2E8F0"/>
            </a:solidFill>
            <a:prstDash val="solid"/>
          </a:ln>
          <a:effectLst>
            <a:outerShdw blurRad="38100" dist="25400" dir="8100000" algn="bl" rotWithShape="0">
              <a:srgbClr val="000000">
                <a:alpha val="8000"/>
              </a:srgbClr>
            </a:outerShdw>
          </a:effectLst>
        </p:spPr>
      </p:sp>
      <p:sp>
        <p:nvSpPr>
          <p:cNvPr id="20" name="Shape 18"/>
          <p:cNvSpPr/>
          <p:nvPr/>
        </p:nvSpPr>
        <p:spPr>
          <a:xfrm>
            <a:off x="548640" y="3566160"/>
            <a:ext cx="73152" cy="914400"/>
          </a:xfrm>
          <a:prstGeom prst="rect">
            <a:avLst/>
          </a:prstGeom>
          <a:solidFill>
            <a:srgbClr val="7C3AED"/>
          </a:solidFill>
          <a:ln/>
        </p:spPr>
      </p:sp>
      <p:sp>
        <p:nvSpPr>
          <p:cNvPr id="21" name="Text 19"/>
          <p:cNvSpPr/>
          <p:nvPr/>
        </p:nvSpPr>
        <p:spPr>
          <a:xfrm>
            <a:off x="777240" y="3675888"/>
            <a:ext cx="3474720" cy="2286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Cloud &amp; DevOps</a:t>
            </a:r>
            <a:endParaRPr lang="en-US" sz="1600" dirty="0"/>
          </a:p>
        </p:txBody>
      </p:sp>
      <p:sp>
        <p:nvSpPr>
          <p:cNvPr id="22" name="Text 20"/>
          <p:cNvSpPr/>
          <p:nvPr/>
        </p:nvSpPr>
        <p:spPr>
          <a:xfrm>
            <a:off x="777240" y="3950208"/>
            <a:ext cx="3474720" cy="41148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Vercel Deployment • AWS/GCP Services • Docker • GitHub Actions CI/CD</a:t>
            </a:r>
            <a:endParaRPr lang="en-US" sz="1100" dirty="0"/>
          </a:p>
        </p:txBody>
      </p:sp>
      <p:sp>
        <p:nvSpPr>
          <p:cNvPr id="23" name="Shape 21"/>
          <p:cNvSpPr/>
          <p:nvPr/>
        </p:nvSpPr>
        <p:spPr>
          <a:xfrm>
            <a:off x="4846320" y="3566160"/>
            <a:ext cx="3840480" cy="914400"/>
          </a:xfrm>
          <a:prstGeom prst="rect">
            <a:avLst/>
          </a:prstGeom>
          <a:solidFill>
            <a:srgbClr val="FFFFFF"/>
          </a:solidFill>
          <a:ln w="12700">
            <a:solidFill>
              <a:srgbClr val="E2E8F0"/>
            </a:solidFill>
            <a:prstDash val="solid"/>
          </a:ln>
          <a:effectLst>
            <a:outerShdw blurRad="38100" dist="25400" dir="8100000" algn="bl" rotWithShape="0">
              <a:srgbClr val="000000">
                <a:alpha val="8000"/>
              </a:srgbClr>
            </a:outerShdw>
          </a:effectLst>
        </p:spPr>
      </p:sp>
      <p:sp>
        <p:nvSpPr>
          <p:cNvPr id="24" name="Shape 22"/>
          <p:cNvSpPr/>
          <p:nvPr/>
        </p:nvSpPr>
        <p:spPr>
          <a:xfrm>
            <a:off x="4846320" y="3566160"/>
            <a:ext cx="73152" cy="914400"/>
          </a:xfrm>
          <a:prstGeom prst="rect">
            <a:avLst/>
          </a:prstGeom>
          <a:solidFill>
            <a:srgbClr val="DC2626"/>
          </a:solidFill>
          <a:ln/>
        </p:spPr>
      </p:sp>
      <p:sp>
        <p:nvSpPr>
          <p:cNvPr id="25" name="Text 23"/>
          <p:cNvSpPr/>
          <p:nvPr/>
        </p:nvSpPr>
        <p:spPr>
          <a:xfrm>
            <a:off x="5074920" y="3675888"/>
            <a:ext cx="3474720" cy="2286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Additional Tools</a:t>
            </a:r>
            <a:endParaRPr lang="en-US" sz="1600" dirty="0"/>
          </a:p>
        </p:txBody>
      </p:sp>
      <p:sp>
        <p:nvSpPr>
          <p:cNvPr id="26" name="Text 24"/>
          <p:cNvSpPr/>
          <p:nvPr/>
        </p:nvSpPr>
        <p:spPr>
          <a:xfrm>
            <a:off x="5074920" y="3950208"/>
            <a:ext cx="3474720" cy="41148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PDF.js / PDFKit • Blockchain (Web3.js) • Stripe Payment • SendGrid Email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System Architecture Overview</a:t>
            </a:r>
            <a:endParaRPr lang="en-US" sz="3600" dirty="0"/>
          </a:p>
        </p:txBody>
      </p:sp>
      <p:sp>
        <p:nvSpPr>
          <p:cNvPr id="3" name="Shape 1"/>
          <p:cNvSpPr/>
          <p:nvPr/>
        </p:nvSpPr>
        <p:spPr>
          <a:xfrm>
            <a:off x="914400" y="1188720"/>
            <a:ext cx="7315200" cy="502920"/>
          </a:xfrm>
          <a:prstGeom prst="rect">
            <a:avLst/>
          </a:prstGeom>
          <a:solidFill>
            <a:srgbClr val="FFFFFF"/>
          </a:solidFill>
          <a:ln/>
          <a:effectLst>
            <a:outerShdw blurRad="50800" dist="25400" dir="8100000" algn="bl" rotWithShape="0">
              <a:srgbClr val="000000">
                <a:alpha val="10000"/>
              </a:srgbClr>
            </a:outerShdw>
          </a:effectLst>
        </p:spPr>
      </p:sp>
      <p:sp>
        <p:nvSpPr>
          <p:cNvPr id="4" name="Shape 2"/>
          <p:cNvSpPr/>
          <p:nvPr/>
        </p:nvSpPr>
        <p:spPr>
          <a:xfrm>
            <a:off x="914400" y="1188720"/>
            <a:ext cx="2011680" cy="502920"/>
          </a:xfrm>
          <a:prstGeom prst="rect">
            <a:avLst/>
          </a:prstGeom>
          <a:solidFill>
            <a:srgbClr val="028090"/>
          </a:solidFill>
          <a:ln/>
        </p:spPr>
      </p:sp>
      <p:sp>
        <p:nvSpPr>
          <p:cNvPr id="5" name="Text 3"/>
          <p:cNvSpPr/>
          <p:nvPr/>
        </p:nvSpPr>
        <p:spPr>
          <a:xfrm>
            <a:off x="1051560" y="1280160"/>
            <a:ext cx="18288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Presentation Layer</a:t>
            </a:r>
            <a:endParaRPr lang="en-US" sz="1300" dirty="0"/>
          </a:p>
        </p:txBody>
      </p:sp>
      <p:sp>
        <p:nvSpPr>
          <p:cNvPr id="6" name="Text 4"/>
          <p:cNvSpPr/>
          <p:nvPr/>
        </p:nvSpPr>
        <p:spPr>
          <a:xfrm>
            <a:off x="3063240" y="1280160"/>
            <a:ext cx="5029200" cy="320040"/>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Web Interface • Mobile Responsive • Dashboard • Analytics</a:t>
            </a:r>
            <a:endParaRPr lang="en-US" sz="1100" dirty="0"/>
          </a:p>
        </p:txBody>
      </p:sp>
      <p:sp>
        <p:nvSpPr>
          <p:cNvPr id="7" name="Shape 5"/>
          <p:cNvSpPr/>
          <p:nvPr/>
        </p:nvSpPr>
        <p:spPr>
          <a:xfrm>
            <a:off x="914400" y="1847088"/>
            <a:ext cx="7315200" cy="502920"/>
          </a:xfrm>
          <a:prstGeom prst="rect">
            <a:avLst/>
          </a:prstGeom>
          <a:solidFill>
            <a:srgbClr val="FFFFFF"/>
          </a:solidFill>
          <a:ln/>
          <a:effectLst>
            <a:outerShdw blurRad="50800" dist="25400" dir="8100000" algn="bl" rotWithShape="0">
              <a:srgbClr val="000000">
                <a:alpha val="10000"/>
              </a:srgbClr>
            </a:outerShdw>
          </a:effectLst>
        </p:spPr>
      </p:sp>
      <p:sp>
        <p:nvSpPr>
          <p:cNvPr id="8" name="Shape 6"/>
          <p:cNvSpPr/>
          <p:nvPr/>
        </p:nvSpPr>
        <p:spPr>
          <a:xfrm>
            <a:off x="914400" y="1847088"/>
            <a:ext cx="2011680" cy="502920"/>
          </a:xfrm>
          <a:prstGeom prst="rect">
            <a:avLst/>
          </a:prstGeom>
          <a:solidFill>
            <a:srgbClr val="028090">
              <a:alpha val="90000"/>
            </a:srgbClr>
          </a:solidFill>
          <a:ln/>
        </p:spPr>
      </p:sp>
      <p:sp>
        <p:nvSpPr>
          <p:cNvPr id="9" name="Text 7"/>
          <p:cNvSpPr/>
          <p:nvPr/>
        </p:nvSpPr>
        <p:spPr>
          <a:xfrm>
            <a:off x="1051560" y="1938528"/>
            <a:ext cx="18288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Application Layer</a:t>
            </a:r>
            <a:endParaRPr lang="en-US" sz="1300" dirty="0"/>
          </a:p>
        </p:txBody>
      </p:sp>
      <p:sp>
        <p:nvSpPr>
          <p:cNvPr id="10" name="Text 8"/>
          <p:cNvSpPr/>
          <p:nvPr/>
        </p:nvSpPr>
        <p:spPr>
          <a:xfrm>
            <a:off x="3063240" y="1938528"/>
            <a:ext cx="5029200" cy="320040"/>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Contract Analysis Engine • AI Processing • User Management • API Gateway</a:t>
            </a:r>
            <a:endParaRPr lang="en-US" sz="1100" dirty="0"/>
          </a:p>
        </p:txBody>
      </p:sp>
      <p:sp>
        <p:nvSpPr>
          <p:cNvPr id="11" name="Shape 9"/>
          <p:cNvSpPr/>
          <p:nvPr/>
        </p:nvSpPr>
        <p:spPr>
          <a:xfrm>
            <a:off x="914400" y="2505456"/>
            <a:ext cx="7315200" cy="502920"/>
          </a:xfrm>
          <a:prstGeom prst="rect">
            <a:avLst/>
          </a:prstGeom>
          <a:solidFill>
            <a:srgbClr val="FFFFFF"/>
          </a:solidFill>
          <a:ln/>
          <a:effectLst>
            <a:outerShdw blurRad="50800" dist="25400" dir="8100000" algn="bl" rotWithShape="0">
              <a:srgbClr val="000000">
                <a:alpha val="10000"/>
              </a:srgbClr>
            </a:outerShdw>
          </a:effectLst>
        </p:spPr>
      </p:sp>
      <p:sp>
        <p:nvSpPr>
          <p:cNvPr id="12" name="Shape 10"/>
          <p:cNvSpPr/>
          <p:nvPr/>
        </p:nvSpPr>
        <p:spPr>
          <a:xfrm>
            <a:off x="914400" y="2505456"/>
            <a:ext cx="2011680" cy="502920"/>
          </a:xfrm>
          <a:prstGeom prst="rect">
            <a:avLst/>
          </a:prstGeom>
          <a:solidFill>
            <a:srgbClr val="028090">
              <a:alpha val="80000"/>
            </a:srgbClr>
          </a:solidFill>
          <a:ln/>
        </p:spPr>
      </p:sp>
      <p:sp>
        <p:nvSpPr>
          <p:cNvPr id="13" name="Text 11"/>
          <p:cNvSpPr/>
          <p:nvPr/>
        </p:nvSpPr>
        <p:spPr>
          <a:xfrm>
            <a:off x="1051560" y="2596896"/>
            <a:ext cx="18288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Business Logic Layer</a:t>
            </a:r>
            <a:endParaRPr lang="en-US" sz="1300" dirty="0"/>
          </a:p>
        </p:txBody>
      </p:sp>
      <p:sp>
        <p:nvSpPr>
          <p:cNvPr id="14" name="Text 12"/>
          <p:cNvSpPr/>
          <p:nvPr/>
        </p:nvSpPr>
        <p:spPr>
          <a:xfrm>
            <a:off x="3063240" y="2596896"/>
            <a:ext cx="5029200" cy="320040"/>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Risk Assessment • Negotiation Engine • Template Builder • Payment Processing</a:t>
            </a:r>
            <a:endParaRPr lang="en-US" sz="1100" dirty="0"/>
          </a:p>
        </p:txBody>
      </p:sp>
      <p:sp>
        <p:nvSpPr>
          <p:cNvPr id="15" name="Shape 13"/>
          <p:cNvSpPr/>
          <p:nvPr/>
        </p:nvSpPr>
        <p:spPr>
          <a:xfrm>
            <a:off x="914400" y="3163824"/>
            <a:ext cx="7315200" cy="502920"/>
          </a:xfrm>
          <a:prstGeom prst="rect">
            <a:avLst/>
          </a:prstGeom>
          <a:solidFill>
            <a:srgbClr val="FFFFFF"/>
          </a:solidFill>
          <a:ln/>
          <a:effectLst>
            <a:outerShdw blurRad="50800" dist="25400" dir="8100000" algn="bl" rotWithShape="0">
              <a:srgbClr val="000000">
                <a:alpha val="10000"/>
              </a:srgbClr>
            </a:outerShdw>
          </a:effectLst>
        </p:spPr>
      </p:sp>
      <p:sp>
        <p:nvSpPr>
          <p:cNvPr id="16" name="Shape 14"/>
          <p:cNvSpPr/>
          <p:nvPr/>
        </p:nvSpPr>
        <p:spPr>
          <a:xfrm>
            <a:off x="914400" y="3163824"/>
            <a:ext cx="2011680" cy="502920"/>
          </a:xfrm>
          <a:prstGeom prst="rect">
            <a:avLst/>
          </a:prstGeom>
          <a:solidFill>
            <a:srgbClr val="028090">
              <a:alpha val="70000"/>
            </a:srgbClr>
          </a:solidFill>
          <a:ln/>
        </p:spPr>
      </p:sp>
      <p:sp>
        <p:nvSpPr>
          <p:cNvPr id="17" name="Text 15"/>
          <p:cNvSpPr/>
          <p:nvPr/>
        </p:nvSpPr>
        <p:spPr>
          <a:xfrm>
            <a:off x="1051560" y="3255264"/>
            <a:ext cx="18288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Data Layer</a:t>
            </a:r>
            <a:endParaRPr lang="en-US" sz="1300" dirty="0"/>
          </a:p>
        </p:txBody>
      </p:sp>
      <p:sp>
        <p:nvSpPr>
          <p:cNvPr id="18" name="Text 16"/>
          <p:cNvSpPr/>
          <p:nvPr/>
        </p:nvSpPr>
        <p:spPr>
          <a:xfrm>
            <a:off x="3063240" y="3255264"/>
            <a:ext cx="5029200" cy="320040"/>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Contract Repository • User Data • Analytics • Clause Library</a:t>
            </a:r>
            <a:endParaRPr lang="en-US" sz="1100" dirty="0"/>
          </a:p>
        </p:txBody>
      </p:sp>
      <p:sp>
        <p:nvSpPr>
          <p:cNvPr id="19" name="Shape 17"/>
          <p:cNvSpPr/>
          <p:nvPr/>
        </p:nvSpPr>
        <p:spPr>
          <a:xfrm>
            <a:off x="914400" y="3822192"/>
            <a:ext cx="7315200" cy="502920"/>
          </a:xfrm>
          <a:prstGeom prst="rect">
            <a:avLst/>
          </a:prstGeom>
          <a:solidFill>
            <a:srgbClr val="FFFFFF"/>
          </a:solidFill>
          <a:ln/>
          <a:effectLst>
            <a:outerShdw blurRad="50800" dist="25400" dir="8100000" algn="bl" rotWithShape="0">
              <a:srgbClr val="000000">
                <a:alpha val="10000"/>
              </a:srgbClr>
            </a:outerShdw>
          </a:effectLst>
        </p:spPr>
      </p:sp>
      <p:sp>
        <p:nvSpPr>
          <p:cNvPr id="20" name="Shape 18"/>
          <p:cNvSpPr/>
          <p:nvPr/>
        </p:nvSpPr>
        <p:spPr>
          <a:xfrm>
            <a:off x="914400" y="3822192"/>
            <a:ext cx="2011680" cy="502920"/>
          </a:xfrm>
          <a:prstGeom prst="rect">
            <a:avLst/>
          </a:prstGeom>
          <a:solidFill>
            <a:srgbClr val="028090">
              <a:alpha val="60000"/>
            </a:srgbClr>
          </a:solidFill>
          <a:ln/>
        </p:spPr>
      </p:sp>
      <p:sp>
        <p:nvSpPr>
          <p:cNvPr id="21" name="Text 19"/>
          <p:cNvSpPr/>
          <p:nvPr/>
        </p:nvSpPr>
        <p:spPr>
          <a:xfrm>
            <a:off x="1051560" y="3913632"/>
            <a:ext cx="18288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Integration Layer</a:t>
            </a:r>
            <a:endParaRPr lang="en-US" sz="1300" dirty="0"/>
          </a:p>
        </p:txBody>
      </p:sp>
      <p:sp>
        <p:nvSpPr>
          <p:cNvPr id="22" name="Text 20"/>
          <p:cNvSpPr/>
          <p:nvPr/>
        </p:nvSpPr>
        <p:spPr>
          <a:xfrm>
            <a:off x="3063240" y="3913632"/>
            <a:ext cx="5029200" cy="320040"/>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AI APIs • Blockchain • E-signature • Payment Gateway • Email Services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Key Deliverables &amp; Development Phases</a:t>
            </a:r>
            <a:endParaRPr lang="en-US" sz="3600" dirty="0"/>
          </a:p>
        </p:txBody>
      </p:sp>
      <p:sp>
        <p:nvSpPr>
          <p:cNvPr id="3" name="Shape 1"/>
          <p:cNvSpPr/>
          <p:nvPr/>
        </p:nvSpPr>
        <p:spPr>
          <a:xfrm>
            <a:off x="731520" y="1371600"/>
            <a:ext cx="1828800" cy="2743200"/>
          </a:xfrm>
          <a:prstGeom prst="rect">
            <a:avLst/>
          </a:prstGeom>
          <a:solidFill>
            <a:srgbClr val="FFFFFF"/>
          </a:solidFill>
          <a:ln w="25400">
            <a:solidFill>
              <a:srgbClr val="028090"/>
            </a:solidFill>
            <a:prstDash val="solid"/>
          </a:ln>
          <a:effectLst>
            <a:outerShdw blurRad="63500" dist="38100" dir="8100000" algn="bl" rotWithShape="0">
              <a:srgbClr val="000000">
                <a:alpha val="12000"/>
              </a:srgbClr>
            </a:outerShdw>
          </a:effectLst>
        </p:spPr>
      </p:sp>
      <p:sp>
        <p:nvSpPr>
          <p:cNvPr id="4" name="Shape 2"/>
          <p:cNvSpPr/>
          <p:nvPr/>
        </p:nvSpPr>
        <p:spPr>
          <a:xfrm>
            <a:off x="731520" y="1371600"/>
            <a:ext cx="1828800" cy="457200"/>
          </a:xfrm>
          <a:prstGeom prst="rect">
            <a:avLst/>
          </a:prstGeom>
          <a:solidFill>
            <a:srgbClr val="028090"/>
          </a:solidFill>
          <a:ln/>
        </p:spPr>
      </p:sp>
      <p:sp>
        <p:nvSpPr>
          <p:cNvPr id="5" name="Text 3"/>
          <p:cNvSpPr/>
          <p:nvPr/>
        </p:nvSpPr>
        <p:spPr>
          <a:xfrm>
            <a:off x="822960" y="1463040"/>
            <a:ext cx="1645920" cy="2743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Phase 1</a:t>
            </a:r>
            <a:endParaRPr lang="en-US" sz="1800" dirty="0"/>
          </a:p>
        </p:txBody>
      </p:sp>
      <p:sp>
        <p:nvSpPr>
          <p:cNvPr id="6" name="Text 4"/>
          <p:cNvSpPr/>
          <p:nvPr/>
        </p:nvSpPr>
        <p:spPr>
          <a:xfrm>
            <a:off x="822960" y="1965960"/>
            <a:ext cx="1645920" cy="22860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Jan-Feb 2026</a:t>
            </a:r>
            <a:endParaRPr lang="en-US" sz="1200" dirty="0"/>
          </a:p>
        </p:txBody>
      </p:sp>
      <p:sp>
        <p:nvSpPr>
          <p:cNvPr id="7" name="Text 5"/>
          <p:cNvSpPr/>
          <p:nvPr/>
        </p:nvSpPr>
        <p:spPr>
          <a:xfrm>
            <a:off x="914400" y="2331720"/>
            <a:ext cx="1463040" cy="155448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Contract upload &amp; analysis</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AI risk detection</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Basic dashboard</a:t>
            </a:r>
            <a:endParaRPr lang="en-US" sz="1100" dirty="0"/>
          </a:p>
        </p:txBody>
      </p:sp>
      <p:sp>
        <p:nvSpPr>
          <p:cNvPr id="8" name="Shape 6"/>
          <p:cNvSpPr/>
          <p:nvPr/>
        </p:nvSpPr>
        <p:spPr>
          <a:xfrm>
            <a:off x="2743200" y="1371600"/>
            <a:ext cx="1828800" cy="2743200"/>
          </a:xfrm>
          <a:prstGeom prst="rect">
            <a:avLst/>
          </a:prstGeom>
          <a:solidFill>
            <a:srgbClr val="FFFFFF"/>
          </a:solidFill>
          <a:ln w="25400">
            <a:solidFill>
              <a:srgbClr val="028090"/>
            </a:solidFill>
            <a:prstDash val="solid"/>
          </a:ln>
          <a:effectLst>
            <a:outerShdw blurRad="63500" dist="38100" dir="8100000" algn="bl" rotWithShape="0">
              <a:srgbClr val="000000">
                <a:alpha val="12000"/>
              </a:srgbClr>
            </a:outerShdw>
          </a:effectLst>
        </p:spPr>
      </p:sp>
      <p:sp>
        <p:nvSpPr>
          <p:cNvPr id="9" name="Shape 7"/>
          <p:cNvSpPr/>
          <p:nvPr/>
        </p:nvSpPr>
        <p:spPr>
          <a:xfrm>
            <a:off x="2743200" y="1371600"/>
            <a:ext cx="1828800" cy="457200"/>
          </a:xfrm>
          <a:prstGeom prst="rect">
            <a:avLst/>
          </a:prstGeom>
          <a:solidFill>
            <a:srgbClr val="028090"/>
          </a:solidFill>
          <a:ln/>
        </p:spPr>
      </p:sp>
      <p:sp>
        <p:nvSpPr>
          <p:cNvPr id="10" name="Text 8"/>
          <p:cNvSpPr/>
          <p:nvPr/>
        </p:nvSpPr>
        <p:spPr>
          <a:xfrm>
            <a:off x="2834640" y="1463040"/>
            <a:ext cx="1645920" cy="2743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Phase 2</a:t>
            </a:r>
            <a:endParaRPr lang="en-US" sz="1800" dirty="0"/>
          </a:p>
        </p:txBody>
      </p:sp>
      <p:sp>
        <p:nvSpPr>
          <p:cNvPr id="11" name="Text 9"/>
          <p:cNvSpPr/>
          <p:nvPr/>
        </p:nvSpPr>
        <p:spPr>
          <a:xfrm>
            <a:off x="2834640" y="1965960"/>
            <a:ext cx="1645920" cy="22860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Mar-Apr 2026</a:t>
            </a:r>
            <a:endParaRPr lang="en-US" sz="1200" dirty="0"/>
          </a:p>
        </p:txBody>
      </p:sp>
      <p:sp>
        <p:nvSpPr>
          <p:cNvPr id="12" name="Text 10"/>
          <p:cNvSpPr/>
          <p:nvPr/>
        </p:nvSpPr>
        <p:spPr>
          <a:xfrm>
            <a:off x="2926080" y="2331720"/>
            <a:ext cx="1463040" cy="155448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AI drafting tools</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Template builder</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Negotiation assistant</a:t>
            </a:r>
            <a:endParaRPr lang="en-US" sz="1100" dirty="0"/>
          </a:p>
        </p:txBody>
      </p:sp>
      <p:sp>
        <p:nvSpPr>
          <p:cNvPr id="13" name="Shape 11"/>
          <p:cNvSpPr/>
          <p:nvPr/>
        </p:nvSpPr>
        <p:spPr>
          <a:xfrm>
            <a:off x="4754880" y="1371600"/>
            <a:ext cx="1828800" cy="2743200"/>
          </a:xfrm>
          <a:prstGeom prst="rect">
            <a:avLst/>
          </a:prstGeom>
          <a:solidFill>
            <a:srgbClr val="FFFFFF"/>
          </a:solidFill>
          <a:ln w="25400">
            <a:solidFill>
              <a:srgbClr val="028090"/>
            </a:solidFill>
            <a:prstDash val="solid"/>
          </a:ln>
          <a:effectLst>
            <a:outerShdw blurRad="63500" dist="38100" dir="8100000" algn="bl" rotWithShape="0">
              <a:srgbClr val="000000">
                <a:alpha val="12000"/>
              </a:srgbClr>
            </a:outerShdw>
          </a:effectLst>
        </p:spPr>
      </p:sp>
      <p:sp>
        <p:nvSpPr>
          <p:cNvPr id="14" name="Shape 12"/>
          <p:cNvSpPr/>
          <p:nvPr/>
        </p:nvSpPr>
        <p:spPr>
          <a:xfrm>
            <a:off x="4754880" y="1371600"/>
            <a:ext cx="1828800" cy="457200"/>
          </a:xfrm>
          <a:prstGeom prst="rect">
            <a:avLst/>
          </a:prstGeom>
          <a:solidFill>
            <a:srgbClr val="028090"/>
          </a:solidFill>
          <a:ln/>
        </p:spPr>
      </p:sp>
      <p:sp>
        <p:nvSpPr>
          <p:cNvPr id="15" name="Text 13"/>
          <p:cNvSpPr/>
          <p:nvPr/>
        </p:nvSpPr>
        <p:spPr>
          <a:xfrm>
            <a:off x="4846320" y="1463040"/>
            <a:ext cx="1645920" cy="2743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Phase 3</a:t>
            </a:r>
            <a:endParaRPr lang="en-US" sz="1800" dirty="0"/>
          </a:p>
        </p:txBody>
      </p:sp>
      <p:sp>
        <p:nvSpPr>
          <p:cNvPr id="16" name="Text 14"/>
          <p:cNvSpPr/>
          <p:nvPr/>
        </p:nvSpPr>
        <p:spPr>
          <a:xfrm>
            <a:off x="4846320" y="1965960"/>
            <a:ext cx="1645920" cy="22860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May-Jun 2026</a:t>
            </a:r>
            <a:endParaRPr lang="en-US" sz="1200" dirty="0"/>
          </a:p>
        </p:txBody>
      </p:sp>
      <p:sp>
        <p:nvSpPr>
          <p:cNvPr id="17" name="Text 15"/>
          <p:cNvSpPr/>
          <p:nvPr/>
        </p:nvSpPr>
        <p:spPr>
          <a:xfrm>
            <a:off x="4937760" y="2331720"/>
            <a:ext cx="1463040" cy="155448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Lawyer marketplace</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Team collaboration</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E-signature integration</a:t>
            </a:r>
            <a:endParaRPr lang="en-US" sz="1100" dirty="0"/>
          </a:p>
        </p:txBody>
      </p:sp>
      <p:sp>
        <p:nvSpPr>
          <p:cNvPr id="18" name="Shape 16"/>
          <p:cNvSpPr/>
          <p:nvPr/>
        </p:nvSpPr>
        <p:spPr>
          <a:xfrm>
            <a:off x="6766560" y="1371600"/>
            <a:ext cx="1828800" cy="2743200"/>
          </a:xfrm>
          <a:prstGeom prst="rect">
            <a:avLst/>
          </a:prstGeom>
          <a:solidFill>
            <a:srgbClr val="FFFFFF"/>
          </a:solidFill>
          <a:ln w="25400">
            <a:solidFill>
              <a:srgbClr val="028090"/>
            </a:solidFill>
            <a:prstDash val="solid"/>
          </a:ln>
          <a:effectLst>
            <a:outerShdw blurRad="63500" dist="38100" dir="8100000" algn="bl" rotWithShape="0">
              <a:srgbClr val="000000">
                <a:alpha val="12000"/>
              </a:srgbClr>
            </a:outerShdw>
          </a:effectLst>
        </p:spPr>
      </p:sp>
      <p:sp>
        <p:nvSpPr>
          <p:cNvPr id="19" name="Shape 17"/>
          <p:cNvSpPr/>
          <p:nvPr/>
        </p:nvSpPr>
        <p:spPr>
          <a:xfrm>
            <a:off x="6766560" y="1371600"/>
            <a:ext cx="1828800" cy="457200"/>
          </a:xfrm>
          <a:prstGeom prst="rect">
            <a:avLst/>
          </a:prstGeom>
          <a:solidFill>
            <a:srgbClr val="028090"/>
          </a:solidFill>
          <a:ln/>
        </p:spPr>
      </p:sp>
      <p:sp>
        <p:nvSpPr>
          <p:cNvPr id="20" name="Text 18"/>
          <p:cNvSpPr/>
          <p:nvPr/>
        </p:nvSpPr>
        <p:spPr>
          <a:xfrm>
            <a:off x="6858000" y="1463040"/>
            <a:ext cx="1645920" cy="2743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Phase 4</a:t>
            </a:r>
            <a:endParaRPr lang="en-US" sz="1800" dirty="0"/>
          </a:p>
        </p:txBody>
      </p:sp>
      <p:sp>
        <p:nvSpPr>
          <p:cNvPr id="21" name="Text 19"/>
          <p:cNvSpPr/>
          <p:nvPr/>
        </p:nvSpPr>
        <p:spPr>
          <a:xfrm>
            <a:off x="6858000" y="1965960"/>
            <a:ext cx="1645920" cy="22860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Jul-Aug 2026</a:t>
            </a:r>
            <a:endParaRPr lang="en-US" sz="1200" dirty="0"/>
          </a:p>
        </p:txBody>
      </p:sp>
      <p:sp>
        <p:nvSpPr>
          <p:cNvPr id="22" name="Text 20"/>
          <p:cNvSpPr/>
          <p:nvPr/>
        </p:nvSpPr>
        <p:spPr>
          <a:xfrm>
            <a:off x="6949440" y="2331720"/>
            <a:ext cx="1463040" cy="1554480"/>
          </a:xfrm>
          <a:prstGeom prst="rect">
            <a:avLst/>
          </a:prstGeom>
          <a:noFill/>
          <a:ln/>
        </p:spPr>
        <p:txBody>
          <a:bodyPr wrap="square" rtlCol="0" anchor="t"/>
          <a:lstStyle/>
          <a:p>
            <a:pPr marL="0" indent="0">
              <a:buNone/>
            </a:pPr>
            <a:r>
              <a:rPr lang="en-US" sz="1100" dirty="0">
                <a:solidFill>
                  <a:srgbClr val="2D3748"/>
                </a:solidFill>
                <a:latin typeface="Calibri" pitchFamily="34" charset="0"/>
                <a:ea typeface="Calibri" pitchFamily="34" charset="-122"/>
                <a:cs typeface="Calibri" pitchFamily="34" charset="-120"/>
              </a:rPr>
              <a:t>ML risk predictor</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Blockchain registry</a:t>
            </a: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Multi-language support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1E2761"/>
                </a:solidFill>
                <a:latin typeface="Calibri" pitchFamily="34" charset="0"/>
                <a:ea typeface="Calibri" pitchFamily="34" charset="-122"/>
                <a:cs typeface="Calibri" pitchFamily="34" charset="-120"/>
              </a:rPr>
              <a:t>Expected Market Impact</a:t>
            </a:r>
            <a:endParaRPr lang="en-US" sz="3600" dirty="0"/>
          </a:p>
        </p:txBody>
      </p:sp>
      <p:sp>
        <p:nvSpPr>
          <p:cNvPr id="3" name="Shape 1"/>
          <p:cNvSpPr/>
          <p:nvPr/>
        </p:nvSpPr>
        <p:spPr>
          <a:xfrm>
            <a:off x="731520" y="1371600"/>
            <a:ext cx="1828800" cy="2011680"/>
          </a:xfrm>
          <a:prstGeom prst="rect">
            <a:avLst/>
          </a:prstGeom>
          <a:solidFill>
            <a:srgbClr val="FFFFFF"/>
          </a:solidFill>
          <a:ln w="12700">
            <a:solidFill>
              <a:srgbClr val="E2E8F0"/>
            </a:solidFill>
            <a:prstDash val="solid"/>
          </a:ln>
        </p:spPr>
      </p:sp>
      <p:sp>
        <p:nvSpPr>
          <p:cNvPr id="4" name="Text 2"/>
          <p:cNvSpPr/>
          <p:nvPr/>
        </p:nvSpPr>
        <p:spPr>
          <a:xfrm>
            <a:off x="822960" y="1645920"/>
            <a:ext cx="1645920" cy="548640"/>
          </a:xfrm>
          <a:prstGeom prst="rect">
            <a:avLst/>
          </a:prstGeom>
          <a:noFill/>
          <a:ln/>
        </p:spPr>
        <p:txBody>
          <a:bodyPr wrap="square" rtlCol="0" anchor="ctr"/>
          <a:lstStyle/>
          <a:p>
            <a:pPr marL="0" indent="0" algn="ctr">
              <a:buNone/>
            </a:pPr>
            <a:r>
              <a:rPr lang="en-US" sz="4000" b="1" dirty="0">
                <a:solidFill>
                  <a:srgbClr val="028090"/>
                </a:solidFill>
                <a:latin typeface="Calibri" pitchFamily="34" charset="0"/>
                <a:ea typeface="Calibri" pitchFamily="34" charset="-122"/>
                <a:cs typeface="Calibri" pitchFamily="34" charset="-120"/>
              </a:rPr>
              <a:t>10,000+</a:t>
            </a:r>
            <a:endParaRPr lang="en-US" sz="4000" dirty="0"/>
          </a:p>
        </p:txBody>
      </p:sp>
      <p:sp>
        <p:nvSpPr>
          <p:cNvPr id="5" name="Text 3"/>
          <p:cNvSpPr/>
          <p:nvPr/>
        </p:nvSpPr>
        <p:spPr>
          <a:xfrm>
            <a:off x="822960" y="2286000"/>
            <a:ext cx="1645920" cy="36576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Contracts Analyzed</a:t>
            </a:r>
            <a:endParaRPr lang="en-US" sz="1600" dirty="0"/>
          </a:p>
        </p:txBody>
      </p:sp>
      <p:sp>
        <p:nvSpPr>
          <p:cNvPr id="6" name="Text 4"/>
          <p:cNvSpPr/>
          <p:nvPr/>
        </p:nvSpPr>
        <p:spPr>
          <a:xfrm>
            <a:off x="822960" y="2697480"/>
            <a:ext cx="1645920" cy="274320"/>
          </a:xfrm>
          <a:prstGeom prst="rect">
            <a:avLst/>
          </a:prstGeom>
          <a:noFill/>
          <a:ln/>
        </p:spPr>
        <p:txBody>
          <a:bodyPr wrap="square" rtlCol="0" anchor="ctr"/>
          <a:lstStyle/>
          <a:p>
            <a:pPr marL="0" indent="0" algn="ctr">
              <a:buNone/>
            </a:pPr>
            <a:r>
              <a:rPr lang="en-US" sz="1200" dirty="0">
                <a:solidFill>
                  <a:srgbClr val="2D3748"/>
                </a:solidFill>
                <a:latin typeface="Calibri" pitchFamily="34" charset="0"/>
                <a:ea typeface="Calibri" pitchFamily="34" charset="-122"/>
                <a:cs typeface="Calibri" pitchFamily="34" charset="-120"/>
              </a:rPr>
              <a:t>Within first year</a:t>
            </a:r>
            <a:endParaRPr lang="en-US" sz="1200" dirty="0"/>
          </a:p>
        </p:txBody>
      </p:sp>
      <p:sp>
        <p:nvSpPr>
          <p:cNvPr id="7" name="Shape 5"/>
          <p:cNvSpPr/>
          <p:nvPr/>
        </p:nvSpPr>
        <p:spPr>
          <a:xfrm>
            <a:off x="2743200" y="1371600"/>
            <a:ext cx="1828800" cy="2011680"/>
          </a:xfrm>
          <a:prstGeom prst="rect">
            <a:avLst/>
          </a:prstGeom>
          <a:solidFill>
            <a:srgbClr val="FFFFFF"/>
          </a:solidFill>
          <a:ln w="12700">
            <a:solidFill>
              <a:srgbClr val="E2E8F0"/>
            </a:solidFill>
            <a:prstDash val="solid"/>
          </a:ln>
        </p:spPr>
      </p:sp>
      <p:sp>
        <p:nvSpPr>
          <p:cNvPr id="8" name="Text 6"/>
          <p:cNvSpPr/>
          <p:nvPr/>
        </p:nvSpPr>
        <p:spPr>
          <a:xfrm>
            <a:off x="2834640" y="1645920"/>
            <a:ext cx="1645920" cy="548640"/>
          </a:xfrm>
          <a:prstGeom prst="rect">
            <a:avLst/>
          </a:prstGeom>
          <a:noFill/>
          <a:ln/>
        </p:spPr>
        <p:txBody>
          <a:bodyPr wrap="square" rtlCol="0" anchor="ctr"/>
          <a:lstStyle/>
          <a:p>
            <a:pPr marL="0" indent="0" algn="ctr">
              <a:buNone/>
            </a:pPr>
            <a:r>
              <a:rPr lang="en-US" sz="4000" b="1" dirty="0">
                <a:solidFill>
                  <a:srgbClr val="028090"/>
                </a:solidFill>
                <a:latin typeface="Calibri" pitchFamily="34" charset="0"/>
                <a:ea typeface="Calibri" pitchFamily="34" charset="-122"/>
                <a:cs typeface="Calibri" pitchFamily="34" charset="-120"/>
              </a:rPr>
              <a:t>&lt;30s</a:t>
            </a:r>
            <a:endParaRPr lang="en-US" sz="4000" dirty="0"/>
          </a:p>
        </p:txBody>
      </p:sp>
      <p:sp>
        <p:nvSpPr>
          <p:cNvPr id="9" name="Text 7"/>
          <p:cNvSpPr/>
          <p:nvPr/>
        </p:nvSpPr>
        <p:spPr>
          <a:xfrm>
            <a:off x="2834640" y="2286000"/>
            <a:ext cx="1645920" cy="36576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Analysis Time</a:t>
            </a:r>
            <a:endParaRPr lang="en-US" sz="1600" dirty="0"/>
          </a:p>
        </p:txBody>
      </p:sp>
      <p:sp>
        <p:nvSpPr>
          <p:cNvPr id="10" name="Text 8"/>
          <p:cNvSpPr/>
          <p:nvPr/>
        </p:nvSpPr>
        <p:spPr>
          <a:xfrm>
            <a:off x="2834640" y="2697480"/>
            <a:ext cx="1645920" cy="274320"/>
          </a:xfrm>
          <a:prstGeom prst="rect">
            <a:avLst/>
          </a:prstGeom>
          <a:noFill/>
          <a:ln/>
        </p:spPr>
        <p:txBody>
          <a:bodyPr wrap="square" rtlCol="0" anchor="ctr"/>
          <a:lstStyle/>
          <a:p>
            <a:pPr marL="0" indent="0" algn="ctr">
              <a:buNone/>
            </a:pPr>
            <a:r>
              <a:rPr lang="en-US" sz="1200" dirty="0">
                <a:solidFill>
                  <a:srgbClr val="2D3748"/>
                </a:solidFill>
                <a:latin typeface="Calibri" pitchFamily="34" charset="0"/>
                <a:ea typeface="Calibri" pitchFamily="34" charset="-122"/>
                <a:cs typeface="Calibri" pitchFamily="34" charset="-120"/>
              </a:rPr>
              <a:t>Instant insights</a:t>
            </a:r>
            <a:endParaRPr lang="en-US" sz="1200" dirty="0"/>
          </a:p>
        </p:txBody>
      </p:sp>
      <p:sp>
        <p:nvSpPr>
          <p:cNvPr id="11" name="Shape 9"/>
          <p:cNvSpPr/>
          <p:nvPr/>
        </p:nvSpPr>
        <p:spPr>
          <a:xfrm>
            <a:off x="4754880" y="1371600"/>
            <a:ext cx="1828800" cy="2011680"/>
          </a:xfrm>
          <a:prstGeom prst="rect">
            <a:avLst/>
          </a:prstGeom>
          <a:solidFill>
            <a:srgbClr val="FFFFFF"/>
          </a:solidFill>
          <a:ln w="12700">
            <a:solidFill>
              <a:srgbClr val="E2E8F0"/>
            </a:solidFill>
            <a:prstDash val="solid"/>
          </a:ln>
        </p:spPr>
      </p:sp>
      <p:sp>
        <p:nvSpPr>
          <p:cNvPr id="12" name="Text 10"/>
          <p:cNvSpPr/>
          <p:nvPr/>
        </p:nvSpPr>
        <p:spPr>
          <a:xfrm>
            <a:off x="4846320" y="1645920"/>
            <a:ext cx="1645920" cy="548640"/>
          </a:xfrm>
          <a:prstGeom prst="rect">
            <a:avLst/>
          </a:prstGeom>
          <a:noFill/>
          <a:ln/>
        </p:spPr>
        <p:txBody>
          <a:bodyPr wrap="square" rtlCol="0" anchor="ctr"/>
          <a:lstStyle/>
          <a:p>
            <a:pPr marL="0" indent="0" algn="ctr">
              <a:buNone/>
            </a:pPr>
            <a:r>
              <a:rPr lang="en-US" sz="4000" b="1" dirty="0">
                <a:solidFill>
                  <a:srgbClr val="028090"/>
                </a:solidFill>
                <a:latin typeface="Calibri" pitchFamily="34" charset="0"/>
                <a:ea typeface="Calibri" pitchFamily="34" charset="-122"/>
                <a:cs typeface="Calibri" pitchFamily="34" charset="-120"/>
              </a:rPr>
              <a:t>5,000+</a:t>
            </a:r>
            <a:endParaRPr lang="en-US" sz="4000" dirty="0"/>
          </a:p>
        </p:txBody>
      </p:sp>
      <p:sp>
        <p:nvSpPr>
          <p:cNvPr id="13" name="Text 11"/>
          <p:cNvSpPr/>
          <p:nvPr/>
        </p:nvSpPr>
        <p:spPr>
          <a:xfrm>
            <a:off x="4846320" y="2286000"/>
            <a:ext cx="1645920" cy="36576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Protected Users</a:t>
            </a:r>
            <a:endParaRPr lang="en-US" sz="1600" dirty="0"/>
          </a:p>
        </p:txBody>
      </p:sp>
      <p:sp>
        <p:nvSpPr>
          <p:cNvPr id="14" name="Text 12"/>
          <p:cNvSpPr/>
          <p:nvPr/>
        </p:nvSpPr>
        <p:spPr>
          <a:xfrm>
            <a:off x="4846320" y="2697480"/>
            <a:ext cx="1645920" cy="274320"/>
          </a:xfrm>
          <a:prstGeom prst="rect">
            <a:avLst/>
          </a:prstGeom>
          <a:noFill/>
          <a:ln/>
        </p:spPr>
        <p:txBody>
          <a:bodyPr wrap="square" rtlCol="0" anchor="ctr"/>
          <a:lstStyle/>
          <a:p>
            <a:pPr marL="0" indent="0" algn="ctr">
              <a:buNone/>
            </a:pPr>
            <a:r>
              <a:rPr lang="en-US" sz="1200" dirty="0">
                <a:solidFill>
                  <a:srgbClr val="2D3748"/>
                </a:solidFill>
                <a:latin typeface="Calibri" pitchFamily="34" charset="0"/>
                <a:ea typeface="Calibri" pitchFamily="34" charset="-122"/>
                <a:cs typeface="Calibri" pitchFamily="34" charset="-120"/>
              </a:rPr>
              <a:t>Growing community</a:t>
            </a:r>
            <a:endParaRPr lang="en-US" sz="1200" dirty="0"/>
          </a:p>
        </p:txBody>
      </p:sp>
      <p:sp>
        <p:nvSpPr>
          <p:cNvPr id="15" name="Shape 13"/>
          <p:cNvSpPr/>
          <p:nvPr/>
        </p:nvSpPr>
        <p:spPr>
          <a:xfrm>
            <a:off x="6766560" y="1371600"/>
            <a:ext cx="1828800" cy="2011680"/>
          </a:xfrm>
          <a:prstGeom prst="rect">
            <a:avLst/>
          </a:prstGeom>
          <a:solidFill>
            <a:srgbClr val="FFFFFF"/>
          </a:solidFill>
          <a:ln w="12700">
            <a:solidFill>
              <a:srgbClr val="E2E8F0"/>
            </a:solidFill>
            <a:prstDash val="solid"/>
          </a:ln>
        </p:spPr>
      </p:sp>
      <p:sp>
        <p:nvSpPr>
          <p:cNvPr id="16" name="Text 14"/>
          <p:cNvSpPr/>
          <p:nvPr/>
        </p:nvSpPr>
        <p:spPr>
          <a:xfrm>
            <a:off x="6858000" y="1645920"/>
            <a:ext cx="1645920" cy="548640"/>
          </a:xfrm>
          <a:prstGeom prst="rect">
            <a:avLst/>
          </a:prstGeom>
          <a:noFill/>
          <a:ln/>
        </p:spPr>
        <p:txBody>
          <a:bodyPr wrap="square" rtlCol="0" anchor="ctr"/>
          <a:lstStyle/>
          <a:p>
            <a:pPr marL="0" indent="0" algn="ctr">
              <a:buNone/>
            </a:pPr>
            <a:r>
              <a:rPr lang="en-US" sz="4000" b="1" dirty="0">
                <a:solidFill>
                  <a:srgbClr val="028090"/>
                </a:solidFill>
                <a:latin typeface="Calibri" pitchFamily="34" charset="0"/>
                <a:ea typeface="Calibri" pitchFamily="34" charset="-122"/>
                <a:cs typeface="Calibri" pitchFamily="34" charset="-120"/>
              </a:rPr>
              <a:t>50+</a:t>
            </a:r>
            <a:endParaRPr lang="en-US" sz="4000" dirty="0"/>
          </a:p>
        </p:txBody>
      </p:sp>
      <p:sp>
        <p:nvSpPr>
          <p:cNvPr id="17" name="Text 15"/>
          <p:cNvSpPr/>
          <p:nvPr/>
        </p:nvSpPr>
        <p:spPr>
          <a:xfrm>
            <a:off x="6858000" y="2286000"/>
            <a:ext cx="1645920" cy="36576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Languages</a:t>
            </a:r>
            <a:endParaRPr lang="en-US" sz="1600" dirty="0"/>
          </a:p>
        </p:txBody>
      </p:sp>
      <p:sp>
        <p:nvSpPr>
          <p:cNvPr id="18" name="Text 16"/>
          <p:cNvSpPr/>
          <p:nvPr/>
        </p:nvSpPr>
        <p:spPr>
          <a:xfrm>
            <a:off x="6858000" y="2697480"/>
            <a:ext cx="1645920" cy="274320"/>
          </a:xfrm>
          <a:prstGeom prst="rect">
            <a:avLst/>
          </a:prstGeom>
          <a:noFill/>
          <a:ln/>
        </p:spPr>
        <p:txBody>
          <a:bodyPr wrap="square" rtlCol="0" anchor="ctr"/>
          <a:lstStyle/>
          <a:p>
            <a:pPr marL="0" indent="0" algn="ctr">
              <a:buNone/>
            </a:pPr>
            <a:r>
              <a:rPr lang="en-US" sz="1200" dirty="0">
                <a:solidFill>
                  <a:srgbClr val="2D3748"/>
                </a:solidFill>
                <a:latin typeface="Calibri" pitchFamily="34" charset="0"/>
                <a:ea typeface="Calibri" pitchFamily="34" charset="-122"/>
                <a:cs typeface="Calibri" pitchFamily="34" charset="-120"/>
              </a:rPr>
              <a:t>Global reach</a:t>
            </a:r>
            <a:endParaRPr lang="en-US" sz="1200" dirty="0"/>
          </a:p>
        </p:txBody>
      </p:sp>
      <p:sp>
        <p:nvSpPr>
          <p:cNvPr id="19" name="Text 17"/>
          <p:cNvSpPr/>
          <p:nvPr/>
        </p:nvSpPr>
        <p:spPr>
          <a:xfrm>
            <a:off x="914400" y="3840480"/>
            <a:ext cx="7315200" cy="365760"/>
          </a:xfrm>
          <a:prstGeom prst="rect">
            <a:avLst/>
          </a:prstGeom>
          <a:noFill/>
          <a:ln/>
        </p:spPr>
        <p:txBody>
          <a:bodyPr wrap="square" rtlCol="0" anchor="ctr"/>
          <a:lstStyle/>
          <a:p>
            <a:pPr marL="0" indent="0" algn="ctr">
              <a:buNone/>
            </a:pPr>
            <a:r>
              <a:rPr lang="en-US" sz="1600" i="1" dirty="0">
                <a:solidFill>
                  <a:srgbClr val="2D3748"/>
                </a:solidFill>
                <a:latin typeface="Calibri" pitchFamily="34" charset="0"/>
                <a:ea typeface="Calibri" pitchFamily="34" charset="-122"/>
                <a:cs typeface="Calibri" pitchFamily="34" charset="-120"/>
              </a:rPr>
              <a:t>Democratizing legal comprehension through institutional-grade contract intelligence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64008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BeforeYouSign</a:t>
            </a:r>
            <a:endParaRPr lang="en-US" sz="4800" dirty="0"/>
          </a:p>
        </p:txBody>
      </p:sp>
      <p:sp>
        <p:nvSpPr>
          <p:cNvPr id="3" name="Text 1"/>
          <p:cNvSpPr/>
          <p:nvPr/>
        </p:nvSpPr>
        <p:spPr>
          <a:xfrm>
            <a:off x="457200" y="2377440"/>
            <a:ext cx="8229600" cy="365760"/>
          </a:xfrm>
          <a:prstGeom prst="rect">
            <a:avLst/>
          </a:prstGeom>
          <a:noFill/>
          <a:ln/>
        </p:spPr>
        <p:txBody>
          <a:bodyPr wrap="square" rtlCol="0" anchor="ctr"/>
          <a:lstStyle/>
          <a:p>
            <a:pPr marL="0" indent="0" algn="ctr">
              <a:buNone/>
            </a:pPr>
            <a:r>
              <a:rPr lang="en-US" sz="2000" dirty="0">
                <a:solidFill>
                  <a:srgbClr val="02C39A"/>
                </a:solidFill>
                <a:latin typeface="Calibri" pitchFamily="34" charset="0"/>
                <a:ea typeface="Calibri" pitchFamily="34" charset="-122"/>
                <a:cs typeface="Calibri" pitchFamily="34" charset="-120"/>
              </a:rPr>
              <a:t>Leveling the Playing Field in Contract Negotiations</a:t>
            </a:r>
            <a:endParaRPr lang="en-US" sz="2000" dirty="0"/>
          </a:p>
        </p:txBody>
      </p:sp>
      <p:sp>
        <p:nvSpPr>
          <p:cNvPr id="4" name="Shape 2"/>
          <p:cNvSpPr/>
          <p:nvPr/>
        </p:nvSpPr>
        <p:spPr>
          <a:xfrm>
            <a:off x="3200400" y="3017520"/>
            <a:ext cx="2743200" cy="45720"/>
          </a:xfrm>
          <a:prstGeom prst="rect">
            <a:avLst/>
          </a:prstGeom>
          <a:solidFill>
            <a:srgbClr val="028090"/>
          </a:solidFill>
          <a:ln/>
        </p:spPr>
      </p:sp>
      <p:sp>
        <p:nvSpPr>
          <p:cNvPr id="5" name="Text 3"/>
          <p:cNvSpPr/>
          <p:nvPr/>
        </p:nvSpPr>
        <p:spPr>
          <a:xfrm>
            <a:off x="457200" y="3383280"/>
            <a:ext cx="8229600" cy="274320"/>
          </a:xfrm>
          <a:prstGeom prst="rect">
            <a:avLst/>
          </a:prstGeom>
          <a:noFill/>
          <a:ln/>
        </p:spPr>
        <p:txBody>
          <a:bodyPr wrap="square" rtlCol="0" anchor="ctr"/>
          <a:lstStyle/>
          <a:p>
            <a:pPr marL="0" indent="0" algn="ctr">
              <a:buNone/>
            </a:pPr>
            <a:r>
              <a:rPr lang="en-US" sz="1600" i="1" dirty="0">
                <a:solidFill>
                  <a:srgbClr val="F5F5F5"/>
                </a:solidFill>
                <a:latin typeface="Calibri" pitchFamily="34" charset="0"/>
                <a:ea typeface="Calibri" pitchFamily="34" charset="-122"/>
                <a:cs typeface="Calibri" pitchFamily="34" charset="-120"/>
              </a:rPr>
              <a:t>Know what you're signing before you sign it</a:t>
            </a:r>
            <a:endParaRPr lang="en-US" sz="1600" dirty="0"/>
          </a:p>
        </p:txBody>
      </p:sp>
      <p:sp>
        <p:nvSpPr>
          <p:cNvPr id="6" name="Text 4"/>
          <p:cNvSpPr/>
          <p:nvPr/>
        </p:nvSpPr>
        <p:spPr>
          <a:xfrm>
            <a:off x="457200" y="4480560"/>
            <a:ext cx="8229600" cy="274320"/>
          </a:xfrm>
          <a:prstGeom prst="rect">
            <a:avLst/>
          </a:prstGeom>
          <a:noFill/>
          <a:ln/>
        </p:spPr>
        <p:txBody>
          <a:bodyPr wrap="square" rtlCol="0" anchor="ctr"/>
          <a:lstStyle/>
          <a:p>
            <a:pPr marL="0" indent="0" algn="ctr">
              <a:buNone/>
            </a:pPr>
            <a:r>
              <a:rPr lang="en-US" sz="1200" dirty="0">
                <a:solidFill>
                  <a:srgbClr val="E2E8F0"/>
                </a:solidFill>
                <a:latin typeface="Calibri" pitchFamily="34" charset="0"/>
                <a:ea typeface="Calibri" pitchFamily="34" charset="-122"/>
                <a:cs typeface="Calibri" pitchFamily="34" charset="-120"/>
              </a:rPr>
              <a:t>Srinivas Jangiti | srinivasajangiti@gmail.com | +91 8767505121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640</Words>
  <Application>Microsoft Office PowerPoint</Application>
  <PresentationFormat>On-screen Show (16:9)</PresentationFormat>
  <Paragraphs>138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BeforeYouSign - Project Definition</dc:title>
  <dc:subject>PptxGenJS Presentation</dc:subject>
  <dc:creator>Srinivas Jangiti</dc:creator>
  <cp:lastModifiedBy>Srinivas Jangiti</cp:lastModifiedBy>
  <cp:revision>2</cp:revision>
  <dcterms:created xsi:type="dcterms:W3CDTF">2026-02-11T05:47:45Z</dcterms:created>
  <dcterms:modified xsi:type="dcterms:W3CDTF">2026-02-11T06:07:39Z</dcterms:modified>
</cp:coreProperties>
</file>